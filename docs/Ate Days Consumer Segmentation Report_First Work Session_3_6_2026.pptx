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1.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2.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3.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4.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5.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6.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7.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26.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80" r:id="rId2"/>
    <p:sldMasterId id="2147483793" r:id="rId3"/>
  </p:sldMasterIdLst>
  <p:notesMasterIdLst>
    <p:notesMasterId r:id="rId69"/>
  </p:notesMasterIdLst>
  <p:sldIdLst>
    <p:sldId id="256" r:id="rId4"/>
    <p:sldId id="2147475237" r:id="rId5"/>
    <p:sldId id="2147475238" r:id="rId6"/>
    <p:sldId id="1276" r:id="rId7"/>
    <p:sldId id="2147475242" r:id="rId8"/>
    <p:sldId id="2147475244" r:id="rId9"/>
    <p:sldId id="1169" r:id="rId10"/>
    <p:sldId id="2147475188" r:id="rId11"/>
    <p:sldId id="2147475119" r:id="rId12"/>
    <p:sldId id="2147475122" r:id="rId13"/>
    <p:sldId id="2147475192" r:id="rId14"/>
    <p:sldId id="2147475138" r:id="rId15"/>
    <p:sldId id="2147475193" r:id="rId16"/>
    <p:sldId id="1334" r:id="rId17"/>
    <p:sldId id="2147475195" r:id="rId18"/>
    <p:sldId id="2147475139" r:id="rId19"/>
    <p:sldId id="1338" r:id="rId20"/>
    <p:sldId id="2147475140" r:id="rId21"/>
    <p:sldId id="2147475232" r:id="rId22"/>
    <p:sldId id="2147475183" r:id="rId23"/>
    <p:sldId id="1339" r:id="rId24"/>
    <p:sldId id="2147475184" r:id="rId25"/>
    <p:sldId id="2147475186" r:id="rId26"/>
    <p:sldId id="1336" r:id="rId27"/>
    <p:sldId id="1343" r:id="rId28"/>
    <p:sldId id="2147475145" r:id="rId29"/>
    <p:sldId id="2147475146" r:id="rId30"/>
    <p:sldId id="2147475150" r:id="rId31"/>
    <p:sldId id="2147475149" r:id="rId32"/>
    <p:sldId id="2147475196" r:id="rId33"/>
    <p:sldId id="2147475156" r:id="rId34"/>
    <p:sldId id="2147475155" r:id="rId35"/>
    <p:sldId id="2147475198" r:id="rId36"/>
    <p:sldId id="1347" r:id="rId37"/>
    <p:sldId id="2147475165" r:id="rId38"/>
    <p:sldId id="2147475168" r:id="rId39"/>
    <p:sldId id="2147475169" r:id="rId40"/>
    <p:sldId id="2147475172" r:id="rId41"/>
    <p:sldId id="1350" r:id="rId42"/>
    <p:sldId id="2147475175" r:id="rId43"/>
    <p:sldId id="2147475185" r:id="rId44"/>
    <p:sldId id="2147475204" r:id="rId45"/>
    <p:sldId id="1353" r:id="rId46"/>
    <p:sldId id="2147475206" r:id="rId47"/>
    <p:sldId id="1281" r:id="rId48"/>
    <p:sldId id="2147475221" r:id="rId49"/>
    <p:sldId id="2147475234" r:id="rId50"/>
    <p:sldId id="2147475235" r:id="rId51"/>
    <p:sldId id="2147475236" r:id="rId52"/>
    <p:sldId id="2147475222" r:id="rId53"/>
    <p:sldId id="2147475223" r:id="rId54"/>
    <p:sldId id="2147475224" r:id="rId55"/>
    <p:sldId id="2147475225" r:id="rId56"/>
    <p:sldId id="2147475226" r:id="rId57"/>
    <p:sldId id="2147475227" r:id="rId58"/>
    <p:sldId id="2147475228" r:id="rId59"/>
    <p:sldId id="2147475229" r:id="rId60"/>
    <p:sldId id="2147475239" r:id="rId61"/>
    <p:sldId id="1320" r:id="rId62"/>
    <p:sldId id="1321" r:id="rId63"/>
    <p:sldId id="1322" r:id="rId64"/>
    <p:sldId id="2147475191" r:id="rId65"/>
    <p:sldId id="2147475154" r:id="rId66"/>
    <p:sldId id="2147475197" r:id="rId67"/>
    <p:sldId id="2147475200" r:id="rId68"/>
  </p:sldIdLst>
  <p:sldSz cx="12192000" cy="6858000"/>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896C"/>
    <a:srgbClr val="1D4F3E"/>
    <a:srgbClr val="893766"/>
    <a:srgbClr val="893774"/>
    <a:srgbClr val="D79157"/>
    <a:srgbClr val="D2B5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0AA7B3-64E7-48A8-99CB-410CE343CBFA}" v="543" dt="2026-03-06T20:31:32.6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60"/>
  </p:normalViewPr>
  <p:slideViewPr>
    <p:cSldViewPr snapToGrid="0">
      <p:cViewPr varScale="1">
        <p:scale>
          <a:sx n="93" d="100"/>
          <a:sy n="93" d="100"/>
        </p:scale>
        <p:origin x="1176" y="306"/>
      </p:cViewPr>
      <p:guideLst/>
    </p:cSldViewPr>
  </p:slideViewPr>
  <p:notesTextViewPr>
    <p:cViewPr>
      <p:scale>
        <a:sx n="1" d="1"/>
        <a:sy n="1" d="1"/>
      </p:scale>
      <p:origin x="0" y="0"/>
    </p:cViewPr>
  </p:notesTextViewPr>
  <p:sorterViewPr>
    <p:cViewPr>
      <p:scale>
        <a:sx n="140" d="100"/>
        <a:sy n="140" d="100"/>
      </p:scale>
      <p:origin x="0" y="-13470"/>
    </p:cViewPr>
  </p:sorterViewPr>
  <p:notesViewPr>
    <p:cSldViewPr snapToGrid="0">
      <p:cViewPr varScale="1">
        <p:scale>
          <a:sx n="79" d="100"/>
          <a:sy n="79" d="100"/>
        </p:scale>
        <p:origin x="3882"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microsoft.com/office/2016/11/relationships/changesInfo" Target="changesInfos/changesInfo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zanne Kevlyn" userId="09e09a272ef5727f" providerId="LiveId" clId="{F0A46A80-A113-4D6F-B6DC-4FB215CCE083}"/>
    <pc:docChg chg="undo custSel addSld delSld modSld sldOrd delMainMaster modMainMaster">
      <pc:chgData name="Suzanne Kevlyn" userId="09e09a272ef5727f" providerId="LiveId" clId="{F0A46A80-A113-4D6F-B6DC-4FB215CCE083}" dt="2026-03-06T20:32:33.350" v="19492" actId="6549"/>
      <pc:docMkLst>
        <pc:docMk/>
      </pc:docMkLst>
      <pc:sldChg chg="addSp delSp modSp mod">
        <pc:chgData name="Suzanne Kevlyn" userId="09e09a272ef5727f" providerId="LiveId" clId="{F0A46A80-A113-4D6F-B6DC-4FB215CCE083}" dt="2026-03-05T21:04:44.540" v="1873" actId="113"/>
        <pc:sldMkLst>
          <pc:docMk/>
          <pc:sldMk cId="1101096387" sldId="256"/>
        </pc:sldMkLst>
        <pc:spChg chg="mod">
          <ac:chgData name="Suzanne Kevlyn" userId="09e09a272ef5727f" providerId="LiveId" clId="{F0A46A80-A113-4D6F-B6DC-4FB215CCE083}" dt="2026-03-05T21:04:44.540" v="1873" actId="113"/>
          <ac:spMkLst>
            <pc:docMk/>
            <pc:sldMk cId="1101096387" sldId="256"/>
            <ac:spMk id="2" creationId="{F02FDE59-B4E5-F1AD-8140-D367D8733F97}"/>
          </ac:spMkLst>
        </pc:spChg>
        <pc:spChg chg="mod">
          <ac:chgData name="Suzanne Kevlyn" userId="09e09a272ef5727f" providerId="LiveId" clId="{F0A46A80-A113-4D6F-B6DC-4FB215CCE083}" dt="2026-03-05T17:40:53.471" v="26" actId="20577"/>
          <ac:spMkLst>
            <pc:docMk/>
            <pc:sldMk cId="1101096387" sldId="256"/>
            <ac:spMk id="3" creationId="{DC681CB7-F174-1035-5C1B-75D04FDCEE67}"/>
          </ac:spMkLst>
        </pc:spChg>
        <pc:spChg chg="del mod">
          <ac:chgData name="Suzanne Kevlyn" userId="09e09a272ef5727f" providerId="LiveId" clId="{F0A46A80-A113-4D6F-B6DC-4FB215CCE083}" dt="2026-03-05T17:47:50.846" v="299" actId="478"/>
          <ac:spMkLst>
            <pc:docMk/>
            <pc:sldMk cId="1101096387" sldId="256"/>
            <ac:spMk id="5" creationId="{92D5BBDC-35B3-43CC-4FF7-25A2AFBF6A1A}"/>
          </ac:spMkLst>
        </pc:spChg>
        <pc:spChg chg="del">
          <ac:chgData name="Suzanne Kevlyn" userId="09e09a272ef5727f" providerId="LiveId" clId="{F0A46A80-A113-4D6F-B6DC-4FB215CCE083}" dt="2026-03-05T17:41:04.204" v="37" actId="478"/>
          <ac:spMkLst>
            <pc:docMk/>
            <pc:sldMk cId="1101096387" sldId="256"/>
            <ac:spMk id="8" creationId="{8BB140FF-DD1A-AB2B-AC63-6CAACFE45A0F}"/>
          </ac:spMkLst>
        </pc:spChg>
        <pc:spChg chg="add mod">
          <ac:chgData name="Suzanne Kevlyn" userId="09e09a272ef5727f" providerId="LiveId" clId="{F0A46A80-A113-4D6F-B6DC-4FB215CCE083}" dt="2026-03-05T17:47:58.802" v="300"/>
          <ac:spMkLst>
            <pc:docMk/>
            <pc:sldMk cId="1101096387" sldId="256"/>
            <ac:spMk id="10" creationId="{B357A124-4A1D-5EC8-0772-5411642C2325}"/>
          </ac:spMkLst>
        </pc:spChg>
      </pc:sldChg>
      <pc:sldChg chg="del">
        <pc:chgData name="Suzanne Kevlyn" userId="09e09a272ef5727f" providerId="LiveId" clId="{F0A46A80-A113-4D6F-B6DC-4FB215CCE083}" dt="2026-03-05T18:11:31.806" v="769" actId="2696"/>
        <pc:sldMkLst>
          <pc:docMk/>
          <pc:sldMk cId="599210127" sldId="261"/>
        </pc:sldMkLst>
      </pc:sldChg>
      <pc:sldChg chg="del">
        <pc:chgData name="Suzanne Kevlyn" userId="09e09a272ef5727f" providerId="LiveId" clId="{F0A46A80-A113-4D6F-B6DC-4FB215CCE083}" dt="2026-03-05T17:40:32.410" v="0" actId="2696"/>
        <pc:sldMkLst>
          <pc:docMk/>
          <pc:sldMk cId="1527210421" sldId="286"/>
        </pc:sldMkLst>
      </pc:sldChg>
      <pc:sldChg chg="del">
        <pc:chgData name="Suzanne Kevlyn" userId="09e09a272ef5727f" providerId="LiveId" clId="{F0A46A80-A113-4D6F-B6DC-4FB215CCE083}" dt="2026-03-05T17:40:32.410" v="0" actId="2696"/>
        <pc:sldMkLst>
          <pc:docMk/>
          <pc:sldMk cId="3357072965" sldId="799"/>
        </pc:sldMkLst>
      </pc:sldChg>
      <pc:sldChg chg="del">
        <pc:chgData name="Suzanne Kevlyn" userId="09e09a272ef5727f" providerId="LiveId" clId="{F0A46A80-A113-4D6F-B6DC-4FB215CCE083}" dt="2026-03-05T17:40:32.410" v="0" actId="2696"/>
        <pc:sldMkLst>
          <pc:docMk/>
          <pc:sldMk cId="2001518455" sldId="822"/>
        </pc:sldMkLst>
      </pc:sldChg>
      <pc:sldChg chg="del">
        <pc:chgData name="Suzanne Kevlyn" userId="09e09a272ef5727f" providerId="LiveId" clId="{F0A46A80-A113-4D6F-B6DC-4FB215CCE083}" dt="2026-03-05T17:40:32.410" v="0" actId="2696"/>
        <pc:sldMkLst>
          <pc:docMk/>
          <pc:sldMk cId="502959358" sldId="824"/>
        </pc:sldMkLst>
      </pc:sldChg>
      <pc:sldChg chg="del">
        <pc:chgData name="Suzanne Kevlyn" userId="09e09a272ef5727f" providerId="LiveId" clId="{F0A46A80-A113-4D6F-B6DC-4FB215CCE083}" dt="2026-03-05T17:40:32.410" v="0" actId="2696"/>
        <pc:sldMkLst>
          <pc:docMk/>
          <pc:sldMk cId="469141402" sldId="1148"/>
        </pc:sldMkLst>
      </pc:sldChg>
      <pc:sldChg chg="del">
        <pc:chgData name="Suzanne Kevlyn" userId="09e09a272ef5727f" providerId="LiveId" clId="{F0A46A80-A113-4D6F-B6DC-4FB215CCE083}" dt="2026-03-05T17:40:32.410" v="0" actId="2696"/>
        <pc:sldMkLst>
          <pc:docMk/>
          <pc:sldMk cId="24127586" sldId="1158"/>
        </pc:sldMkLst>
      </pc:sldChg>
      <pc:sldChg chg="del">
        <pc:chgData name="Suzanne Kevlyn" userId="09e09a272ef5727f" providerId="LiveId" clId="{F0A46A80-A113-4D6F-B6DC-4FB215CCE083}" dt="2026-03-05T17:40:32.410" v="0" actId="2696"/>
        <pc:sldMkLst>
          <pc:docMk/>
          <pc:sldMk cId="3418352983" sldId="1176"/>
        </pc:sldMkLst>
      </pc:sldChg>
      <pc:sldChg chg="del">
        <pc:chgData name="Suzanne Kevlyn" userId="09e09a272ef5727f" providerId="LiveId" clId="{F0A46A80-A113-4D6F-B6DC-4FB215CCE083}" dt="2026-03-05T18:16:35.590" v="791" actId="2696"/>
        <pc:sldMkLst>
          <pc:docMk/>
          <pc:sldMk cId="2292895236" sldId="1182"/>
        </pc:sldMkLst>
      </pc:sldChg>
      <pc:sldChg chg="delSp add del setBg delDesignElem">
        <pc:chgData name="Suzanne Kevlyn" userId="09e09a272ef5727f" providerId="LiveId" clId="{F0A46A80-A113-4D6F-B6DC-4FB215CCE083}" dt="2026-03-05T22:41:16.230" v="7224" actId="2696"/>
        <pc:sldMkLst>
          <pc:docMk/>
          <pc:sldMk cId="4131208803" sldId="1182"/>
        </pc:sldMkLst>
        <pc:spChg chg="del">
          <ac:chgData name="Suzanne Kevlyn" userId="09e09a272ef5727f" providerId="LiveId" clId="{F0A46A80-A113-4D6F-B6DC-4FB215CCE083}" dt="2026-03-05T18:16:40.498" v="795"/>
          <ac:spMkLst>
            <pc:docMk/>
            <pc:sldMk cId="4131208803" sldId="1182"/>
            <ac:spMk id="29" creationId="{4E40B82F-458F-FE8D-7396-C39E1E5412D7}"/>
          </ac:spMkLst>
        </pc:spChg>
        <pc:spChg chg="del">
          <ac:chgData name="Suzanne Kevlyn" userId="09e09a272ef5727f" providerId="LiveId" clId="{F0A46A80-A113-4D6F-B6DC-4FB215CCE083}" dt="2026-03-05T18:16:40.498" v="795"/>
          <ac:spMkLst>
            <pc:docMk/>
            <pc:sldMk cId="4131208803" sldId="1182"/>
            <ac:spMk id="31" creationId="{5BD9D5E4-7336-2437-7441-A6CCE95E932C}"/>
          </ac:spMkLst>
        </pc:spChg>
        <pc:spChg chg="del">
          <ac:chgData name="Suzanne Kevlyn" userId="09e09a272ef5727f" providerId="LiveId" clId="{F0A46A80-A113-4D6F-B6DC-4FB215CCE083}" dt="2026-03-05T18:16:40.498" v="795"/>
          <ac:spMkLst>
            <pc:docMk/>
            <pc:sldMk cId="4131208803" sldId="1182"/>
            <ac:spMk id="34" creationId="{255DC541-F5D6-C868-FF8B-03D219642C18}"/>
          </ac:spMkLst>
        </pc:spChg>
        <pc:spChg chg="del">
          <ac:chgData name="Suzanne Kevlyn" userId="09e09a272ef5727f" providerId="LiveId" clId="{F0A46A80-A113-4D6F-B6DC-4FB215CCE083}" dt="2026-03-05T18:16:40.498" v="795"/>
          <ac:spMkLst>
            <pc:docMk/>
            <pc:sldMk cId="4131208803" sldId="1182"/>
            <ac:spMk id="36" creationId="{73FE12B2-2C6D-FD48-A53A-3F2870CFBEDF}"/>
          </ac:spMkLst>
        </pc:spChg>
        <pc:cxnChg chg="del">
          <ac:chgData name="Suzanne Kevlyn" userId="09e09a272ef5727f" providerId="LiveId" clId="{F0A46A80-A113-4D6F-B6DC-4FB215CCE083}" dt="2026-03-05T18:16:40.498" v="795"/>
          <ac:cxnSpMkLst>
            <pc:docMk/>
            <pc:sldMk cId="4131208803" sldId="1182"/>
            <ac:cxnSpMk id="30" creationId="{1E4B9334-ABBE-3A0D-B2D6-4D118C004C31}"/>
          </ac:cxnSpMkLst>
        </pc:cxnChg>
        <pc:cxnChg chg="del">
          <ac:chgData name="Suzanne Kevlyn" userId="09e09a272ef5727f" providerId="LiveId" clId="{F0A46A80-A113-4D6F-B6DC-4FB215CCE083}" dt="2026-03-05T18:16:40.498" v="795"/>
          <ac:cxnSpMkLst>
            <pc:docMk/>
            <pc:sldMk cId="4131208803" sldId="1182"/>
            <ac:cxnSpMk id="32" creationId="{FBBC89EA-A001-925A-1C5D-846101C6B8D7}"/>
          </ac:cxnSpMkLst>
        </pc:cxnChg>
      </pc:sldChg>
      <pc:sldChg chg="del">
        <pc:chgData name="Suzanne Kevlyn" userId="09e09a272ef5727f" providerId="LiveId" clId="{F0A46A80-A113-4D6F-B6DC-4FB215CCE083}" dt="2026-03-05T17:40:32.410" v="0" actId="2696"/>
        <pc:sldMkLst>
          <pc:docMk/>
          <pc:sldMk cId="1048117714" sldId="1196"/>
        </pc:sldMkLst>
      </pc:sldChg>
      <pc:sldChg chg="add del">
        <pc:chgData name="Suzanne Kevlyn" userId="09e09a272ef5727f" providerId="LiveId" clId="{F0A46A80-A113-4D6F-B6DC-4FB215CCE083}" dt="2026-03-05T17:43:06.303" v="96" actId="2696"/>
        <pc:sldMkLst>
          <pc:docMk/>
          <pc:sldMk cId="111150709" sldId="1218"/>
        </pc:sldMkLst>
      </pc:sldChg>
      <pc:sldChg chg="add del">
        <pc:chgData name="Suzanne Kevlyn" userId="09e09a272ef5727f" providerId="LiveId" clId="{F0A46A80-A113-4D6F-B6DC-4FB215CCE083}" dt="2026-03-05T17:43:39.397" v="103"/>
        <pc:sldMkLst>
          <pc:docMk/>
          <pc:sldMk cId="1579430312" sldId="1218"/>
        </pc:sldMkLst>
      </pc:sldChg>
      <pc:sldChg chg="addSp delSp modSp del mod">
        <pc:chgData name="Suzanne Kevlyn" userId="09e09a272ef5727f" providerId="LiveId" clId="{F0A46A80-A113-4D6F-B6DC-4FB215CCE083}" dt="2026-03-05T17:41:30.700" v="59" actId="2696"/>
        <pc:sldMkLst>
          <pc:docMk/>
          <pc:sldMk cId="3992951056" sldId="1218"/>
        </pc:sldMkLst>
        <pc:spChg chg="mod">
          <ac:chgData name="Suzanne Kevlyn" userId="09e09a272ef5727f" providerId="LiveId" clId="{F0A46A80-A113-4D6F-B6DC-4FB215CCE083}" dt="2026-03-05T17:41:26.939" v="58" actId="20577"/>
          <ac:spMkLst>
            <pc:docMk/>
            <pc:sldMk cId="3992951056" sldId="1218"/>
            <ac:spMk id="2" creationId="{6ADE77A5-2422-E0D9-AD37-767C8868B99F}"/>
          </ac:spMkLst>
        </pc:spChg>
        <pc:spChg chg="del">
          <ac:chgData name="Suzanne Kevlyn" userId="09e09a272ef5727f" providerId="LiveId" clId="{F0A46A80-A113-4D6F-B6DC-4FB215CCE083}" dt="2026-03-05T17:41:07.604" v="38" actId="478"/>
          <ac:spMkLst>
            <pc:docMk/>
            <pc:sldMk cId="3992951056" sldId="1218"/>
            <ac:spMk id="3" creationId="{B0FE26B1-EFA2-0EF9-6493-F7126FEE7344}"/>
          </ac:spMkLst>
        </pc:spChg>
        <pc:spChg chg="add mod">
          <ac:chgData name="Suzanne Kevlyn" userId="09e09a272ef5727f" providerId="LiveId" clId="{F0A46A80-A113-4D6F-B6DC-4FB215CCE083}" dt="2026-03-05T17:41:09.094" v="39"/>
          <ac:spMkLst>
            <pc:docMk/>
            <pc:sldMk cId="3992951056" sldId="1218"/>
            <ac:spMk id="6" creationId="{8BE58869-1CAA-F509-4852-09B535BB7076}"/>
          </ac:spMkLst>
        </pc:spChg>
      </pc:sldChg>
      <pc:sldChg chg="del">
        <pc:chgData name="Suzanne Kevlyn" userId="09e09a272ef5727f" providerId="LiveId" clId="{F0A46A80-A113-4D6F-B6DC-4FB215CCE083}" dt="2026-03-05T17:40:32.410" v="0" actId="2696"/>
        <pc:sldMkLst>
          <pc:docMk/>
          <pc:sldMk cId="1474181436" sldId="1224"/>
        </pc:sldMkLst>
      </pc:sldChg>
      <pc:sldChg chg="del">
        <pc:chgData name="Suzanne Kevlyn" userId="09e09a272ef5727f" providerId="LiveId" clId="{F0A46A80-A113-4D6F-B6DC-4FB215CCE083}" dt="2026-03-05T17:40:32.410" v="0" actId="2696"/>
        <pc:sldMkLst>
          <pc:docMk/>
          <pc:sldMk cId="2378305066" sldId="1225"/>
        </pc:sldMkLst>
      </pc:sldChg>
      <pc:sldChg chg="del">
        <pc:chgData name="Suzanne Kevlyn" userId="09e09a272ef5727f" providerId="LiveId" clId="{F0A46A80-A113-4D6F-B6DC-4FB215CCE083}" dt="2026-03-05T17:40:32.410" v="0" actId="2696"/>
        <pc:sldMkLst>
          <pc:docMk/>
          <pc:sldMk cId="3808396802" sldId="1226"/>
        </pc:sldMkLst>
      </pc:sldChg>
      <pc:sldChg chg="del">
        <pc:chgData name="Suzanne Kevlyn" userId="09e09a272ef5727f" providerId="LiveId" clId="{F0A46A80-A113-4D6F-B6DC-4FB215CCE083}" dt="2026-03-05T17:40:32.410" v="0" actId="2696"/>
        <pc:sldMkLst>
          <pc:docMk/>
          <pc:sldMk cId="3913720976" sldId="1237"/>
        </pc:sldMkLst>
      </pc:sldChg>
      <pc:sldChg chg="del">
        <pc:chgData name="Suzanne Kevlyn" userId="09e09a272ef5727f" providerId="LiveId" clId="{F0A46A80-A113-4D6F-B6DC-4FB215CCE083}" dt="2026-03-05T17:40:32.410" v="0" actId="2696"/>
        <pc:sldMkLst>
          <pc:docMk/>
          <pc:sldMk cId="1097401989" sldId="1241"/>
        </pc:sldMkLst>
      </pc:sldChg>
      <pc:sldChg chg="del">
        <pc:chgData name="Suzanne Kevlyn" userId="09e09a272ef5727f" providerId="LiveId" clId="{F0A46A80-A113-4D6F-B6DC-4FB215CCE083}" dt="2026-03-05T17:40:32.410" v="0" actId="2696"/>
        <pc:sldMkLst>
          <pc:docMk/>
          <pc:sldMk cId="1339012362" sldId="1249"/>
        </pc:sldMkLst>
      </pc:sldChg>
      <pc:sldChg chg="del">
        <pc:chgData name="Suzanne Kevlyn" userId="09e09a272ef5727f" providerId="LiveId" clId="{F0A46A80-A113-4D6F-B6DC-4FB215CCE083}" dt="2026-03-05T17:40:32.410" v="0" actId="2696"/>
        <pc:sldMkLst>
          <pc:docMk/>
          <pc:sldMk cId="1044104994" sldId="1250"/>
        </pc:sldMkLst>
      </pc:sldChg>
      <pc:sldChg chg="del">
        <pc:chgData name="Suzanne Kevlyn" userId="09e09a272ef5727f" providerId="LiveId" clId="{F0A46A80-A113-4D6F-B6DC-4FB215CCE083}" dt="2026-03-05T17:40:32.410" v="0" actId="2696"/>
        <pc:sldMkLst>
          <pc:docMk/>
          <pc:sldMk cId="2384729756" sldId="1263"/>
        </pc:sldMkLst>
      </pc:sldChg>
      <pc:sldChg chg="del">
        <pc:chgData name="Suzanne Kevlyn" userId="09e09a272ef5727f" providerId="LiveId" clId="{F0A46A80-A113-4D6F-B6DC-4FB215CCE083}" dt="2026-03-05T17:40:32.410" v="0" actId="2696"/>
        <pc:sldMkLst>
          <pc:docMk/>
          <pc:sldMk cId="3376801412" sldId="1264"/>
        </pc:sldMkLst>
      </pc:sldChg>
      <pc:sldChg chg="del">
        <pc:chgData name="Suzanne Kevlyn" userId="09e09a272ef5727f" providerId="LiveId" clId="{F0A46A80-A113-4D6F-B6DC-4FB215CCE083}" dt="2026-03-05T21:13:11.034" v="2871" actId="2696"/>
        <pc:sldMkLst>
          <pc:docMk/>
          <pc:sldMk cId="1016489655" sldId="1269"/>
        </pc:sldMkLst>
      </pc:sldChg>
      <pc:sldChg chg="addSp delSp modSp del mod">
        <pc:chgData name="Suzanne Kevlyn" userId="09e09a272ef5727f" providerId="LiveId" clId="{F0A46A80-A113-4D6F-B6DC-4FB215CCE083}" dt="2026-03-05T17:42:54.693" v="95" actId="2696"/>
        <pc:sldMkLst>
          <pc:docMk/>
          <pc:sldMk cId="3919214270" sldId="1275"/>
        </pc:sldMkLst>
        <pc:spChg chg="del">
          <ac:chgData name="Suzanne Kevlyn" userId="09e09a272ef5727f" providerId="LiveId" clId="{F0A46A80-A113-4D6F-B6DC-4FB215CCE083}" dt="2026-03-05T17:41:12.130" v="40" actId="478"/>
          <ac:spMkLst>
            <pc:docMk/>
            <pc:sldMk cId="3919214270" sldId="1275"/>
            <ac:spMk id="2" creationId="{05F85002-CDC3-4351-85E6-BFF1B35FCDF2}"/>
          </ac:spMkLst>
        </pc:spChg>
        <pc:spChg chg="add mod">
          <ac:chgData name="Suzanne Kevlyn" userId="09e09a272ef5727f" providerId="LiveId" clId="{F0A46A80-A113-4D6F-B6DC-4FB215CCE083}" dt="2026-03-05T17:41:13.572" v="41"/>
          <ac:spMkLst>
            <pc:docMk/>
            <pc:sldMk cId="3919214270" sldId="1275"/>
            <ac:spMk id="5" creationId="{65FB5F41-24A0-0CB0-59D8-1E9516580AAF}"/>
          </ac:spMkLst>
        </pc:spChg>
        <pc:spChg chg="mod">
          <ac:chgData name="Suzanne Kevlyn" userId="09e09a272ef5727f" providerId="LiveId" clId="{F0A46A80-A113-4D6F-B6DC-4FB215CCE083}" dt="2026-03-05T17:41:50.433" v="84" actId="20577"/>
          <ac:spMkLst>
            <pc:docMk/>
            <pc:sldMk cId="3919214270" sldId="1275"/>
            <ac:spMk id="6" creationId="{652C05D9-F405-8626-43EF-2DD6CEFF4319}"/>
          </ac:spMkLst>
        </pc:spChg>
      </pc:sldChg>
      <pc:sldChg chg="addSp delSp modSp add mod">
        <pc:chgData name="Suzanne Kevlyn" userId="09e09a272ef5727f" providerId="LiveId" clId="{F0A46A80-A113-4D6F-B6DC-4FB215CCE083}" dt="2026-03-05T21:10:38.432" v="2752" actId="113"/>
        <pc:sldMkLst>
          <pc:docMk/>
          <pc:sldMk cId="3573372480" sldId="1276"/>
        </pc:sldMkLst>
        <pc:spChg chg="del">
          <ac:chgData name="Suzanne Kevlyn" userId="09e09a272ef5727f" providerId="LiveId" clId="{F0A46A80-A113-4D6F-B6DC-4FB215CCE083}" dt="2026-03-05T17:42:44.373" v="93" actId="478"/>
          <ac:spMkLst>
            <pc:docMk/>
            <pc:sldMk cId="3573372480" sldId="1276"/>
            <ac:spMk id="2" creationId="{4F9599B7-AAC3-8A16-C11F-6E16FFB8B575}"/>
          </ac:spMkLst>
        </pc:spChg>
        <pc:spChg chg="add del mod">
          <ac:chgData name="Suzanne Kevlyn" userId="09e09a272ef5727f" providerId="LiveId" clId="{F0A46A80-A113-4D6F-B6DC-4FB215CCE083}" dt="2026-03-05T17:44:53.888" v="170" actId="478"/>
          <ac:spMkLst>
            <pc:docMk/>
            <pc:sldMk cId="3573372480" sldId="1276"/>
            <ac:spMk id="5" creationId="{4CA9BE2C-9CA4-6EF7-2E55-10AC1FD2704F}"/>
          </ac:spMkLst>
        </pc:spChg>
        <pc:spChg chg="mod">
          <ac:chgData name="Suzanne Kevlyn" userId="09e09a272ef5727f" providerId="LiveId" clId="{F0A46A80-A113-4D6F-B6DC-4FB215CCE083}" dt="2026-03-05T21:06:18.869" v="2020" actId="6549"/>
          <ac:spMkLst>
            <pc:docMk/>
            <pc:sldMk cId="3573372480" sldId="1276"/>
            <ac:spMk id="6" creationId="{79CDA72D-6676-79F8-0266-BC5DE2B615EC}"/>
          </ac:spMkLst>
        </pc:spChg>
        <pc:spChg chg="add del mod ord">
          <ac:chgData name="Suzanne Kevlyn" userId="09e09a272ef5727f" providerId="LiveId" clId="{F0A46A80-A113-4D6F-B6DC-4FB215CCE083}" dt="2026-03-05T21:10:38.432" v="2752" actId="113"/>
          <ac:spMkLst>
            <pc:docMk/>
            <pc:sldMk cId="3573372480" sldId="1276"/>
            <ac:spMk id="7" creationId="{3ED268EC-4AAE-99C3-BDA0-2097A4321511}"/>
          </ac:spMkLst>
        </pc:spChg>
        <pc:spChg chg="add mod">
          <ac:chgData name="Suzanne Kevlyn" userId="09e09a272ef5727f" providerId="LiveId" clId="{F0A46A80-A113-4D6F-B6DC-4FB215CCE083}" dt="2026-03-05T17:48:07.914" v="302"/>
          <ac:spMkLst>
            <pc:docMk/>
            <pc:sldMk cId="3573372480" sldId="1276"/>
            <ac:spMk id="8" creationId="{025D4660-627C-E7AC-FC37-EFEC733903D6}"/>
          </ac:spMkLst>
        </pc:spChg>
      </pc:sldChg>
      <pc:sldChg chg="del">
        <pc:chgData name="Suzanne Kevlyn" userId="09e09a272ef5727f" providerId="LiveId" clId="{F0A46A80-A113-4D6F-B6DC-4FB215CCE083}" dt="2026-03-05T17:40:32.410" v="0" actId="2696"/>
        <pc:sldMkLst>
          <pc:docMk/>
          <pc:sldMk cId="697604134" sldId="1281"/>
        </pc:sldMkLst>
      </pc:sldChg>
      <pc:sldChg chg="addSp delSp modSp add mod">
        <pc:chgData name="Suzanne Kevlyn" userId="09e09a272ef5727f" providerId="LiveId" clId="{F0A46A80-A113-4D6F-B6DC-4FB215CCE083}" dt="2026-03-06T20:31:30.132" v="19491" actId="313"/>
        <pc:sldMkLst>
          <pc:docMk/>
          <pc:sldMk cId="3293797024" sldId="1281"/>
        </pc:sldMkLst>
        <pc:spChg chg="del">
          <ac:chgData name="Suzanne Kevlyn" userId="09e09a272ef5727f" providerId="LiveId" clId="{F0A46A80-A113-4D6F-B6DC-4FB215CCE083}" dt="2026-03-06T16:37:31.630" v="12924" actId="478"/>
          <ac:spMkLst>
            <pc:docMk/>
            <pc:sldMk cId="3293797024" sldId="1281"/>
            <ac:spMk id="6" creationId="{75390C87-978F-4B9F-6D0D-7634F48F7489}"/>
          </ac:spMkLst>
        </pc:spChg>
        <pc:spChg chg="del">
          <ac:chgData name="Suzanne Kevlyn" userId="09e09a272ef5727f" providerId="LiveId" clId="{F0A46A80-A113-4D6F-B6DC-4FB215CCE083}" dt="2026-03-06T16:36:54.055" v="12914" actId="478"/>
          <ac:spMkLst>
            <pc:docMk/>
            <pc:sldMk cId="3293797024" sldId="1281"/>
            <ac:spMk id="7" creationId="{68A971C1-EFA2-3E93-1A80-C7848AF9118E}"/>
          </ac:spMkLst>
        </pc:spChg>
        <pc:spChg chg="add del mod">
          <ac:chgData name="Suzanne Kevlyn" userId="09e09a272ef5727f" providerId="LiveId" clId="{F0A46A80-A113-4D6F-B6DC-4FB215CCE083}" dt="2026-03-06T16:36:40.061" v="12913" actId="478"/>
          <ac:spMkLst>
            <pc:docMk/>
            <pc:sldMk cId="3293797024" sldId="1281"/>
            <ac:spMk id="8" creationId="{44427A08-3EFE-16A4-FD2D-1658062DFF8B}"/>
          </ac:spMkLst>
        </pc:spChg>
        <pc:graphicFrameChg chg="mod modGraphic">
          <ac:chgData name="Suzanne Kevlyn" userId="09e09a272ef5727f" providerId="LiveId" clId="{F0A46A80-A113-4D6F-B6DC-4FB215CCE083}" dt="2026-03-06T20:31:30.132" v="19491" actId="313"/>
          <ac:graphicFrameMkLst>
            <pc:docMk/>
            <pc:sldMk cId="3293797024" sldId="1281"/>
            <ac:graphicFrameMk id="5" creationId="{9656912D-5939-005A-4393-491AE634AA7C}"/>
          </ac:graphicFrameMkLst>
        </pc:graphicFrameChg>
      </pc:sldChg>
      <pc:sldChg chg="addSp delSp modSp del mod ord">
        <pc:chgData name="Suzanne Kevlyn" userId="09e09a272ef5727f" providerId="LiveId" clId="{F0A46A80-A113-4D6F-B6DC-4FB215CCE083}" dt="2026-03-06T17:47:10.847" v="19057" actId="2696"/>
        <pc:sldMkLst>
          <pc:docMk/>
          <pc:sldMk cId="3391797805" sldId="1302"/>
        </pc:sldMkLst>
        <pc:spChg chg="mod">
          <ac:chgData name="Suzanne Kevlyn" userId="09e09a272ef5727f" providerId="LiveId" clId="{F0A46A80-A113-4D6F-B6DC-4FB215CCE083}" dt="2026-03-05T21:13:07.949" v="2870" actId="20577"/>
          <ac:spMkLst>
            <pc:docMk/>
            <pc:sldMk cId="3391797805" sldId="1302"/>
            <ac:spMk id="2" creationId="{67A0BC46-FE19-3B80-C7E3-AF391EC87663}"/>
          </ac:spMkLst>
        </pc:spChg>
        <pc:spChg chg="mod">
          <ac:chgData name="Suzanne Kevlyn" userId="09e09a272ef5727f" providerId="LiveId" clId="{F0A46A80-A113-4D6F-B6DC-4FB215CCE083}" dt="2026-03-06T17:17:51.757" v="14803" actId="20577"/>
          <ac:spMkLst>
            <pc:docMk/>
            <pc:sldMk cId="3391797805" sldId="1302"/>
            <ac:spMk id="3" creationId="{C40BBCD7-ADD6-9B1D-287B-D628EF481B91}"/>
          </ac:spMkLst>
        </pc:spChg>
        <pc:spChg chg="del">
          <ac:chgData name="Suzanne Kevlyn" userId="09e09a272ef5727f" providerId="LiveId" clId="{F0A46A80-A113-4D6F-B6DC-4FB215CCE083}" dt="2026-03-05T17:41:17.652" v="42" actId="478"/>
          <ac:spMkLst>
            <pc:docMk/>
            <pc:sldMk cId="3391797805" sldId="1302"/>
            <ac:spMk id="4" creationId="{FEF36667-9E86-5D9A-DB48-6B20A9B01306}"/>
          </ac:spMkLst>
        </pc:spChg>
        <pc:spChg chg="add del mod">
          <ac:chgData name="Suzanne Kevlyn" userId="09e09a272ef5727f" providerId="LiveId" clId="{F0A46A80-A113-4D6F-B6DC-4FB215CCE083}" dt="2026-03-05T17:48:11.072" v="303" actId="478"/>
          <ac:spMkLst>
            <pc:docMk/>
            <pc:sldMk cId="3391797805" sldId="1302"/>
            <ac:spMk id="6" creationId="{114F0498-5E5D-C1F0-AD89-0BD17CAED958}"/>
          </ac:spMkLst>
        </pc:spChg>
        <pc:spChg chg="add del mod">
          <ac:chgData name="Suzanne Kevlyn" userId="09e09a272ef5727f" providerId="LiveId" clId="{F0A46A80-A113-4D6F-B6DC-4FB215CCE083}" dt="2026-03-05T17:57:19.729" v="394" actId="478"/>
          <ac:spMkLst>
            <pc:docMk/>
            <pc:sldMk cId="3391797805" sldId="1302"/>
            <ac:spMk id="8" creationId="{A23A7147-EFBC-224B-95FC-F6C45B4FBBD3}"/>
          </ac:spMkLst>
        </pc:spChg>
      </pc:sldChg>
      <pc:sldChg chg="addSp delSp modSp del mod">
        <pc:chgData name="Suzanne Kevlyn" userId="09e09a272ef5727f" providerId="LiveId" clId="{F0A46A80-A113-4D6F-B6DC-4FB215CCE083}" dt="2026-03-05T21:11:33.670" v="2753" actId="2696"/>
        <pc:sldMkLst>
          <pc:docMk/>
          <pc:sldMk cId="1559210526" sldId="1320"/>
        </pc:sldMkLst>
        <pc:spChg chg="add mod">
          <ac:chgData name="Suzanne Kevlyn" userId="09e09a272ef5727f" providerId="LiveId" clId="{F0A46A80-A113-4D6F-B6DC-4FB215CCE083}" dt="2026-03-05T17:48:16.276" v="306"/>
          <ac:spMkLst>
            <pc:docMk/>
            <pc:sldMk cId="1559210526" sldId="1320"/>
            <ac:spMk id="10" creationId="{A660A2ED-1E72-D032-0703-D7E119701397}"/>
          </ac:spMkLst>
        </pc:spChg>
        <pc:spChg chg="del">
          <ac:chgData name="Suzanne Kevlyn" userId="09e09a272ef5727f" providerId="LiveId" clId="{F0A46A80-A113-4D6F-B6DC-4FB215CCE083}" dt="2026-03-05T17:48:14.954" v="305" actId="478"/>
          <ac:spMkLst>
            <pc:docMk/>
            <pc:sldMk cId="1559210526" sldId="1320"/>
            <ac:spMk id="16" creationId="{35023BEA-3CC6-B295-3689-EDE6F1E615CD}"/>
          </ac:spMkLst>
        </pc:spChg>
      </pc:sldChg>
      <pc:sldChg chg="addSp modSp add mod">
        <pc:chgData name="Suzanne Kevlyn" userId="09e09a272ef5727f" providerId="LiveId" clId="{F0A46A80-A113-4D6F-B6DC-4FB215CCE083}" dt="2026-03-06T20:30:22.241" v="19486" actId="14100"/>
        <pc:sldMkLst>
          <pc:docMk/>
          <pc:sldMk cId="4181122500" sldId="1320"/>
        </pc:sldMkLst>
        <pc:spChg chg="add mod">
          <ac:chgData name="Suzanne Kevlyn" userId="09e09a272ef5727f" providerId="LiveId" clId="{F0A46A80-A113-4D6F-B6DC-4FB215CCE083}" dt="2026-03-06T20:30:22.241" v="19486" actId="14100"/>
          <ac:spMkLst>
            <pc:docMk/>
            <pc:sldMk cId="4181122500" sldId="1320"/>
            <ac:spMk id="10" creationId="{E6D535E6-5FBF-9100-AFEB-55234731D8DD}"/>
          </ac:spMkLst>
        </pc:spChg>
      </pc:sldChg>
      <pc:sldChg chg="del">
        <pc:chgData name="Suzanne Kevlyn" userId="09e09a272ef5727f" providerId="LiveId" clId="{F0A46A80-A113-4D6F-B6DC-4FB215CCE083}" dt="2026-03-05T21:11:33.670" v="2753" actId="2696"/>
        <pc:sldMkLst>
          <pc:docMk/>
          <pc:sldMk cId="473240328" sldId="1321"/>
        </pc:sldMkLst>
      </pc:sldChg>
      <pc:sldChg chg="addSp modSp add">
        <pc:chgData name="Suzanne Kevlyn" userId="09e09a272ef5727f" providerId="LiveId" clId="{F0A46A80-A113-4D6F-B6DC-4FB215CCE083}" dt="2026-03-06T20:30:27.874" v="19487"/>
        <pc:sldMkLst>
          <pc:docMk/>
          <pc:sldMk cId="1543197846" sldId="1321"/>
        </pc:sldMkLst>
        <pc:spChg chg="add mod">
          <ac:chgData name="Suzanne Kevlyn" userId="09e09a272ef5727f" providerId="LiveId" clId="{F0A46A80-A113-4D6F-B6DC-4FB215CCE083}" dt="2026-03-06T20:30:27.874" v="19487"/>
          <ac:spMkLst>
            <pc:docMk/>
            <pc:sldMk cId="1543197846" sldId="1321"/>
            <ac:spMk id="12" creationId="{2E0442BC-1101-CFA0-7522-7DA69B73D305}"/>
          </ac:spMkLst>
        </pc:spChg>
      </pc:sldChg>
      <pc:sldChg chg="addSp delSp modSp del mod">
        <pc:chgData name="Suzanne Kevlyn" userId="09e09a272ef5727f" providerId="LiveId" clId="{F0A46A80-A113-4D6F-B6DC-4FB215CCE083}" dt="2026-03-05T21:11:33.670" v="2753" actId="2696"/>
        <pc:sldMkLst>
          <pc:docMk/>
          <pc:sldMk cId="232723034" sldId="1322"/>
        </pc:sldMkLst>
        <pc:spChg chg="add mod">
          <ac:chgData name="Suzanne Kevlyn" userId="09e09a272ef5727f" providerId="LiveId" clId="{F0A46A80-A113-4D6F-B6DC-4FB215CCE083}" dt="2026-03-05T17:48:23.194" v="308"/>
          <ac:spMkLst>
            <pc:docMk/>
            <pc:sldMk cId="232723034" sldId="1322"/>
            <ac:spMk id="3" creationId="{17997758-8862-7379-E6EB-87689232F266}"/>
          </ac:spMkLst>
        </pc:spChg>
        <pc:spChg chg="add del">
          <ac:chgData name="Suzanne Kevlyn" userId="09e09a272ef5727f" providerId="LiveId" clId="{F0A46A80-A113-4D6F-B6DC-4FB215CCE083}" dt="2026-03-05T17:57:25.458" v="395" actId="478"/>
          <ac:spMkLst>
            <pc:docMk/>
            <pc:sldMk cId="232723034" sldId="1322"/>
            <ac:spMk id="16" creationId="{D1D72E29-54E6-5EC5-2BF6-172228A4868C}"/>
          </ac:spMkLst>
        </pc:spChg>
      </pc:sldChg>
      <pc:sldChg chg="addSp modSp add">
        <pc:chgData name="Suzanne Kevlyn" userId="09e09a272ef5727f" providerId="LiveId" clId="{F0A46A80-A113-4D6F-B6DC-4FB215CCE083}" dt="2026-03-06T20:30:31.074" v="19488"/>
        <pc:sldMkLst>
          <pc:docMk/>
          <pc:sldMk cId="1248523355" sldId="1322"/>
        </pc:sldMkLst>
        <pc:spChg chg="add mod">
          <ac:chgData name="Suzanne Kevlyn" userId="09e09a272ef5727f" providerId="LiveId" clId="{F0A46A80-A113-4D6F-B6DC-4FB215CCE083}" dt="2026-03-06T20:30:31.074" v="19488"/>
          <ac:spMkLst>
            <pc:docMk/>
            <pc:sldMk cId="1248523355" sldId="1322"/>
            <ac:spMk id="3" creationId="{97B3F2A3-07A3-707E-88D4-EE79FF84944B}"/>
          </ac:spMkLst>
        </pc:spChg>
      </pc:sldChg>
      <pc:sldChg chg="add del modTransition">
        <pc:chgData name="Suzanne Kevlyn" userId="09e09a272ef5727f" providerId="LiveId" clId="{F0A46A80-A113-4D6F-B6DC-4FB215CCE083}" dt="2026-03-05T22:41:16.230" v="7224" actId="2696"/>
        <pc:sldMkLst>
          <pc:docMk/>
          <pc:sldMk cId="1846103635" sldId="1325"/>
        </pc:sldMkLst>
      </pc:sldChg>
      <pc:sldChg chg="modSp del">
        <pc:chgData name="Suzanne Kevlyn" userId="09e09a272ef5727f" providerId="LiveId" clId="{F0A46A80-A113-4D6F-B6DC-4FB215CCE083}" dt="2026-03-05T18:16:35.590" v="791" actId="2696"/>
        <pc:sldMkLst>
          <pc:docMk/>
          <pc:sldMk cId="3726860535" sldId="1325"/>
        </pc:sldMkLst>
        <pc:spChg chg="mod">
          <ac:chgData name="Suzanne Kevlyn" userId="09e09a272ef5727f" providerId="LiveId" clId="{F0A46A80-A113-4D6F-B6DC-4FB215CCE083}" dt="2026-03-05T17:46:45.377" v="298"/>
          <ac:spMkLst>
            <pc:docMk/>
            <pc:sldMk cId="3726860535" sldId="1325"/>
            <ac:spMk id="11" creationId="{424CED63-986A-6357-F5C1-309A99CBF6BB}"/>
          </ac:spMkLst>
        </pc:spChg>
      </pc:sldChg>
      <pc:sldChg chg="delSp del mod">
        <pc:chgData name="Suzanne Kevlyn" userId="09e09a272ef5727f" providerId="LiveId" clId="{F0A46A80-A113-4D6F-B6DC-4FB215CCE083}" dt="2026-03-05T18:11:18.333" v="765" actId="2696"/>
        <pc:sldMkLst>
          <pc:docMk/>
          <pc:sldMk cId="3120457859" sldId="1329"/>
        </pc:sldMkLst>
        <pc:spChg chg="del">
          <ac:chgData name="Suzanne Kevlyn" userId="09e09a272ef5727f" providerId="LiveId" clId="{F0A46A80-A113-4D6F-B6DC-4FB215CCE083}" dt="2026-03-05T17:58:00.689" v="409" actId="478"/>
          <ac:spMkLst>
            <pc:docMk/>
            <pc:sldMk cId="3120457859" sldId="1329"/>
            <ac:spMk id="5" creationId="{1DF1A400-5971-AC2E-46F1-1F7C8985601D}"/>
          </ac:spMkLst>
        </pc:spChg>
      </pc:sldChg>
      <pc:sldChg chg="del">
        <pc:chgData name="Suzanne Kevlyn" userId="09e09a272ef5727f" providerId="LiveId" clId="{F0A46A80-A113-4D6F-B6DC-4FB215CCE083}" dt="2026-03-05T17:40:32.410" v="0" actId="2696"/>
        <pc:sldMkLst>
          <pc:docMk/>
          <pc:sldMk cId="158804285" sldId="1331"/>
        </pc:sldMkLst>
      </pc:sldChg>
      <pc:sldChg chg="del">
        <pc:chgData name="Suzanne Kevlyn" userId="09e09a272ef5727f" providerId="LiveId" clId="{F0A46A80-A113-4D6F-B6DC-4FB215CCE083}" dt="2026-03-05T17:40:32.410" v="0" actId="2696"/>
        <pc:sldMkLst>
          <pc:docMk/>
          <pc:sldMk cId="3009226866" sldId="1332"/>
        </pc:sldMkLst>
      </pc:sldChg>
      <pc:sldChg chg="delSp del mod">
        <pc:chgData name="Suzanne Kevlyn" userId="09e09a272ef5727f" providerId="LiveId" clId="{F0A46A80-A113-4D6F-B6DC-4FB215CCE083}" dt="2026-03-05T18:10:19.672" v="758" actId="2696"/>
        <pc:sldMkLst>
          <pc:docMk/>
          <pc:sldMk cId="441158752" sldId="1333"/>
        </pc:sldMkLst>
        <pc:spChg chg="del">
          <ac:chgData name="Suzanne Kevlyn" userId="09e09a272ef5727f" providerId="LiveId" clId="{F0A46A80-A113-4D6F-B6DC-4FB215CCE083}" dt="2026-03-05T17:57:52.736" v="406" actId="478"/>
          <ac:spMkLst>
            <pc:docMk/>
            <pc:sldMk cId="441158752" sldId="1333"/>
            <ac:spMk id="5" creationId="{75607EAD-F0A4-3D65-8C6A-64072D12B469}"/>
          </ac:spMkLst>
        </pc:spChg>
      </pc:sldChg>
      <pc:sldChg chg="addSp delSp modSp mod">
        <pc:chgData name="Suzanne Kevlyn" userId="09e09a272ef5727f" providerId="LiveId" clId="{F0A46A80-A113-4D6F-B6DC-4FB215CCE083}" dt="2026-03-06T17:23:57.158" v="15571" actId="1076"/>
        <pc:sldMkLst>
          <pc:docMk/>
          <pc:sldMk cId="3247736041" sldId="1334"/>
        </pc:sldMkLst>
        <pc:spChg chg="mod">
          <ac:chgData name="Suzanne Kevlyn" userId="09e09a272ef5727f" providerId="LiveId" clId="{F0A46A80-A113-4D6F-B6DC-4FB215CCE083}" dt="2026-03-05T21:29:11.927" v="3661" actId="1076"/>
          <ac:spMkLst>
            <pc:docMk/>
            <pc:sldMk cId="3247736041" sldId="1334"/>
            <ac:spMk id="3" creationId="{4F10A559-970B-F593-2C71-9D856FF7BF07}"/>
          </ac:spMkLst>
        </pc:spChg>
        <pc:spChg chg="del">
          <ac:chgData name="Suzanne Kevlyn" userId="09e09a272ef5727f" providerId="LiveId" clId="{F0A46A80-A113-4D6F-B6DC-4FB215CCE083}" dt="2026-03-05T17:57:46.178" v="403" actId="478"/>
          <ac:spMkLst>
            <pc:docMk/>
            <pc:sldMk cId="3247736041" sldId="1334"/>
            <ac:spMk id="5" creationId="{0317EA0D-BBDA-B7B3-CF73-C859E5648B8D}"/>
          </ac:spMkLst>
        </pc:spChg>
        <pc:spChg chg="add mod">
          <ac:chgData name="Suzanne Kevlyn" userId="09e09a272ef5727f" providerId="LiveId" clId="{F0A46A80-A113-4D6F-B6DC-4FB215CCE083}" dt="2026-03-06T17:23:57.158" v="15571" actId="1076"/>
          <ac:spMkLst>
            <pc:docMk/>
            <pc:sldMk cId="3247736041" sldId="1334"/>
            <ac:spMk id="5" creationId="{7B59C357-8A2E-35E4-E5B4-A0AAA13564FE}"/>
          </ac:spMkLst>
        </pc:spChg>
      </pc:sldChg>
      <pc:sldChg chg="delSp del mod ord">
        <pc:chgData name="Suzanne Kevlyn" userId="09e09a272ef5727f" providerId="LiveId" clId="{F0A46A80-A113-4D6F-B6DC-4FB215CCE083}" dt="2026-03-05T21:33:13.599" v="3835" actId="2696"/>
        <pc:sldMkLst>
          <pc:docMk/>
          <pc:sldMk cId="3723800856" sldId="1336"/>
        </pc:sldMkLst>
        <pc:spChg chg="del">
          <ac:chgData name="Suzanne Kevlyn" userId="09e09a272ef5727f" providerId="LiveId" clId="{F0A46A80-A113-4D6F-B6DC-4FB215CCE083}" dt="2026-03-05T17:57:57.232" v="408" actId="478"/>
          <ac:spMkLst>
            <pc:docMk/>
            <pc:sldMk cId="3723800856" sldId="1336"/>
            <ac:spMk id="5" creationId="{FBF6DB19-E2D5-A40D-33B8-A693FFB44695}"/>
          </ac:spMkLst>
        </pc:spChg>
      </pc:sldChg>
      <pc:sldChg chg="addSp delSp modSp add mod">
        <pc:chgData name="Suzanne Kevlyn" userId="09e09a272ef5727f" providerId="LiveId" clId="{F0A46A80-A113-4D6F-B6DC-4FB215CCE083}" dt="2026-03-06T20:22:55.875" v="19338"/>
        <pc:sldMkLst>
          <pc:docMk/>
          <pc:sldMk cId="3963394417" sldId="1336"/>
        </pc:sldMkLst>
        <pc:spChg chg="add mod">
          <ac:chgData name="Suzanne Kevlyn" userId="09e09a272ef5727f" providerId="LiveId" clId="{F0A46A80-A113-4D6F-B6DC-4FB215CCE083}" dt="2026-03-05T21:34:32.294" v="3845" actId="1036"/>
          <ac:spMkLst>
            <pc:docMk/>
            <pc:sldMk cId="3963394417" sldId="1336"/>
            <ac:spMk id="5" creationId="{E8D5F3E9-76C4-8203-C4CA-DDBD029079C7}"/>
          </ac:spMkLst>
        </pc:spChg>
        <pc:spChg chg="del mod">
          <ac:chgData name="Suzanne Kevlyn" userId="09e09a272ef5727f" providerId="LiveId" clId="{F0A46A80-A113-4D6F-B6DC-4FB215CCE083}" dt="2026-03-06T16:00:11.958" v="12350" actId="478"/>
          <ac:spMkLst>
            <pc:docMk/>
            <pc:sldMk cId="3963394417" sldId="1336"/>
            <ac:spMk id="8" creationId="{5FBE2AE1-10C6-135A-D722-D460F3FCB7A9}"/>
          </ac:spMkLst>
        </pc:spChg>
        <pc:spChg chg="add mod">
          <ac:chgData name="Suzanne Kevlyn" userId="09e09a272ef5727f" providerId="LiveId" clId="{F0A46A80-A113-4D6F-B6DC-4FB215CCE083}" dt="2026-03-05T21:34:57.400" v="3854" actId="1076"/>
          <ac:spMkLst>
            <pc:docMk/>
            <pc:sldMk cId="3963394417" sldId="1336"/>
            <ac:spMk id="9" creationId="{0130E415-A79B-B310-ED65-AB227909C1B9}"/>
          </ac:spMkLst>
        </pc:spChg>
        <pc:spChg chg="add del mod">
          <ac:chgData name="Suzanne Kevlyn" userId="09e09a272ef5727f" providerId="LiveId" clId="{F0A46A80-A113-4D6F-B6DC-4FB215CCE083}" dt="2026-03-06T20:22:51.543" v="19337" actId="478"/>
          <ac:spMkLst>
            <pc:docMk/>
            <pc:sldMk cId="3963394417" sldId="1336"/>
            <ac:spMk id="10" creationId="{73F531E3-FC9C-F615-C696-44383A5417B5}"/>
          </ac:spMkLst>
        </pc:spChg>
        <pc:spChg chg="add mod">
          <ac:chgData name="Suzanne Kevlyn" userId="09e09a272ef5727f" providerId="LiveId" clId="{F0A46A80-A113-4D6F-B6DC-4FB215CCE083}" dt="2026-03-06T20:22:55.875" v="19338"/>
          <ac:spMkLst>
            <pc:docMk/>
            <pc:sldMk cId="3963394417" sldId="1336"/>
            <ac:spMk id="11" creationId="{ECC6B9A5-776D-527E-A516-82003E5AA2F1}"/>
          </ac:spMkLst>
        </pc:spChg>
        <pc:graphicFrameChg chg="mod">
          <ac:chgData name="Suzanne Kevlyn" userId="09e09a272ef5727f" providerId="LiveId" clId="{F0A46A80-A113-4D6F-B6DC-4FB215CCE083}" dt="2026-03-05T21:34:37.524" v="3851" actId="20577"/>
          <ac:graphicFrameMkLst>
            <pc:docMk/>
            <pc:sldMk cId="3963394417" sldId="1336"/>
            <ac:graphicFrameMk id="4" creationId="{7BEDBBC5-AAAA-D7F9-953F-03FB16866F13}"/>
          </ac:graphicFrameMkLst>
        </pc:graphicFrameChg>
      </pc:sldChg>
      <pc:sldChg chg="modSp mod">
        <pc:chgData name="Suzanne Kevlyn" userId="09e09a272ef5727f" providerId="LiveId" clId="{F0A46A80-A113-4D6F-B6DC-4FB215CCE083}" dt="2026-03-06T20:20:07.482" v="19290" actId="20577"/>
        <pc:sldMkLst>
          <pc:docMk/>
          <pc:sldMk cId="2612517789" sldId="1338"/>
        </pc:sldMkLst>
        <pc:spChg chg="mod">
          <ac:chgData name="Suzanne Kevlyn" userId="09e09a272ef5727f" providerId="LiveId" clId="{F0A46A80-A113-4D6F-B6DC-4FB215CCE083}" dt="2026-03-06T20:20:07.482" v="19290" actId="20577"/>
          <ac:spMkLst>
            <pc:docMk/>
            <pc:sldMk cId="2612517789" sldId="1338"/>
            <ac:spMk id="2" creationId="{8AFA0416-B934-5354-BE14-545C04761237}"/>
          </ac:spMkLst>
        </pc:spChg>
      </pc:sldChg>
      <pc:sldChg chg="delSp del mod">
        <pc:chgData name="Suzanne Kevlyn" userId="09e09a272ef5727f" providerId="LiveId" clId="{F0A46A80-A113-4D6F-B6DC-4FB215CCE083}" dt="2026-03-05T22:38:15.723" v="7216" actId="2696"/>
        <pc:sldMkLst>
          <pc:docMk/>
          <pc:sldMk cId="2504797574" sldId="1339"/>
        </pc:sldMkLst>
        <pc:spChg chg="del">
          <ac:chgData name="Suzanne Kevlyn" userId="09e09a272ef5727f" providerId="LiveId" clId="{F0A46A80-A113-4D6F-B6DC-4FB215CCE083}" dt="2026-03-05T17:59:15.879" v="431" actId="478"/>
          <ac:spMkLst>
            <pc:docMk/>
            <pc:sldMk cId="2504797574" sldId="1339"/>
            <ac:spMk id="5" creationId="{40DD1FF5-2B6E-E3C8-A771-2EFCE9B7FFC1}"/>
          </ac:spMkLst>
        </pc:spChg>
      </pc:sldChg>
      <pc:sldChg chg="addSp delSp modSp add mod">
        <pc:chgData name="Suzanne Kevlyn" userId="09e09a272ef5727f" providerId="LiveId" clId="{F0A46A80-A113-4D6F-B6DC-4FB215CCE083}" dt="2026-03-06T20:21:19.154" v="19326" actId="1076"/>
        <pc:sldMkLst>
          <pc:docMk/>
          <pc:sldMk cId="3230734480" sldId="1339"/>
        </pc:sldMkLst>
        <pc:spChg chg="add del mod">
          <ac:chgData name="Suzanne Kevlyn" userId="09e09a272ef5727f" providerId="LiveId" clId="{F0A46A80-A113-4D6F-B6DC-4FB215CCE083}" dt="2026-03-06T20:21:15.105" v="19325" actId="478"/>
          <ac:spMkLst>
            <pc:docMk/>
            <pc:sldMk cId="3230734480" sldId="1339"/>
            <ac:spMk id="5" creationId="{0DFDDBF7-D4F7-5CED-8C46-99260D8151B0}"/>
          </ac:spMkLst>
        </pc:spChg>
        <pc:spChg chg="del">
          <ac:chgData name="Suzanne Kevlyn" userId="09e09a272ef5727f" providerId="LiveId" clId="{F0A46A80-A113-4D6F-B6DC-4FB215CCE083}" dt="2026-03-06T15:59:56.257" v="12344" actId="478"/>
          <ac:spMkLst>
            <pc:docMk/>
            <pc:sldMk cId="3230734480" sldId="1339"/>
            <ac:spMk id="9" creationId="{5552A58A-7992-5829-4251-387A81836B3F}"/>
          </ac:spMkLst>
        </pc:spChg>
        <pc:spChg chg="add mod">
          <ac:chgData name="Suzanne Kevlyn" userId="09e09a272ef5727f" providerId="LiveId" clId="{F0A46A80-A113-4D6F-B6DC-4FB215CCE083}" dt="2026-03-06T20:21:19.154" v="19326" actId="1076"/>
          <ac:spMkLst>
            <pc:docMk/>
            <pc:sldMk cId="3230734480" sldId="1339"/>
            <ac:spMk id="11" creationId="{9B2AD17A-F44E-7E97-21CF-D642E27C1CC7}"/>
          </ac:spMkLst>
        </pc:spChg>
      </pc:sldChg>
      <pc:sldChg chg="addSp delSp modSp del mod">
        <pc:chgData name="Suzanne Kevlyn" userId="09e09a272ef5727f" providerId="LiveId" clId="{F0A46A80-A113-4D6F-B6DC-4FB215CCE083}" dt="2026-03-05T22:57:52.937" v="7610" actId="2696"/>
        <pc:sldMkLst>
          <pc:docMk/>
          <pc:sldMk cId="608179436" sldId="1340"/>
        </pc:sldMkLst>
        <pc:spChg chg="del">
          <ac:chgData name="Suzanne Kevlyn" userId="09e09a272ef5727f" providerId="LiveId" clId="{F0A46A80-A113-4D6F-B6DC-4FB215CCE083}" dt="2026-03-05T22:45:24.933" v="7227" actId="478"/>
          <ac:spMkLst>
            <pc:docMk/>
            <pc:sldMk cId="608179436" sldId="1340"/>
            <ac:spMk id="3" creationId="{09470A99-A4B3-F7E1-8E29-9BC46808EA84}"/>
          </ac:spMkLst>
        </pc:spChg>
        <pc:spChg chg="del">
          <ac:chgData name="Suzanne Kevlyn" userId="09e09a272ef5727f" providerId="LiveId" clId="{F0A46A80-A113-4D6F-B6DC-4FB215CCE083}" dt="2026-03-05T17:59:18.443" v="432" actId="478"/>
          <ac:spMkLst>
            <pc:docMk/>
            <pc:sldMk cId="608179436" sldId="1340"/>
            <ac:spMk id="5" creationId="{FC630CC7-206B-4E78-E086-1E884C88D70C}"/>
          </ac:spMkLst>
        </pc:spChg>
        <pc:graphicFrameChg chg="add mod modGraphic">
          <ac:chgData name="Suzanne Kevlyn" userId="09e09a272ef5727f" providerId="LiveId" clId="{F0A46A80-A113-4D6F-B6DC-4FB215CCE083}" dt="2026-03-05T22:46:39.141" v="7414" actId="404"/>
          <ac:graphicFrameMkLst>
            <pc:docMk/>
            <pc:sldMk cId="608179436" sldId="1340"/>
            <ac:graphicFrameMk id="4" creationId="{5D9B7506-F620-D2C5-0042-9D6303DB310B}"/>
          </ac:graphicFrameMkLst>
        </pc:graphicFrameChg>
      </pc:sldChg>
      <pc:sldChg chg="add del">
        <pc:chgData name="Suzanne Kevlyn" userId="09e09a272ef5727f" providerId="LiveId" clId="{F0A46A80-A113-4D6F-B6DC-4FB215CCE083}" dt="2026-03-05T22:41:16.230" v="7224" actId="2696"/>
        <pc:sldMkLst>
          <pc:docMk/>
          <pc:sldMk cId="1645528871" sldId="1341"/>
        </pc:sldMkLst>
      </pc:sldChg>
      <pc:sldChg chg="del">
        <pc:chgData name="Suzanne Kevlyn" userId="09e09a272ef5727f" providerId="LiveId" clId="{F0A46A80-A113-4D6F-B6DC-4FB215CCE083}" dt="2026-03-05T18:16:35.590" v="791" actId="2696"/>
        <pc:sldMkLst>
          <pc:docMk/>
          <pc:sldMk cId="3846366772" sldId="1341"/>
        </pc:sldMkLst>
      </pc:sldChg>
      <pc:sldChg chg="del">
        <pc:chgData name="Suzanne Kevlyn" userId="09e09a272ef5727f" providerId="LiveId" clId="{F0A46A80-A113-4D6F-B6DC-4FB215CCE083}" dt="2026-03-05T17:40:32.410" v="0" actId="2696"/>
        <pc:sldMkLst>
          <pc:docMk/>
          <pc:sldMk cId="2259980810" sldId="1342"/>
        </pc:sldMkLst>
      </pc:sldChg>
      <pc:sldChg chg="addSp delSp modSp mod">
        <pc:chgData name="Suzanne Kevlyn" userId="09e09a272ef5727f" providerId="LiveId" clId="{F0A46A80-A113-4D6F-B6DC-4FB215CCE083}" dt="2026-03-06T20:23:34.408" v="19344" actId="1038"/>
        <pc:sldMkLst>
          <pc:docMk/>
          <pc:sldMk cId="1523727788" sldId="1343"/>
        </pc:sldMkLst>
        <pc:spChg chg="mod">
          <ac:chgData name="Suzanne Kevlyn" userId="09e09a272ef5727f" providerId="LiveId" clId="{F0A46A80-A113-4D6F-B6DC-4FB215CCE083}" dt="2026-03-05T18:12:20.087" v="775" actId="1076"/>
          <ac:spMkLst>
            <pc:docMk/>
            <pc:sldMk cId="1523727788" sldId="1343"/>
            <ac:spMk id="2" creationId="{EA2FA73D-9292-063F-A212-96560C959E8A}"/>
          </ac:spMkLst>
        </pc:spChg>
        <pc:spChg chg="add del mod">
          <ac:chgData name="Suzanne Kevlyn" userId="09e09a272ef5727f" providerId="LiveId" clId="{F0A46A80-A113-4D6F-B6DC-4FB215CCE083}" dt="2026-03-06T16:00:16.306" v="12352" actId="478"/>
          <ac:spMkLst>
            <pc:docMk/>
            <pc:sldMk cId="1523727788" sldId="1343"/>
            <ac:spMk id="5" creationId="{C56788B3-9E36-D763-8362-054D2E3377F6}"/>
          </ac:spMkLst>
        </pc:spChg>
        <pc:spChg chg="del">
          <ac:chgData name="Suzanne Kevlyn" userId="09e09a272ef5727f" providerId="LiveId" clId="{F0A46A80-A113-4D6F-B6DC-4FB215CCE083}" dt="2026-03-05T17:58:14.612" v="418" actId="478"/>
          <ac:spMkLst>
            <pc:docMk/>
            <pc:sldMk cId="1523727788" sldId="1343"/>
            <ac:spMk id="5" creationId="{F248751D-9F7B-D437-CF26-3BD96922C5E6}"/>
          </ac:spMkLst>
        </pc:spChg>
        <pc:spChg chg="del">
          <ac:chgData name="Suzanne Kevlyn" userId="09e09a272ef5727f" providerId="LiveId" clId="{F0A46A80-A113-4D6F-B6DC-4FB215CCE083}" dt="2026-03-05T21:51:04.860" v="4882" actId="478"/>
          <ac:spMkLst>
            <pc:docMk/>
            <pc:sldMk cId="1523727788" sldId="1343"/>
            <ac:spMk id="8" creationId="{5FF48335-B46D-C93B-3040-D14539C45C55}"/>
          </ac:spMkLst>
        </pc:spChg>
        <pc:spChg chg="add mod">
          <ac:chgData name="Suzanne Kevlyn" userId="09e09a272ef5727f" providerId="LiveId" clId="{F0A46A80-A113-4D6F-B6DC-4FB215CCE083}" dt="2026-03-06T16:00:17.935" v="12353"/>
          <ac:spMkLst>
            <pc:docMk/>
            <pc:sldMk cId="1523727788" sldId="1343"/>
            <ac:spMk id="8" creationId="{77C48BFD-9406-2F33-BAE0-3F7C3142B86F}"/>
          </ac:spMkLst>
        </pc:spChg>
        <pc:picChg chg="add mod">
          <ac:chgData name="Suzanne Kevlyn" userId="09e09a272ef5727f" providerId="LiveId" clId="{F0A46A80-A113-4D6F-B6DC-4FB215CCE083}" dt="2026-03-06T20:23:34.408" v="19344" actId="1038"/>
          <ac:picMkLst>
            <pc:docMk/>
            <pc:sldMk cId="1523727788" sldId="1343"/>
            <ac:picMk id="11" creationId="{648ACFB7-704A-6AF6-327A-2F037401CCC7}"/>
          </ac:picMkLst>
        </pc:picChg>
      </pc:sldChg>
      <pc:sldChg chg="del">
        <pc:chgData name="Suzanne Kevlyn" userId="09e09a272ef5727f" providerId="LiveId" clId="{F0A46A80-A113-4D6F-B6DC-4FB215CCE083}" dt="2026-03-05T17:40:32.410" v="0" actId="2696"/>
        <pc:sldMkLst>
          <pc:docMk/>
          <pc:sldMk cId="3548930872" sldId="1344"/>
        </pc:sldMkLst>
      </pc:sldChg>
      <pc:sldChg chg="del">
        <pc:chgData name="Suzanne Kevlyn" userId="09e09a272ef5727f" providerId="LiveId" clId="{F0A46A80-A113-4D6F-B6DC-4FB215CCE083}" dt="2026-03-05T17:40:32.410" v="0" actId="2696"/>
        <pc:sldMkLst>
          <pc:docMk/>
          <pc:sldMk cId="282001071" sldId="1345"/>
        </pc:sldMkLst>
      </pc:sldChg>
      <pc:sldChg chg="del">
        <pc:chgData name="Suzanne Kevlyn" userId="09e09a272ef5727f" providerId="LiveId" clId="{F0A46A80-A113-4D6F-B6DC-4FB215CCE083}" dt="2026-03-05T17:40:32.410" v="0" actId="2696"/>
        <pc:sldMkLst>
          <pc:docMk/>
          <pc:sldMk cId="3104020769" sldId="1346"/>
        </pc:sldMkLst>
      </pc:sldChg>
      <pc:sldChg chg="addSp delSp modSp mod">
        <pc:chgData name="Suzanne Kevlyn" userId="09e09a272ef5727f" providerId="LiveId" clId="{F0A46A80-A113-4D6F-B6DC-4FB215CCE083}" dt="2026-03-05T22:27:00.267" v="6958" actId="1076"/>
        <pc:sldMkLst>
          <pc:docMk/>
          <pc:sldMk cId="3421870894" sldId="1347"/>
        </pc:sldMkLst>
        <pc:spChg chg="del">
          <ac:chgData name="Suzanne Kevlyn" userId="09e09a272ef5727f" providerId="LiveId" clId="{F0A46A80-A113-4D6F-B6DC-4FB215CCE083}" dt="2026-03-05T17:58:42.905" v="423" actId="478"/>
          <ac:spMkLst>
            <pc:docMk/>
            <pc:sldMk cId="3421870894" sldId="1347"/>
            <ac:spMk id="5" creationId="{8429B70D-7B7F-64A7-7D8E-B05858A6A53F}"/>
          </ac:spMkLst>
        </pc:spChg>
        <pc:spChg chg="mod">
          <ac:chgData name="Suzanne Kevlyn" userId="09e09a272ef5727f" providerId="LiveId" clId="{F0A46A80-A113-4D6F-B6DC-4FB215CCE083}" dt="2026-03-05T22:27:00.267" v="6958" actId="1076"/>
          <ac:spMkLst>
            <pc:docMk/>
            <pc:sldMk cId="3421870894" sldId="1347"/>
            <ac:spMk id="8" creationId="{1B5F56BF-3DC5-DBB2-4FCF-69E8CC3C9D1A}"/>
          </ac:spMkLst>
        </pc:spChg>
        <pc:spChg chg="del">
          <ac:chgData name="Suzanne Kevlyn" userId="09e09a272ef5727f" providerId="LiveId" clId="{F0A46A80-A113-4D6F-B6DC-4FB215CCE083}" dt="2026-03-05T22:21:51.356" v="6871" actId="478"/>
          <ac:spMkLst>
            <pc:docMk/>
            <pc:sldMk cId="3421870894" sldId="1347"/>
            <ac:spMk id="9" creationId="{9C0C29FE-BC87-FF87-93F4-CBF2F4BF10A6}"/>
          </ac:spMkLst>
        </pc:spChg>
        <pc:graphicFrameChg chg="add mod modGraphic">
          <ac:chgData name="Suzanne Kevlyn" userId="09e09a272ef5727f" providerId="LiveId" clId="{F0A46A80-A113-4D6F-B6DC-4FB215CCE083}" dt="2026-03-05T22:26:04.474" v="6948" actId="1076"/>
          <ac:graphicFrameMkLst>
            <pc:docMk/>
            <pc:sldMk cId="3421870894" sldId="1347"/>
            <ac:graphicFrameMk id="3" creationId="{F011AD57-CDD6-883F-3403-BA8097033931}"/>
          </ac:graphicFrameMkLst>
        </pc:graphicFrameChg>
        <pc:graphicFrameChg chg="mod">
          <ac:chgData name="Suzanne Kevlyn" userId="09e09a272ef5727f" providerId="LiveId" clId="{F0A46A80-A113-4D6F-B6DC-4FB215CCE083}" dt="2026-03-05T22:26:26.667" v="6954" actId="403"/>
          <ac:graphicFrameMkLst>
            <pc:docMk/>
            <pc:sldMk cId="3421870894" sldId="1347"/>
            <ac:graphicFrameMk id="4" creationId="{A8E328E3-23F3-E577-6F4A-CD62EA9F919F}"/>
          </ac:graphicFrameMkLst>
        </pc:graphicFrameChg>
        <pc:cxnChg chg="add mod">
          <ac:chgData name="Suzanne Kevlyn" userId="09e09a272ef5727f" providerId="LiveId" clId="{F0A46A80-A113-4D6F-B6DC-4FB215CCE083}" dt="2026-03-05T22:26:08.966" v="6949" actId="1076"/>
          <ac:cxnSpMkLst>
            <pc:docMk/>
            <pc:sldMk cId="3421870894" sldId="1347"/>
            <ac:cxnSpMk id="5" creationId="{43946A58-5347-B045-C5D3-06AAF0D7C31E}"/>
          </ac:cxnSpMkLst>
        </pc:cxnChg>
      </pc:sldChg>
      <pc:sldChg chg="delSp modSp mod">
        <pc:chgData name="Suzanne Kevlyn" userId="09e09a272ef5727f" providerId="LiveId" clId="{F0A46A80-A113-4D6F-B6DC-4FB215CCE083}" dt="2026-03-05T22:34:40.733" v="7191" actId="478"/>
        <pc:sldMkLst>
          <pc:docMk/>
          <pc:sldMk cId="4215135827" sldId="1350"/>
        </pc:sldMkLst>
        <pc:spChg chg="del">
          <ac:chgData name="Suzanne Kevlyn" userId="09e09a272ef5727f" providerId="LiveId" clId="{F0A46A80-A113-4D6F-B6DC-4FB215CCE083}" dt="2026-03-05T17:59:10.269" v="430" actId="478"/>
          <ac:spMkLst>
            <pc:docMk/>
            <pc:sldMk cId="4215135827" sldId="1350"/>
            <ac:spMk id="5" creationId="{8CBDA9CB-EB5D-5AA7-F4D7-02CA4B7F5CB9}"/>
          </ac:spMkLst>
        </pc:spChg>
        <pc:spChg chg="del">
          <ac:chgData name="Suzanne Kevlyn" userId="09e09a272ef5727f" providerId="LiveId" clId="{F0A46A80-A113-4D6F-B6DC-4FB215CCE083}" dt="2026-03-05T22:34:40.733" v="7191" actId="478"/>
          <ac:spMkLst>
            <pc:docMk/>
            <pc:sldMk cId="4215135827" sldId="1350"/>
            <ac:spMk id="8" creationId="{8C410F60-CB93-1C7F-0FC8-E1DCE62113CB}"/>
          </ac:spMkLst>
        </pc:spChg>
        <pc:graphicFrameChg chg="mod ord">
          <ac:chgData name="Suzanne Kevlyn" userId="09e09a272ef5727f" providerId="LiveId" clId="{F0A46A80-A113-4D6F-B6DC-4FB215CCE083}" dt="2026-03-05T22:34:20.143" v="7190"/>
          <ac:graphicFrameMkLst>
            <pc:docMk/>
            <pc:sldMk cId="4215135827" sldId="1350"/>
            <ac:graphicFrameMk id="4" creationId="{44DABEFF-0B5F-B023-E2D0-92EBDAAD30B6}"/>
          </ac:graphicFrameMkLst>
        </pc:graphicFrameChg>
      </pc:sldChg>
      <pc:sldChg chg="del">
        <pc:chgData name="Suzanne Kevlyn" userId="09e09a272ef5727f" providerId="LiveId" clId="{F0A46A80-A113-4D6F-B6DC-4FB215CCE083}" dt="2026-03-05T17:40:32.410" v="0" actId="2696"/>
        <pc:sldMkLst>
          <pc:docMk/>
          <pc:sldMk cId="3338907294" sldId="1351"/>
        </pc:sldMkLst>
      </pc:sldChg>
      <pc:sldChg chg="add del">
        <pc:chgData name="Suzanne Kevlyn" userId="09e09a272ef5727f" providerId="LiveId" clId="{F0A46A80-A113-4D6F-B6DC-4FB215CCE083}" dt="2026-03-05T22:41:16.230" v="7224" actId="2696"/>
        <pc:sldMkLst>
          <pc:docMk/>
          <pc:sldMk cId="14927090" sldId="1352"/>
        </pc:sldMkLst>
      </pc:sldChg>
      <pc:sldChg chg="del">
        <pc:chgData name="Suzanne Kevlyn" userId="09e09a272ef5727f" providerId="LiveId" clId="{F0A46A80-A113-4D6F-B6DC-4FB215CCE083}" dt="2026-03-05T18:16:35.590" v="791" actId="2696"/>
        <pc:sldMkLst>
          <pc:docMk/>
          <pc:sldMk cId="3722613124" sldId="1352"/>
        </pc:sldMkLst>
      </pc:sldChg>
      <pc:sldChg chg="del">
        <pc:chgData name="Suzanne Kevlyn" userId="09e09a272ef5727f" providerId="LiveId" clId="{F0A46A80-A113-4D6F-B6DC-4FB215CCE083}" dt="2026-03-05T17:40:32.410" v="0" actId="2696"/>
        <pc:sldMkLst>
          <pc:docMk/>
          <pc:sldMk cId="2944710428" sldId="1355"/>
        </pc:sldMkLst>
      </pc:sldChg>
      <pc:sldChg chg="del">
        <pc:chgData name="Suzanne Kevlyn" userId="09e09a272ef5727f" providerId="LiveId" clId="{F0A46A80-A113-4D6F-B6DC-4FB215CCE083}" dt="2026-03-05T17:40:32.410" v="0" actId="2696"/>
        <pc:sldMkLst>
          <pc:docMk/>
          <pc:sldMk cId="2599174758" sldId="1356"/>
        </pc:sldMkLst>
      </pc:sldChg>
      <pc:sldChg chg="del">
        <pc:chgData name="Suzanne Kevlyn" userId="09e09a272ef5727f" providerId="LiveId" clId="{F0A46A80-A113-4D6F-B6DC-4FB215CCE083}" dt="2026-03-05T17:40:32.410" v="0" actId="2696"/>
        <pc:sldMkLst>
          <pc:docMk/>
          <pc:sldMk cId="3803715439" sldId="1357"/>
        </pc:sldMkLst>
      </pc:sldChg>
      <pc:sldChg chg="del">
        <pc:chgData name="Suzanne Kevlyn" userId="09e09a272ef5727f" providerId="LiveId" clId="{F0A46A80-A113-4D6F-B6DC-4FB215CCE083}" dt="2026-03-05T17:40:32.410" v="0" actId="2696"/>
        <pc:sldMkLst>
          <pc:docMk/>
          <pc:sldMk cId="0" sldId="1878"/>
        </pc:sldMkLst>
      </pc:sldChg>
      <pc:sldChg chg="del">
        <pc:chgData name="Suzanne Kevlyn" userId="09e09a272ef5727f" providerId="LiveId" clId="{F0A46A80-A113-4D6F-B6DC-4FB215CCE083}" dt="2026-03-05T17:40:32.410" v="0" actId="2696"/>
        <pc:sldMkLst>
          <pc:docMk/>
          <pc:sldMk cId="0" sldId="1959"/>
        </pc:sldMkLst>
      </pc:sldChg>
      <pc:sldChg chg="del">
        <pc:chgData name="Suzanne Kevlyn" userId="09e09a272ef5727f" providerId="LiveId" clId="{F0A46A80-A113-4D6F-B6DC-4FB215CCE083}" dt="2026-03-05T17:40:32.410" v="0" actId="2696"/>
        <pc:sldMkLst>
          <pc:docMk/>
          <pc:sldMk cId="0" sldId="1963"/>
        </pc:sldMkLst>
      </pc:sldChg>
      <pc:sldChg chg="del">
        <pc:chgData name="Suzanne Kevlyn" userId="09e09a272ef5727f" providerId="LiveId" clId="{F0A46A80-A113-4D6F-B6DC-4FB215CCE083}" dt="2026-03-05T17:40:32.410" v="0" actId="2696"/>
        <pc:sldMkLst>
          <pc:docMk/>
          <pc:sldMk cId="2119186505" sldId="2147475116"/>
        </pc:sldMkLst>
      </pc:sldChg>
      <pc:sldChg chg="addSp delSp modSp mod ord">
        <pc:chgData name="Suzanne Kevlyn" userId="09e09a272ef5727f" providerId="LiveId" clId="{F0A46A80-A113-4D6F-B6DC-4FB215CCE083}" dt="2026-03-06T20:19:01.410" v="19256" actId="478"/>
        <pc:sldMkLst>
          <pc:docMk/>
          <pc:sldMk cId="3299328505" sldId="2147475119"/>
        </pc:sldMkLst>
        <pc:spChg chg="add mod">
          <ac:chgData name="Suzanne Kevlyn" userId="09e09a272ef5727f" providerId="LiveId" clId="{F0A46A80-A113-4D6F-B6DC-4FB215CCE083}" dt="2026-03-05T17:48:49.011" v="314"/>
          <ac:spMkLst>
            <pc:docMk/>
            <pc:sldMk cId="3299328505" sldId="2147475119"/>
            <ac:spMk id="3" creationId="{545D42CE-F53A-B8F9-387D-088DCC4344E8}"/>
          </ac:spMkLst>
        </pc:spChg>
        <pc:spChg chg="add del mod">
          <ac:chgData name="Suzanne Kevlyn" userId="09e09a272ef5727f" providerId="LiveId" clId="{F0A46A80-A113-4D6F-B6DC-4FB215CCE083}" dt="2026-03-06T20:19:01.410" v="19256" actId="478"/>
          <ac:spMkLst>
            <pc:docMk/>
            <pc:sldMk cId="3299328505" sldId="2147475119"/>
            <ac:spMk id="4" creationId="{DAB197AD-C754-5357-CC70-D6A29F79CD57}"/>
          </ac:spMkLst>
        </pc:spChg>
        <pc:spChg chg="add del">
          <ac:chgData name="Suzanne Kevlyn" userId="09e09a272ef5727f" providerId="LiveId" clId="{F0A46A80-A113-4D6F-B6DC-4FB215CCE083}" dt="2026-03-05T17:49:29.016" v="322" actId="478"/>
          <ac:spMkLst>
            <pc:docMk/>
            <pc:sldMk cId="3299328505" sldId="2147475119"/>
            <ac:spMk id="5" creationId="{6C0F31FC-7CC9-6130-ECEA-68DC40A04797}"/>
          </ac:spMkLst>
        </pc:spChg>
      </pc:sldChg>
      <pc:sldChg chg="del">
        <pc:chgData name="Suzanne Kevlyn" userId="09e09a272ef5727f" providerId="LiveId" clId="{F0A46A80-A113-4D6F-B6DC-4FB215CCE083}" dt="2026-03-05T17:40:32.410" v="0" actId="2696"/>
        <pc:sldMkLst>
          <pc:docMk/>
          <pc:sldMk cId="3737322488" sldId="2147475120"/>
        </pc:sldMkLst>
      </pc:sldChg>
      <pc:sldChg chg="del">
        <pc:chgData name="Suzanne Kevlyn" userId="09e09a272ef5727f" providerId="LiveId" clId="{F0A46A80-A113-4D6F-B6DC-4FB215CCE083}" dt="2026-03-05T17:40:32.410" v="0" actId="2696"/>
        <pc:sldMkLst>
          <pc:docMk/>
          <pc:sldMk cId="833147761" sldId="2147475121"/>
        </pc:sldMkLst>
      </pc:sldChg>
      <pc:sldChg chg="addSp delSp modSp mod">
        <pc:chgData name="Suzanne Kevlyn" userId="09e09a272ef5727f" providerId="LiveId" clId="{F0A46A80-A113-4D6F-B6DC-4FB215CCE083}" dt="2026-03-05T21:19:45.314" v="3021" actId="27918"/>
        <pc:sldMkLst>
          <pc:docMk/>
          <pc:sldMk cId="1761141879" sldId="2147475122"/>
        </pc:sldMkLst>
        <pc:spChg chg="del">
          <ac:chgData name="Suzanne Kevlyn" userId="09e09a272ef5727f" providerId="LiveId" clId="{F0A46A80-A113-4D6F-B6DC-4FB215CCE083}" dt="2026-03-05T17:49:46.705" v="326" actId="478"/>
          <ac:spMkLst>
            <pc:docMk/>
            <pc:sldMk cId="1761141879" sldId="2147475122"/>
            <ac:spMk id="5" creationId="{B9F3332E-B029-AB10-3C8F-64686A90F0C9}"/>
          </ac:spMkLst>
        </pc:spChg>
        <pc:spChg chg="add del mod">
          <ac:chgData name="Suzanne Kevlyn" userId="09e09a272ef5727f" providerId="LiveId" clId="{F0A46A80-A113-4D6F-B6DC-4FB215CCE083}" dt="2026-03-05T17:57:36.409" v="399" actId="478"/>
          <ac:spMkLst>
            <pc:docMk/>
            <pc:sldMk cId="1761141879" sldId="2147475122"/>
            <ac:spMk id="8" creationId="{FC9DC5A6-E04B-84C1-4C0E-6170457016A2}"/>
          </ac:spMkLst>
        </pc:spChg>
        <pc:spChg chg="mod">
          <ac:chgData name="Suzanne Kevlyn" userId="09e09a272ef5727f" providerId="LiveId" clId="{F0A46A80-A113-4D6F-B6DC-4FB215CCE083}" dt="2026-03-05T18:05:58.015" v="679" actId="208"/>
          <ac:spMkLst>
            <pc:docMk/>
            <pc:sldMk cId="1761141879" sldId="2147475122"/>
            <ac:spMk id="13" creationId="{2AB19763-572E-5F90-9DCC-34E28F61E8F6}"/>
          </ac:spMkLst>
        </pc:spChg>
        <pc:graphicFrameChg chg="mod">
          <ac:chgData name="Suzanne Kevlyn" userId="09e09a272ef5727f" providerId="LiveId" clId="{F0A46A80-A113-4D6F-B6DC-4FB215CCE083}" dt="2026-03-05T21:19:36.762" v="3020" actId="207"/>
          <ac:graphicFrameMkLst>
            <pc:docMk/>
            <pc:sldMk cId="1761141879" sldId="2147475122"/>
            <ac:graphicFrameMk id="4" creationId="{2A8C450D-4AAB-65F2-EA05-AD8A32EB128D}"/>
          </ac:graphicFrameMkLst>
        </pc:graphicFrameChg>
      </pc:sldChg>
      <pc:sldChg chg="del">
        <pc:chgData name="Suzanne Kevlyn" userId="09e09a272ef5727f" providerId="LiveId" clId="{F0A46A80-A113-4D6F-B6DC-4FB215CCE083}" dt="2026-03-05T17:40:32.410" v="0" actId="2696"/>
        <pc:sldMkLst>
          <pc:docMk/>
          <pc:sldMk cId="403885399" sldId="2147475123"/>
        </pc:sldMkLst>
      </pc:sldChg>
      <pc:sldChg chg="delSp modSp del mod">
        <pc:chgData name="Suzanne Kevlyn" userId="09e09a272ef5727f" providerId="LiveId" clId="{F0A46A80-A113-4D6F-B6DC-4FB215CCE083}" dt="2026-03-05T21:50:34.241" v="4881" actId="2696"/>
        <pc:sldMkLst>
          <pc:docMk/>
          <pc:sldMk cId="2942027827" sldId="2147475126"/>
        </pc:sldMkLst>
        <pc:spChg chg="del mod">
          <ac:chgData name="Suzanne Kevlyn" userId="09e09a272ef5727f" providerId="LiveId" clId="{F0A46A80-A113-4D6F-B6DC-4FB215CCE083}" dt="2026-03-05T17:58:13.430" v="417" actId="478"/>
          <ac:spMkLst>
            <pc:docMk/>
            <pc:sldMk cId="2942027827" sldId="2147475126"/>
            <ac:spMk id="5" creationId="{293F4523-06A4-6721-3973-DBB1B26C7950}"/>
          </ac:spMkLst>
        </pc:spChg>
      </pc:sldChg>
      <pc:sldChg chg="del">
        <pc:chgData name="Suzanne Kevlyn" userId="09e09a272ef5727f" providerId="LiveId" clId="{F0A46A80-A113-4D6F-B6DC-4FB215CCE083}" dt="2026-03-05T17:40:32.410" v="0" actId="2696"/>
        <pc:sldMkLst>
          <pc:docMk/>
          <pc:sldMk cId="433938394" sldId="2147475129"/>
        </pc:sldMkLst>
      </pc:sldChg>
      <pc:sldChg chg="del">
        <pc:chgData name="Suzanne Kevlyn" userId="09e09a272ef5727f" providerId="LiveId" clId="{F0A46A80-A113-4D6F-B6DC-4FB215CCE083}" dt="2026-03-05T17:40:32.410" v="0" actId="2696"/>
        <pc:sldMkLst>
          <pc:docMk/>
          <pc:sldMk cId="3432064685" sldId="2147475130"/>
        </pc:sldMkLst>
      </pc:sldChg>
      <pc:sldChg chg="del">
        <pc:chgData name="Suzanne Kevlyn" userId="09e09a272ef5727f" providerId="LiveId" clId="{F0A46A80-A113-4D6F-B6DC-4FB215CCE083}" dt="2026-03-05T17:40:32.410" v="0" actId="2696"/>
        <pc:sldMkLst>
          <pc:docMk/>
          <pc:sldMk cId="1929852103" sldId="2147475131"/>
        </pc:sldMkLst>
      </pc:sldChg>
      <pc:sldChg chg="add del">
        <pc:chgData name="Suzanne Kevlyn" userId="09e09a272ef5727f" providerId="LiveId" clId="{F0A46A80-A113-4D6F-B6DC-4FB215CCE083}" dt="2026-03-05T22:41:16.230" v="7224" actId="2696"/>
        <pc:sldMkLst>
          <pc:docMk/>
          <pc:sldMk cId="676457828" sldId="2147475132"/>
        </pc:sldMkLst>
      </pc:sldChg>
      <pc:sldChg chg="del">
        <pc:chgData name="Suzanne Kevlyn" userId="09e09a272ef5727f" providerId="LiveId" clId="{F0A46A80-A113-4D6F-B6DC-4FB215CCE083}" dt="2026-03-05T18:16:35.590" v="791" actId="2696"/>
        <pc:sldMkLst>
          <pc:docMk/>
          <pc:sldMk cId="718611407" sldId="2147475132"/>
        </pc:sldMkLst>
      </pc:sldChg>
      <pc:sldChg chg="del">
        <pc:chgData name="Suzanne Kevlyn" userId="09e09a272ef5727f" providerId="LiveId" clId="{F0A46A80-A113-4D6F-B6DC-4FB215CCE083}" dt="2026-03-05T18:16:35.590" v="791" actId="2696"/>
        <pc:sldMkLst>
          <pc:docMk/>
          <pc:sldMk cId="4017441937" sldId="2147475133"/>
        </pc:sldMkLst>
      </pc:sldChg>
      <pc:sldChg chg="add del">
        <pc:chgData name="Suzanne Kevlyn" userId="09e09a272ef5727f" providerId="LiveId" clId="{F0A46A80-A113-4D6F-B6DC-4FB215CCE083}" dt="2026-03-05T22:41:16.230" v="7224" actId="2696"/>
        <pc:sldMkLst>
          <pc:docMk/>
          <pc:sldMk cId="4101107396" sldId="2147475133"/>
        </pc:sldMkLst>
      </pc:sldChg>
      <pc:sldChg chg="add del modTransition">
        <pc:chgData name="Suzanne Kevlyn" userId="09e09a272ef5727f" providerId="LiveId" clId="{F0A46A80-A113-4D6F-B6DC-4FB215CCE083}" dt="2026-03-05T22:41:16.230" v="7224" actId="2696"/>
        <pc:sldMkLst>
          <pc:docMk/>
          <pc:sldMk cId="857272594" sldId="2147475134"/>
        </pc:sldMkLst>
      </pc:sldChg>
      <pc:sldChg chg="del">
        <pc:chgData name="Suzanne Kevlyn" userId="09e09a272ef5727f" providerId="LiveId" clId="{F0A46A80-A113-4D6F-B6DC-4FB215CCE083}" dt="2026-03-05T18:16:35.590" v="791" actId="2696"/>
        <pc:sldMkLst>
          <pc:docMk/>
          <pc:sldMk cId="2072412091" sldId="2147475134"/>
        </pc:sldMkLst>
      </pc:sldChg>
      <pc:sldChg chg="del">
        <pc:chgData name="Suzanne Kevlyn" userId="09e09a272ef5727f" providerId="LiveId" clId="{F0A46A80-A113-4D6F-B6DC-4FB215CCE083}" dt="2026-03-05T17:40:32.410" v="0" actId="2696"/>
        <pc:sldMkLst>
          <pc:docMk/>
          <pc:sldMk cId="710664095" sldId="2147475135"/>
        </pc:sldMkLst>
      </pc:sldChg>
      <pc:sldChg chg="del">
        <pc:chgData name="Suzanne Kevlyn" userId="09e09a272ef5727f" providerId="LiveId" clId="{F0A46A80-A113-4D6F-B6DC-4FB215CCE083}" dt="2026-03-05T17:40:32.410" v="0" actId="2696"/>
        <pc:sldMkLst>
          <pc:docMk/>
          <pc:sldMk cId="1200690652" sldId="2147475136"/>
        </pc:sldMkLst>
      </pc:sldChg>
      <pc:sldChg chg="addSp delSp modSp mod">
        <pc:chgData name="Suzanne Kevlyn" userId="09e09a272ef5727f" providerId="LiveId" clId="{F0A46A80-A113-4D6F-B6DC-4FB215CCE083}" dt="2026-03-05T23:08:34.854" v="8000" actId="5793"/>
        <pc:sldMkLst>
          <pc:docMk/>
          <pc:sldMk cId="855138257" sldId="2147475138"/>
        </pc:sldMkLst>
        <pc:spChg chg="add mod">
          <ac:chgData name="Suzanne Kevlyn" userId="09e09a272ef5727f" providerId="LiveId" clId="{F0A46A80-A113-4D6F-B6DC-4FB215CCE083}" dt="2026-03-05T23:08:34.854" v="8000" actId="5793"/>
          <ac:spMkLst>
            <pc:docMk/>
            <pc:sldMk cId="855138257" sldId="2147475138"/>
            <ac:spMk id="3" creationId="{D22697F0-293F-24E5-F8BA-913450217308}"/>
          </ac:spMkLst>
        </pc:spChg>
        <pc:spChg chg="del">
          <ac:chgData name="Suzanne Kevlyn" userId="09e09a272ef5727f" providerId="LiveId" clId="{F0A46A80-A113-4D6F-B6DC-4FB215CCE083}" dt="2026-03-05T17:57:42.001" v="401" actId="478"/>
          <ac:spMkLst>
            <pc:docMk/>
            <pc:sldMk cId="855138257" sldId="2147475138"/>
            <ac:spMk id="5" creationId="{F11DBC6B-3C80-8084-3F9F-A0D24EDB7349}"/>
          </ac:spMkLst>
        </pc:spChg>
        <pc:spChg chg="mod">
          <ac:chgData name="Suzanne Kevlyn" userId="09e09a272ef5727f" providerId="LiveId" clId="{F0A46A80-A113-4D6F-B6DC-4FB215CCE083}" dt="2026-03-05T23:08:05.208" v="7981" actId="1076"/>
          <ac:spMkLst>
            <pc:docMk/>
            <pc:sldMk cId="855138257" sldId="2147475138"/>
            <ac:spMk id="9" creationId="{5333F97B-021E-DC36-FF3F-4FEC443F5FB6}"/>
          </ac:spMkLst>
        </pc:spChg>
        <pc:graphicFrameChg chg="mod">
          <ac:chgData name="Suzanne Kevlyn" userId="09e09a272ef5727f" providerId="LiveId" clId="{F0A46A80-A113-4D6F-B6DC-4FB215CCE083}" dt="2026-03-05T23:08:10.213" v="7982" actId="1076"/>
          <ac:graphicFrameMkLst>
            <pc:docMk/>
            <pc:sldMk cId="855138257" sldId="2147475138"/>
            <ac:graphicFrameMk id="4" creationId="{632BB825-DA01-0DF6-24E5-31357A326FB4}"/>
          </ac:graphicFrameMkLst>
        </pc:graphicFrameChg>
      </pc:sldChg>
      <pc:sldChg chg="addSp delSp modSp mod">
        <pc:chgData name="Suzanne Kevlyn" userId="09e09a272ef5727f" providerId="LiveId" clId="{F0A46A80-A113-4D6F-B6DC-4FB215CCE083}" dt="2026-03-06T17:28:16.381" v="16050" actId="1076"/>
        <pc:sldMkLst>
          <pc:docMk/>
          <pc:sldMk cId="2749771062" sldId="2147475139"/>
        </pc:sldMkLst>
        <pc:spChg chg="add mod">
          <ac:chgData name="Suzanne Kevlyn" userId="09e09a272ef5727f" providerId="LiveId" clId="{F0A46A80-A113-4D6F-B6DC-4FB215CCE083}" dt="2026-03-06T17:28:16.381" v="16050" actId="1076"/>
          <ac:spMkLst>
            <pc:docMk/>
            <pc:sldMk cId="2749771062" sldId="2147475139"/>
            <ac:spMk id="3" creationId="{E324D3E9-E1B7-306E-ACD0-CAEDBF17070A}"/>
          </ac:spMkLst>
        </pc:spChg>
        <pc:spChg chg="del">
          <ac:chgData name="Suzanne Kevlyn" userId="09e09a272ef5727f" providerId="LiveId" clId="{F0A46A80-A113-4D6F-B6DC-4FB215CCE083}" dt="2026-03-05T17:57:50.875" v="405" actId="478"/>
          <ac:spMkLst>
            <pc:docMk/>
            <pc:sldMk cId="2749771062" sldId="2147475139"/>
            <ac:spMk id="5" creationId="{5B63024D-E3AA-6730-50EF-94DBBA95C128}"/>
          </ac:spMkLst>
        </pc:spChg>
        <pc:spChg chg="mod">
          <ac:chgData name="Suzanne Kevlyn" userId="09e09a272ef5727f" providerId="LiveId" clId="{F0A46A80-A113-4D6F-B6DC-4FB215CCE083}" dt="2026-03-05T18:10:48.708" v="762" actId="207"/>
          <ac:spMkLst>
            <pc:docMk/>
            <pc:sldMk cId="2749771062" sldId="2147475139"/>
            <ac:spMk id="12" creationId="{412EE160-3C24-5597-1662-51D1681E710B}"/>
          </ac:spMkLst>
        </pc:spChg>
        <pc:spChg chg="mod">
          <ac:chgData name="Suzanne Kevlyn" userId="09e09a272ef5727f" providerId="LiveId" clId="{F0A46A80-A113-4D6F-B6DC-4FB215CCE083}" dt="2026-03-05T18:10:37.921" v="760" actId="207"/>
          <ac:spMkLst>
            <pc:docMk/>
            <pc:sldMk cId="2749771062" sldId="2147475139"/>
            <ac:spMk id="13" creationId="{606BC521-9A08-FC5E-0D2A-25AE9B8428FD}"/>
          </ac:spMkLst>
        </pc:spChg>
        <pc:spChg chg="mod">
          <ac:chgData name="Suzanne Kevlyn" userId="09e09a272ef5727f" providerId="LiveId" clId="{F0A46A80-A113-4D6F-B6DC-4FB215CCE083}" dt="2026-03-05T18:10:35.275" v="759" actId="207"/>
          <ac:spMkLst>
            <pc:docMk/>
            <pc:sldMk cId="2749771062" sldId="2147475139"/>
            <ac:spMk id="14" creationId="{245E2D2E-5877-66A2-0B12-45B9CB6B1226}"/>
          </ac:spMkLst>
        </pc:spChg>
      </pc:sldChg>
      <pc:sldChg chg="addSp delSp modSp mod">
        <pc:chgData name="Suzanne Kevlyn" userId="09e09a272ef5727f" providerId="LiveId" clId="{F0A46A80-A113-4D6F-B6DC-4FB215CCE083}" dt="2026-03-06T20:20:43.841" v="19322" actId="14100"/>
        <pc:sldMkLst>
          <pc:docMk/>
          <pc:sldMk cId="3887212813" sldId="2147475140"/>
        </pc:sldMkLst>
        <pc:spChg chg="mod">
          <ac:chgData name="Suzanne Kevlyn" userId="09e09a272ef5727f" providerId="LiveId" clId="{F0A46A80-A113-4D6F-B6DC-4FB215CCE083}" dt="2026-03-06T20:20:23.002" v="19292" actId="6549"/>
          <ac:spMkLst>
            <pc:docMk/>
            <pc:sldMk cId="3887212813" sldId="2147475140"/>
            <ac:spMk id="3" creationId="{E833B55A-29ED-1C6E-8038-1BF922D9DC62}"/>
          </ac:spMkLst>
        </pc:spChg>
        <pc:spChg chg="mod">
          <ac:chgData name="Suzanne Kevlyn" userId="09e09a272ef5727f" providerId="LiveId" clId="{F0A46A80-A113-4D6F-B6DC-4FB215CCE083}" dt="2026-03-06T20:20:43.841" v="19322" actId="14100"/>
          <ac:spMkLst>
            <pc:docMk/>
            <pc:sldMk cId="3887212813" sldId="2147475140"/>
            <ac:spMk id="4" creationId="{915FEEFD-6B7C-C8E9-6026-08A270C1058C}"/>
          </ac:spMkLst>
        </pc:spChg>
        <pc:spChg chg="add mod">
          <ac:chgData name="Suzanne Kevlyn" userId="09e09a272ef5727f" providerId="LiveId" clId="{F0A46A80-A113-4D6F-B6DC-4FB215CCE083}" dt="2026-03-05T21:36:13.572" v="3861" actId="1038"/>
          <ac:spMkLst>
            <pc:docMk/>
            <pc:sldMk cId="3887212813" sldId="2147475140"/>
            <ac:spMk id="5" creationId="{0A79B357-C332-1FF9-2FFD-ACB4D917CDB3}"/>
          </ac:spMkLst>
        </pc:spChg>
        <pc:spChg chg="del">
          <ac:chgData name="Suzanne Kevlyn" userId="09e09a272ef5727f" providerId="LiveId" clId="{F0A46A80-A113-4D6F-B6DC-4FB215CCE083}" dt="2026-03-05T17:58:02.635" v="410" actId="478"/>
          <ac:spMkLst>
            <pc:docMk/>
            <pc:sldMk cId="3887212813" sldId="2147475140"/>
            <ac:spMk id="5" creationId="{A611A6FB-FF8C-C85A-AFC9-8433707E4BC0}"/>
          </ac:spMkLst>
        </pc:spChg>
        <pc:spChg chg="del">
          <ac:chgData name="Suzanne Kevlyn" userId="09e09a272ef5727f" providerId="LiveId" clId="{F0A46A80-A113-4D6F-B6DC-4FB215CCE083}" dt="2026-03-05T17:59:43.504" v="436" actId="478"/>
          <ac:spMkLst>
            <pc:docMk/>
            <pc:sldMk cId="3887212813" sldId="2147475140"/>
            <ac:spMk id="8" creationId="{93D3AEC9-B691-35C2-1C03-7E5956F0C35B}"/>
          </ac:spMkLst>
        </pc:spChg>
      </pc:sldChg>
      <pc:sldChg chg="delSp add del setBg delDesignElem">
        <pc:chgData name="Suzanne Kevlyn" userId="09e09a272ef5727f" providerId="LiveId" clId="{F0A46A80-A113-4D6F-B6DC-4FB215CCE083}" dt="2026-03-05T22:41:16.230" v="7224" actId="2696"/>
        <pc:sldMkLst>
          <pc:docMk/>
          <pc:sldMk cId="4129188631" sldId="2147475141"/>
        </pc:sldMkLst>
        <pc:spChg chg="del">
          <ac:chgData name="Suzanne Kevlyn" userId="09e09a272ef5727f" providerId="LiveId" clId="{F0A46A80-A113-4D6F-B6DC-4FB215CCE083}" dt="2026-03-05T18:16:40.498" v="795"/>
          <ac:spMkLst>
            <pc:docMk/>
            <pc:sldMk cId="4129188631" sldId="2147475141"/>
            <ac:spMk id="29" creationId="{F551B4F8-3923-6839-78C5-C3356FB79295}"/>
          </ac:spMkLst>
        </pc:spChg>
        <pc:spChg chg="del">
          <ac:chgData name="Suzanne Kevlyn" userId="09e09a272ef5727f" providerId="LiveId" clId="{F0A46A80-A113-4D6F-B6DC-4FB215CCE083}" dt="2026-03-05T18:16:40.498" v="795"/>
          <ac:spMkLst>
            <pc:docMk/>
            <pc:sldMk cId="4129188631" sldId="2147475141"/>
            <ac:spMk id="31" creationId="{C005B66C-BC1A-6D23-5F5E-C29662CF2ABE}"/>
          </ac:spMkLst>
        </pc:spChg>
        <pc:spChg chg="del">
          <ac:chgData name="Suzanne Kevlyn" userId="09e09a272ef5727f" providerId="LiveId" clId="{F0A46A80-A113-4D6F-B6DC-4FB215CCE083}" dt="2026-03-05T18:16:40.498" v="795"/>
          <ac:spMkLst>
            <pc:docMk/>
            <pc:sldMk cId="4129188631" sldId="2147475141"/>
            <ac:spMk id="34" creationId="{FCBCA481-8278-99B4-113C-243033428277}"/>
          </ac:spMkLst>
        </pc:spChg>
        <pc:spChg chg="del">
          <ac:chgData name="Suzanne Kevlyn" userId="09e09a272ef5727f" providerId="LiveId" clId="{F0A46A80-A113-4D6F-B6DC-4FB215CCE083}" dt="2026-03-05T18:16:40.498" v="795"/>
          <ac:spMkLst>
            <pc:docMk/>
            <pc:sldMk cId="4129188631" sldId="2147475141"/>
            <ac:spMk id="36" creationId="{CB6BFBE3-F41C-C6DE-9CA1-1EDE4448532B}"/>
          </ac:spMkLst>
        </pc:spChg>
        <pc:cxnChg chg="del">
          <ac:chgData name="Suzanne Kevlyn" userId="09e09a272ef5727f" providerId="LiveId" clId="{F0A46A80-A113-4D6F-B6DC-4FB215CCE083}" dt="2026-03-05T18:16:40.498" v="795"/>
          <ac:cxnSpMkLst>
            <pc:docMk/>
            <pc:sldMk cId="4129188631" sldId="2147475141"/>
            <ac:cxnSpMk id="30" creationId="{E119C2E7-E138-BB2F-56C4-531B79DAD992}"/>
          </ac:cxnSpMkLst>
        </pc:cxnChg>
        <pc:cxnChg chg="del">
          <ac:chgData name="Suzanne Kevlyn" userId="09e09a272ef5727f" providerId="LiveId" clId="{F0A46A80-A113-4D6F-B6DC-4FB215CCE083}" dt="2026-03-05T18:16:40.498" v="795"/>
          <ac:cxnSpMkLst>
            <pc:docMk/>
            <pc:sldMk cId="4129188631" sldId="2147475141"/>
            <ac:cxnSpMk id="32" creationId="{2B8DE971-64EE-45F8-D498-AF48F3173B57}"/>
          </ac:cxnSpMkLst>
        </pc:cxnChg>
      </pc:sldChg>
      <pc:sldChg chg="del">
        <pc:chgData name="Suzanne Kevlyn" userId="09e09a272ef5727f" providerId="LiveId" clId="{F0A46A80-A113-4D6F-B6DC-4FB215CCE083}" dt="2026-03-05T18:16:35.590" v="791" actId="2696"/>
        <pc:sldMkLst>
          <pc:docMk/>
          <pc:sldMk cId="4132858679" sldId="2147475141"/>
        </pc:sldMkLst>
      </pc:sldChg>
      <pc:sldChg chg="delSp add del setBg delDesignElem">
        <pc:chgData name="Suzanne Kevlyn" userId="09e09a272ef5727f" providerId="LiveId" clId="{F0A46A80-A113-4D6F-B6DC-4FB215CCE083}" dt="2026-03-05T22:41:16.230" v="7224" actId="2696"/>
        <pc:sldMkLst>
          <pc:docMk/>
          <pc:sldMk cId="2560406227" sldId="2147475142"/>
        </pc:sldMkLst>
        <pc:spChg chg="del">
          <ac:chgData name="Suzanne Kevlyn" userId="09e09a272ef5727f" providerId="LiveId" clId="{F0A46A80-A113-4D6F-B6DC-4FB215CCE083}" dt="2026-03-05T18:16:40.498" v="795"/>
          <ac:spMkLst>
            <pc:docMk/>
            <pc:sldMk cId="2560406227" sldId="2147475142"/>
            <ac:spMk id="29" creationId="{B5604B54-8B0D-64F7-492B-7571DF138570}"/>
          </ac:spMkLst>
        </pc:spChg>
        <pc:spChg chg="del">
          <ac:chgData name="Suzanne Kevlyn" userId="09e09a272ef5727f" providerId="LiveId" clId="{F0A46A80-A113-4D6F-B6DC-4FB215CCE083}" dt="2026-03-05T18:16:40.498" v="795"/>
          <ac:spMkLst>
            <pc:docMk/>
            <pc:sldMk cId="2560406227" sldId="2147475142"/>
            <ac:spMk id="31" creationId="{DBF2029D-05BA-3E75-E5B9-C47C51AFEA09}"/>
          </ac:spMkLst>
        </pc:spChg>
        <pc:spChg chg="del">
          <ac:chgData name="Suzanne Kevlyn" userId="09e09a272ef5727f" providerId="LiveId" clId="{F0A46A80-A113-4D6F-B6DC-4FB215CCE083}" dt="2026-03-05T18:16:40.498" v="795"/>
          <ac:spMkLst>
            <pc:docMk/>
            <pc:sldMk cId="2560406227" sldId="2147475142"/>
            <ac:spMk id="34" creationId="{F45E37AE-CDE0-0473-B5AE-47B773718BCE}"/>
          </ac:spMkLst>
        </pc:spChg>
        <pc:spChg chg="del">
          <ac:chgData name="Suzanne Kevlyn" userId="09e09a272ef5727f" providerId="LiveId" clId="{F0A46A80-A113-4D6F-B6DC-4FB215CCE083}" dt="2026-03-05T18:16:40.498" v="795"/>
          <ac:spMkLst>
            <pc:docMk/>
            <pc:sldMk cId="2560406227" sldId="2147475142"/>
            <ac:spMk id="36" creationId="{F1381B64-C7B1-B7A1-2F27-68D6058524D1}"/>
          </ac:spMkLst>
        </pc:spChg>
        <pc:cxnChg chg="del">
          <ac:chgData name="Suzanne Kevlyn" userId="09e09a272ef5727f" providerId="LiveId" clId="{F0A46A80-A113-4D6F-B6DC-4FB215CCE083}" dt="2026-03-05T18:16:40.498" v="795"/>
          <ac:cxnSpMkLst>
            <pc:docMk/>
            <pc:sldMk cId="2560406227" sldId="2147475142"/>
            <ac:cxnSpMk id="30" creationId="{A0BA34A8-566E-1BE2-2F21-F4126EBBA368}"/>
          </ac:cxnSpMkLst>
        </pc:cxnChg>
        <pc:cxnChg chg="del">
          <ac:chgData name="Suzanne Kevlyn" userId="09e09a272ef5727f" providerId="LiveId" clId="{F0A46A80-A113-4D6F-B6DC-4FB215CCE083}" dt="2026-03-05T18:16:40.498" v="795"/>
          <ac:cxnSpMkLst>
            <pc:docMk/>
            <pc:sldMk cId="2560406227" sldId="2147475142"/>
            <ac:cxnSpMk id="32" creationId="{96321A7C-ABA3-F8B7-5CB1-37265E94892C}"/>
          </ac:cxnSpMkLst>
        </pc:cxnChg>
      </pc:sldChg>
      <pc:sldChg chg="del">
        <pc:chgData name="Suzanne Kevlyn" userId="09e09a272ef5727f" providerId="LiveId" clId="{F0A46A80-A113-4D6F-B6DC-4FB215CCE083}" dt="2026-03-05T18:16:35.590" v="791" actId="2696"/>
        <pc:sldMkLst>
          <pc:docMk/>
          <pc:sldMk cId="2906481066" sldId="2147475142"/>
        </pc:sldMkLst>
      </pc:sldChg>
      <pc:sldChg chg="add del">
        <pc:chgData name="Suzanne Kevlyn" userId="09e09a272ef5727f" providerId="LiveId" clId="{F0A46A80-A113-4D6F-B6DC-4FB215CCE083}" dt="2026-03-05T22:41:16.230" v="7224" actId="2696"/>
        <pc:sldMkLst>
          <pc:docMk/>
          <pc:sldMk cId="2071311477" sldId="2147475143"/>
        </pc:sldMkLst>
      </pc:sldChg>
      <pc:sldChg chg="del">
        <pc:chgData name="Suzanne Kevlyn" userId="09e09a272ef5727f" providerId="LiveId" clId="{F0A46A80-A113-4D6F-B6DC-4FB215CCE083}" dt="2026-03-05T18:16:35.590" v="791" actId="2696"/>
        <pc:sldMkLst>
          <pc:docMk/>
          <pc:sldMk cId="3735543838" sldId="2147475143"/>
        </pc:sldMkLst>
      </pc:sldChg>
      <pc:sldChg chg="add del">
        <pc:chgData name="Suzanne Kevlyn" userId="09e09a272ef5727f" providerId="LiveId" clId="{F0A46A80-A113-4D6F-B6DC-4FB215CCE083}" dt="2026-03-05T22:41:16.230" v="7224" actId="2696"/>
        <pc:sldMkLst>
          <pc:docMk/>
          <pc:sldMk cId="164377186" sldId="2147475144"/>
        </pc:sldMkLst>
      </pc:sldChg>
      <pc:sldChg chg="del">
        <pc:chgData name="Suzanne Kevlyn" userId="09e09a272ef5727f" providerId="LiveId" clId="{F0A46A80-A113-4D6F-B6DC-4FB215CCE083}" dt="2026-03-05T18:16:35.590" v="791" actId="2696"/>
        <pc:sldMkLst>
          <pc:docMk/>
          <pc:sldMk cId="539512791" sldId="2147475144"/>
        </pc:sldMkLst>
      </pc:sldChg>
      <pc:sldChg chg="addSp delSp modSp add mod">
        <pc:chgData name="Suzanne Kevlyn" userId="09e09a272ef5727f" providerId="LiveId" clId="{F0A46A80-A113-4D6F-B6DC-4FB215CCE083}" dt="2026-03-06T20:26:54.404" v="19349" actId="27918"/>
        <pc:sldMkLst>
          <pc:docMk/>
          <pc:sldMk cId="2145466452" sldId="2147475145"/>
        </pc:sldMkLst>
        <pc:spChg chg="mod">
          <ac:chgData name="Suzanne Kevlyn" userId="09e09a272ef5727f" providerId="LiveId" clId="{F0A46A80-A113-4D6F-B6DC-4FB215CCE083}" dt="2026-03-05T21:57:09.729" v="5251" actId="1076"/>
          <ac:spMkLst>
            <pc:docMk/>
            <pc:sldMk cId="2145466452" sldId="2147475145"/>
            <ac:spMk id="3" creationId="{EEB80305-5A1D-3AF5-68FB-D7A03F788CA9}"/>
          </ac:spMkLst>
        </pc:spChg>
        <pc:spChg chg="del">
          <ac:chgData name="Suzanne Kevlyn" userId="09e09a272ef5727f" providerId="LiveId" clId="{F0A46A80-A113-4D6F-B6DC-4FB215CCE083}" dt="2026-03-05T21:51:33.311" v="4884" actId="478"/>
          <ac:spMkLst>
            <pc:docMk/>
            <pc:sldMk cId="2145466452" sldId="2147475145"/>
            <ac:spMk id="8" creationId="{F0E7C3C4-23D8-D745-5FA6-031336F1FF67}"/>
          </ac:spMkLst>
        </pc:spChg>
        <pc:cxnChg chg="add mod">
          <ac:chgData name="Suzanne Kevlyn" userId="09e09a272ef5727f" providerId="LiveId" clId="{F0A46A80-A113-4D6F-B6DC-4FB215CCE083}" dt="2026-03-05T21:56:30.486" v="5150" actId="1076"/>
          <ac:cxnSpMkLst>
            <pc:docMk/>
            <pc:sldMk cId="2145466452" sldId="2147475145"/>
            <ac:cxnSpMk id="9" creationId="{CE5CA85B-4D27-B43E-9CAC-7A7A61F36C5E}"/>
          </ac:cxnSpMkLst>
        </pc:cxnChg>
        <pc:cxnChg chg="add mod">
          <ac:chgData name="Suzanne Kevlyn" userId="09e09a272ef5727f" providerId="LiveId" clId="{F0A46A80-A113-4D6F-B6DC-4FB215CCE083}" dt="2026-03-05T21:56:34.401" v="5151" actId="1076"/>
          <ac:cxnSpMkLst>
            <pc:docMk/>
            <pc:sldMk cId="2145466452" sldId="2147475145"/>
            <ac:cxnSpMk id="10" creationId="{5A4EBA15-50E0-D701-0514-70CBAA21082E}"/>
          </ac:cxnSpMkLst>
        </pc:cxnChg>
        <pc:cxnChg chg="add mod">
          <ac:chgData name="Suzanne Kevlyn" userId="09e09a272ef5727f" providerId="LiveId" clId="{F0A46A80-A113-4D6F-B6DC-4FB215CCE083}" dt="2026-03-06T20:26:28.522" v="19346" actId="1036"/>
          <ac:cxnSpMkLst>
            <pc:docMk/>
            <pc:sldMk cId="2145466452" sldId="2147475145"/>
            <ac:cxnSpMk id="11" creationId="{099CBB26-A2B0-9BB3-1817-6A333FE52DDE}"/>
          </ac:cxnSpMkLst>
        </pc:cxnChg>
      </pc:sldChg>
      <pc:sldChg chg="delSp del mod">
        <pc:chgData name="Suzanne Kevlyn" userId="09e09a272ef5727f" providerId="LiveId" clId="{F0A46A80-A113-4D6F-B6DC-4FB215CCE083}" dt="2026-03-05T18:12:50.898" v="780" actId="2696"/>
        <pc:sldMkLst>
          <pc:docMk/>
          <pc:sldMk cId="2163616449" sldId="2147475145"/>
        </pc:sldMkLst>
        <pc:spChg chg="del">
          <ac:chgData name="Suzanne Kevlyn" userId="09e09a272ef5727f" providerId="LiveId" clId="{F0A46A80-A113-4D6F-B6DC-4FB215CCE083}" dt="2026-03-05T17:58:16.896" v="419" actId="478"/>
          <ac:spMkLst>
            <pc:docMk/>
            <pc:sldMk cId="2163616449" sldId="2147475145"/>
            <ac:spMk id="5" creationId="{206DEEC9-7397-A046-DC1A-25A776D8E48C}"/>
          </ac:spMkLst>
        </pc:spChg>
      </pc:sldChg>
      <pc:sldChg chg="add del">
        <pc:chgData name="Suzanne Kevlyn" userId="09e09a272ef5727f" providerId="LiveId" clId="{F0A46A80-A113-4D6F-B6DC-4FB215CCE083}" dt="2026-03-05T18:14:30.542" v="785" actId="2696"/>
        <pc:sldMkLst>
          <pc:docMk/>
          <pc:sldMk cId="3285904904" sldId="2147475145"/>
        </pc:sldMkLst>
      </pc:sldChg>
      <pc:sldChg chg="delSp modSp mod ord">
        <pc:chgData name="Suzanne Kevlyn" userId="09e09a272ef5727f" providerId="LiveId" clId="{F0A46A80-A113-4D6F-B6DC-4FB215CCE083}" dt="2026-03-05T21:58:29.843" v="5294" actId="207"/>
        <pc:sldMkLst>
          <pc:docMk/>
          <pc:sldMk cId="4209957902" sldId="2147475146"/>
        </pc:sldMkLst>
        <pc:spChg chg="mod">
          <ac:chgData name="Suzanne Kevlyn" userId="09e09a272ef5727f" providerId="LiveId" clId="{F0A46A80-A113-4D6F-B6DC-4FB215CCE083}" dt="2026-03-05T21:57:23.839" v="5257" actId="20577"/>
          <ac:spMkLst>
            <pc:docMk/>
            <pc:sldMk cId="4209957902" sldId="2147475146"/>
            <ac:spMk id="2" creationId="{72ABF780-E3E5-0597-A2B5-D187C7D48BD4}"/>
          </ac:spMkLst>
        </pc:spChg>
        <pc:spChg chg="mod">
          <ac:chgData name="Suzanne Kevlyn" userId="09e09a272ef5727f" providerId="LiveId" clId="{F0A46A80-A113-4D6F-B6DC-4FB215CCE083}" dt="2026-03-05T21:58:20.293" v="5293" actId="1076"/>
          <ac:spMkLst>
            <pc:docMk/>
            <pc:sldMk cId="4209957902" sldId="2147475146"/>
            <ac:spMk id="3" creationId="{7302EFF4-1A04-BF51-B0A1-D8A207964D1C}"/>
          </ac:spMkLst>
        </pc:spChg>
        <pc:spChg chg="del">
          <ac:chgData name="Suzanne Kevlyn" userId="09e09a272ef5727f" providerId="LiveId" clId="{F0A46A80-A113-4D6F-B6DC-4FB215CCE083}" dt="2026-03-05T17:58:20.148" v="420" actId="478"/>
          <ac:spMkLst>
            <pc:docMk/>
            <pc:sldMk cId="4209957902" sldId="2147475146"/>
            <ac:spMk id="5" creationId="{968A16A2-E039-1F3B-5593-0DBBA411056A}"/>
          </ac:spMkLst>
        </pc:spChg>
        <pc:graphicFrameChg chg="modGraphic">
          <ac:chgData name="Suzanne Kevlyn" userId="09e09a272ef5727f" providerId="LiveId" clId="{F0A46A80-A113-4D6F-B6DC-4FB215CCE083}" dt="2026-03-05T21:58:29.843" v="5294" actId="207"/>
          <ac:graphicFrameMkLst>
            <pc:docMk/>
            <pc:sldMk cId="4209957902" sldId="2147475146"/>
            <ac:graphicFrameMk id="8" creationId="{02A7D4B8-3D1E-A17D-D5A7-AC953B4B822E}"/>
          </ac:graphicFrameMkLst>
        </pc:graphicFrameChg>
      </pc:sldChg>
      <pc:sldChg chg="del">
        <pc:chgData name="Suzanne Kevlyn" userId="09e09a272ef5727f" providerId="LiveId" clId="{F0A46A80-A113-4D6F-B6DC-4FB215CCE083}" dt="2026-03-05T18:16:35.590" v="791" actId="2696"/>
        <pc:sldMkLst>
          <pc:docMk/>
          <pc:sldMk cId="2862585509" sldId="2147475147"/>
        </pc:sldMkLst>
      </pc:sldChg>
      <pc:sldChg chg="add del">
        <pc:chgData name="Suzanne Kevlyn" userId="09e09a272ef5727f" providerId="LiveId" clId="{F0A46A80-A113-4D6F-B6DC-4FB215CCE083}" dt="2026-03-05T22:41:16.230" v="7224" actId="2696"/>
        <pc:sldMkLst>
          <pc:docMk/>
          <pc:sldMk cId="3892065937" sldId="2147475147"/>
        </pc:sldMkLst>
      </pc:sldChg>
      <pc:sldChg chg="add del">
        <pc:chgData name="Suzanne Kevlyn" userId="09e09a272ef5727f" providerId="LiveId" clId="{F0A46A80-A113-4D6F-B6DC-4FB215CCE083}" dt="2026-03-05T22:41:16.230" v="7224" actId="2696"/>
        <pc:sldMkLst>
          <pc:docMk/>
          <pc:sldMk cId="2374264315" sldId="2147475148"/>
        </pc:sldMkLst>
      </pc:sldChg>
      <pc:sldChg chg="del">
        <pc:chgData name="Suzanne Kevlyn" userId="09e09a272ef5727f" providerId="LiveId" clId="{F0A46A80-A113-4D6F-B6DC-4FB215CCE083}" dt="2026-03-05T18:16:35.590" v="791" actId="2696"/>
        <pc:sldMkLst>
          <pc:docMk/>
          <pc:sldMk cId="3911525839" sldId="2147475148"/>
        </pc:sldMkLst>
      </pc:sldChg>
      <pc:sldChg chg="delSp modSp mod ord modClrScheme chgLayout">
        <pc:chgData name="Suzanne Kevlyn" userId="09e09a272ef5727f" providerId="LiveId" clId="{F0A46A80-A113-4D6F-B6DC-4FB215CCE083}" dt="2026-03-06T15:58:04.562" v="12320" actId="207"/>
        <pc:sldMkLst>
          <pc:docMk/>
          <pc:sldMk cId="196910970" sldId="2147475149"/>
        </pc:sldMkLst>
        <pc:spChg chg="mod">
          <ac:chgData name="Suzanne Kevlyn" userId="09e09a272ef5727f" providerId="LiveId" clId="{F0A46A80-A113-4D6F-B6DC-4FB215CCE083}" dt="2026-03-06T15:56:46.448" v="12312" actId="20577"/>
          <ac:spMkLst>
            <pc:docMk/>
            <pc:sldMk cId="196910970" sldId="2147475149"/>
            <ac:spMk id="2" creationId="{3A17E492-A42E-D1AC-931F-A18D9DB24310}"/>
          </ac:spMkLst>
        </pc:spChg>
        <pc:spChg chg="mod">
          <ac:chgData name="Suzanne Kevlyn" userId="09e09a272ef5727f" providerId="LiveId" clId="{F0A46A80-A113-4D6F-B6DC-4FB215CCE083}" dt="2026-03-06T15:56:42.979" v="12294" actId="1076"/>
          <ac:spMkLst>
            <pc:docMk/>
            <pc:sldMk cId="196910970" sldId="2147475149"/>
            <ac:spMk id="3" creationId="{6BA28381-1204-85F4-A459-98391CC5A568}"/>
          </ac:spMkLst>
        </pc:spChg>
        <pc:spChg chg="mod ord">
          <ac:chgData name="Suzanne Kevlyn" userId="09e09a272ef5727f" providerId="LiveId" clId="{F0A46A80-A113-4D6F-B6DC-4FB215CCE083}" dt="2026-03-06T15:49:03.924" v="11972" actId="700"/>
          <ac:spMkLst>
            <pc:docMk/>
            <pc:sldMk cId="196910970" sldId="2147475149"/>
            <ac:spMk id="6" creationId="{67CDA199-C5FE-3E8A-51A4-213F43CBCC52}"/>
          </ac:spMkLst>
        </pc:spChg>
        <pc:spChg chg="mod ord">
          <ac:chgData name="Suzanne Kevlyn" userId="09e09a272ef5727f" providerId="LiveId" clId="{F0A46A80-A113-4D6F-B6DC-4FB215CCE083}" dt="2026-03-06T15:49:03.970" v="11973" actId="27636"/>
          <ac:spMkLst>
            <pc:docMk/>
            <pc:sldMk cId="196910970" sldId="2147475149"/>
            <ac:spMk id="7" creationId="{2786ABD6-19E8-6D73-8A08-53F1389C1752}"/>
          </ac:spMkLst>
        </pc:spChg>
        <pc:spChg chg="del mod">
          <ac:chgData name="Suzanne Kevlyn" userId="09e09a272ef5727f" providerId="LiveId" clId="{F0A46A80-A113-4D6F-B6DC-4FB215CCE083}" dt="2026-03-06T15:48:49.658" v="11969" actId="478"/>
          <ac:spMkLst>
            <pc:docMk/>
            <pc:sldMk cId="196910970" sldId="2147475149"/>
            <ac:spMk id="11" creationId="{4EA5206E-029D-593D-7D15-5DEAA2746A02}"/>
          </ac:spMkLst>
        </pc:spChg>
        <pc:graphicFrameChg chg="mod modGraphic">
          <ac:chgData name="Suzanne Kevlyn" userId="09e09a272ef5727f" providerId="LiveId" clId="{F0A46A80-A113-4D6F-B6DC-4FB215CCE083}" dt="2026-03-06T15:58:04.562" v="12320" actId="207"/>
          <ac:graphicFrameMkLst>
            <pc:docMk/>
            <pc:sldMk cId="196910970" sldId="2147475149"/>
            <ac:graphicFrameMk id="8" creationId="{EF585838-D367-7B67-FEAE-3CDF2718D18C}"/>
          </ac:graphicFrameMkLst>
        </pc:graphicFrameChg>
      </pc:sldChg>
      <pc:sldChg chg="modSp del mod">
        <pc:chgData name="Suzanne Kevlyn" userId="09e09a272ef5727f" providerId="LiveId" clId="{F0A46A80-A113-4D6F-B6DC-4FB215CCE083}" dt="2026-03-05T18:12:50.898" v="780" actId="2696"/>
        <pc:sldMkLst>
          <pc:docMk/>
          <pc:sldMk cId="908070862" sldId="2147475150"/>
        </pc:sldMkLst>
        <pc:spChg chg="mod">
          <ac:chgData name="Suzanne Kevlyn" userId="09e09a272ef5727f" providerId="LiveId" clId="{F0A46A80-A113-4D6F-B6DC-4FB215CCE083}" dt="2026-03-05T17:58:22.458" v="421" actId="6549"/>
          <ac:spMkLst>
            <pc:docMk/>
            <pc:sldMk cId="908070862" sldId="2147475150"/>
            <ac:spMk id="5" creationId="{3A9E3BD9-9FEB-1D6F-1931-FFE623043057}"/>
          </ac:spMkLst>
        </pc:spChg>
      </pc:sldChg>
      <pc:sldChg chg="addSp delSp modSp add mod">
        <pc:chgData name="Suzanne Kevlyn" userId="09e09a272ef5727f" providerId="LiveId" clId="{F0A46A80-A113-4D6F-B6DC-4FB215CCE083}" dt="2026-03-06T20:27:38.748" v="19350" actId="14100"/>
        <pc:sldMkLst>
          <pc:docMk/>
          <pc:sldMk cId="1406480838" sldId="2147475150"/>
        </pc:sldMkLst>
        <pc:spChg chg="mod">
          <ac:chgData name="Suzanne Kevlyn" userId="09e09a272ef5727f" providerId="LiveId" clId="{F0A46A80-A113-4D6F-B6DC-4FB215CCE083}" dt="2026-03-05T22:01:52.486" v="5383" actId="6549"/>
          <ac:spMkLst>
            <pc:docMk/>
            <pc:sldMk cId="1406480838" sldId="2147475150"/>
            <ac:spMk id="2" creationId="{8CBDD15A-BBB9-6858-3D2E-B21A21DA0A65}"/>
          </ac:spMkLst>
        </pc:spChg>
        <pc:spChg chg="del mod">
          <ac:chgData name="Suzanne Kevlyn" userId="09e09a272ef5727f" providerId="LiveId" clId="{F0A46A80-A113-4D6F-B6DC-4FB215CCE083}" dt="2026-03-05T22:01:27.027" v="5325" actId="478"/>
          <ac:spMkLst>
            <pc:docMk/>
            <pc:sldMk cId="1406480838" sldId="2147475150"/>
            <ac:spMk id="3" creationId="{A2213457-A620-D6A8-3A28-430D5A9C62D8}"/>
          </ac:spMkLst>
        </pc:spChg>
        <pc:spChg chg="del">
          <ac:chgData name="Suzanne Kevlyn" userId="09e09a272ef5727f" providerId="LiveId" clId="{F0A46A80-A113-4D6F-B6DC-4FB215CCE083}" dt="2026-03-05T21:58:45.644" v="5295" actId="478"/>
          <ac:spMkLst>
            <pc:docMk/>
            <pc:sldMk cId="1406480838" sldId="2147475150"/>
            <ac:spMk id="4" creationId="{A5910BC1-4C2C-2C9F-67B3-8355616BE5B4}"/>
          </ac:spMkLst>
        </pc:spChg>
        <pc:spChg chg="del">
          <ac:chgData name="Suzanne Kevlyn" userId="09e09a272ef5727f" providerId="LiveId" clId="{F0A46A80-A113-4D6F-B6DC-4FB215CCE083}" dt="2026-03-05T22:05:22.516" v="5499" actId="478"/>
          <ac:spMkLst>
            <pc:docMk/>
            <pc:sldMk cId="1406480838" sldId="2147475150"/>
            <ac:spMk id="5" creationId="{3A9E3BD9-9FEB-1D6F-1931-FFE623043057}"/>
          </ac:spMkLst>
        </pc:spChg>
        <pc:graphicFrameChg chg="mod">
          <ac:chgData name="Suzanne Kevlyn" userId="09e09a272ef5727f" providerId="LiveId" clId="{F0A46A80-A113-4D6F-B6DC-4FB215CCE083}" dt="2026-03-05T21:59:52.990" v="5309"/>
          <ac:graphicFrameMkLst>
            <pc:docMk/>
            <pc:sldMk cId="1406480838" sldId="2147475150"/>
            <ac:graphicFrameMk id="8" creationId="{0FC6A379-0429-283C-3D1C-7F559DD0A115}"/>
          </ac:graphicFrameMkLst>
        </pc:graphicFrameChg>
        <pc:graphicFrameChg chg="mod">
          <ac:chgData name="Suzanne Kevlyn" userId="09e09a272ef5727f" providerId="LiveId" clId="{F0A46A80-A113-4D6F-B6DC-4FB215CCE083}" dt="2026-03-06T20:27:38.748" v="19350" actId="14100"/>
          <ac:graphicFrameMkLst>
            <pc:docMk/>
            <pc:sldMk cId="1406480838" sldId="2147475150"/>
            <ac:graphicFrameMk id="10" creationId="{4752AAFB-46E9-B4E4-F5A0-6550EC3CD598}"/>
          </ac:graphicFrameMkLst>
        </pc:graphicFrameChg>
        <pc:cxnChg chg="add mod">
          <ac:chgData name="Suzanne Kevlyn" userId="09e09a272ef5727f" providerId="LiveId" clId="{F0A46A80-A113-4D6F-B6DC-4FB215CCE083}" dt="2026-03-05T22:00:32.616" v="5316" actId="14100"/>
          <ac:cxnSpMkLst>
            <pc:docMk/>
            <pc:sldMk cId="1406480838" sldId="2147475150"/>
            <ac:cxnSpMk id="9" creationId="{9DAB0AA2-325E-B145-7439-A8DCDE7B27E7}"/>
          </ac:cxnSpMkLst>
        </pc:cxnChg>
      </pc:sldChg>
      <pc:sldChg chg="add del">
        <pc:chgData name="Suzanne Kevlyn" userId="09e09a272ef5727f" providerId="LiveId" clId="{F0A46A80-A113-4D6F-B6DC-4FB215CCE083}" dt="2026-03-05T18:14:47.254" v="787" actId="2696"/>
        <pc:sldMkLst>
          <pc:docMk/>
          <pc:sldMk cId="4246361633" sldId="2147475150"/>
        </pc:sldMkLst>
      </pc:sldChg>
      <pc:sldChg chg="del">
        <pc:chgData name="Suzanne Kevlyn" userId="09e09a272ef5727f" providerId="LiveId" clId="{F0A46A80-A113-4D6F-B6DC-4FB215CCE083}" dt="2026-03-05T18:16:35.590" v="791" actId="2696"/>
        <pc:sldMkLst>
          <pc:docMk/>
          <pc:sldMk cId="2037722551" sldId="2147475151"/>
        </pc:sldMkLst>
      </pc:sldChg>
      <pc:sldChg chg="add del">
        <pc:chgData name="Suzanne Kevlyn" userId="09e09a272ef5727f" providerId="LiveId" clId="{F0A46A80-A113-4D6F-B6DC-4FB215CCE083}" dt="2026-03-05T22:41:16.230" v="7224" actId="2696"/>
        <pc:sldMkLst>
          <pc:docMk/>
          <pc:sldMk cId="2558167938" sldId="2147475151"/>
        </pc:sldMkLst>
      </pc:sldChg>
      <pc:sldChg chg="add del">
        <pc:chgData name="Suzanne Kevlyn" userId="09e09a272ef5727f" providerId="LiveId" clId="{F0A46A80-A113-4D6F-B6DC-4FB215CCE083}" dt="2026-03-05T22:41:16.230" v="7224" actId="2696"/>
        <pc:sldMkLst>
          <pc:docMk/>
          <pc:sldMk cId="1598289037" sldId="2147475152"/>
        </pc:sldMkLst>
      </pc:sldChg>
      <pc:sldChg chg="del">
        <pc:chgData name="Suzanne Kevlyn" userId="09e09a272ef5727f" providerId="LiveId" clId="{F0A46A80-A113-4D6F-B6DC-4FB215CCE083}" dt="2026-03-05T18:16:35.590" v="791" actId="2696"/>
        <pc:sldMkLst>
          <pc:docMk/>
          <pc:sldMk cId="3203489144" sldId="2147475152"/>
        </pc:sldMkLst>
      </pc:sldChg>
      <pc:sldChg chg="add">
        <pc:chgData name="Suzanne Kevlyn" userId="09e09a272ef5727f" providerId="LiveId" clId="{F0A46A80-A113-4D6F-B6DC-4FB215CCE083}" dt="2026-03-05T22:16:35.368" v="6543"/>
        <pc:sldMkLst>
          <pc:docMk/>
          <pc:sldMk cId="2951185263" sldId="2147475154"/>
        </pc:sldMkLst>
      </pc:sldChg>
      <pc:sldChg chg="delSp modSp del mod">
        <pc:chgData name="Suzanne Kevlyn" userId="09e09a272ef5727f" providerId="LiveId" clId="{F0A46A80-A113-4D6F-B6DC-4FB215CCE083}" dt="2026-03-05T22:16:26.864" v="6542" actId="2696"/>
        <pc:sldMkLst>
          <pc:docMk/>
          <pc:sldMk cId="3706828044" sldId="2147475154"/>
        </pc:sldMkLst>
        <pc:spChg chg="del mod">
          <ac:chgData name="Suzanne Kevlyn" userId="09e09a272ef5727f" providerId="LiveId" clId="{F0A46A80-A113-4D6F-B6DC-4FB215CCE083}" dt="2026-03-05T22:15:56.795" v="6536" actId="478"/>
          <ac:spMkLst>
            <pc:docMk/>
            <pc:sldMk cId="3706828044" sldId="2147475154"/>
            <ac:spMk id="2" creationId="{E3419420-1221-D28A-AD61-FC5D108423E2}"/>
          </ac:spMkLst>
        </pc:spChg>
        <pc:spChg chg="del">
          <ac:chgData name="Suzanne Kevlyn" userId="09e09a272ef5727f" providerId="LiveId" clId="{F0A46A80-A113-4D6F-B6DC-4FB215CCE083}" dt="2026-03-05T22:16:03.973" v="6538" actId="478"/>
          <ac:spMkLst>
            <pc:docMk/>
            <pc:sldMk cId="3706828044" sldId="2147475154"/>
            <ac:spMk id="5" creationId="{B61BD367-EB44-0F61-979A-06ED041CF7B8}"/>
          </ac:spMkLst>
        </pc:spChg>
        <pc:spChg chg="del">
          <ac:chgData name="Suzanne Kevlyn" userId="09e09a272ef5727f" providerId="LiveId" clId="{F0A46A80-A113-4D6F-B6DC-4FB215CCE083}" dt="2026-03-05T22:14:11.393" v="6532" actId="478"/>
          <ac:spMkLst>
            <pc:docMk/>
            <pc:sldMk cId="3706828044" sldId="2147475154"/>
            <ac:spMk id="9" creationId="{83E6CCBA-D3A8-8115-D355-E80E57A7C309}"/>
          </ac:spMkLst>
        </pc:spChg>
        <pc:graphicFrameChg chg="mod">
          <ac:chgData name="Suzanne Kevlyn" userId="09e09a272ef5727f" providerId="LiveId" clId="{F0A46A80-A113-4D6F-B6DC-4FB215CCE083}" dt="2026-03-05T22:16:02.463" v="6537" actId="1076"/>
          <ac:graphicFrameMkLst>
            <pc:docMk/>
            <pc:sldMk cId="3706828044" sldId="2147475154"/>
            <ac:graphicFrameMk id="8" creationId="{E291D9E0-D792-00F5-84B8-554267E96FE6}"/>
          </ac:graphicFrameMkLst>
        </pc:graphicFrameChg>
      </pc:sldChg>
      <pc:sldChg chg="delSp modSp mod">
        <pc:chgData name="Suzanne Kevlyn" userId="09e09a272ef5727f" providerId="LiveId" clId="{F0A46A80-A113-4D6F-B6DC-4FB215CCE083}" dt="2026-03-06T20:28:14.122" v="19351" actId="20577"/>
        <pc:sldMkLst>
          <pc:docMk/>
          <pc:sldMk cId="671274184" sldId="2147475155"/>
        </pc:sldMkLst>
        <pc:spChg chg="mod">
          <ac:chgData name="Suzanne Kevlyn" userId="09e09a272ef5727f" providerId="LiveId" clId="{F0A46A80-A113-4D6F-B6DC-4FB215CCE083}" dt="2026-03-06T20:28:14.122" v="19351" actId="20577"/>
          <ac:spMkLst>
            <pc:docMk/>
            <pc:sldMk cId="671274184" sldId="2147475155"/>
            <ac:spMk id="2" creationId="{F02437E4-F87F-C630-D98B-43FE908C2095}"/>
          </ac:spMkLst>
        </pc:spChg>
        <pc:spChg chg="mod">
          <ac:chgData name="Suzanne Kevlyn" userId="09e09a272ef5727f" providerId="LiveId" clId="{F0A46A80-A113-4D6F-B6DC-4FB215CCE083}" dt="2026-03-06T17:10:22.746" v="14302" actId="20577"/>
          <ac:spMkLst>
            <pc:docMk/>
            <pc:sldMk cId="671274184" sldId="2147475155"/>
            <ac:spMk id="3" creationId="{53171F28-8CC5-87DB-7DE7-DF5182493C42}"/>
          </ac:spMkLst>
        </pc:spChg>
        <pc:spChg chg="mod">
          <ac:chgData name="Suzanne Kevlyn" userId="09e09a272ef5727f" providerId="LiveId" clId="{F0A46A80-A113-4D6F-B6DC-4FB215CCE083}" dt="2026-03-05T22:17:28.195" v="6547" actId="1076"/>
          <ac:spMkLst>
            <pc:docMk/>
            <pc:sldMk cId="671274184" sldId="2147475155"/>
            <ac:spMk id="5" creationId="{99445D57-6084-9878-3D66-50D55DE00B51}"/>
          </ac:spMkLst>
        </pc:spChg>
        <pc:spChg chg="del">
          <ac:chgData name="Suzanne Kevlyn" userId="09e09a272ef5727f" providerId="LiveId" clId="{F0A46A80-A113-4D6F-B6DC-4FB215CCE083}" dt="2026-03-05T22:17:14.725" v="6546" actId="478"/>
          <ac:spMkLst>
            <pc:docMk/>
            <pc:sldMk cId="671274184" sldId="2147475155"/>
            <ac:spMk id="9" creationId="{61630A19-ED77-EB36-0763-99EA1FDB053A}"/>
          </ac:spMkLst>
        </pc:spChg>
        <pc:graphicFrameChg chg="mod">
          <ac:chgData name="Suzanne Kevlyn" userId="09e09a272ef5727f" providerId="LiveId" clId="{F0A46A80-A113-4D6F-B6DC-4FB215CCE083}" dt="2026-03-05T22:17:32.027" v="6548" actId="1076"/>
          <ac:graphicFrameMkLst>
            <pc:docMk/>
            <pc:sldMk cId="671274184" sldId="2147475155"/>
            <ac:graphicFrameMk id="8" creationId="{3DB19208-144E-F0DE-FB4B-DACD2353C07D}"/>
          </ac:graphicFrameMkLst>
        </pc:graphicFrameChg>
      </pc:sldChg>
      <pc:sldChg chg="del">
        <pc:chgData name="Suzanne Kevlyn" userId="09e09a272ef5727f" providerId="LiveId" clId="{F0A46A80-A113-4D6F-B6DC-4FB215CCE083}" dt="2026-03-05T18:13:59.846" v="783" actId="2696"/>
        <pc:sldMkLst>
          <pc:docMk/>
          <pc:sldMk cId="21050993" sldId="2147475156"/>
        </pc:sldMkLst>
      </pc:sldChg>
      <pc:sldChg chg="delSp modSp add mod">
        <pc:chgData name="Suzanne Kevlyn" userId="09e09a272ef5727f" providerId="LiveId" clId="{F0A46A80-A113-4D6F-B6DC-4FB215CCE083}" dt="2026-03-05T22:17:08.289" v="6545" actId="1076"/>
        <pc:sldMkLst>
          <pc:docMk/>
          <pc:sldMk cId="266119670" sldId="2147475156"/>
        </pc:sldMkLst>
        <pc:spChg chg="mod">
          <ac:chgData name="Suzanne Kevlyn" userId="09e09a272ef5727f" providerId="LiveId" clId="{F0A46A80-A113-4D6F-B6DC-4FB215CCE083}" dt="2026-03-05T22:17:08.289" v="6545" actId="1076"/>
          <ac:spMkLst>
            <pc:docMk/>
            <pc:sldMk cId="266119670" sldId="2147475156"/>
            <ac:spMk id="10" creationId="{81DDCAC8-0B0F-5A74-5511-AEBDA94E74F5}"/>
          </ac:spMkLst>
        </pc:spChg>
        <pc:spChg chg="del">
          <ac:chgData name="Suzanne Kevlyn" userId="09e09a272ef5727f" providerId="LiveId" clId="{F0A46A80-A113-4D6F-B6DC-4FB215CCE083}" dt="2026-03-05T22:16:57.086" v="6544" actId="478"/>
          <ac:spMkLst>
            <pc:docMk/>
            <pc:sldMk cId="266119670" sldId="2147475156"/>
            <ac:spMk id="11" creationId="{05144F8A-2C1A-EA84-FD4E-30E82EABAC8F}"/>
          </ac:spMkLst>
        </pc:spChg>
      </pc:sldChg>
      <pc:sldChg chg="add del">
        <pc:chgData name="Suzanne Kevlyn" userId="09e09a272ef5727f" providerId="LiveId" clId="{F0A46A80-A113-4D6F-B6DC-4FB215CCE083}" dt="2026-03-05T18:15:21.126" v="789" actId="2696"/>
        <pc:sldMkLst>
          <pc:docMk/>
          <pc:sldMk cId="1720344743" sldId="2147475156"/>
        </pc:sldMkLst>
      </pc:sldChg>
      <pc:sldChg chg="add del">
        <pc:chgData name="Suzanne Kevlyn" userId="09e09a272ef5727f" providerId="LiveId" clId="{F0A46A80-A113-4D6F-B6DC-4FB215CCE083}" dt="2026-03-05T22:41:16.230" v="7224" actId="2696"/>
        <pc:sldMkLst>
          <pc:docMk/>
          <pc:sldMk cId="726068969" sldId="2147475157"/>
        </pc:sldMkLst>
      </pc:sldChg>
      <pc:sldChg chg="del">
        <pc:chgData name="Suzanne Kevlyn" userId="09e09a272ef5727f" providerId="LiveId" clId="{F0A46A80-A113-4D6F-B6DC-4FB215CCE083}" dt="2026-03-05T18:16:35.590" v="791" actId="2696"/>
        <pc:sldMkLst>
          <pc:docMk/>
          <pc:sldMk cId="3227346120" sldId="2147475157"/>
        </pc:sldMkLst>
      </pc:sldChg>
      <pc:sldChg chg="add del">
        <pc:chgData name="Suzanne Kevlyn" userId="09e09a272ef5727f" providerId="LiveId" clId="{F0A46A80-A113-4D6F-B6DC-4FB215CCE083}" dt="2026-03-05T22:41:16.230" v="7224" actId="2696"/>
        <pc:sldMkLst>
          <pc:docMk/>
          <pc:sldMk cId="1873405540" sldId="2147475158"/>
        </pc:sldMkLst>
      </pc:sldChg>
      <pc:sldChg chg="del">
        <pc:chgData name="Suzanne Kevlyn" userId="09e09a272ef5727f" providerId="LiveId" clId="{F0A46A80-A113-4D6F-B6DC-4FB215CCE083}" dt="2026-03-05T18:16:35.590" v="791" actId="2696"/>
        <pc:sldMkLst>
          <pc:docMk/>
          <pc:sldMk cId="3656624131" sldId="2147475158"/>
        </pc:sldMkLst>
      </pc:sldChg>
      <pc:sldChg chg="add del">
        <pc:chgData name="Suzanne Kevlyn" userId="09e09a272ef5727f" providerId="LiveId" clId="{F0A46A80-A113-4D6F-B6DC-4FB215CCE083}" dt="2026-03-05T22:41:16.230" v="7224" actId="2696"/>
        <pc:sldMkLst>
          <pc:docMk/>
          <pc:sldMk cId="549244220" sldId="2147475159"/>
        </pc:sldMkLst>
      </pc:sldChg>
      <pc:sldChg chg="del">
        <pc:chgData name="Suzanne Kevlyn" userId="09e09a272ef5727f" providerId="LiveId" clId="{F0A46A80-A113-4D6F-B6DC-4FB215CCE083}" dt="2026-03-05T18:16:35.590" v="791" actId="2696"/>
        <pc:sldMkLst>
          <pc:docMk/>
          <pc:sldMk cId="922029165" sldId="2147475159"/>
        </pc:sldMkLst>
      </pc:sldChg>
      <pc:sldChg chg="add del">
        <pc:chgData name="Suzanne Kevlyn" userId="09e09a272ef5727f" providerId="LiveId" clId="{F0A46A80-A113-4D6F-B6DC-4FB215CCE083}" dt="2026-03-05T22:41:16.230" v="7224" actId="2696"/>
        <pc:sldMkLst>
          <pc:docMk/>
          <pc:sldMk cId="508345428" sldId="2147475160"/>
        </pc:sldMkLst>
      </pc:sldChg>
      <pc:sldChg chg="del">
        <pc:chgData name="Suzanne Kevlyn" userId="09e09a272ef5727f" providerId="LiveId" clId="{F0A46A80-A113-4D6F-B6DC-4FB215CCE083}" dt="2026-03-05T18:16:35.590" v="791" actId="2696"/>
        <pc:sldMkLst>
          <pc:docMk/>
          <pc:sldMk cId="609092435" sldId="2147475160"/>
        </pc:sldMkLst>
      </pc:sldChg>
      <pc:sldChg chg="add del">
        <pc:chgData name="Suzanne Kevlyn" userId="09e09a272ef5727f" providerId="LiveId" clId="{F0A46A80-A113-4D6F-B6DC-4FB215CCE083}" dt="2026-03-05T22:41:16.230" v="7224" actId="2696"/>
        <pc:sldMkLst>
          <pc:docMk/>
          <pc:sldMk cId="2014057369" sldId="2147475161"/>
        </pc:sldMkLst>
      </pc:sldChg>
      <pc:sldChg chg="del">
        <pc:chgData name="Suzanne Kevlyn" userId="09e09a272ef5727f" providerId="LiveId" clId="{F0A46A80-A113-4D6F-B6DC-4FB215CCE083}" dt="2026-03-05T18:16:35.590" v="791" actId="2696"/>
        <pc:sldMkLst>
          <pc:docMk/>
          <pc:sldMk cId="2879890731" sldId="2147475161"/>
        </pc:sldMkLst>
      </pc:sldChg>
      <pc:sldChg chg="del">
        <pc:chgData name="Suzanne Kevlyn" userId="09e09a272ef5727f" providerId="LiveId" clId="{F0A46A80-A113-4D6F-B6DC-4FB215CCE083}" dt="2026-03-05T18:16:35.590" v="791" actId="2696"/>
        <pc:sldMkLst>
          <pc:docMk/>
          <pc:sldMk cId="2278880307" sldId="2147475162"/>
        </pc:sldMkLst>
      </pc:sldChg>
      <pc:sldChg chg="add del">
        <pc:chgData name="Suzanne Kevlyn" userId="09e09a272ef5727f" providerId="LiveId" clId="{F0A46A80-A113-4D6F-B6DC-4FB215CCE083}" dt="2026-03-05T22:41:16.230" v="7224" actId="2696"/>
        <pc:sldMkLst>
          <pc:docMk/>
          <pc:sldMk cId="3178712254" sldId="2147475162"/>
        </pc:sldMkLst>
      </pc:sldChg>
      <pc:sldChg chg="del">
        <pc:chgData name="Suzanne Kevlyn" userId="09e09a272ef5727f" providerId="LiveId" clId="{F0A46A80-A113-4D6F-B6DC-4FB215CCE083}" dt="2026-03-05T17:40:32.410" v="0" actId="2696"/>
        <pc:sldMkLst>
          <pc:docMk/>
          <pc:sldMk cId="247583413" sldId="2147475164"/>
        </pc:sldMkLst>
      </pc:sldChg>
      <pc:sldChg chg="delSp modSp mod">
        <pc:chgData name="Suzanne Kevlyn" userId="09e09a272ef5727f" providerId="LiveId" clId="{F0A46A80-A113-4D6F-B6DC-4FB215CCE083}" dt="2026-03-05T22:27:30.673" v="6963" actId="20577"/>
        <pc:sldMkLst>
          <pc:docMk/>
          <pc:sldMk cId="2746980338" sldId="2147475165"/>
        </pc:sldMkLst>
        <pc:spChg chg="mod">
          <ac:chgData name="Suzanne Kevlyn" userId="09e09a272ef5727f" providerId="LiveId" clId="{F0A46A80-A113-4D6F-B6DC-4FB215CCE083}" dt="2026-03-05T22:27:30.673" v="6963" actId="20577"/>
          <ac:spMkLst>
            <pc:docMk/>
            <pc:sldMk cId="2746980338" sldId="2147475165"/>
            <ac:spMk id="2" creationId="{1504F43A-8C57-22A5-CEF4-A4530A8BC5D5}"/>
          </ac:spMkLst>
        </pc:spChg>
        <pc:spChg chg="del">
          <ac:chgData name="Suzanne Kevlyn" userId="09e09a272ef5727f" providerId="LiveId" clId="{F0A46A80-A113-4D6F-B6DC-4FB215CCE083}" dt="2026-03-05T17:58:47.973" v="425" actId="478"/>
          <ac:spMkLst>
            <pc:docMk/>
            <pc:sldMk cId="2746980338" sldId="2147475165"/>
            <ac:spMk id="5" creationId="{5A02FA54-EDEE-5279-BE74-3B308C9F8391}"/>
          </ac:spMkLst>
        </pc:spChg>
        <pc:spChg chg="del">
          <ac:chgData name="Suzanne Kevlyn" userId="09e09a272ef5727f" providerId="LiveId" clId="{F0A46A80-A113-4D6F-B6DC-4FB215CCE083}" dt="2026-03-05T22:27:11.100" v="6960" actId="478"/>
          <ac:spMkLst>
            <pc:docMk/>
            <pc:sldMk cId="2746980338" sldId="2147475165"/>
            <ac:spMk id="8" creationId="{60956B04-CA66-25FB-A0EC-6C57A41CA2DF}"/>
          </ac:spMkLst>
        </pc:spChg>
      </pc:sldChg>
      <pc:sldChg chg="del">
        <pc:chgData name="Suzanne Kevlyn" userId="09e09a272ef5727f" providerId="LiveId" clId="{F0A46A80-A113-4D6F-B6DC-4FB215CCE083}" dt="2026-03-05T18:16:35.590" v="791" actId="2696"/>
        <pc:sldMkLst>
          <pc:docMk/>
          <pc:sldMk cId="1358241513" sldId="2147475166"/>
        </pc:sldMkLst>
      </pc:sldChg>
      <pc:sldChg chg="add del">
        <pc:chgData name="Suzanne Kevlyn" userId="09e09a272ef5727f" providerId="LiveId" clId="{F0A46A80-A113-4D6F-B6DC-4FB215CCE083}" dt="2026-03-05T22:41:16.230" v="7224" actId="2696"/>
        <pc:sldMkLst>
          <pc:docMk/>
          <pc:sldMk cId="3294389404" sldId="2147475166"/>
        </pc:sldMkLst>
      </pc:sldChg>
      <pc:sldChg chg="add del">
        <pc:chgData name="Suzanne Kevlyn" userId="09e09a272ef5727f" providerId="LiveId" clId="{F0A46A80-A113-4D6F-B6DC-4FB215CCE083}" dt="2026-03-05T22:41:16.230" v="7224" actId="2696"/>
        <pc:sldMkLst>
          <pc:docMk/>
          <pc:sldMk cId="734108798" sldId="2147475167"/>
        </pc:sldMkLst>
      </pc:sldChg>
      <pc:sldChg chg="del">
        <pc:chgData name="Suzanne Kevlyn" userId="09e09a272ef5727f" providerId="LiveId" clId="{F0A46A80-A113-4D6F-B6DC-4FB215CCE083}" dt="2026-03-05T18:16:35.590" v="791" actId="2696"/>
        <pc:sldMkLst>
          <pc:docMk/>
          <pc:sldMk cId="3028169017" sldId="2147475167"/>
        </pc:sldMkLst>
      </pc:sldChg>
      <pc:sldChg chg="modSp mod">
        <pc:chgData name="Suzanne Kevlyn" userId="09e09a272ef5727f" providerId="LiveId" clId="{F0A46A80-A113-4D6F-B6DC-4FB215CCE083}" dt="2026-03-05T22:29:52.201" v="7138" actId="1036"/>
        <pc:sldMkLst>
          <pc:docMk/>
          <pc:sldMk cId="877550738" sldId="2147475168"/>
        </pc:sldMkLst>
        <pc:spChg chg="mod">
          <ac:chgData name="Suzanne Kevlyn" userId="09e09a272ef5727f" providerId="LiveId" clId="{F0A46A80-A113-4D6F-B6DC-4FB215CCE083}" dt="2026-03-05T22:29:43.721" v="7136" actId="1076"/>
          <ac:spMkLst>
            <pc:docMk/>
            <pc:sldMk cId="877550738" sldId="2147475168"/>
            <ac:spMk id="3" creationId="{0AF570DD-F278-221F-DA44-E1B2E8A0C73B}"/>
          </ac:spMkLst>
        </pc:spChg>
        <pc:spChg chg="mod">
          <ac:chgData name="Suzanne Kevlyn" userId="09e09a272ef5727f" providerId="LiveId" clId="{F0A46A80-A113-4D6F-B6DC-4FB215CCE083}" dt="2026-03-05T22:28:43.010" v="7130" actId="20577"/>
          <ac:spMkLst>
            <pc:docMk/>
            <pc:sldMk cId="877550738" sldId="2147475168"/>
            <ac:spMk id="9" creationId="{04C0DB34-8A2C-DA61-94E4-E49DE22C28B5}"/>
          </ac:spMkLst>
        </pc:spChg>
        <pc:graphicFrameChg chg="mod modGraphic">
          <ac:chgData name="Suzanne Kevlyn" userId="09e09a272ef5727f" providerId="LiveId" clId="{F0A46A80-A113-4D6F-B6DC-4FB215CCE083}" dt="2026-03-05T22:29:52.201" v="7138" actId="1036"/>
          <ac:graphicFrameMkLst>
            <pc:docMk/>
            <pc:sldMk cId="877550738" sldId="2147475168"/>
            <ac:graphicFrameMk id="8" creationId="{D7C9F341-3DC8-372E-A6DF-735002081F6F}"/>
          </ac:graphicFrameMkLst>
        </pc:graphicFrameChg>
      </pc:sldChg>
      <pc:sldChg chg="delSp modSp mod">
        <pc:chgData name="Suzanne Kevlyn" userId="09e09a272ef5727f" providerId="LiveId" clId="{F0A46A80-A113-4D6F-B6DC-4FB215CCE083}" dt="2026-03-05T22:31:53.211" v="7164" actId="1076"/>
        <pc:sldMkLst>
          <pc:docMk/>
          <pc:sldMk cId="2950240365" sldId="2147475169"/>
        </pc:sldMkLst>
        <pc:spChg chg="del">
          <ac:chgData name="Suzanne Kevlyn" userId="09e09a272ef5727f" providerId="LiveId" clId="{F0A46A80-A113-4D6F-B6DC-4FB215CCE083}" dt="2026-03-05T17:58:51.308" v="426" actId="478"/>
          <ac:spMkLst>
            <pc:docMk/>
            <pc:sldMk cId="2950240365" sldId="2147475169"/>
            <ac:spMk id="5" creationId="{A23F66EB-8FEE-2803-D5AC-2BBA05085150}"/>
          </ac:spMkLst>
        </pc:spChg>
        <pc:graphicFrameChg chg="mod">
          <ac:chgData name="Suzanne Kevlyn" userId="09e09a272ef5727f" providerId="LiveId" clId="{F0A46A80-A113-4D6F-B6DC-4FB215CCE083}" dt="2026-03-05T22:31:53.211" v="7164" actId="1076"/>
          <ac:graphicFrameMkLst>
            <pc:docMk/>
            <pc:sldMk cId="2950240365" sldId="2147475169"/>
            <ac:graphicFrameMk id="4" creationId="{0EAD089D-C502-FAB8-C01A-0780316E6382}"/>
          </ac:graphicFrameMkLst>
        </pc:graphicFrameChg>
      </pc:sldChg>
      <pc:sldChg chg="del">
        <pc:chgData name="Suzanne Kevlyn" userId="09e09a272ef5727f" providerId="LiveId" clId="{F0A46A80-A113-4D6F-B6DC-4FB215CCE083}" dt="2026-03-05T18:16:35.590" v="791" actId="2696"/>
        <pc:sldMkLst>
          <pc:docMk/>
          <pc:sldMk cId="532088976" sldId="2147475170"/>
        </pc:sldMkLst>
      </pc:sldChg>
      <pc:sldChg chg="add del">
        <pc:chgData name="Suzanne Kevlyn" userId="09e09a272ef5727f" providerId="LiveId" clId="{F0A46A80-A113-4D6F-B6DC-4FB215CCE083}" dt="2026-03-05T22:41:16.230" v="7224" actId="2696"/>
        <pc:sldMkLst>
          <pc:docMk/>
          <pc:sldMk cId="667054137" sldId="2147475170"/>
        </pc:sldMkLst>
      </pc:sldChg>
      <pc:sldChg chg="del">
        <pc:chgData name="Suzanne Kevlyn" userId="09e09a272ef5727f" providerId="LiveId" clId="{F0A46A80-A113-4D6F-B6DC-4FB215CCE083}" dt="2026-03-05T18:16:35.590" v="791" actId="2696"/>
        <pc:sldMkLst>
          <pc:docMk/>
          <pc:sldMk cId="608445990" sldId="2147475171"/>
        </pc:sldMkLst>
      </pc:sldChg>
      <pc:sldChg chg="add del">
        <pc:chgData name="Suzanne Kevlyn" userId="09e09a272ef5727f" providerId="LiveId" clId="{F0A46A80-A113-4D6F-B6DC-4FB215CCE083}" dt="2026-03-05T22:41:16.230" v="7224" actId="2696"/>
        <pc:sldMkLst>
          <pc:docMk/>
          <pc:sldMk cId="2624738088" sldId="2147475171"/>
        </pc:sldMkLst>
      </pc:sldChg>
      <pc:sldChg chg="delSp modSp mod">
        <pc:chgData name="Suzanne Kevlyn" userId="09e09a272ef5727f" providerId="LiveId" clId="{F0A46A80-A113-4D6F-B6DC-4FB215CCE083}" dt="2026-03-06T15:59:13.315" v="12321" actId="478"/>
        <pc:sldMkLst>
          <pc:docMk/>
          <pc:sldMk cId="464020247" sldId="2147475172"/>
        </pc:sldMkLst>
        <pc:spChg chg="mod">
          <ac:chgData name="Suzanne Kevlyn" userId="09e09a272ef5727f" providerId="LiveId" clId="{F0A46A80-A113-4D6F-B6DC-4FB215CCE083}" dt="2026-03-05T22:32:15.422" v="7172" actId="20577"/>
          <ac:spMkLst>
            <pc:docMk/>
            <pc:sldMk cId="464020247" sldId="2147475172"/>
            <ac:spMk id="3" creationId="{1EF0EDC2-E608-09D4-73E1-7F03859D6017}"/>
          </ac:spMkLst>
        </pc:spChg>
        <pc:spChg chg="del">
          <ac:chgData name="Suzanne Kevlyn" userId="09e09a272ef5727f" providerId="LiveId" clId="{F0A46A80-A113-4D6F-B6DC-4FB215CCE083}" dt="2026-03-06T15:59:13.315" v="12321" actId="478"/>
          <ac:spMkLst>
            <pc:docMk/>
            <pc:sldMk cId="464020247" sldId="2147475172"/>
            <ac:spMk id="10" creationId="{05A61B69-9497-4BBD-D5C1-6995B4A2EA80}"/>
          </ac:spMkLst>
        </pc:spChg>
      </pc:sldChg>
      <pc:sldChg chg="add del">
        <pc:chgData name="Suzanne Kevlyn" userId="09e09a272ef5727f" providerId="LiveId" clId="{F0A46A80-A113-4D6F-B6DC-4FB215CCE083}" dt="2026-03-05T22:41:16.230" v="7224" actId="2696"/>
        <pc:sldMkLst>
          <pc:docMk/>
          <pc:sldMk cId="1664620191" sldId="2147475173"/>
        </pc:sldMkLst>
      </pc:sldChg>
      <pc:sldChg chg="del">
        <pc:chgData name="Suzanne Kevlyn" userId="09e09a272ef5727f" providerId="LiveId" clId="{F0A46A80-A113-4D6F-B6DC-4FB215CCE083}" dt="2026-03-05T18:16:35.590" v="791" actId="2696"/>
        <pc:sldMkLst>
          <pc:docMk/>
          <pc:sldMk cId="2245622883" sldId="2147475173"/>
        </pc:sldMkLst>
      </pc:sldChg>
      <pc:sldChg chg="add del">
        <pc:chgData name="Suzanne Kevlyn" userId="09e09a272ef5727f" providerId="LiveId" clId="{F0A46A80-A113-4D6F-B6DC-4FB215CCE083}" dt="2026-03-05T22:41:16.230" v="7224" actId="2696"/>
        <pc:sldMkLst>
          <pc:docMk/>
          <pc:sldMk cId="2928102052" sldId="2147475174"/>
        </pc:sldMkLst>
      </pc:sldChg>
      <pc:sldChg chg="del">
        <pc:chgData name="Suzanne Kevlyn" userId="09e09a272ef5727f" providerId="LiveId" clId="{F0A46A80-A113-4D6F-B6DC-4FB215CCE083}" dt="2026-03-05T18:16:35.590" v="791" actId="2696"/>
        <pc:sldMkLst>
          <pc:docMk/>
          <pc:sldMk cId="3642940553" sldId="2147475174"/>
        </pc:sldMkLst>
      </pc:sldChg>
      <pc:sldChg chg="modSp mod">
        <pc:chgData name="Suzanne Kevlyn" userId="09e09a272ef5727f" providerId="LiveId" clId="{F0A46A80-A113-4D6F-B6DC-4FB215CCE083}" dt="2026-03-06T20:29:04.682" v="19356" actId="20577"/>
        <pc:sldMkLst>
          <pc:docMk/>
          <pc:sldMk cId="2500478697" sldId="2147475175"/>
        </pc:sldMkLst>
        <pc:spChg chg="mod">
          <ac:chgData name="Suzanne Kevlyn" userId="09e09a272ef5727f" providerId="LiveId" clId="{F0A46A80-A113-4D6F-B6DC-4FB215CCE083}" dt="2026-03-06T20:29:04.682" v="19356" actId="20577"/>
          <ac:spMkLst>
            <pc:docMk/>
            <pc:sldMk cId="2500478697" sldId="2147475175"/>
            <ac:spMk id="3" creationId="{ED2E7943-269A-8C70-55E4-B5C78B4FE966}"/>
          </ac:spMkLst>
        </pc:spChg>
        <pc:spChg chg="mod">
          <ac:chgData name="Suzanne Kevlyn" userId="09e09a272ef5727f" providerId="LiveId" clId="{F0A46A80-A113-4D6F-B6DC-4FB215CCE083}" dt="2026-03-06T20:28:55.972" v="19352" actId="1076"/>
          <ac:spMkLst>
            <pc:docMk/>
            <pc:sldMk cId="2500478697" sldId="2147475175"/>
            <ac:spMk id="10" creationId="{9F48CC97-DDC3-0A99-6708-385A79410C13}"/>
          </ac:spMkLst>
        </pc:spChg>
      </pc:sldChg>
      <pc:sldChg chg="del">
        <pc:chgData name="Suzanne Kevlyn" userId="09e09a272ef5727f" providerId="LiveId" clId="{F0A46A80-A113-4D6F-B6DC-4FB215CCE083}" dt="2026-03-05T17:40:32.410" v="0" actId="2696"/>
        <pc:sldMkLst>
          <pc:docMk/>
          <pc:sldMk cId="632622878" sldId="2147475176"/>
        </pc:sldMkLst>
      </pc:sldChg>
      <pc:sldChg chg="addSp delSp modSp del mod">
        <pc:chgData name="Suzanne Kevlyn" userId="09e09a272ef5727f" providerId="LiveId" clId="{F0A46A80-A113-4D6F-B6DC-4FB215CCE083}" dt="2026-03-05T23:01:05.183" v="7949" actId="2696"/>
        <pc:sldMkLst>
          <pc:docMk/>
          <pc:sldMk cId="975244546" sldId="2147475180"/>
        </pc:sldMkLst>
        <pc:spChg chg="mod">
          <ac:chgData name="Suzanne Kevlyn" userId="09e09a272ef5727f" providerId="LiveId" clId="{F0A46A80-A113-4D6F-B6DC-4FB215CCE083}" dt="2026-03-05T21:13:29.087" v="2888" actId="20577"/>
          <ac:spMkLst>
            <pc:docMk/>
            <pc:sldMk cId="975244546" sldId="2147475180"/>
            <ac:spMk id="2" creationId="{874F323E-B470-FF55-B29D-D3B44153CEC4}"/>
          </ac:spMkLst>
        </pc:spChg>
        <pc:spChg chg="del">
          <ac:chgData name="Suzanne Kevlyn" userId="09e09a272ef5727f" providerId="LiveId" clId="{F0A46A80-A113-4D6F-B6DC-4FB215CCE083}" dt="2026-03-05T17:43:34.361" v="101" actId="478"/>
          <ac:spMkLst>
            <pc:docMk/>
            <pc:sldMk cId="975244546" sldId="2147475180"/>
            <ac:spMk id="4" creationId="{05C8CC7C-DF99-5720-CCAF-1FA32A2C759C}"/>
          </ac:spMkLst>
        </pc:spChg>
        <pc:spChg chg="add del mod">
          <ac:chgData name="Suzanne Kevlyn" userId="09e09a272ef5727f" providerId="LiveId" clId="{F0A46A80-A113-4D6F-B6DC-4FB215CCE083}" dt="2026-03-05T17:57:27.835" v="396" actId="478"/>
          <ac:spMkLst>
            <pc:docMk/>
            <pc:sldMk cId="975244546" sldId="2147475180"/>
            <ac:spMk id="6" creationId="{F5EAF0BA-97C5-EBA8-E92D-C3037A21FD1D}"/>
          </ac:spMkLst>
        </pc:spChg>
      </pc:sldChg>
      <pc:sldChg chg="delSp del mod">
        <pc:chgData name="Suzanne Kevlyn" userId="09e09a272ef5727f" providerId="LiveId" clId="{F0A46A80-A113-4D6F-B6DC-4FB215CCE083}" dt="2026-03-05T18:11:29.052" v="768" actId="2696"/>
        <pc:sldMkLst>
          <pc:docMk/>
          <pc:sldMk cId="3532495061" sldId="2147475181"/>
        </pc:sldMkLst>
        <pc:spChg chg="del">
          <ac:chgData name="Suzanne Kevlyn" userId="09e09a272ef5727f" providerId="LiveId" clId="{F0A46A80-A113-4D6F-B6DC-4FB215CCE083}" dt="2026-03-05T17:57:55.955" v="407" actId="478"/>
          <ac:spMkLst>
            <pc:docMk/>
            <pc:sldMk cId="3532495061" sldId="2147475181"/>
            <ac:spMk id="4" creationId="{D3C176CD-4015-7DEA-90C0-4272D5A23456}"/>
          </ac:spMkLst>
        </pc:spChg>
      </pc:sldChg>
      <pc:sldChg chg="delSp del mod ord">
        <pc:chgData name="Suzanne Kevlyn" userId="09e09a272ef5727f" providerId="LiveId" clId="{F0A46A80-A113-4D6F-B6DC-4FB215CCE083}" dt="2026-03-06T16:12:56.819" v="12910" actId="2696"/>
        <pc:sldMkLst>
          <pc:docMk/>
          <pc:sldMk cId="3806548472" sldId="2147475182"/>
        </pc:sldMkLst>
        <pc:spChg chg="del">
          <ac:chgData name="Suzanne Kevlyn" userId="09e09a272ef5727f" providerId="LiveId" clId="{F0A46A80-A113-4D6F-B6DC-4FB215CCE083}" dt="2026-03-05T21:35:41.030" v="3855" actId="478"/>
          <ac:spMkLst>
            <pc:docMk/>
            <pc:sldMk cId="3806548472" sldId="2147475182"/>
            <ac:spMk id="6" creationId="{1C4C4B0D-B46C-A6E0-9725-27967B339A3B}"/>
          </ac:spMkLst>
        </pc:spChg>
      </pc:sldChg>
      <pc:sldChg chg="addSp delSp modSp mod">
        <pc:chgData name="Suzanne Kevlyn" userId="09e09a272ef5727f" providerId="LiveId" clId="{F0A46A80-A113-4D6F-B6DC-4FB215CCE083}" dt="2026-03-06T20:21:31.942" v="19329"/>
        <pc:sldMkLst>
          <pc:docMk/>
          <pc:sldMk cId="2102982069" sldId="2147475183"/>
        </pc:sldMkLst>
        <pc:spChg chg="mod">
          <ac:chgData name="Suzanne Kevlyn" userId="09e09a272ef5727f" providerId="LiveId" clId="{F0A46A80-A113-4D6F-B6DC-4FB215CCE083}" dt="2026-03-05T21:46:11.655" v="4666" actId="20577"/>
          <ac:spMkLst>
            <pc:docMk/>
            <pc:sldMk cId="2102982069" sldId="2147475183"/>
            <ac:spMk id="2" creationId="{75F42F53-32FE-04EB-4AD4-FF7E6E6E8FD2}"/>
          </ac:spMkLst>
        </pc:spChg>
        <pc:spChg chg="mod">
          <ac:chgData name="Suzanne Kevlyn" userId="09e09a272ef5727f" providerId="LiveId" clId="{F0A46A80-A113-4D6F-B6DC-4FB215CCE083}" dt="2026-03-05T21:48:23.664" v="4811" actId="1076"/>
          <ac:spMkLst>
            <pc:docMk/>
            <pc:sldMk cId="2102982069" sldId="2147475183"/>
            <ac:spMk id="3" creationId="{8306D23B-D181-3479-3BB0-75C45249B110}"/>
          </ac:spMkLst>
        </pc:spChg>
        <pc:spChg chg="del">
          <ac:chgData name="Suzanne Kevlyn" userId="09e09a272ef5727f" providerId="LiveId" clId="{F0A46A80-A113-4D6F-B6DC-4FB215CCE083}" dt="2026-03-05T17:58:09.419" v="415" actId="478"/>
          <ac:spMkLst>
            <pc:docMk/>
            <pc:sldMk cId="2102982069" sldId="2147475183"/>
            <ac:spMk id="5" creationId="{4620A1CA-D1D9-92F8-B49B-8CC15B3A1FCE}"/>
          </ac:spMkLst>
        </pc:spChg>
        <pc:spChg chg="mod">
          <ac:chgData name="Suzanne Kevlyn" userId="09e09a272ef5727f" providerId="LiveId" clId="{F0A46A80-A113-4D6F-B6DC-4FB215CCE083}" dt="2026-03-05T21:50:09.784" v="4878" actId="207"/>
          <ac:spMkLst>
            <pc:docMk/>
            <pc:sldMk cId="2102982069" sldId="2147475183"/>
            <ac:spMk id="8" creationId="{889130AA-F5FD-44D5-BA91-053C4CD03211}"/>
          </ac:spMkLst>
        </pc:spChg>
        <pc:spChg chg="mod">
          <ac:chgData name="Suzanne Kevlyn" userId="09e09a272ef5727f" providerId="LiveId" clId="{F0A46A80-A113-4D6F-B6DC-4FB215CCE083}" dt="2026-03-05T21:50:13.391" v="4879" actId="207"/>
          <ac:spMkLst>
            <pc:docMk/>
            <pc:sldMk cId="2102982069" sldId="2147475183"/>
            <ac:spMk id="9" creationId="{1CEB9120-4190-6813-BC05-DFB314F9D50B}"/>
          </ac:spMkLst>
        </pc:spChg>
        <pc:spChg chg="mod">
          <ac:chgData name="Suzanne Kevlyn" userId="09e09a272ef5727f" providerId="LiveId" clId="{F0A46A80-A113-4D6F-B6DC-4FB215CCE083}" dt="2026-03-05T21:50:16.668" v="4880" actId="207"/>
          <ac:spMkLst>
            <pc:docMk/>
            <pc:sldMk cId="2102982069" sldId="2147475183"/>
            <ac:spMk id="10" creationId="{8EFD7B82-C8B7-F26D-426A-7A14745D586D}"/>
          </ac:spMkLst>
        </pc:spChg>
        <pc:spChg chg="add mod">
          <ac:chgData name="Suzanne Kevlyn" userId="09e09a272ef5727f" providerId="LiveId" clId="{F0A46A80-A113-4D6F-B6DC-4FB215CCE083}" dt="2026-03-05T21:49:38.144" v="4870" actId="207"/>
          <ac:spMkLst>
            <pc:docMk/>
            <pc:sldMk cId="2102982069" sldId="2147475183"/>
            <ac:spMk id="12" creationId="{B72B56B5-3BFD-88C1-0DB9-CA8C9D029049}"/>
          </ac:spMkLst>
        </pc:spChg>
        <pc:spChg chg="add mod">
          <ac:chgData name="Suzanne Kevlyn" userId="09e09a272ef5727f" providerId="LiveId" clId="{F0A46A80-A113-4D6F-B6DC-4FB215CCE083}" dt="2026-03-05T21:48:56.230" v="4815" actId="1076"/>
          <ac:spMkLst>
            <pc:docMk/>
            <pc:sldMk cId="2102982069" sldId="2147475183"/>
            <ac:spMk id="13" creationId="{12796530-A1BB-3BB7-D313-4BE16ACB5B1E}"/>
          </ac:spMkLst>
        </pc:spChg>
        <pc:spChg chg="add del mod">
          <ac:chgData name="Suzanne Kevlyn" userId="09e09a272ef5727f" providerId="LiveId" clId="{F0A46A80-A113-4D6F-B6DC-4FB215CCE083}" dt="2026-03-05T21:49:46.602" v="4871" actId="478"/>
          <ac:spMkLst>
            <pc:docMk/>
            <pc:sldMk cId="2102982069" sldId="2147475183"/>
            <ac:spMk id="14" creationId="{A8D11FC9-ACBB-2885-8B20-8A1E145F2F4B}"/>
          </ac:spMkLst>
        </pc:spChg>
        <pc:spChg chg="add del mod">
          <ac:chgData name="Suzanne Kevlyn" userId="09e09a272ef5727f" providerId="LiveId" clId="{F0A46A80-A113-4D6F-B6DC-4FB215CCE083}" dt="2026-03-05T21:49:50.210" v="4872" actId="478"/>
          <ac:spMkLst>
            <pc:docMk/>
            <pc:sldMk cId="2102982069" sldId="2147475183"/>
            <ac:spMk id="15" creationId="{01601A3F-D46A-2D06-9900-DEBACB47C0FA}"/>
          </ac:spMkLst>
        </pc:spChg>
        <pc:spChg chg="mod">
          <ac:chgData name="Suzanne Kevlyn" userId="09e09a272ef5727f" providerId="LiveId" clId="{F0A46A80-A113-4D6F-B6DC-4FB215CCE083}" dt="2026-03-06T20:17:42.790" v="19254" actId="2"/>
          <ac:spMkLst>
            <pc:docMk/>
            <pc:sldMk cId="2102982069" sldId="2147475183"/>
            <ac:spMk id="73" creationId="{3B7C1BDD-272D-06D3-4EBA-801F5B6C7B80}"/>
          </ac:spMkLst>
        </pc:spChg>
        <pc:grpChg chg="add mod">
          <ac:chgData name="Suzanne Kevlyn" userId="09e09a272ef5727f" providerId="LiveId" clId="{F0A46A80-A113-4D6F-B6DC-4FB215CCE083}" dt="2026-03-05T21:45:12.272" v="4605" actId="164"/>
          <ac:grpSpMkLst>
            <pc:docMk/>
            <pc:sldMk cId="2102982069" sldId="2147475183"/>
            <ac:grpSpMk id="4" creationId="{72CEC5DE-0945-A320-D087-7AE40A93AAB1}"/>
          </ac:grpSpMkLst>
        </pc:grpChg>
        <pc:grpChg chg="add mod">
          <ac:chgData name="Suzanne Kevlyn" userId="09e09a272ef5727f" providerId="LiveId" clId="{F0A46A80-A113-4D6F-B6DC-4FB215CCE083}" dt="2026-03-05T22:03:06.164" v="5498" actId="1076"/>
          <ac:grpSpMkLst>
            <pc:docMk/>
            <pc:sldMk cId="2102982069" sldId="2147475183"/>
            <ac:grpSpMk id="16" creationId="{4427ABE9-28FF-A7E5-124F-93BFC7FD294A}"/>
          </ac:grpSpMkLst>
        </pc:grpChg>
        <pc:graphicFrameChg chg="mod">
          <ac:chgData name="Suzanne Kevlyn" userId="09e09a272ef5727f" providerId="LiveId" clId="{F0A46A80-A113-4D6F-B6DC-4FB215CCE083}" dt="2026-03-05T21:46:58.319" v="4677"/>
          <ac:graphicFrameMkLst>
            <pc:docMk/>
            <pc:sldMk cId="2102982069" sldId="2147475183"/>
            <ac:graphicFrameMk id="5" creationId="{70D214F2-9F4F-A531-1143-8274B04CE396}"/>
          </ac:graphicFrameMkLst>
        </pc:graphicFrameChg>
        <pc:graphicFrameChg chg="mod">
          <ac:chgData name="Suzanne Kevlyn" userId="09e09a272ef5727f" providerId="LiveId" clId="{F0A46A80-A113-4D6F-B6DC-4FB215CCE083}" dt="2026-03-06T20:21:31.942" v="19329"/>
          <ac:graphicFrameMkLst>
            <pc:docMk/>
            <pc:sldMk cId="2102982069" sldId="2147475183"/>
            <ac:graphicFrameMk id="11" creationId="{46F4D765-4770-E5B8-6BA1-AB311CF6ED05}"/>
          </ac:graphicFrameMkLst>
        </pc:graphicFrameChg>
        <pc:cxnChg chg="add mod">
          <ac:chgData name="Suzanne Kevlyn" userId="09e09a272ef5727f" providerId="LiveId" clId="{F0A46A80-A113-4D6F-B6DC-4FB215CCE083}" dt="2026-03-05T22:03:00.923" v="5497" actId="1035"/>
          <ac:cxnSpMkLst>
            <pc:docMk/>
            <pc:sldMk cId="2102982069" sldId="2147475183"/>
            <ac:cxnSpMk id="18" creationId="{9EABFA9C-537B-F3AA-45FB-D95A1AB629F9}"/>
          </ac:cxnSpMkLst>
        </pc:cxnChg>
      </pc:sldChg>
      <pc:sldChg chg="addSp delSp modSp add mod">
        <pc:chgData name="Suzanne Kevlyn" userId="09e09a272ef5727f" providerId="LiveId" clId="{F0A46A80-A113-4D6F-B6DC-4FB215CCE083}" dt="2026-03-06T20:22:34.879" v="19331"/>
        <pc:sldMkLst>
          <pc:docMk/>
          <pc:sldMk cId="978599859" sldId="2147475184"/>
        </pc:sldMkLst>
        <pc:spChg chg="add del mod">
          <ac:chgData name="Suzanne Kevlyn" userId="09e09a272ef5727f" providerId="LiveId" clId="{F0A46A80-A113-4D6F-B6DC-4FB215CCE083}" dt="2026-03-06T20:22:32.729" v="19330" actId="478"/>
          <ac:spMkLst>
            <pc:docMk/>
            <pc:sldMk cId="978599859" sldId="2147475184"/>
            <ac:spMk id="3" creationId="{1154D408-C91E-F154-9669-2905C10CDB23}"/>
          </ac:spMkLst>
        </pc:spChg>
        <pc:spChg chg="del">
          <ac:chgData name="Suzanne Kevlyn" userId="09e09a272ef5727f" providerId="LiveId" clId="{F0A46A80-A113-4D6F-B6DC-4FB215CCE083}" dt="2026-03-06T16:00:02.904" v="12346" actId="478"/>
          <ac:spMkLst>
            <pc:docMk/>
            <pc:sldMk cId="978599859" sldId="2147475184"/>
            <ac:spMk id="8" creationId="{35FE4ED0-0BA9-1AFA-ABDA-8C0638C627B2}"/>
          </ac:spMkLst>
        </pc:spChg>
        <pc:spChg chg="del">
          <ac:chgData name="Suzanne Kevlyn" userId="09e09a272ef5727f" providerId="LiveId" clId="{F0A46A80-A113-4D6F-B6DC-4FB215CCE083}" dt="2026-03-05T22:40:13.867" v="7222" actId="478"/>
          <ac:spMkLst>
            <pc:docMk/>
            <pc:sldMk cId="978599859" sldId="2147475184"/>
            <ac:spMk id="9" creationId="{4E66341A-EEE5-30CB-E5F1-CD631BAF80CD}"/>
          </ac:spMkLst>
        </pc:spChg>
        <pc:spChg chg="add mod">
          <ac:chgData name="Suzanne Kevlyn" userId="09e09a272ef5727f" providerId="LiveId" clId="{F0A46A80-A113-4D6F-B6DC-4FB215CCE083}" dt="2026-03-06T20:22:34.879" v="19331"/>
          <ac:spMkLst>
            <pc:docMk/>
            <pc:sldMk cId="978599859" sldId="2147475184"/>
            <ac:spMk id="9" creationId="{57D230FA-B4C2-BD11-7ED2-A19A0888FC52}"/>
          </ac:spMkLst>
        </pc:spChg>
        <pc:graphicFrameChg chg="mod">
          <ac:chgData name="Suzanne Kevlyn" userId="09e09a272ef5727f" providerId="LiveId" clId="{F0A46A80-A113-4D6F-B6DC-4FB215CCE083}" dt="2026-03-05T22:40:31.485" v="7223" actId="1076"/>
          <ac:graphicFrameMkLst>
            <pc:docMk/>
            <pc:sldMk cId="978599859" sldId="2147475184"/>
            <ac:graphicFrameMk id="4" creationId="{2FA760FD-8C7D-019E-681B-EDC84ACC3935}"/>
          </ac:graphicFrameMkLst>
        </pc:graphicFrameChg>
      </pc:sldChg>
      <pc:sldChg chg="del">
        <pc:chgData name="Suzanne Kevlyn" userId="09e09a272ef5727f" providerId="LiveId" clId="{F0A46A80-A113-4D6F-B6DC-4FB215CCE083}" dt="2026-03-05T22:38:37.900" v="7218" actId="2696"/>
        <pc:sldMkLst>
          <pc:docMk/>
          <pc:sldMk cId="3992544756" sldId="2147475184"/>
        </pc:sldMkLst>
      </pc:sldChg>
      <pc:sldChg chg="addSp delSp modSp mod ord modClrScheme chgLayout">
        <pc:chgData name="Suzanne Kevlyn" userId="09e09a272ef5727f" providerId="LiveId" clId="{F0A46A80-A113-4D6F-B6DC-4FB215CCE083}" dt="2026-03-06T16:12:39.976" v="12909" actId="478"/>
        <pc:sldMkLst>
          <pc:docMk/>
          <pc:sldMk cId="3417011058" sldId="2147475185"/>
        </pc:sldMkLst>
        <pc:spChg chg="mod">
          <ac:chgData name="Suzanne Kevlyn" userId="09e09a272ef5727f" providerId="LiveId" clId="{F0A46A80-A113-4D6F-B6DC-4FB215CCE083}" dt="2026-03-06T16:10:47.449" v="12835" actId="20577"/>
          <ac:spMkLst>
            <pc:docMk/>
            <pc:sldMk cId="3417011058" sldId="2147475185"/>
            <ac:spMk id="2" creationId="{F2C987A0-6246-1806-F650-691716BF72E4}"/>
          </ac:spMkLst>
        </pc:spChg>
        <pc:spChg chg="del mod">
          <ac:chgData name="Suzanne Kevlyn" userId="09e09a272ef5727f" providerId="LiveId" clId="{F0A46A80-A113-4D6F-B6DC-4FB215CCE083}" dt="2026-03-06T16:01:06.850" v="12358" actId="478"/>
          <ac:spMkLst>
            <pc:docMk/>
            <pc:sldMk cId="3417011058" sldId="2147475185"/>
            <ac:spMk id="3" creationId="{32A15E76-0E8B-25FF-40C8-3ED0B79B3470}"/>
          </ac:spMkLst>
        </pc:spChg>
        <pc:spChg chg="add del mod">
          <ac:chgData name="Suzanne Kevlyn" userId="09e09a272ef5727f" providerId="LiveId" clId="{F0A46A80-A113-4D6F-B6DC-4FB215CCE083}" dt="2026-03-06T16:08:22.358" v="12705" actId="478"/>
          <ac:spMkLst>
            <pc:docMk/>
            <pc:sldMk cId="3417011058" sldId="2147475185"/>
            <ac:spMk id="4" creationId="{9E29066F-F4C0-EA1D-1B3B-CCD1F1FDFE87}"/>
          </ac:spMkLst>
        </pc:spChg>
        <pc:spChg chg="del">
          <ac:chgData name="Suzanne Kevlyn" userId="09e09a272ef5727f" providerId="LiveId" clId="{F0A46A80-A113-4D6F-B6DC-4FB215CCE083}" dt="2026-03-05T17:59:20.780" v="433" actId="478"/>
          <ac:spMkLst>
            <pc:docMk/>
            <pc:sldMk cId="3417011058" sldId="2147475185"/>
            <ac:spMk id="5" creationId="{07BCBA8B-2CED-DD17-B72F-799E789C5669}"/>
          </ac:spMkLst>
        </pc:spChg>
        <pc:spChg chg="mod ord">
          <ac:chgData name="Suzanne Kevlyn" userId="09e09a272ef5727f" providerId="LiveId" clId="{F0A46A80-A113-4D6F-B6DC-4FB215CCE083}" dt="2026-03-06T16:05:40.437" v="12415" actId="700"/>
          <ac:spMkLst>
            <pc:docMk/>
            <pc:sldMk cId="3417011058" sldId="2147475185"/>
            <ac:spMk id="6" creationId="{9899D341-6252-2A72-BE78-73B81949C201}"/>
          </ac:spMkLst>
        </pc:spChg>
        <pc:spChg chg="mod ord">
          <ac:chgData name="Suzanne Kevlyn" userId="09e09a272ef5727f" providerId="LiveId" clId="{F0A46A80-A113-4D6F-B6DC-4FB215CCE083}" dt="2026-03-06T16:05:40.486" v="12416" actId="27636"/>
          <ac:spMkLst>
            <pc:docMk/>
            <pc:sldMk cId="3417011058" sldId="2147475185"/>
            <ac:spMk id="7" creationId="{92A2D87B-EC23-D9FF-C3D8-67CBC08F9384}"/>
          </ac:spMkLst>
        </pc:spChg>
        <pc:spChg chg="add mod">
          <ac:chgData name="Suzanne Kevlyn" userId="09e09a272ef5727f" providerId="LiveId" clId="{F0A46A80-A113-4D6F-B6DC-4FB215CCE083}" dt="2026-03-06T16:10:22.426" v="12823" actId="1076"/>
          <ac:spMkLst>
            <pc:docMk/>
            <pc:sldMk cId="3417011058" sldId="2147475185"/>
            <ac:spMk id="10" creationId="{13D17A05-155A-A770-BF96-14302CEA140E}"/>
          </ac:spMkLst>
        </pc:spChg>
        <pc:spChg chg="add del mod">
          <ac:chgData name="Suzanne Kevlyn" userId="09e09a272ef5727f" providerId="LiveId" clId="{F0A46A80-A113-4D6F-B6DC-4FB215CCE083}" dt="2026-03-06T16:12:39.976" v="12909" actId="478"/>
          <ac:spMkLst>
            <pc:docMk/>
            <pc:sldMk cId="3417011058" sldId="2147475185"/>
            <ac:spMk id="11" creationId="{951D56C7-7CCE-4FEB-6EA8-D85C8634E5E1}"/>
          </ac:spMkLst>
        </pc:spChg>
        <pc:spChg chg="mod">
          <ac:chgData name="Suzanne Kevlyn" userId="09e09a272ef5727f" providerId="LiveId" clId="{F0A46A80-A113-4D6F-B6DC-4FB215CCE083}" dt="2026-03-06T16:10:42.240" v="12824" actId="1076"/>
          <ac:spMkLst>
            <pc:docMk/>
            <pc:sldMk cId="3417011058" sldId="2147475185"/>
            <ac:spMk id="73" creationId="{E562CFD7-8E6D-6BB1-48A4-CD5BDF912E2C}"/>
          </ac:spMkLst>
        </pc:spChg>
        <pc:graphicFrameChg chg="add del modGraphic">
          <ac:chgData name="Suzanne Kevlyn" userId="09e09a272ef5727f" providerId="LiveId" clId="{F0A46A80-A113-4D6F-B6DC-4FB215CCE083}" dt="2026-03-05T22:48:51.607" v="7420" actId="3680"/>
          <ac:graphicFrameMkLst>
            <pc:docMk/>
            <pc:sldMk cId="3417011058" sldId="2147475185"/>
            <ac:graphicFrameMk id="4" creationId="{8C9396C3-1827-5141-50F8-E8CD963AB97C}"/>
          </ac:graphicFrameMkLst>
        </pc:graphicFrameChg>
        <pc:graphicFrameChg chg="add mod modGraphic">
          <ac:chgData name="Suzanne Kevlyn" userId="09e09a272ef5727f" providerId="LiveId" clId="{F0A46A80-A113-4D6F-B6DC-4FB215CCE083}" dt="2026-03-06T16:11:29.169" v="12842" actId="1035"/>
          <ac:graphicFrameMkLst>
            <pc:docMk/>
            <pc:sldMk cId="3417011058" sldId="2147475185"/>
            <ac:graphicFrameMk id="5" creationId="{1A267490-0C34-2B11-E619-C21AE4CD99A3}"/>
          </ac:graphicFrameMkLst>
        </pc:graphicFrameChg>
        <pc:graphicFrameChg chg="add mod modGraphic">
          <ac:chgData name="Suzanne Kevlyn" userId="09e09a272ef5727f" providerId="LiveId" clId="{F0A46A80-A113-4D6F-B6DC-4FB215CCE083}" dt="2026-03-06T16:10:08.643" v="12821" actId="1076"/>
          <ac:graphicFrameMkLst>
            <pc:docMk/>
            <pc:sldMk cId="3417011058" sldId="2147475185"/>
            <ac:graphicFrameMk id="8" creationId="{F7917DFC-E2D5-648F-9C46-66B394664C21}"/>
          </ac:graphicFrameMkLst>
        </pc:graphicFrameChg>
        <pc:graphicFrameChg chg="add mod modGraphic">
          <ac:chgData name="Suzanne Kevlyn" userId="09e09a272ef5727f" providerId="LiveId" clId="{F0A46A80-A113-4D6F-B6DC-4FB215CCE083}" dt="2026-03-06T16:10:16.385" v="12822" actId="1076"/>
          <ac:graphicFrameMkLst>
            <pc:docMk/>
            <pc:sldMk cId="3417011058" sldId="2147475185"/>
            <ac:graphicFrameMk id="9" creationId="{7995692B-AB34-D2F0-C184-3FC9AC70A149}"/>
          </ac:graphicFrameMkLst>
        </pc:graphicFrameChg>
      </pc:sldChg>
      <pc:sldChg chg="delSp del mod">
        <pc:chgData name="Suzanne Kevlyn" userId="09e09a272ef5727f" providerId="LiveId" clId="{F0A46A80-A113-4D6F-B6DC-4FB215CCE083}" dt="2026-03-05T22:38:37.900" v="7218" actId="2696"/>
        <pc:sldMkLst>
          <pc:docMk/>
          <pc:sldMk cId="2269643072" sldId="2147475186"/>
        </pc:sldMkLst>
        <pc:spChg chg="del">
          <ac:chgData name="Suzanne Kevlyn" userId="09e09a272ef5727f" providerId="LiveId" clId="{F0A46A80-A113-4D6F-B6DC-4FB215CCE083}" dt="2026-03-05T17:59:24.070" v="434" actId="478"/>
          <ac:spMkLst>
            <pc:docMk/>
            <pc:sldMk cId="2269643072" sldId="2147475186"/>
            <ac:spMk id="5" creationId="{DA460C28-7CF9-5603-3E41-EF88ABFCA2D8}"/>
          </ac:spMkLst>
        </pc:spChg>
      </pc:sldChg>
      <pc:sldChg chg="addSp delSp modSp add mod">
        <pc:chgData name="Suzanne Kevlyn" userId="09e09a272ef5727f" providerId="LiveId" clId="{F0A46A80-A113-4D6F-B6DC-4FB215CCE083}" dt="2026-03-06T20:22:45.869" v="19336" actId="20577"/>
        <pc:sldMkLst>
          <pc:docMk/>
          <pc:sldMk cId="3335105505" sldId="2147475186"/>
        </pc:sldMkLst>
        <pc:spChg chg="add del mod">
          <ac:chgData name="Suzanne Kevlyn" userId="09e09a272ef5727f" providerId="LiveId" clId="{F0A46A80-A113-4D6F-B6DC-4FB215CCE083}" dt="2026-03-06T20:22:39.594" v="19332" actId="478"/>
          <ac:spMkLst>
            <pc:docMk/>
            <pc:sldMk cId="3335105505" sldId="2147475186"/>
            <ac:spMk id="2" creationId="{F31CC0D9-38AA-39AB-91CD-9EA3A801342D}"/>
          </ac:spMkLst>
        </pc:spChg>
        <pc:spChg chg="add mod">
          <ac:chgData name="Suzanne Kevlyn" userId="09e09a272ef5727f" providerId="LiveId" clId="{F0A46A80-A113-4D6F-B6DC-4FB215CCE083}" dt="2026-03-06T20:22:41.265" v="19333"/>
          <ac:spMkLst>
            <pc:docMk/>
            <pc:sldMk cId="3335105505" sldId="2147475186"/>
            <ac:spMk id="3" creationId="{EB478ABC-2E66-5A35-CE54-21958AB6B4B2}"/>
          </ac:spMkLst>
        </pc:spChg>
        <pc:spChg chg="mod">
          <ac:chgData name="Suzanne Kevlyn" userId="09e09a272ef5727f" providerId="LiveId" clId="{F0A46A80-A113-4D6F-B6DC-4FB215CCE083}" dt="2026-03-06T20:22:45.869" v="19336" actId="20577"/>
          <ac:spMkLst>
            <pc:docMk/>
            <pc:sldMk cId="3335105505" sldId="2147475186"/>
            <ac:spMk id="8" creationId="{F1934C11-E671-0862-DB74-6D0D3CED651D}"/>
          </ac:spMkLst>
        </pc:spChg>
        <pc:spChg chg="del">
          <ac:chgData name="Suzanne Kevlyn" userId="09e09a272ef5727f" providerId="LiveId" clId="{F0A46A80-A113-4D6F-B6DC-4FB215CCE083}" dt="2026-03-06T16:00:07.934" v="12348" actId="478"/>
          <ac:spMkLst>
            <pc:docMk/>
            <pc:sldMk cId="3335105505" sldId="2147475186"/>
            <ac:spMk id="9" creationId="{E2719B2D-CC97-E4A7-F3BD-EB5F983A59F3}"/>
          </ac:spMkLst>
        </pc:spChg>
        <pc:spChg chg="del">
          <ac:chgData name="Suzanne Kevlyn" userId="09e09a272ef5727f" providerId="LiveId" clId="{F0A46A80-A113-4D6F-B6DC-4FB215CCE083}" dt="2026-03-05T22:39:56.118" v="7220" actId="478"/>
          <ac:spMkLst>
            <pc:docMk/>
            <pc:sldMk cId="3335105505" sldId="2147475186"/>
            <ac:spMk id="10" creationId="{E40CD69B-1A56-8436-1A19-C445AED276BC}"/>
          </ac:spMkLst>
        </pc:spChg>
        <pc:graphicFrameChg chg="mod">
          <ac:chgData name="Suzanne Kevlyn" userId="09e09a272ef5727f" providerId="LiveId" clId="{F0A46A80-A113-4D6F-B6DC-4FB215CCE083}" dt="2026-03-05T22:40:01.590" v="7221" actId="1076"/>
          <ac:graphicFrameMkLst>
            <pc:docMk/>
            <pc:sldMk cId="3335105505" sldId="2147475186"/>
            <ac:graphicFrameMk id="4" creationId="{FFF4641E-7304-5FC3-D4EE-7D683CF0F81D}"/>
          </ac:graphicFrameMkLst>
        </pc:graphicFrameChg>
      </pc:sldChg>
      <pc:sldChg chg="delSp del mod">
        <pc:chgData name="Suzanne Kevlyn" userId="09e09a272ef5727f" providerId="LiveId" clId="{F0A46A80-A113-4D6F-B6DC-4FB215CCE083}" dt="2026-03-05T22:57:55.164" v="7611" actId="2696"/>
        <pc:sldMkLst>
          <pc:docMk/>
          <pc:sldMk cId="1358049627" sldId="2147475187"/>
        </pc:sldMkLst>
        <pc:spChg chg="del">
          <ac:chgData name="Suzanne Kevlyn" userId="09e09a272ef5727f" providerId="LiveId" clId="{F0A46A80-A113-4D6F-B6DC-4FB215CCE083}" dt="2026-03-05T17:59:26.552" v="435" actId="478"/>
          <ac:spMkLst>
            <pc:docMk/>
            <pc:sldMk cId="1358049627" sldId="2147475187"/>
            <ac:spMk id="5" creationId="{EBDA17F1-E69F-655D-A045-67BA529ED720}"/>
          </ac:spMkLst>
        </pc:spChg>
      </pc:sldChg>
      <pc:sldChg chg="addSp delSp modSp mod">
        <pc:chgData name="Suzanne Kevlyn" userId="09e09a272ef5727f" providerId="LiveId" clId="{F0A46A80-A113-4D6F-B6DC-4FB215CCE083}" dt="2026-03-05T21:18:07.287" v="3016" actId="20577"/>
        <pc:sldMkLst>
          <pc:docMk/>
          <pc:sldMk cId="2435911346" sldId="2147475188"/>
        </pc:sldMkLst>
        <pc:spChg chg="mod">
          <ac:chgData name="Suzanne Kevlyn" userId="09e09a272ef5727f" providerId="LiveId" clId="{F0A46A80-A113-4D6F-B6DC-4FB215CCE083}" dt="2026-03-05T21:17:15.048" v="3004" actId="404"/>
          <ac:spMkLst>
            <pc:docMk/>
            <pc:sldMk cId="2435911346" sldId="2147475188"/>
            <ac:spMk id="3" creationId="{798C2FA7-535F-5217-E626-47B5882A1E2C}"/>
          </ac:spMkLst>
        </pc:spChg>
        <pc:spChg chg="add mod">
          <ac:chgData name="Suzanne Kevlyn" userId="09e09a272ef5727f" providerId="LiveId" clId="{F0A46A80-A113-4D6F-B6DC-4FB215CCE083}" dt="2026-03-05T21:18:07.287" v="3016" actId="20577"/>
          <ac:spMkLst>
            <pc:docMk/>
            <pc:sldMk cId="2435911346" sldId="2147475188"/>
            <ac:spMk id="4" creationId="{8781A704-2DDC-6D9F-6ACC-4637C56A3EB9}"/>
          </ac:spMkLst>
        </pc:spChg>
        <pc:spChg chg="add del mod">
          <ac:chgData name="Suzanne Kevlyn" userId="09e09a272ef5727f" providerId="LiveId" clId="{F0A46A80-A113-4D6F-B6DC-4FB215CCE083}" dt="2026-03-05T17:48:43.872" v="311" actId="478"/>
          <ac:spMkLst>
            <pc:docMk/>
            <pc:sldMk cId="2435911346" sldId="2147475188"/>
            <ac:spMk id="4" creationId="{C4FAB91C-FF0F-EE74-4167-15BF25363931}"/>
          </ac:spMkLst>
        </pc:spChg>
        <pc:spChg chg="del">
          <ac:chgData name="Suzanne Kevlyn" userId="09e09a272ef5727f" providerId="LiveId" clId="{F0A46A80-A113-4D6F-B6DC-4FB215CCE083}" dt="2026-03-05T17:43:54.794" v="104" actId="478"/>
          <ac:spMkLst>
            <pc:docMk/>
            <pc:sldMk cId="2435911346" sldId="2147475188"/>
            <ac:spMk id="5" creationId="{09038F6F-2B03-B2D5-B2A6-BEA6E3C98C02}"/>
          </ac:spMkLst>
        </pc:spChg>
        <pc:spChg chg="mod">
          <ac:chgData name="Suzanne Kevlyn" userId="09e09a272ef5727f" providerId="LiveId" clId="{F0A46A80-A113-4D6F-B6DC-4FB215CCE083}" dt="2026-03-05T18:10:54.752" v="763" actId="207"/>
          <ac:spMkLst>
            <pc:docMk/>
            <pc:sldMk cId="2435911346" sldId="2147475188"/>
            <ac:spMk id="8" creationId="{4C97D28B-B285-ACBF-DB42-EFBFB194AEB4}"/>
          </ac:spMkLst>
        </pc:spChg>
        <pc:spChg chg="add del mod">
          <ac:chgData name="Suzanne Kevlyn" userId="09e09a272ef5727f" providerId="LiveId" clId="{F0A46A80-A113-4D6F-B6DC-4FB215CCE083}" dt="2026-03-05T17:57:29.667" v="397" actId="478"/>
          <ac:spMkLst>
            <pc:docMk/>
            <pc:sldMk cId="2435911346" sldId="2147475188"/>
            <ac:spMk id="9" creationId="{DFF34671-DD4F-2080-85B9-B18788D7973A}"/>
          </ac:spMkLst>
        </pc:spChg>
        <pc:spChg chg="mod">
          <ac:chgData name="Suzanne Kevlyn" userId="09e09a272ef5727f" providerId="LiveId" clId="{F0A46A80-A113-4D6F-B6DC-4FB215CCE083}" dt="2026-03-05T18:10:57.537" v="764" actId="207"/>
          <ac:spMkLst>
            <pc:docMk/>
            <pc:sldMk cId="2435911346" sldId="2147475188"/>
            <ac:spMk id="10" creationId="{431E702F-FDB4-D939-7549-1D1FA8DCFD29}"/>
          </ac:spMkLst>
        </pc:spChg>
      </pc:sldChg>
      <pc:sldChg chg="del">
        <pc:chgData name="Suzanne Kevlyn" userId="09e09a272ef5727f" providerId="LiveId" clId="{F0A46A80-A113-4D6F-B6DC-4FB215CCE083}" dt="2026-03-05T17:40:32.410" v="0" actId="2696"/>
        <pc:sldMkLst>
          <pc:docMk/>
          <pc:sldMk cId="3492155861" sldId="2147475189"/>
        </pc:sldMkLst>
      </pc:sldChg>
      <pc:sldChg chg="delSp del mod">
        <pc:chgData name="Suzanne Kevlyn" userId="09e09a272ef5727f" providerId="LiveId" clId="{F0A46A80-A113-4D6F-B6DC-4FB215CCE083}" dt="2026-03-05T22:27:07.199" v="6959" actId="2696"/>
        <pc:sldMkLst>
          <pc:docMk/>
          <pc:sldMk cId="711946740" sldId="2147475190"/>
        </pc:sldMkLst>
        <pc:spChg chg="del">
          <ac:chgData name="Suzanne Kevlyn" userId="09e09a272ef5727f" providerId="LiveId" clId="{F0A46A80-A113-4D6F-B6DC-4FB215CCE083}" dt="2026-03-05T17:58:44.626" v="424" actId="478"/>
          <ac:spMkLst>
            <pc:docMk/>
            <pc:sldMk cId="711946740" sldId="2147475190"/>
            <ac:spMk id="5" creationId="{A0EAD0A7-F4DE-A540-FCD2-87697C81EA37}"/>
          </ac:spMkLst>
        </pc:spChg>
      </pc:sldChg>
      <pc:sldChg chg="add del">
        <pc:chgData name="Suzanne Kevlyn" userId="09e09a272ef5727f" providerId="LiveId" clId="{F0A46A80-A113-4D6F-B6DC-4FB215CCE083}" dt="2026-03-05T18:07:57.494" v="708" actId="2696"/>
        <pc:sldMkLst>
          <pc:docMk/>
          <pc:sldMk cId="404762137" sldId="2147475191"/>
        </pc:sldMkLst>
      </pc:sldChg>
      <pc:sldChg chg="addSp modSp add del mod">
        <pc:chgData name="Suzanne Kevlyn" userId="09e09a272ef5727f" providerId="LiveId" clId="{F0A46A80-A113-4D6F-B6DC-4FB215CCE083}" dt="2026-03-05T21:18:17.153" v="3017" actId="2696"/>
        <pc:sldMkLst>
          <pc:docMk/>
          <pc:sldMk cId="968558493" sldId="2147475191"/>
        </pc:sldMkLst>
        <pc:spChg chg="add mod">
          <ac:chgData name="Suzanne Kevlyn" userId="09e09a272ef5727f" providerId="LiveId" clId="{F0A46A80-A113-4D6F-B6DC-4FB215CCE083}" dt="2026-03-05T21:15:51.999" v="2890"/>
          <ac:spMkLst>
            <pc:docMk/>
            <pc:sldMk cId="968558493" sldId="2147475191"/>
            <ac:spMk id="2" creationId="{64190136-F70D-3D33-7241-6897FB6EC20F}"/>
          </ac:spMkLst>
        </pc:spChg>
        <pc:graphicFrameChg chg="mod">
          <ac:chgData name="Suzanne Kevlyn" userId="09e09a272ef5727f" providerId="LiveId" clId="{F0A46A80-A113-4D6F-B6DC-4FB215CCE083}" dt="2026-03-05T21:15:41.018" v="2889" actId="1076"/>
          <ac:graphicFrameMkLst>
            <pc:docMk/>
            <pc:sldMk cId="968558493" sldId="2147475191"/>
            <ac:graphicFrameMk id="9" creationId="{564EA301-F117-3CD0-ACC6-3CDC8D84F40C}"/>
          </ac:graphicFrameMkLst>
        </pc:graphicFrameChg>
      </pc:sldChg>
      <pc:sldChg chg="add">
        <pc:chgData name="Suzanne Kevlyn" userId="09e09a272ef5727f" providerId="LiveId" clId="{F0A46A80-A113-4D6F-B6DC-4FB215CCE083}" dt="2026-03-05T21:18:22.546" v="3018"/>
        <pc:sldMkLst>
          <pc:docMk/>
          <pc:sldMk cId="3266533129" sldId="2147475191"/>
        </pc:sldMkLst>
      </pc:sldChg>
      <pc:sldChg chg="addSp delSp modSp del mod">
        <pc:chgData name="Suzanne Kevlyn" userId="09e09a272ef5727f" providerId="LiveId" clId="{F0A46A80-A113-4D6F-B6DC-4FB215CCE083}" dt="2026-03-05T18:05:25.590" v="677" actId="2696"/>
        <pc:sldMkLst>
          <pc:docMk/>
          <pc:sldMk cId="3697602098" sldId="2147475191"/>
        </pc:sldMkLst>
        <pc:spChg chg="del">
          <ac:chgData name="Suzanne Kevlyn" userId="09e09a272ef5727f" providerId="LiveId" clId="{F0A46A80-A113-4D6F-B6DC-4FB215CCE083}" dt="2026-03-05T17:49:41.738" v="324" actId="478"/>
          <ac:spMkLst>
            <pc:docMk/>
            <pc:sldMk cId="3697602098" sldId="2147475191"/>
            <ac:spMk id="2" creationId="{14A6DD4D-EC85-6161-3AC5-897506818F9D}"/>
          </ac:spMkLst>
        </pc:spChg>
        <pc:spChg chg="add del mod">
          <ac:chgData name="Suzanne Kevlyn" userId="09e09a272ef5727f" providerId="LiveId" clId="{F0A46A80-A113-4D6F-B6DC-4FB215CCE083}" dt="2026-03-05T17:57:33.993" v="398" actId="478"/>
          <ac:spMkLst>
            <pc:docMk/>
            <pc:sldMk cId="3697602098" sldId="2147475191"/>
            <ac:spMk id="5" creationId="{2484F714-B9A1-A540-0778-9CB524F236DD}"/>
          </ac:spMkLst>
        </pc:spChg>
        <pc:spChg chg="add mod">
          <ac:chgData name="Suzanne Kevlyn" userId="09e09a272ef5727f" providerId="LiveId" clId="{F0A46A80-A113-4D6F-B6DC-4FB215CCE083}" dt="2026-03-05T18:05:21.380" v="676" actId="1076"/>
          <ac:spMkLst>
            <pc:docMk/>
            <pc:sldMk cId="3697602098" sldId="2147475191"/>
            <ac:spMk id="6" creationId="{97EE01A2-A275-647F-4F80-4C8F99A10E57}"/>
          </ac:spMkLst>
        </pc:spChg>
        <pc:spChg chg="del">
          <ac:chgData name="Suzanne Kevlyn" userId="09e09a272ef5727f" providerId="LiveId" clId="{F0A46A80-A113-4D6F-B6DC-4FB215CCE083}" dt="2026-03-05T18:04:54.676" v="606" actId="478"/>
          <ac:spMkLst>
            <pc:docMk/>
            <pc:sldMk cId="3697602098" sldId="2147475191"/>
            <ac:spMk id="10" creationId="{ED82E754-B6FE-3327-3EF8-2CAEED7BF979}"/>
          </ac:spMkLst>
        </pc:spChg>
        <pc:graphicFrameChg chg="mod modGraphic">
          <ac:chgData name="Suzanne Kevlyn" userId="09e09a272ef5727f" providerId="LiveId" clId="{F0A46A80-A113-4D6F-B6DC-4FB215CCE083}" dt="2026-03-05T18:04:53.451" v="605" actId="1076"/>
          <ac:graphicFrameMkLst>
            <pc:docMk/>
            <pc:sldMk cId="3697602098" sldId="2147475191"/>
            <ac:graphicFrameMk id="9" creationId="{564EA301-F117-3CD0-ACC6-3CDC8D84F40C}"/>
          </ac:graphicFrameMkLst>
        </pc:graphicFrameChg>
      </pc:sldChg>
      <pc:sldChg chg="add del">
        <pc:chgData name="Suzanne Kevlyn" userId="09e09a272ef5727f" providerId="LiveId" clId="{F0A46A80-A113-4D6F-B6DC-4FB215CCE083}" dt="2026-03-05T18:08:18.288" v="712" actId="2696"/>
        <pc:sldMkLst>
          <pc:docMk/>
          <pc:sldMk cId="689641849" sldId="2147475192"/>
        </pc:sldMkLst>
      </pc:sldChg>
      <pc:sldChg chg="addSp delSp modSp del mod modClrScheme chgLayout">
        <pc:chgData name="Suzanne Kevlyn" userId="09e09a272ef5727f" providerId="LiveId" clId="{F0A46A80-A113-4D6F-B6DC-4FB215CCE083}" dt="2026-03-05T18:07:46.233" v="706" actId="2696"/>
        <pc:sldMkLst>
          <pc:docMk/>
          <pc:sldMk cId="2433047795" sldId="2147475192"/>
        </pc:sldMkLst>
        <pc:spChg chg="del">
          <ac:chgData name="Suzanne Kevlyn" userId="09e09a272ef5727f" providerId="LiveId" clId="{F0A46A80-A113-4D6F-B6DC-4FB215CCE083}" dt="2026-03-05T17:57:39.441" v="400" actId="478"/>
          <ac:spMkLst>
            <pc:docMk/>
            <pc:sldMk cId="2433047795" sldId="2147475192"/>
            <ac:spMk id="2" creationId="{68CA87AB-B132-A741-738D-C59F71E741FA}"/>
          </ac:spMkLst>
        </pc:spChg>
        <pc:spChg chg="mod ord">
          <ac:chgData name="Suzanne Kevlyn" userId="09e09a272ef5727f" providerId="LiveId" clId="{F0A46A80-A113-4D6F-B6DC-4FB215CCE083}" dt="2026-03-05T18:06:32.425" v="684" actId="700"/>
          <ac:spMkLst>
            <pc:docMk/>
            <pc:sldMk cId="2433047795" sldId="2147475192"/>
            <ac:spMk id="3" creationId="{11573419-6111-EA56-8B77-24AD2E9CDDAA}"/>
          </ac:spMkLst>
        </pc:spChg>
        <pc:spChg chg="mod ord">
          <ac:chgData name="Suzanne Kevlyn" userId="09e09a272ef5727f" providerId="LiveId" clId="{F0A46A80-A113-4D6F-B6DC-4FB215CCE083}" dt="2026-03-05T18:06:32.425" v="684" actId="700"/>
          <ac:spMkLst>
            <pc:docMk/>
            <pc:sldMk cId="2433047795" sldId="2147475192"/>
            <ac:spMk id="4" creationId="{7CC6B5C9-5448-F9FB-7E1C-1048B1AE80BB}"/>
          </ac:spMkLst>
        </pc:spChg>
        <pc:spChg chg="add del mod ord">
          <ac:chgData name="Suzanne Kevlyn" userId="09e09a272ef5727f" providerId="LiveId" clId="{F0A46A80-A113-4D6F-B6DC-4FB215CCE083}" dt="2026-03-05T18:06:25.172" v="683" actId="478"/>
          <ac:spMkLst>
            <pc:docMk/>
            <pc:sldMk cId="2433047795" sldId="2147475192"/>
            <ac:spMk id="5" creationId="{5D7A3AAE-2355-8B4D-C8CD-C5099535CB7E}"/>
          </ac:spMkLst>
        </pc:spChg>
        <pc:spChg chg="add mod">
          <ac:chgData name="Suzanne Kevlyn" userId="09e09a272ef5727f" providerId="LiveId" clId="{F0A46A80-A113-4D6F-B6DC-4FB215CCE083}" dt="2026-03-05T18:07:31.208" v="694" actId="20577"/>
          <ac:spMkLst>
            <pc:docMk/>
            <pc:sldMk cId="2433047795" sldId="2147475192"/>
            <ac:spMk id="6" creationId="{AE1C88C2-6992-79F3-92D0-0DD91B85ACB1}"/>
          </ac:spMkLst>
        </pc:spChg>
        <pc:graphicFrameChg chg="mod">
          <ac:chgData name="Suzanne Kevlyn" userId="09e09a272ef5727f" providerId="LiveId" clId="{F0A46A80-A113-4D6F-B6DC-4FB215CCE083}" dt="2026-03-05T18:07:41.796" v="705" actId="1035"/>
          <ac:graphicFrameMkLst>
            <pc:docMk/>
            <pc:sldMk cId="2433047795" sldId="2147475192"/>
            <ac:graphicFrameMk id="9" creationId="{2822E797-E163-3FA7-F64A-F3B9A1F0E94E}"/>
          </ac:graphicFrameMkLst>
        </pc:graphicFrameChg>
      </pc:sldChg>
      <pc:sldChg chg="addSp delSp modSp add mod">
        <pc:chgData name="Suzanne Kevlyn" userId="09e09a272ef5727f" providerId="LiveId" clId="{F0A46A80-A113-4D6F-B6DC-4FB215CCE083}" dt="2026-03-06T20:19:13.512" v="19258" actId="20577"/>
        <pc:sldMkLst>
          <pc:docMk/>
          <pc:sldMk cId="3016653624" sldId="2147475192"/>
        </pc:sldMkLst>
        <pc:spChg chg="add mod">
          <ac:chgData name="Suzanne Kevlyn" userId="09e09a272ef5727f" providerId="LiveId" clId="{F0A46A80-A113-4D6F-B6DC-4FB215CCE083}" dt="2026-03-05T23:08:46.394" v="8002" actId="1076"/>
          <ac:spMkLst>
            <pc:docMk/>
            <pc:sldMk cId="3016653624" sldId="2147475192"/>
            <ac:spMk id="2" creationId="{116F7E45-2A5C-611A-D646-D52414EF1028}"/>
          </ac:spMkLst>
        </pc:spChg>
        <pc:spChg chg="del mod">
          <ac:chgData name="Suzanne Kevlyn" userId="09e09a272ef5727f" providerId="LiveId" clId="{F0A46A80-A113-4D6F-B6DC-4FB215CCE083}" dt="2026-03-05T21:31:08.942" v="3830" actId="478"/>
          <ac:spMkLst>
            <pc:docMk/>
            <pc:sldMk cId="3016653624" sldId="2147475192"/>
            <ac:spMk id="3" creationId="{11573419-6111-EA56-8B77-24AD2E9CDDAA}"/>
          </ac:spMkLst>
        </pc:spChg>
        <pc:spChg chg="add del mod">
          <ac:chgData name="Suzanne Kevlyn" userId="09e09a272ef5727f" providerId="LiveId" clId="{F0A46A80-A113-4D6F-B6DC-4FB215CCE083}" dt="2026-03-06T14:41:35.215" v="8388" actId="478"/>
          <ac:spMkLst>
            <pc:docMk/>
            <pc:sldMk cId="3016653624" sldId="2147475192"/>
            <ac:spMk id="5" creationId="{065324A3-607E-94EF-55DC-DD6A721CCE22}"/>
          </ac:spMkLst>
        </pc:spChg>
        <pc:spChg chg="mod">
          <ac:chgData name="Suzanne Kevlyn" userId="09e09a272ef5727f" providerId="LiveId" clId="{F0A46A80-A113-4D6F-B6DC-4FB215CCE083}" dt="2026-03-05T23:08:44.457" v="8001" actId="1076"/>
          <ac:spMkLst>
            <pc:docMk/>
            <pc:sldMk cId="3016653624" sldId="2147475192"/>
            <ac:spMk id="6" creationId="{AE1C88C2-6992-79F3-92D0-0DD91B85ACB1}"/>
          </ac:spMkLst>
        </pc:spChg>
        <pc:graphicFrameChg chg="mod modGraphic">
          <ac:chgData name="Suzanne Kevlyn" userId="09e09a272ef5727f" providerId="LiveId" clId="{F0A46A80-A113-4D6F-B6DC-4FB215CCE083}" dt="2026-03-06T20:19:13.512" v="19258" actId="20577"/>
          <ac:graphicFrameMkLst>
            <pc:docMk/>
            <pc:sldMk cId="3016653624" sldId="2147475192"/>
            <ac:graphicFrameMk id="9" creationId="{2822E797-E163-3FA7-F64A-F3B9A1F0E94E}"/>
          </ac:graphicFrameMkLst>
        </pc:graphicFrameChg>
      </pc:sldChg>
      <pc:sldChg chg="addSp delSp modSp mod modClrScheme chgLayout">
        <pc:chgData name="Suzanne Kevlyn" userId="09e09a272ef5727f" providerId="LiveId" clId="{F0A46A80-A113-4D6F-B6DC-4FB215CCE083}" dt="2026-03-06T14:44:21.111" v="8435" actId="478"/>
        <pc:sldMkLst>
          <pc:docMk/>
          <pc:sldMk cId="3800268571" sldId="2147475193"/>
        </pc:sldMkLst>
        <pc:spChg chg="add mod">
          <ac:chgData name="Suzanne Kevlyn" userId="09e09a272ef5727f" providerId="LiveId" clId="{F0A46A80-A113-4D6F-B6DC-4FB215CCE083}" dt="2026-03-05T21:28:43.318" v="3653" actId="1036"/>
          <ac:spMkLst>
            <pc:docMk/>
            <pc:sldMk cId="3800268571" sldId="2147475193"/>
            <ac:spMk id="2" creationId="{18033BA8-DA3D-7B01-F208-CDAEC17EA8AE}"/>
          </ac:spMkLst>
        </pc:spChg>
        <pc:spChg chg="del">
          <ac:chgData name="Suzanne Kevlyn" userId="09e09a272ef5727f" providerId="LiveId" clId="{F0A46A80-A113-4D6F-B6DC-4FB215CCE083}" dt="2026-03-05T17:57:44.002" v="402" actId="478"/>
          <ac:spMkLst>
            <pc:docMk/>
            <pc:sldMk cId="3800268571" sldId="2147475193"/>
            <ac:spMk id="2" creationId="{D06A59D6-6FA7-7D16-3D1E-1D070C135419}"/>
          </ac:spMkLst>
        </pc:spChg>
        <pc:spChg chg="del mod ord">
          <ac:chgData name="Suzanne Kevlyn" userId="09e09a272ef5727f" providerId="LiveId" clId="{F0A46A80-A113-4D6F-B6DC-4FB215CCE083}" dt="2026-03-05T21:31:26.419" v="3834" actId="478"/>
          <ac:spMkLst>
            <pc:docMk/>
            <pc:sldMk cId="3800268571" sldId="2147475193"/>
            <ac:spMk id="3" creationId="{4FCCAF92-71E1-0635-35A8-34605967F3C9}"/>
          </ac:spMkLst>
        </pc:spChg>
        <pc:spChg chg="mod ord">
          <ac:chgData name="Suzanne Kevlyn" userId="09e09a272ef5727f" providerId="LiveId" clId="{F0A46A80-A113-4D6F-B6DC-4FB215CCE083}" dt="2026-03-05T18:08:49.657" v="714" actId="700"/>
          <ac:spMkLst>
            <pc:docMk/>
            <pc:sldMk cId="3800268571" sldId="2147475193"/>
            <ac:spMk id="4" creationId="{49030FDD-7651-ADB9-E5EF-0A08BEAC2ABA}"/>
          </ac:spMkLst>
        </pc:spChg>
        <pc:spChg chg="add mod">
          <ac:chgData name="Suzanne Kevlyn" userId="09e09a272ef5727f" providerId="LiveId" clId="{F0A46A80-A113-4D6F-B6DC-4FB215CCE083}" dt="2026-03-05T21:28:13.360" v="3485" actId="1076"/>
          <ac:spMkLst>
            <pc:docMk/>
            <pc:sldMk cId="3800268571" sldId="2147475193"/>
            <ac:spMk id="5" creationId="{17F48109-E971-BFDA-EEB6-6CF7C1D3E981}"/>
          </ac:spMkLst>
        </pc:spChg>
        <pc:spChg chg="add del mod">
          <ac:chgData name="Suzanne Kevlyn" userId="09e09a272ef5727f" providerId="LiveId" clId="{F0A46A80-A113-4D6F-B6DC-4FB215CCE083}" dt="2026-03-06T14:44:21.111" v="8435" actId="478"/>
          <ac:spMkLst>
            <pc:docMk/>
            <pc:sldMk cId="3800268571" sldId="2147475193"/>
            <ac:spMk id="6" creationId="{0B732F67-DCFD-4845-A57B-C73270D6426B}"/>
          </ac:spMkLst>
        </pc:spChg>
        <pc:graphicFrameChg chg="mod modGraphic">
          <ac:chgData name="Suzanne Kevlyn" userId="09e09a272ef5727f" providerId="LiveId" clId="{F0A46A80-A113-4D6F-B6DC-4FB215CCE083}" dt="2026-03-06T14:44:18.997" v="8434" actId="207"/>
          <ac:graphicFrameMkLst>
            <pc:docMk/>
            <pc:sldMk cId="3800268571" sldId="2147475193"/>
            <ac:graphicFrameMk id="9" creationId="{201FACF8-2864-9428-8598-4CD1B484F037}"/>
          </ac:graphicFrameMkLst>
        </pc:graphicFrameChg>
      </pc:sldChg>
      <pc:sldChg chg="addSp delSp modSp mod modClrScheme chgLayout">
        <pc:chgData name="Suzanne Kevlyn" userId="09e09a272ef5727f" providerId="LiveId" clId="{F0A46A80-A113-4D6F-B6DC-4FB215CCE083}" dt="2026-03-05T23:12:19.307" v="8291" actId="20577"/>
        <pc:sldMkLst>
          <pc:docMk/>
          <pc:sldMk cId="1896392401" sldId="2147475195"/>
        </pc:sldMkLst>
        <pc:spChg chg="del">
          <ac:chgData name="Suzanne Kevlyn" userId="09e09a272ef5727f" providerId="LiveId" clId="{F0A46A80-A113-4D6F-B6DC-4FB215CCE083}" dt="2026-03-05T17:57:49.017" v="404" actId="478"/>
          <ac:spMkLst>
            <pc:docMk/>
            <pc:sldMk cId="1896392401" sldId="2147475195"/>
            <ac:spMk id="2" creationId="{C2A3B17F-1F29-D6C8-73EC-3F4139839823}"/>
          </ac:spMkLst>
        </pc:spChg>
        <pc:spChg chg="add mod">
          <ac:chgData name="Suzanne Kevlyn" userId="09e09a272ef5727f" providerId="LiveId" clId="{F0A46A80-A113-4D6F-B6DC-4FB215CCE083}" dt="2026-03-05T21:30:53.777" v="3828" actId="1076"/>
          <ac:spMkLst>
            <pc:docMk/>
            <pc:sldMk cId="1896392401" sldId="2147475195"/>
            <ac:spMk id="2" creationId="{DEE09DF3-B4C1-0D32-3FDD-C173213EE583}"/>
          </ac:spMkLst>
        </pc:spChg>
        <pc:spChg chg="mod ord">
          <ac:chgData name="Suzanne Kevlyn" userId="09e09a272ef5727f" providerId="LiveId" clId="{F0A46A80-A113-4D6F-B6DC-4FB215CCE083}" dt="2026-03-05T18:09:36.948" v="735" actId="700"/>
          <ac:spMkLst>
            <pc:docMk/>
            <pc:sldMk cId="1896392401" sldId="2147475195"/>
            <ac:spMk id="3" creationId="{5B232825-FE67-809C-2786-ED9A393EA40E}"/>
          </ac:spMkLst>
        </pc:spChg>
        <pc:spChg chg="mod ord">
          <ac:chgData name="Suzanne Kevlyn" userId="09e09a272ef5727f" providerId="LiveId" clId="{F0A46A80-A113-4D6F-B6DC-4FB215CCE083}" dt="2026-03-05T18:09:36.948" v="735" actId="700"/>
          <ac:spMkLst>
            <pc:docMk/>
            <pc:sldMk cId="1896392401" sldId="2147475195"/>
            <ac:spMk id="4" creationId="{B3496E89-7CC3-9EAE-44AD-6465FA4C7691}"/>
          </ac:spMkLst>
        </pc:spChg>
        <pc:spChg chg="add mod">
          <ac:chgData name="Suzanne Kevlyn" userId="09e09a272ef5727f" providerId="LiveId" clId="{F0A46A80-A113-4D6F-B6DC-4FB215CCE083}" dt="2026-03-05T21:30:15.616" v="3668" actId="1076"/>
          <ac:spMkLst>
            <pc:docMk/>
            <pc:sldMk cId="1896392401" sldId="2147475195"/>
            <ac:spMk id="5" creationId="{7D734037-2AA8-2A14-26EF-46106A2A74B9}"/>
          </ac:spMkLst>
        </pc:spChg>
        <pc:graphicFrameChg chg="mod modGraphic">
          <ac:chgData name="Suzanne Kevlyn" userId="09e09a272ef5727f" providerId="LiveId" clId="{F0A46A80-A113-4D6F-B6DC-4FB215CCE083}" dt="2026-03-05T23:12:19.307" v="8291" actId="20577"/>
          <ac:graphicFrameMkLst>
            <pc:docMk/>
            <pc:sldMk cId="1896392401" sldId="2147475195"/>
            <ac:graphicFrameMk id="9" creationId="{D41B2371-1720-943E-7107-110EB424D327}"/>
          </ac:graphicFrameMkLst>
        </pc:graphicFrameChg>
      </pc:sldChg>
      <pc:sldChg chg="addSp delSp modSp mod">
        <pc:chgData name="Suzanne Kevlyn" userId="09e09a272ef5727f" providerId="LiveId" clId="{F0A46A80-A113-4D6F-B6DC-4FB215CCE083}" dt="2026-03-05T22:18:22.546" v="6561" actId="114"/>
        <pc:sldMkLst>
          <pc:docMk/>
          <pc:sldMk cId="2852503869" sldId="2147475196"/>
        </pc:sldMkLst>
        <pc:spChg chg="mod">
          <ac:chgData name="Suzanne Kevlyn" userId="09e09a272ef5727f" providerId="LiveId" clId="{F0A46A80-A113-4D6F-B6DC-4FB215CCE083}" dt="2026-03-05T22:08:23.460" v="5734" actId="20577"/>
          <ac:spMkLst>
            <pc:docMk/>
            <pc:sldMk cId="2852503869" sldId="2147475196"/>
            <ac:spMk id="2" creationId="{7A7D7378-EBE9-1D7A-08C5-E80D7F442FFD}"/>
          </ac:spMkLst>
        </pc:spChg>
        <pc:spChg chg="add mod">
          <ac:chgData name="Suzanne Kevlyn" userId="09e09a272ef5727f" providerId="LiveId" clId="{F0A46A80-A113-4D6F-B6DC-4FB215CCE083}" dt="2026-03-05T22:13:48.186" v="6530" actId="6549"/>
          <ac:spMkLst>
            <pc:docMk/>
            <pc:sldMk cId="2852503869" sldId="2147475196"/>
            <ac:spMk id="3" creationId="{24067FA1-4B5D-2261-91E5-A626A55FD957}"/>
          </ac:spMkLst>
        </pc:spChg>
        <pc:spChg chg="mod">
          <ac:chgData name="Suzanne Kevlyn" userId="09e09a272ef5727f" providerId="LiveId" clId="{F0A46A80-A113-4D6F-B6DC-4FB215CCE083}" dt="2026-03-05T22:08:37.119" v="5735" actId="1076"/>
          <ac:spMkLst>
            <pc:docMk/>
            <pc:sldMk cId="2852503869" sldId="2147475196"/>
            <ac:spMk id="4" creationId="{822A5897-5217-73FC-5C0B-BC9AE1BE40E5}"/>
          </ac:spMkLst>
        </pc:spChg>
        <pc:spChg chg="add del mod">
          <ac:chgData name="Suzanne Kevlyn" userId="09e09a272ef5727f" providerId="LiveId" clId="{F0A46A80-A113-4D6F-B6DC-4FB215CCE083}" dt="2026-03-05T22:11:39.539" v="6372" actId="478"/>
          <ac:spMkLst>
            <pc:docMk/>
            <pc:sldMk cId="2852503869" sldId="2147475196"/>
            <ac:spMk id="5" creationId="{63BFB39C-96A5-B9BA-A558-E5DA259D74EB}"/>
          </ac:spMkLst>
        </pc:spChg>
        <pc:graphicFrameChg chg="mod modGraphic">
          <ac:chgData name="Suzanne Kevlyn" userId="09e09a272ef5727f" providerId="LiveId" clId="{F0A46A80-A113-4D6F-B6DC-4FB215CCE083}" dt="2026-03-05T22:11:31.438" v="6361" actId="1076"/>
          <ac:graphicFrameMkLst>
            <pc:docMk/>
            <pc:sldMk cId="2852503869" sldId="2147475196"/>
            <ac:graphicFrameMk id="8" creationId="{F741EFD3-69FD-AB89-7BAF-23742D2105EE}"/>
          </ac:graphicFrameMkLst>
        </pc:graphicFrameChg>
        <pc:graphicFrameChg chg="add mod modGraphic">
          <ac:chgData name="Suzanne Kevlyn" userId="09e09a272ef5727f" providerId="LiveId" clId="{F0A46A80-A113-4D6F-B6DC-4FB215CCE083}" dt="2026-03-05T22:18:22.546" v="6561" actId="114"/>
          <ac:graphicFrameMkLst>
            <pc:docMk/>
            <pc:sldMk cId="2852503869" sldId="2147475196"/>
            <ac:graphicFrameMk id="9" creationId="{342DF890-30C6-A511-D8FE-A90FC2C8AD5E}"/>
          </ac:graphicFrameMkLst>
        </pc:graphicFrameChg>
      </pc:sldChg>
      <pc:sldChg chg="addSp delSp modSp add mod">
        <pc:chgData name="Suzanne Kevlyn" userId="09e09a272ef5727f" providerId="LiveId" clId="{F0A46A80-A113-4D6F-B6DC-4FB215CCE083}" dt="2026-03-05T22:37:45.341" v="7214" actId="1076"/>
        <pc:sldMkLst>
          <pc:docMk/>
          <pc:sldMk cId="3196387271" sldId="2147475197"/>
        </pc:sldMkLst>
        <pc:spChg chg="mod">
          <ac:chgData name="Suzanne Kevlyn" userId="09e09a272ef5727f" providerId="LiveId" clId="{F0A46A80-A113-4D6F-B6DC-4FB215CCE083}" dt="2026-03-05T22:37:21.920" v="7208" actId="1076"/>
          <ac:spMkLst>
            <pc:docMk/>
            <pc:sldMk cId="3196387271" sldId="2147475197"/>
            <ac:spMk id="3" creationId="{E22F5CFA-BD11-2ADD-FD26-1554C843D568}"/>
          </ac:spMkLst>
        </pc:spChg>
        <pc:spChg chg="del">
          <ac:chgData name="Suzanne Kevlyn" userId="09e09a272ef5727f" providerId="LiveId" clId="{F0A46A80-A113-4D6F-B6DC-4FB215CCE083}" dt="2026-03-05T22:37:41.650" v="7213" actId="478"/>
          <ac:spMkLst>
            <pc:docMk/>
            <pc:sldMk cId="3196387271" sldId="2147475197"/>
            <ac:spMk id="7" creationId="{F9720D7C-105D-9B49-B54B-57453F5FE2AD}"/>
          </ac:spMkLst>
        </pc:spChg>
        <pc:graphicFrameChg chg="add mod">
          <ac:chgData name="Suzanne Kevlyn" userId="09e09a272ef5727f" providerId="LiveId" clId="{F0A46A80-A113-4D6F-B6DC-4FB215CCE083}" dt="2026-03-05T22:37:45.341" v="7214" actId="1076"/>
          <ac:graphicFrameMkLst>
            <pc:docMk/>
            <pc:sldMk cId="3196387271" sldId="2147475197"/>
            <ac:graphicFrameMk id="2" creationId="{4BF84380-F30A-D56E-B19D-462B4834F824}"/>
          </ac:graphicFrameMkLst>
        </pc:graphicFrameChg>
        <pc:graphicFrameChg chg="mod">
          <ac:chgData name="Suzanne Kevlyn" userId="09e09a272ef5727f" providerId="LiveId" clId="{F0A46A80-A113-4D6F-B6DC-4FB215CCE083}" dt="2026-03-05T22:36:19.098" v="7197" actId="1076"/>
          <ac:graphicFrameMkLst>
            <pc:docMk/>
            <pc:sldMk cId="3196387271" sldId="2147475197"/>
            <ac:graphicFrameMk id="8" creationId="{A655B879-A0FE-2101-DC9A-4E7A3A5A61B8}"/>
          </ac:graphicFrameMkLst>
        </pc:graphicFrameChg>
      </pc:sldChg>
      <pc:sldChg chg="delSp modSp del mod">
        <pc:chgData name="Suzanne Kevlyn" userId="09e09a272ef5727f" providerId="LiveId" clId="{F0A46A80-A113-4D6F-B6DC-4FB215CCE083}" dt="2026-03-05T22:16:26.864" v="6542" actId="2696"/>
        <pc:sldMkLst>
          <pc:docMk/>
          <pc:sldMk cId="3351468687" sldId="2147475197"/>
        </pc:sldMkLst>
        <pc:spChg chg="del">
          <ac:chgData name="Suzanne Kevlyn" userId="09e09a272ef5727f" providerId="LiveId" clId="{F0A46A80-A113-4D6F-B6DC-4FB215CCE083}" dt="2026-03-05T22:16:18.249" v="6540" actId="478"/>
          <ac:spMkLst>
            <pc:docMk/>
            <pc:sldMk cId="3351468687" sldId="2147475197"/>
            <ac:spMk id="2" creationId="{9303E0B5-5F8D-2068-B870-784FF617BB58}"/>
          </ac:spMkLst>
        </pc:spChg>
        <pc:graphicFrameChg chg="mod modGraphic">
          <ac:chgData name="Suzanne Kevlyn" userId="09e09a272ef5727f" providerId="LiveId" clId="{F0A46A80-A113-4D6F-B6DC-4FB215CCE083}" dt="2026-03-05T22:16:21.995" v="6541" actId="1076"/>
          <ac:graphicFrameMkLst>
            <pc:docMk/>
            <pc:sldMk cId="3351468687" sldId="2147475197"/>
            <ac:graphicFrameMk id="8" creationId="{A655B879-A0FE-2101-DC9A-4E7A3A5A61B8}"/>
          </ac:graphicFrameMkLst>
        </pc:graphicFrameChg>
      </pc:sldChg>
      <pc:sldChg chg="addSp modSp mod">
        <pc:chgData name="Suzanne Kevlyn" userId="09e09a272ef5727f" providerId="LiveId" clId="{F0A46A80-A113-4D6F-B6DC-4FB215CCE083}" dt="2026-03-05T22:36:59.228" v="7205" actId="20577"/>
        <pc:sldMkLst>
          <pc:docMk/>
          <pc:sldMk cId="2463193937" sldId="2147475198"/>
        </pc:sldMkLst>
        <pc:spChg chg="mod">
          <ac:chgData name="Suzanne Kevlyn" userId="09e09a272ef5727f" providerId="LiveId" clId="{F0A46A80-A113-4D6F-B6DC-4FB215CCE083}" dt="2026-03-05T22:20:50.286" v="6681" actId="1076"/>
          <ac:spMkLst>
            <pc:docMk/>
            <pc:sldMk cId="2463193937" sldId="2147475198"/>
            <ac:spMk id="2" creationId="{3127AF1B-8157-1D8F-D612-C690D7D7296C}"/>
          </ac:spMkLst>
        </pc:spChg>
        <pc:spChg chg="mod">
          <ac:chgData name="Suzanne Kevlyn" userId="09e09a272ef5727f" providerId="LiveId" clId="{F0A46A80-A113-4D6F-B6DC-4FB215CCE083}" dt="2026-03-05T22:18:57.123" v="6563" actId="1076"/>
          <ac:spMkLst>
            <pc:docMk/>
            <pc:sldMk cId="2463193937" sldId="2147475198"/>
            <ac:spMk id="3" creationId="{C02B3BCC-41E1-A8D0-83FA-86D20B2F20AF}"/>
          </ac:spMkLst>
        </pc:spChg>
        <pc:spChg chg="add mod">
          <ac:chgData name="Suzanne Kevlyn" userId="09e09a272ef5727f" providerId="LiveId" clId="{F0A46A80-A113-4D6F-B6DC-4FB215CCE083}" dt="2026-03-05T22:21:40.075" v="6870" actId="20577"/>
          <ac:spMkLst>
            <pc:docMk/>
            <pc:sldMk cId="2463193937" sldId="2147475198"/>
            <ac:spMk id="5" creationId="{127B917D-CECE-658C-5D7D-C858617321D3}"/>
          </ac:spMkLst>
        </pc:spChg>
        <pc:graphicFrameChg chg="add mod modGraphic">
          <ac:chgData name="Suzanne Kevlyn" userId="09e09a272ef5727f" providerId="LiveId" clId="{F0A46A80-A113-4D6F-B6DC-4FB215CCE083}" dt="2026-03-05T22:36:59.228" v="7205" actId="20577"/>
          <ac:graphicFrameMkLst>
            <pc:docMk/>
            <pc:sldMk cId="2463193937" sldId="2147475198"/>
            <ac:graphicFrameMk id="4" creationId="{0F399E78-AC0B-3CF6-C672-2FFD1CCF3D2B}"/>
          </ac:graphicFrameMkLst>
        </pc:graphicFrameChg>
        <pc:graphicFrameChg chg="mod modGraphic">
          <ac:chgData name="Suzanne Kevlyn" userId="09e09a272ef5727f" providerId="LiveId" clId="{F0A46A80-A113-4D6F-B6DC-4FB215CCE083}" dt="2026-03-05T22:20:55.734" v="6684" actId="1076"/>
          <ac:graphicFrameMkLst>
            <pc:docMk/>
            <pc:sldMk cId="2463193937" sldId="2147475198"/>
            <ac:graphicFrameMk id="8" creationId="{A0203F81-016A-EFB6-7C81-39FE18839B06}"/>
          </ac:graphicFrameMkLst>
        </pc:graphicFrameChg>
      </pc:sldChg>
      <pc:sldChg chg="modSp del mod">
        <pc:chgData name="Suzanne Kevlyn" userId="09e09a272ef5727f" providerId="LiveId" clId="{F0A46A80-A113-4D6F-B6DC-4FB215CCE083}" dt="2026-03-05T22:32:26.477" v="7173" actId="2696"/>
        <pc:sldMkLst>
          <pc:docMk/>
          <pc:sldMk cId="568035331" sldId="2147475199"/>
        </pc:sldMkLst>
        <pc:spChg chg="mod">
          <ac:chgData name="Suzanne Kevlyn" userId="09e09a272ef5727f" providerId="LiveId" clId="{F0A46A80-A113-4D6F-B6DC-4FB215CCE083}" dt="2026-03-05T17:58:54.043" v="427" actId="1076"/>
          <ac:spMkLst>
            <pc:docMk/>
            <pc:sldMk cId="568035331" sldId="2147475199"/>
            <ac:spMk id="3" creationId="{0C776645-DF2A-A624-A7D4-3A5994E09881}"/>
          </ac:spMkLst>
        </pc:spChg>
      </pc:sldChg>
      <pc:sldChg chg="addSp delSp modSp add mod">
        <pc:chgData name="Suzanne Kevlyn" userId="09e09a272ef5727f" providerId="LiveId" clId="{F0A46A80-A113-4D6F-B6DC-4FB215CCE083}" dt="2026-03-05T22:37:49.866" v="7215" actId="1076"/>
        <pc:sldMkLst>
          <pc:docMk/>
          <pc:sldMk cId="1480729929" sldId="2147475200"/>
        </pc:sldMkLst>
        <pc:spChg chg="del">
          <ac:chgData name="Suzanne Kevlyn" userId="09e09a272ef5727f" providerId="LiveId" clId="{F0A46A80-A113-4D6F-B6DC-4FB215CCE083}" dt="2026-03-05T22:36:35.426" v="7199" actId="478"/>
          <ac:spMkLst>
            <pc:docMk/>
            <pc:sldMk cId="1480729929" sldId="2147475200"/>
            <ac:spMk id="2" creationId="{2A8D9C7C-9BF1-7975-2DA8-5AF2528410E8}"/>
          </ac:spMkLst>
        </pc:spChg>
        <pc:spChg chg="del">
          <ac:chgData name="Suzanne Kevlyn" userId="09e09a272ef5727f" providerId="LiveId" clId="{F0A46A80-A113-4D6F-B6DC-4FB215CCE083}" dt="2026-03-05T22:37:35.250" v="7211" actId="478"/>
          <ac:spMkLst>
            <pc:docMk/>
            <pc:sldMk cId="1480729929" sldId="2147475200"/>
            <ac:spMk id="7" creationId="{B190FB58-780D-D58F-785B-41E987C0CA71}"/>
          </ac:spMkLst>
        </pc:spChg>
        <pc:graphicFrameChg chg="add mod">
          <ac:chgData name="Suzanne Kevlyn" userId="09e09a272ef5727f" providerId="LiveId" clId="{F0A46A80-A113-4D6F-B6DC-4FB215CCE083}" dt="2026-03-05T22:37:49.866" v="7215" actId="1076"/>
          <ac:graphicFrameMkLst>
            <pc:docMk/>
            <pc:sldMk cId="1480729929" sldId="2147475200"/>
            <ac:graphicFrameMk id="4" creationId="{444CAACF-0011-CBF4-4646-9534009C3160}"/>
          </ac:graphicFrameMkLst>
        </pc:graphicFrameChg>
      </pc:sldChg>
      <pc:sldChg chg="del">
        <pc:chgData name="Suzanne Kevlyn" userId="09e09a272ef5727f" providerId="LiveId" clId="{F0A46A80-A113-4D6F-B6DC-4FB215CCE083}" dt="2026-03-05T22:35:57.010" v="7195" actId="2696"/>
        <pc:sldMkLst>
          <pc:docMk/>
          <pc:sldMk cId="2376512621" sldId="2147475200"/>
        </pc:sldMkLst>
      </pc:sldChg>
      <pc:sldChg chg="del">
        <pc:chgData name="Suzanne Kevlyn" userId="09e09a272ef5727f" providerId="LiveId" clId="{F0A46A80-A113-4D6F-B6DC-4FB215CCE083}" dt="2026-03-05T17:40:32.410" v="0" actId="2696"/>
        <pc:sldMkLst>
          <pc:docMk/>
          <pc:sldMk cId="3819570130" sldId="2147475201"/>
        </pc:sldMkLst>
      </pc:sldChg>
      <pc:sldChg chg="del">
        <pc:chgData name="Suzanne Kevlyn" userId="09e09a272ef5727f" providerId="LiveId" clId="{F0A46A80-A113-4D6F-B6DC-4FB215CCE083}" dt="2026-03-05T17:40:32.410" v="0" actId="2696"/>
        <pc:sldMkLst>
          <pc:docMk/>
          <pc:sldMk cId="3240460986" sldId="2147475202"/>
        </pc:sldMkLst>
      </pc:sldChg>
      <pc:sldChg chg="del">
        <pc:chgData name="Suzanne Kevlyn" userId="09e09a272ef5727f" providerId="LiveId" clId="{F0A46A80-A113-4D6F-B6DC-4FB215CCE083}" dt="2026-03-05T17:40:32.410" v="0" actId="2696"/>
        <pc:sldMkLst>
          <pc:docMk/>
          <pc:sldMk cId="3091131820" sldId="2147475203"/>
        </pc:sldMkLst>
      </pc:sldChg>
      <pc:sldChg chg="addSp delSp modSp mod modNotesTx">
        <pc:chgData name="Suzanne Kevlyn" userId="09e09a272ef5727f" providerId="LiveId" clId="{F0A46A80-A113-4D6F-B6DC-4FB215CCE083}" dt="2026-03-06T20:32:33.350" v="19492" actId="6549"/>
        <pc:sldMkLst>
          <pc:docMk/>
          <pc:sldMk cId="3951057511" sldId="2147475204"/>
        </pc:sldMkLst>
        <pc:spChg chg="add mod ord">
          <ac:chgData name="Suzanne Kevlyn" userId="09e09a272ef5727f" providerId="LiveId" clId="{F0A46A80-A113-4D6F-B6DC-4FB215CCE083}" dt="2026-03-05T20:49:10.807" v="1648" actId="167"/>
          <ac:spMkLst>
            <pc:docMk/>
            <pc:sldMk cId="3951057511" sldId="2147475204"/>
            <ac:spMk id="2" creationId="{F2FC9C94-0397-F83A-1E65-6ADBBB542143}"/>
          </ac:spMkLst>
        </pc:spChg>
        <pc:spChg chg="add mod">
          <ac:chgData name="Suzanne Kevlyn" userId="09e09a272ef5727f" providerId="LiveId" clId="{F0A46A80-A113-4D6F-B6DC-4FB215CCE083}" dt="2026-03-05T20:51:14.031" v="1798" actId="20577"/>
          <ac:spMkLst>
            <pc:docMk/>
            <pc:sldMk cId="3951057511" sldId="2147475204"/>
            <ac:spMk id="3" creationId="{64532657-665C-E5CC-3B9B-954C66AA46E1}"/>
          </ac:spMkLst>
        </pc:spChg>
        <pc:spChg chg="add mod">
          <ac:chgData name="Suzanne Kevlyn" userId="09e09a272ef5727f" providerId="LiveId" clId="{F0A46A80-A113-4D6F-B6DC-4FB215CCE083}" dt="2026-03-06T20:29:29.167" v="19377" actId="207"/>
          <ac:spMkLst>
            <pc:docMk/>
            <pc:sldMk cId="3951057511" sldId="2147475204"/>
            <ac:spMk id="7" creationId="{A5AC899D-3D0D-9D47-08EF-A00C8120A860}"/>
          </ac:spMkLst>
        </pc:spChg>
        <pc:spChg chg="mod">
          <ac:chgData name="Suzanne Kevlyn" userId="09e09a272ef5727f" providerId="LiveId" clId="{F0A46A80-A113-4D6F-B6DC-4FB215CCE083}" dt="2026-03-05T20:49:17.662" v="1649" actId="207"/>
          <ac:spMkLst>
            <pc:docMk/>
            <pc:sldMk cId="3951057511" sldId="2147475204"/>
            <ac:spMk id="8" creationId="{A03336C8-EBC2-36BF-3615-F55AF19AE7AE}"/>
          </ac:spMkLst>
        </pc:spChg>
        <pc:spChg chg="mod">
          <ac:chgData name="Suzanne Kevlyn" userId="09e09a272ef5727f" providerId="LiveId" clId="{F0A46A80-A113-4D6F-B6DC-4FB215CCE083}" dt="2026-03-05T20:46:37.695" v="1594" actId="20577"/>
          <ac:spMkLst>
            <pc:docMk/>
            <pc:sldMk cId="3951057511" sldId="2147475204"/>
            <ac:spMk id="15" creationId="{48998D4A-E8BA-4AD2-59D8-9503E8CC7697}"/>
          </ac:spMkLst>
        </pc:spChg>
        <pc:spChg chg="mod">
          <ac:chgData name="Suzanne Kevlyn" userId="09e09a272ef5727f" providerId="LiveId" clId="{F0A46A80-A113-4D6F-B6DC-4FB215CCE083}" dt="2026-03-05T20:48:26.448" v="1641" actId="1076"/>
          <ac:spMkLst>
            <pc:docMk/>
            <pc:sldMk cId="3951057511" sldId="2147475204"/>
            <ac:spMk id="16" creationId="{FCF4FCCD-4217-02BD-BFC9-1A3255FB357B}"/>
          </ac:spMkLst>
        </pc:spChg>
        <pc:spChg chg="mod">
          <ac:chgData name="Suzanne Kevlyn" userId="09e09a272ef5727f" providerId="LiveId" clId="{F0A46A80-A113-4D6F-B6DC-4FB215CCE083}" dt="2026-03-05T20:47:05.060" v="1621" actId="20577"/>
          <ac:spMkLst>
            <pc:docMk/>
            <pc:sldMk cId="3951057511" sldId="2147475204"/>
            <ac:spMk id="17" creationId="{383B4A26-C5C2-87DF-7D02-DE7080C39205}"/>
          </ac:spMkLst>
        </pc:spChg>
        <pc:spChg chg="mod">
          <ac:chgData name="Suzanne Kevlyn" userId="09e09a272ef5727f" providerId="LiveId" clId="{F0A46A80-A113-4D6F-B6DC-4FB215CCE083}" dt="2026-03-05T20:47:10.878" v="1627" actId="20577"/>
          <ac:spMkLst>
            <pc:docMk/>
            <pc:sldMk cId="3951057511" sldId="2147475204"/>
            <ac:spMk id="18" creationId="{496C28C6-C8CC-19DC-9387-AF32E19CD2FD}"/>
          </ac:spMkLst>
        </pc:spChg>
        <pc:spChg chg="mod">
          <ac:chgData name="Suzanne Kevlyn" userId="09e09a272ef5727f" providerId="LiveId" clId="{F0A46A80-A113-4D6F-B6DC-4FB215CCE083}" dt="2026-03-05T20:48:30.935" v="1642" actId="1076"/>
          <ac:spMkLst>
            <pc:docMk/>
            <pc:sldMk cId="3951057511" sldId="2147475204"/>
            <ac:spMk id="28" creationId="{C0B9729D-DFD3-D49E-F373-80DB1B28DE12}"/>
          </ac:spMkLst>
        </pc:spChg>
        <pc:spChg chg="mod">
          <ac:chgData name="Suzanne Kevlyn" userId="09e09a272ef5727f" providerId="LiveId" clId="{F0A46A80-A113-4D6F-B6DC-4FB215CCE083}" dt="2026-03-05T20:47:57.976" v="1635" actId="1076"/>
          <ac:spMkLst>
            <pc:docMk/>
            <pc:sldMk cId="3951057511" sldId="2147475204"/>
            <ac:spMk id="33" creationId="{146670CB-044B-27D7-04FC-F6528502C942}"/>
          </ac:spMkLst>
        </pc:spChg>
        <pc:spChg chg="del mod ord">
          <ac:chgData name="Suzanne Kevlyn" userId="09e09a272ef5727f" providerId="LiveId" clId="{F0A46A80-A113-4D6F-B6DC-4FB215CCE083}" dt="2026-03-05T20:48:51.064" v="1645" actId="478"/>
          <ac:spMkLst>
            <pc:docMk/>
            <pc:sldMk cId="3951057511" sldId="2147475204"/>
            <ac:spMk id="42" creationId="{2BE5D2A9-0AA5-249C-D806-8011263CC15A}"/>
          </ac:spMkLst>
        </pc:spChg>
        <pc:spChg chg="mod">
          <ac:chgData name="Suzanne Kevlyn" userId="09e09a272ef5727f" providerId="LiveId" clId="{F0A46A80-A113-4D6F-B6DC-4FB215CCE083}" dt="2026-03-05T20:48:48.249" v="1644" actId="207"/>
          <ac:spMkLst>
            <pc:docMk/>
            <pc:sldMk cId="3951057511" sldId="2147475204"/>
            <ac:spMk id="44" creationId="{9B9D2856-580A-5797-6FE3-7941F619B22B}"/>
          </ac:spMkLst>
        </pc:spChg>
        <pc:spChg chg="mod">
          <ac:chgData name="Suzanne Kevlyn" userId="09e09a272ef5727f" providerId="LiveId" clId="{F0A46A80-A113-4D6F-B6DC-4FB215CCE083}" dt="2026-03-05T20:47:57.976" v="1635" actId="1076"/>
          <ac:spMkLst>
            <pc:docMk/>
            <pc:sldMk cId="3951057511" sldId="2147475204"/>
            <ac:spMk id="45" creationId="{A8FA8AF0-6C9E-BD85-B6A4-BA51D8D5CBF4}"/>
          </ac:spMkLst>
        </pc:spChg>
        <pc:spChg chg="mod">
          <ac:chgData name="Suzanne Kevlyn" userId="09e09a272ef5727f" providerId="LiveId" clId="{F0A46A80-A113-4D6F-B6DC-4FB215CCE083}" dt="2026-03-05T20:47:57.976" v="1635" actId="1076"/>
          <ac:spMkLst>
            <pc:docMk/>
            <pc:sldMk cId="3951057511" sldId="2147475204"/>
            <ac:spMk id="47" creationId="{86E903B8-5362-02F8-B105-51D3A0209939}"/>
          </ac:spMkLst>
        </pc:spChg>
        <pc:spChg chg="mod">
          <ac:chgData name="Suzanne Kevlyn" userId="09e09a272ef5727f" providerId="LiveId" clId="{F0A46A80-A113-4D6F-B6DC-4FB215CCE083}" dt="2026-03-05T20:47:57.976" v="1635" actId="1076"/>
          <ac:spMkLst>
            <pc:docMk/>
            <pc:sldMk cId="3951057511" sldId="2147475204"/>
            <ac:spMk id="59" creationId="{A68B193E-1E45-153D-4DFD-383CD886E831}"/>
          </ac:spMkLst>
        </pc:spChg>
        <pc:spChg chg="mod">
          <ac:chgData name="Suzanne Kevlyn" userId="09e09a272ef5727f" providerId="LiveId" clId="{F0A46A80-A113-4D6F-B6DC-4FB215CCE083}" dt="2026-03-05T20:47:57.976" v="1635" actId="1076"/>
          <ac:spMkLst>
            <pc:docMk/>
            <pc:sldMk cId="3951057511" sldId="2147475204"/>
            <ac:spMk id="60" creationId="{A20881B9-24C8-38F2-0C7A-336FD4C96D4C}"/>
          </ac:spMkLst>
        </pc:spChg>
        <pc:spChg chg="mod">
          <ac:chgData name="Suzanne Kevlyn" userId="09e09a272ef5727f" providerId="LiveId" clId="{F0A46A80-A113-4D6F-B6DC-4FB215CCE083}" dt="2026-03-05T20:47:57.976" v="1635" actId="1076"/>
          <ac:spMkLst>
            <pc:docMk/>
            <pc:sldMk cId="3951057511" sldId="2147475204"/>
            <ac:spMk id="61" creationId="{88648795-7C89-6875-4F8F-79DA338E4352}"/>
          </ac:spMkLst>
        </pc:spChg>
        <pc:spChg chg="mod">
          <ac:chgData name="Suzanne Kevlyn" userId="09e09a272ef5727f" providerId="LiveId" clId="{F0A46A80-A113-4D6F-B6DC-4FB215CCE083}" dt="2026-03-05T20:47:57.976" v="1635" actId="1076"/>
          <ac:spMkLst>
            <pc:docMk/>
            <pc:sldMk cId="3951057511" sldId="2147475204"/>
            <ac:spMk id="62" creationId="{9E89E4D5-A8C3-DA66-2DF0-98DF90B107A1}"/>
          </ac:spMkLst>
        </pc:spChg>
        <pc:spChg chg="del mod">
          <ac:chgData name="Suzanne Kevlyn" userId="09e09a272ef5727f" providerId="LiveId" clId="{F0A46A80-A113-4D6F-B6DC-4FB215CCE083}" dt="2026-03-05T20:50:38.866" v="1718" actId="478"/>
          <ac:spMkLst>
            <pc:docMk/>
            <pc:sldMk cId="3951057511" sldId="2147475204"/>
            <ac:spMk id="64" creationId="{4D9F5C40-64A5-A07F-CE1E-9DF1158394DC}"/>
          </ac:spMkLst>
        </pc:spChg>
        <pc:spChg chg="mod">
          <ac:chgData name="Suzanne Kevlyn" userId="09e09a272ef5727f" providerId="LiveId" clId="{F0A46A80-A113-4D6F-B6DC-4FB215CCE083}" dt="2026-03-05T20:49:23.429" v="1650" actId="207"/>
          <ac:spMkLst>
            <pc:docMk/>
            <pc:sldMk cId="3951057511" sldId="2147475204"/>
            <ac:spMk id="70" creationId="{22FEA62B-D80A-8FD8-9C57-12E3F14ED4B0}"/>
          </ac:spMkLst>
        </pc:spChg>
        <pc:spChg chg="mod">
          <ac:chgData name="Suzanne Kevlyn" userId="09e09a272ef5727f" providerId="LiveId" clId="{F0A46A80-A113-4D6F-B6DC-4FB215CCE083}" dt="2026-03-05T20:50:52.589" v="1720" actId="1076"/>
          <ac:spMkLst>
            <pc:docMk/>
            <pc:sldMk cId="3951057511" sldId="2147475204"/>
            <ac:spMk id="78" creationId="{E62D66E4-A682-8056-92B6-201E9622E574}"/>
          </ac:spMkLst>
        </pc:spChg>
        <pc:spChg chg="del">
          <ac:chgData name="Suzanne Kevlyn" userId="09e09a272ef5727f" providerId="LiveId" clId="{F0A46A80-A113-4D6F-B6DC-4FB215CCE083}" dt="2026-03-05T20:50:22.197" v="1714" actId="478"/>
          <ac:spMkLst>
            <pc:docMk/>
            <pc:sldMk cId="3951057511" sldId="2147475204"/>
            <ac:spMk id="82" creationId="{075AFD1C-58E7-66D9-3E63-7D22AD12F679}"/>
          </ac:spMkLst>
        </pc:spChg>
        <pc:spChg chg="mod">
          <ac:chgData name="Suzanne Kevlyn" userId="09e09a272ef5727f" providerId="LiveId" clId="{F0A46A80-A113-4D6F-B6DC-4FB215CCE083}" dt="2026-03-05T20:48:22.237" v="1640" actId="1076"/>
          <ac:spMkLst>
            <pc:docMk/>
            <pc:sldMk cId="3951057511" sldId="2147475204"/>
            <ac:spMk id="101" creationId="{BE93272C-4CE5-65DF-859E-90FC818D2E00}"/>
          </ac:spMkLst>
        </pc:spChg>
        <pc:grpChg chg="mod">
          <ac:chgData name="Suzanne Kevlyn" userId="09e09a272ef5727f" providerId="LiveId" clId="{F0A46A80-A113-4D6F-B6DC-4FB215CCE083}" dt="2026-03-05T20:47:57.976" v="1635" actId="1076"/>
          <ac:grpSpMkLst>
            <pc:docMk/>
            <pc:sldMk cId="3951057511" sldId="2147475204"/>
            <ac:grpSpMk id="32" creationId="{C6F7C7C6-8FFF-8CA2-239D-C33141D459F0}"/>
          </ac:grpSpMkLst>
        </pc:grpChg>
        <pc:graphicFrameChg chg="modGraphic">
          <ac:chgData name="Suzanne Kevlyn" userId="09e09a272ef5727f" providerId="LiveId" clId="{F0A46A80-A113-4D6F-B6DC-4FB215CCE083}" dt="2026-03-05T20:52:44.294" v="1871" actId="20577"/>
          <ac:graphicFrameMkLst>
            <pc:docMk/>
            <pc:sldMk cId="3951057511" sldId="2147475204"/>
            <ac:graphicFrameMk id="4" creationId="{4264C6EE-F15D-4322-FB52-B380645EEB98}"/>
          </ac:graphicFrameMkLst>
        </pc:graphicFrameChg>
        <pc:picChg chg="mod">
          <ac:chgData name="Suzanne Kevlyn" userId="09e09a272ef5727f" providerId="LiveId" clId="{F0A46A80-A113-4D6F-B6DC-4FB215CCE083}" dt="2026-03-05T20:47:35.694" v="1632" actId="1076"/>
          <ac:picMkLst>
            <pc:docMk/>
            <pc:sldMk cId="3951057511" sldId="2147475204"/>
            <ac:picMk id="6" creationId="{DE2ED6A5-74F4-AE51-CE0A-22EA46432D85}"/>
          </ac:picMkLst>
        </pc:picChg>
        <pc:picChg chg="mod">
          <ac:chgData name="Suzanne Kevlyn" userId="09e09a272ef5727f" providerId="LiveId" clId="{F0A46A80-A113-4D6F-B6DC-4FB215CCE083}" dt="2026-03-05T20:48:14.738" v="1639" actId="1076"/>
          <ac:picMkLst>
            <pc:docMk/>
            <pc:sldMk cId="3951057511" sldId="2147475204"/>
            <ac:picMk id="26" creationId="{01747479-06AD-E5EB-3101-3278BA64BCF6}"/>
          </ac:picMkLst>
        </pc:picChg>
        <pc:picChg chg="mod">
          <ac:chgData name="Suzanne Kevlyn" userId="09e09a272ef5727f" providerId="LiveId" clId="{F0A46A80-A113-4D6F-B6DC-4FB215CCE083}" dt="2026-03-05T20:47:41.462" v="1633" actId="1076"/>
          <ac:picMkLst>
            <pc:docMk/>
            <pc:sldMk cId="3951057511" sldId="2147475204"/>
            <ac:picMk id="65" creationId="{E2D481DF-732C-E658-E887-A14E11B6B15E}"/>
          </ac:picMkLst>
        </pc:picChg>
        <pc:picChg chg="mod">
          <ac:chgData name="Suzanne Kevlyn" userId="09e09a272ef5727f" providerId="LiveId" clId="{F0A46A80-A113-4D6F-B6DC-4FB215CCE083}" dt="2026-03-05T20:47:47.673" v="1634" actId="1076"/>
          <ac:picMkLst>
            <pc:docMk/>
            <pc:sldMk cId="3951057511" sldId="2147475204"/>
            <ac:picMk id="67" creationId="{13807188-0F5A-E2F0-9216-6F9EE943F2A7}"/>
          </ac:picMkLst>
        </pc:picChg>
        <pc:picChg chg="mod">
          <ac:chgData name="Suzanne Kevlyn" userId="09e09a272ef5727f" providerId="LiveId" clId="{F0A46A80-A113-4D6F-B6DC-4FB215CCE083}" dt="2026-03-05T20:47:29.446" v="1630" actId="1076"/>
          <ac:picMkLst>
            <pc:docMk/>
            <pc:sldMk cId="3951057511" sldId="2147475204"/>
            <ac:picMk id="69" creationId="{6A3B0F26-1627-D4D6-A35C-B81A6C841184}"/>
          </ac:picMkLst>
        </pc:picChg>
      </pc:sldChg>
      <pc:sldChg chg="del">
        <pc:chgData name="Suzanne Kevlyn" userId="09e09a272ef5727f" providerId="LiveId" clId="{F0A46A80-A113-4D6F-B6DC-4FB215CCE083}" dt="2026-03-05T17:40:32.410" v="0" actId="2696"/>
        <pc:sldMkLst>
          <pc:docMk/>
          <pc:sldMk cId="3848624538" sldId="2147475205"/>
        </pc:sldMkLst>
      </pc:sldChg>
      <pc:sldChg chg="addSp modSp mod">
        <pc:chgData name="Suzanne Kevlyn" userId="09e09a272ef5727f" providerId="LiveId" clId="{F0A46A80-A113-4D6F-B6DC-4FB215CCE083}" dt="2026-03-06T17:01:21.822" v="14300" actId="1076"/>
        <pc:sldMkLst>
          <pc:docMk/>
          <pc:sldMk cId="3100749755" sldId="2147475206"/>
        </pc:sldMkLst>
        <pc:spChg chg="mod">
          <ac:chgData name="Suzanne Kevlyn" userId="09e09a272ef5727f" providerId="LiveId" clId="{F0A46A80-A113-4D6F-B6DC-4FB215CCE083}" dt="2026-03-06T16:40:44.744" v="13216" actId="20577"/>
          <ac:spMkLst>
            <pc:docMk/>
            <pc:sldMk cId="3100749755" sldId="2147475206"/>
            <ac:spMk id="5" creationId="{FABF7648-E0E9-E6C7-4F20-F527A6F188C5}"/>
          </ac:spMkLst>
        </pc:spChg>
        <pc:spChg chg="add mod">
          <ac:chgData name="Suzanne Kevlyn" userId="09e09a272ef5727f" providerId="LiveId" clId="{F0A46A80-A113-4D6F-B6DC-4FB215CCE083}" dt="2026-03-06T17:01:00.114" v="14275" actId="14100"/>
          <ac:spMkLst>
            <pc:docMk/>
            <pc:sldMk cId="3100749755" sldId="2147475206"/>
            <ac:spMk id="6" creationId="{58030D04-3A54-7C03-36D7-CE676F6AE02F}"/>
          </ac:spMkLst>
        </pc:spChg>
        <pc:spChg chg="add mod">
          <ac:chgData name="Suzanne Kevlyn" userId="09e09a272ef5727f" providerId="LiveId" clId="{F0A46A80-A113-4D6F-B6DC-4FB215CCE083}" dt="2026-03-06T17:01:21.822" v="14300" actId="1076"/>
          <ac:spMkLst>
            <pc:docMk/>
            <pc:sldMk cId="3100749755" sldId="2147475206"/>
            <ac:spMk id="7" creationId="{3866C387-A862-F261-4620-E43EEC0B87B8}"/>
          </ac:spMkLst>
        </pc:spChg>
        <pc:spChg chg="mod">
          <ac:chgData name="Suzanne Kevlyn" userId="09e09a272ef5727f" providerId="LiveId" clId="{F0A46A80-A113-4D6F-B6DC-4FB215CCE083}" dt="2026-03-06T17:00:18.580" v="14268" actId="207"/>
          <ac:spMkLst>
            <pc:docMk/>
            <pc:sldMk cId="3100749755" sldId="2147475206"/>
            <ac:spMk id="9" creationId="{AC9AF489-504E-C7D0-3B48-4C838B5FCA61}"/>
          </ac:spMkLst>
        </pc:spChg>
        <pc:spChg chg="mod">
          <ac:chgData name="Suzanne Kevlyn" userId="09e09a272ef5727f" providerId="LiveId" clId="{F0A46A80-A113-4D6F-B6DC-4FB215CCE083}" dt="2026-03-06T17:00:25.137" v="14269" actId="207"/>
          <ac:spMkLst>
            <pc:docMk/>
            <pc:sldMk cId="3100749755" sldId="2147475206"/>
            <ac:spMk id="12" creationId="{B03B88A4-39FB-E3FF-B4BF-83134CDB9EBC}"/>
          </ac:spMkLst>
        </pc:spChg>
        <pc:spChg chg="mod">
          <ac:chgData name="Suzanne Kevlyn" userId="09e09a272ef5727f" providerId="LiveId" clId="{F0A46A80-A113-4D6F-B6DC-4FB215CCE083}" dt="2026-03-06T17:00:37.131" v="14272" actId="13926"/>
          <ac:spMkLst>
            <pc:docMk/>
            <pc:sldMk cId="3100749755" sldId="2147475206"/>
            <ac:spMk id="15" creationId="{E263D415-7E20-C4FF-B060-E7FAC8FEB2A8}"/>
          </ac:spMkLst>
        </pc:spChg>
        <pc:spChg chg="mod">
          <ac:chgData name="Suzanne Kevlyn" userId="09e09a272ef5727f" providerId="LiveId" clId="{F0A46A80-A113-4D6F-B6DC-4FB215CCE083}" dt="2026-03-06T17:00:41.475" v="14273" actId="207"/>
          <ac:spMkLst>
            <pc:docMk/>
            <pc:sldMk cId="3100749755" sldId="2147475206"/>
            <ac:spMk id="18" creationId="{545E59A5-377B-E60E-B476-5C9D630D15C0}"/>
          </ac:spMkLst>
        </pc:spChg>
      </pc:sldChg>
      <pc:sldChg chg="del">
        <pc:chgData name="Suzanne Kevlyn" userId="09e09a272ef5727f" providerId="LiveId" clId="{F0A46A80-A113-4D6F-B6DC-4FB215CCE083}" dt="2026-03-05T22:41:16.230" v="7224" actId="2696"/>
        <pc:sldMkLst>
          <pc:docMk/>
          <pc:sldMk cId="1213567693" sldId="2147475207"/>
        </pc:sldMkLst>
      </pc:sldChg>
      <pc:sldChg chg="del">
        <pc:chgData name="Suzanne Kevlyn" userId="09e09a272ef5727f" providerId="LiveId" clId="{F0A46A80-A113-4D6F-B6DC-4FB215CCE083}" dt="2026-03-05T22:41:16.230" v="7224" actId="2696"/>
        <pc:sldMkLst>
          <pc:docMk/>
          <pc:sldMk cId="505906158" sldId="2147475208"/>
        </pc:sldMkLst>
      </pc:sldChg>
      <pc:sldChg chg="del">
        <pc:chgData name="Suzanne Kevlyn" userId="09e09a272ef5727f" providerId="LiveId" clId="{F0A46A80-A113-4D6F-B6DC-4FB215CCE083}" dt="2026-03-05T22:41:16.230" v="7224" actId="2696"/>
        <pc:sldMkLst>
          <pc:docMk/>
          <pc:sldMk cId="3514799510" sldId="2147475209"/>
        </pc:sldMkLst>
      </pc:sldChg>
      <pc:sldChg chg="del">
        <pc:chgData name="Suzanne Kevlyn" userId="09e09a272ef5727f" providerId="LiveId" clId="{F0A46A80-A113-4D6F-B6DC-4FB215CCE083}" dt="2026-03-05T22:41:16.230" v="7224" actId="2696"/>
        <pc:sldMkLst>
          <pc:docMk/>
          <pc:sldMk cId="914215148" sldId="2147475210"/>
        </pc:sldMkLst>
      </pc:sldChg>
      <pc:sldChg chg="del">
        <pc:chgData name="Suzanne Kevlyn" userId="09e09a272ef5727f" providerId="LiveId" clId="{F0A46A80-A113-4D6F-B6DC-4FB215CCE083}" dt="2026-03-05T22:41:16.230" v="7224" actId="2696"/>
        <pc:sldMkLst>
          <pc:docMk/>
          <pc:sldMk cId="4294101590" sldId="2147475213"/>
        </pc:sldMkLst>
      </pc:sldChg>
      <pc:sldChg chg="del">
        <pc:chgData name="Suzanne Kevlyn" userId="09e09a272ef5727f" providerId="LiveId" clId="{F0A46A80-A113-4D6F-B6DC-4FB215CCE083}" dt="2026-03-05T22:41:16.230" v="7224" actId="2696"/>
        <pc:sldMkLst>
          <pc:docMk/>
          <pc:sldMk cId="1640480663" sldId="2147475215"/>
        </pc:sldMkLst>
      </pc:sldChg>
      <pc:sldChg chg="del">
        <pc:chgData name="Suzanne Kevlyn" userId="09e09a272ef5727f" providerId="LiveId" clId="{F0A46A80-A113-4D6F-B6DC-4FB215CCE083}" dt="2026-03-05T22:41:16.230" v="7224" actId="2696"/>
        <pc:sldMkLst>
          <pc:docMk/>
          <pc:sldMk cId="3605453150" sldId="2147475217"/>
        </pc:sldMkLst>
      </pc:sldChg>
      <pc:sldChg chg="del">
        <pc:chgData name="Suzanne Kevlyn" userId="09e09a272ef5727f" providerId="LiveId" clId="{F0A46A80-A113-4D6F-B6DC-4FB215CCE083}" dt="2026-03-05T17:40:32.410" v="0" actId="2696"/>
        <pc:sldMkLst>
          <pc:docMk/>
          <pc:sldMk cId="1758215763" sldId="2147475220"/>
        </pc:sldMkLst>
      </pc:sldChg>
      <pc:sldChg chg="delSp del mod">
        <pc:chgData name="Suzanne Kevlyn" userId="09e09a272ef5727f" providerId="LiveId" clId="{F0A46A80-A113-4D6F-B6DC-4FB215CCE083}" dt="2026-03-05T20:13:13.998" v="1258" actId="2696"/>
        <pc:sldMkLst>
          <pc:docMk/>
          <pc:sldMk cId="2546221240" sldId="2147475221"/>
        </pc:sldMkLst>
        <pc:spChg chg="del">
          <ac:chgData name="Suzanne Kevlyn" userId="09e09a272ef5727f" providerId="LiveId" clId="{F0A46A80-A113-4D6F-B6DC-4FB215CCE083}" dt="2026-03-05T20:13:11.794" v="1257" actId="478"/>
          <ac:spMkLst>
            <pc:docMk/>
            <pc:sldMk cId="2546221240" sldId="2147475221"/>
            <ac:spMk id="6" creationId="{ED06D3D5-9761-F29B-3C50-010583D6A603}"/>
          </ac:spMkLst>
        </pc:spChg>
      </pc:sldChg>
      <pc:sldChg chg="addSp delSp modSp add mod ord">
        <pc:chgData name="Suzanne Kevlyn" userId="09e09a272ef5727f" providerId="LiveId" clId="{F0A46A80-A113-4D6F-B6DC-4FB215CCE083}" dt="2026-03-06T16:16:41.249" v="12912"/>
        <pc:sldMkLst>
          <pc:docMk/>
          <pc:sldMk cId="4067628137" sldId="2147475221"/>
        </pc:sldMkLst>
        <pc:spChg chg="del">
          <ac:chgData name="Suzanne Kevlyn" userId="09e09a272ef5727f" providerId="LiveId" clId="{F0A46A80-A113-4D6F-B6DC-4FB215CCE083}" dt="2026-03-06T15:15:13.711" v="9163" actId="478"/>
          <ac:spMkLst>
            <pc:docMk/>
            <pc:sldMk cId="4067628137" sldId="2147475221"/>
            <ac:spMk id="2" creationId="{D9C53847-6CD5-CA89-501F-B09B2DA9BD94}"/>
          </ac:spMkLst>
        </pc:spChg>
        <pc:spChg chg="add del mod">
          <ac:chgData name="Suzanne Kevlyn" userId="09e09a272ef5727f" providerId="LiveId" clId="{F0A46A80-A113-4D6F-B6DC-4FB215CCE083}" dt="2026-03-06T15:10:56.473" v="8438" actId="478"/>
          <ac:spMkLst>
            <pc:docMk/>
            <pc:sldMk cId="4067628137" sldId="2147475221"/>
            <ac:spMk id="5" creationId="{31E48329-09AD-3C30-17EA-1C7AC7ACDCD3}"/>
          </ac:spMkLst>
        </pc:spChg>
        <pc:spChg chg="add mod">
          <ac:chgData name="Suzanne Kevlyn" userId="09e09a272ef5727f" providerId="LiveId" clId="{F0A46A80-A113-4D6F-B6DC-4FB215CCE083}" dt="2026-03-06T15:12:09.642" v="8606" actId="1076"/>
          <ac:spMkLst>
            <pc:docMk/>
            <pc:sldMk cId="4067628137" sldId="2147475221"/>
            <ac:spMk id="6" creationId="{71538D52-97F7-38C0-9963-8CAB0014E1C1}"/>
          </ac:spMkLst>
        </pc:spChg>
        <pc:spChg chg="add mod">
          <ac:chgData name="Suzanne Kevlyn" userId="09e09a272ef5727f" providerId="LiveId" clId="{F0A46A80-A113-4D6F-B6DC-4FB215CCE083}" dt="2026-03-06T15:15:25.431" v="9164" actId="403"/>
          <ac:spMkLst>
            <pc:docMk/>
            <pc:sldMk cId="4067628137" sldId="2147475221"/>
            <ac:spMk id="7" creationId="{47786E7A-7C6B-CF64-5FE4-3F5881996628}"/>
          </ac:spMkLst>
        </pc:spChg>
        <pc:graphicFrameChg chg="mod">
          <ac:chgData name="Suzanne Kevlyn" userId="09e09a272ef5727f" providerId="LiveId" clId="{F0A46A80-A113-4D6F-B6DC-4FB215CCE083}" dt="2026-03-06T15:15:02.708" v="9161" actId="1076"/>
          <ac:graphicFrameMkLst>
            <pc:docMk/>
            <pc:sldMk cId="4067628137" sldId="2147475221"/>
            <ac:graphicFrameMk id="9" creationId="{DF4439D4-74ED-8D30-A37B-47918C547D83}"/>
          </ac:graphicFrameMkLst>
        </pc:graphicFrameChg>
      </pc:sldChg>
      <pc:sldChg chg="addSp delSp modSp mod ord">
        <pc:chgData name="Suzanne Kevlyn" userId="09e09a272ef5727f" providerId="LiveId" clId="{F0A46A80-A113-4D6F-B6DC-4FB215CCE083}" dt="2026-03-06T15:38:47.913" v="11697" actId="1076"/>
        <pc:sldMkLst>
          <pc:docMk/>
          <pc:sldMk cId="1038789871" sldId="2147475222"/>
        </pc:sldMkLst>
        <pc:spChg chg="del">
          <ac:chgData name="Suzanne Kevlyn" userId="09e09a272ef5727f" providerId="LiveId" clId="{F0A46A80-A113-4D6F-B6DC-4FB215CCE083}" dt="2026-03-05T20:13:28.601" v="1263" actId="478"/>
          <ac:spMkLst>
            <pc:docMk/>
            <pc:sldMk cId="1038789871" sldId="2147475222"/>
            <ac:spMk id="5" creationId="{3E97739B-8CD5-82DF-58DF-0274454C5E87}"/>
          </ac:spMkLst>
        </pc:spChg>
        <pc:spChg chg="add mod">
          <ac:chgData name="Suzanne Kevlyn" userId="09e09a272ef5727f" providerId="LiveId" clId="{F0A46A80-A113-4D6F-B6DC-4FB215CCE083}" dt="2026-03-06T15:38:47.913" v="11697" actId="1076"/>
          <ac:spMkLst>
            <pc:docMk/>
            <pc:sldMk cId="1038789871" sldId="2147475222"/>
            <ac:spMk id="5" creationId="{8F139E8A-715B-3DA5-6104-965FAF57EA0A}"/>
          </ac:spMkLst>
        </pc:spChg>
        <pc:spChg chg="mod">
          <ac:chgData name="Suzanne Kevlyn" userId="09e09a272ef5727f" providerId="LiveId" clId="{F0A46A80-A113-4D6F-B6DC-4FB215CCE083}" dt="2026-03-06T15:37:32.491" v="11537" actId="1076"/>
          <ac:spMkLst>
            <pc:docMk/>
            <pc:sldMk cId="1038789871" sldId="2147475222"/>
            <ac:spMk id="6" creationId="{7FB5D06C-9483-DCDD-9F2D-636FFBA0C50E}"/>
          </ac:spMkLst>
        </pc:spChg>
        <pc:graphicFrameChg chg="mod modGraphic">
          <ac:chgData name="Suzanne Kevlyn" userId="09e09a272ef5727f" providerId="LiveId" clId="{F0A46A80-A113-4D6F-B6DC-4FB215CCE083}" dt="2026-03-06T15:37:58.946" v="11556" actId="1076"/>
          <ac:graphicFrameMkLst>
            <pc:docMk/>
            <pc:sldMk cId="1038789871" sldId="2147475222"/>
            <ac:graphicFrameMk id="9" creationId="{21C11A95-5BF0-3C6B-8DE8-26E0661B2048}"/>
          </ac:graphicFrameMkLst>
        </pc:graphicFrameChg>
      </pc:sldChg>
      <pc:sldChg chg="addSp delSp modSp mod ord">
        <pc:chgData name="Suzanne Kevlyn" userId="09e09a272ef5727f" providerId="LiveId" clId="{F0A46A80-A113-4D6F-B6DC-4FB215CCE083}" dt="2026-03-06T15:43:27.872" v="11708" actId="404"/>
        <pc:sldMkLst>
          <pc:docMk/>
          <pc:sldMk cId="3767248543" sldId="2147475223"/>
        </pc:sldMkLst>
        <pc:spChg chg="add del mod">
          <ac:chgData name="Suzanne Kevlyn" userId="09e09a272ef5727f" providerId="LiveId" clId="{F0A46A80-A113-4D6F-B6DC-4FB215CCE083}" dt="2026-03-06T15:20:25.491" v="9198" actId="478"/>
          <ac:spMkLst>
            <pc:docMk/>
            <pc:sldMk cId="3767248543" sldId="2147475223"/>
            <ac:spMk id="3" creationId="{11899330-F8FE-6199-3673-1841BB047A7A}"/>
          </ac:spMkLst>
        </pc:spChg>
        <pc:spChg chg="add mod">
          <ac:chgData name="Suzanne Kevlyn" userId="09e09a272ef5727f" providerId="LiveId" clId="{F0A46A80-A113-4D6F-B6DC-4FB215CCE083}" dt="2026-03-06T15:43:27.872" v="11708" actId="404"/>
          <ac:spMkLst>
            <pc:docMk/>
            <pc:sldMk cId="3767248543" sldId="2147475223"/>
            <ac:spMk id="5" creationId="{34A4EA5F-7AB4-8E92-B402-3638F761B7D0}"/>
          </ac:spMkLst>
        </pc:spChg>
        <pc:spChg chg="mod">
          <ac:chgData name="Suzanne Kevlyn" userId="09e09a272ef5727f" providerId="LiveId" clId="{F0A46A80-A113-4D6F-B6DC-4FB215CCE083}" dt="2026-03-06T15:20:59.657" v="9204" actId="1076"/>
          <ac:spMkLst>
            <pc:docMk/>
            <pc:sldMk cId="3767248543" sldId="2147475223"/>
            <ac:spMk id="6" creationId="{5EB9828B-53FD-E591-1A4A-B2BE84FA56B6}"/>
          </ac:spMkLst>
        </pc:spChg>
        <pc:spChg chg="del">
          <ac:chgData name="Suzanne Kevlyn" userId="09e09a272ef5727f" providerId="LiveId" clId="{F0A46A80-A113-4D6F-B6DC-4FB215CCE083}" dt="2026-03-05T20:13:44.519" v="1266" actId="478"/>
          <ac:spMkLst>
            <pc:docMk/>
            <pc:sldMk cId="3767248543" sldId="2147475223"/>
            <ac:spMk id="7" creationId="{2C962B1D-8F7D-F337-2952-53ACEF77E726}"/>
          </ac:spMkLst>
        </pc:spChg>
        <pc:spChg chg="add mod">
          <ac:chgData name="Suzanne Kevlyn" userId="09e09a272ef5727f" providerId="LiveId" clId="{F0A46A80-A113-4D6F-B6DC-4FB215CCE083}" dt="2026-03-06T15:23:04.068" v="9751" actId="1076"/>
          <ac:spMkLst>
            <pc:docMk/>
            <pc:sldMk cId="3767248543" sldId="2147475223"/>
            <ac:spMk id="7" creationId="{537556CE-23E4-1E86-D62B-74545206D16F}"/>
          </ac:spMkLst>
        </pc:spChg>
        <pc:graphicFrameChg chg="mod modGraphic">
          <ac:chgData name="Suzanne Kevlyn" userId="09e09a272ef5727f" providerId="LiveId" clId="{F0A46A80-A113-4D6F-B6DC-4FB215CCE083}" dt="2026-03-06T15:22:59.945" v="9750" actId="1076"/>
          <ac:graphicFrameMkLst>
            <pc:docMk/>
            <pc:sldMk cId="3767248543" sldId="2147475223"/>
            <ac:graphicFrameMk id="9" creationId="{049B1ADC-AEAF-86CF-D354-EA3A0F695EA1}"/>
          </ac:graphicFrameMkLst>
        </pc:graphicFrameChg>
      </pc:sldChg>
      <pc:sldChg chg="addSp delSp modSp mod ord">
        <pc:chgData name="Suzanne Kevlyn" userId="09e09a272ef5727f" providerId="LiveId" clId="{F0A46A80-A113-4D6F-B6DC-4FB215CCE083}" dt="2026-03-06T15:25:47.459" v="10295" actId="14100"/>
        <pc:sldMkLst>
          <pc:docMk/>
          <pc:sldMk cId="1537158093" sldId="2147475224"/>
        </pc:sldMkLst>
        <pc:spChg chg="add mod">
          <ac:chgData name="Suzanne Kevlyn" userId="09e09a272ef5727f" providerId="LiveId" clId="{F0A46A80-A113-4D6F-B6DC-4FB215CCE083}" dt="2026-03-06T15:20:37.022" v="9199"/>
          <ac:spMkLst>
            <pc:docMk/>
            <pc:sldMk cId="1537158093" sldId="2147475224"/>
            <ac:spMk id="3" creationId="{DAABCC5A-13D7-A689-1DA5-0C0BA540EA91}"/>
          </ac:spMkLst>
        </pc:spChg>
        <pc:spChg chg="mod">
          <ac:chgData name="Suzanne Kevlyn" userId="09e09a272ef5727f" providerId="LiveId" clId="{F0A46A80-A113-4D6F-B6DC-4FB215CCE083}" dt="2026-03-06T15:23:21.873" v="9752" actId="1076"/>
          <ac:spMkLst>
            <pc:docMk/>
            <pc:sldMk cId="1537158093" sldId="2147475224"/>
            <ac:spMk id="5" creationId="{3713ED60-EA77-FC63-E508-22797679EA34}"/>
          </ac:spMkLst>
        </pc:spChg>
        <pc:spChg chg="add mod">
          <ac:chgData name="Suzanne Kevlyn" userId="09e09a272ef5727f" providerId="LiveId" clId="{F0A46A80-A113-4D6F-B6DC-4FB215CCE083}" dt="2026-03-06T15:20:37.022" v="9199"/>
          <ac:spMkLst>
            <pc:docMk/>
            <pc:sldMk cId="1537158093" sldId="2147475224"/>
            <ac:spMk id="6" creationId="{653C43A7-0B2F-83FC-EB31-CEBF508A42D6}"/>
          </ac:spMkLst>
        </pc:spChg>
        <pc:spChg chg="del">
          <ac:chgData name="Suzanne Kevlyn" userId="09e09a272ef5727f" providerId="LiveId" clId="{F0A46A80-A113-4D6F-B6DC-4FB215CCE083}" dt="2026-03-05T20:13:20.522" v="1260" actId="478"/>
          <ac:spMkLst>
            <pc:docMk/>
            <pc:sldMk cId="1537158093" sldId="2147475224"/>
            <ac:spMk id="6" creationId="{86C3C37E-F30E-E96E-AE62-91FB28806A4C}"/>
          </ac:spMkLst>
        </pc:spChg>
        <pc:spChg chg="add mod">
          <ac:chgData name="Suzanne Kevlyn" userId="09e09a272ef5727f" providerId="LiveId" clId="{F0A46A80-A113-4D6F-B6DC-4FB215CCE083}" dt="2026-03-06T15:24:40.938" v="9978" actId="404"/>
          <ac:spMkLst>
            <pc:docMk/>
            <pc:sldMk cId="1537158093" sldId="2147475224"/>
            <ac:spMk id="7" creationId="{DACCE9B0-00E3-4526-0091-AFD77746ABF2}"/>
          </ac:spMkLst>
        </pc:spChg>
        <pc:spChg chg="add mod">
          <ac:chgData name="Suzanne Kevlyn" userId="09e09a272ef5727f" providerId="LiveId" clId="{F0A46A80-A113-4D6F-B6DC-4FB215CCE083}" dt="2026-03-06T15:25:47.459" v="10295" actId="14100"/>
          <ac:spMkLst>
            <pc:docMk/>
            <pc:sldMk cId="1537158093" sldId="2147475224"/>
            <ac:spMk id="8" creationId="{DB6B5683-08CA-CC8E-967E-3B849EFB14AB}"/>
          </ac:spMkLst>
        </pc:spChg>
        <pc:graphicFrameChg chg="mod modGraphic">
          <ac:chgData name="Suzanne Kevlyn" userId="09e09a272ef5727f" providerId="LiveId" clId="{F0A46A80-A113-4D6F-B6DC-4FB215CCE083}" dt="2026-03-06T15:23:40.475" v="9756" actId="207"/>
          <ac:graphicFrameMkLst>
            <pc:docMk/>
            <pc:sldMk cId="1537158093" sldId="2147475224"/>
            <ac:graphicFrameMk id="9" creationId="{D48A40EE-6CC7-E343-C68D-8360677A5F33}"/>
          </ac:graphicFrameMkLst>
        </pc:graphicFrameChg>
      </pc:sldChg>
      <pc:sldChg chg="delSp modSp mod ord">
        <pc:chgData name="Suzanne Kevlyn" userId="09e09a272ef5727f" providerId="LiveId" clId="{F0A46A80-A113-4D6F-B6DC-4FB215CCE083}" dt="2026-03-06T15:28:51.219" v="10302" actId="1076"/>
        <pc:sldMkLst>
          <pc:docMk/>
          <pc:sldMk cId="3864357732" sldId="2147475225"/>
        </pc:sldMkLst>
        <pc:spChg chg="del">
          <ac:chgData name="Suzanne Kevlyn" userId="09e09a272ef5727f" providerId="LiveId" clId="{F0A46A80-A113-4D6F-B6DC-4FB215CCE083}" dt="2026-03-05T20:13:52.561" v="1269" actId="478"/>
          <ac:spMkLst>
            <pc:docMk/>
            <pc:sldMk cId="3864357732" sldId="2147475225"/>
            <ac:spMk id="5" creationId="{9D2B41DC-2B67-F423-5A06-FFFE3E2FD20C}"/>
          </ac:spMkLst>
        </pc:spChg>
        <pc:graphicFrameChg chg="mod">
          <ac:chgData name="Suzanne Kevlyn" userId="09e09a272ef5727f" providerId="LiveId" clId="{F0A46A80-A113-4D6F-B6DC-4FB215CCE083}" dt="2026-03-06T15:28:51.219" v="10302" actId="1076"/>
          <ac:graphicFrameMkLst>
            <pc:docMk/>
            <pc:sldMk cId="3864357732" sldId="2147475225"/>
            <ac:graphicFrameMk id="9" creationId="{766DC455-EDCB-A8E4-AFF4-F3DA52C8C115}"/>
          </ac:graphicFrameMkLst>
        </pc:graphicFrameChg>
      </pc:sldChg>
      <pc:sldChg chg="addSp delSp modSp del mod">
        <pc:chgData name="Suzanne Kevlyn" userId="09e09a272ef5727f" providerId="LiveId" clId="{F0A46A80-A113-4D6F-B6DC-4FB215CCE083}" dt="2026-03-05T20:14:14.585" v="1272" actId="2696"/>
        <pc:sldMkLst>
          <pc:docMk/>
          <pc:sldMk cId="1095011364" sldId="2147475226"/>
        </pc:sldMkLst>
        <pc:spChg chg="add mod">
          <ac:chgData name="Suzanne Kevlyn" userId="09e09a272ef5727f" providerId="LiveId" clId="{F0A46A80-A113-4D6F-B6DC-4FB215CCE083}" dt="2026-03-05T20:12:49.195" v="1254" actId="113"/>
          <ac:spMkLst>
            <pc:docMk/>
            <pc:sldMk cId="1095011364" sldId="2147475226"/>
            <ac:spMk id="3" creationId="{10947183-5143-17A3-C454-C451F142EA7B}"/>
          </ac:spMkLst>
        </pc:spChg>
        <pc:spChg chg="del">
          <ac:chgData name="Suzanne Kevlyn" userId="09e09a272ef5727f" providerId="LiveId" clId="{F0A46A80-A113-4D6F-B6DC-4FB215CCE083}" dt="2026-03-05T20:13:02.495" v="1256" actId="478"/>
          <ac:spMkLst>
            <pc:docMk/>
            <pc:sldMk cId="1095011364" sldId="2147475226"/>
            <ac:spMk id="5" creationId="{9CBAE765-7FC7-336B-665A-0DE2E943134A}"/>
          </ac:spMkLst>
        </pc:spChg>
        <pc:graphicFrameChg chg="mod modGraphic">
          <ac:chgData name="Suzanne Kevlyn" userId="09e09a272ef5727f" providerId="LiveId" clId="{F0A46A80-A113-4D6F-B6DC-4FB215CCE083}" dt="2026-03-05T20:12:51.500" v="1255" actId="1076"/>
          <ac:graphicFrameMkLst>
            <pc:docMk/>
            <pc:sldMk cId="1095011364" sldId="2147475226"/>
            <ac:graphicFrameMk id="9" creationId="{8765D58E-75FC-9243-7F3D-D7C2223A85CE}"/>
          </ac:graphicFrameMkLst>
        </pc:graphicFrameChg>
      </pc:sldChg>
      <pc:sldChg chg="addSp modSp add mod">
        <pc:chgData name="Suzanne Kevlyn" userId="09e09a272ef5727f" providerId="LiveId" clId="{F0A46A80-A113-4D6F-B6DC-4FB215CCE083}" dt="2026-03-06T15:30:37.914" v="10599" actId="1076"/>
        <pc:sldMkLst>
          <pc:docMk/>
          <pc:sldMk cId="2361652386" sldId="2147475226"/>
        </pc:sldMkLst>
        <pc:spChg chg="mod">
          <ac:chgData name="Suzanne Kevlyn" userId="09e09a272ef5727f" providerId="LiveId" clId="{F0A46A80-A113-4D6F-B6DC-4FB215CCE083}" dt="2026-03-06T15:28:32.618" v="10300" actId="1076"/>
          <ac:spMkLst>
            <pc:docMk/>
            <pc:sldMk cId="2361652386" sldId="2147475226"/>
            <ac:spMk id="3" creationId="{10947183-5143-17A3-C454-C451F142EA7B}"/>
          </ac:spMkLst>
        </pc:spChg>
        <pc:spChg chg="add mod">
          <ac:chgData name="Suzanne Kevlyn" userId="09e09a272ef5727f" providerId="LiveId" clId="{F0A46A80-A113-4D6F-B6DC-4FB215CCE083}" dt="2026-03-06T15:30:36.297" v="10598" actId="1076"/>
          <ac:spMkLst>
            <pc:docMk/>
            <pc:sldMk cId="2361652386" sldId="2147475226"/>
            <ac:spMk id="5" creationId="{C2CBE471-F911-B4CC-0C15-2AE0FE573716}"/>
          </ac:spMkLst>
        </pc:spChg>
        <pc:spChg chg="add mod">
          <ac:chgData name="Suzanne Kevlyn" userId="09e09a272ef5727f" providerId="LiveId" clId="{F0A46A80-A113-4D6F-B6DC-4FB215CCE083}" dt="2026-03-06T15:30:37.914" v="10599" actId="1076"/>
          <ac:spMkLst>
            <pc:docMk/>
            <pc:sldMk cId="2361652386" sldId="2147475226"/>
            <ac:spMk id="6" creationId="{49E084A8-F623-73CA-8348-095E06EBD8EB}"/>
          </ac:spMkLst>
        </pc:spChg>
        <pc:graphicFrameChg chg="mod modGraphic">
          <ac:chgData name="Suzanne Kevlyn" userId="09e09a272ef5727f" providerId="LiveId" clId="{F0A46A80-A113-4D6F-B6DC-4FB215CCE083}" dt="2026-03-06T15:29:22.300" v="10333" actId="404"/>
          <ac:graphicFrameMkLst>
            <pc:docMk/>
            <pc:sldMk cId="2361652386" sldId="2147475226"/>
            <ac:graphicFrameMk id="9" creationId="{8765D58E-75FC-9243-7F3D-D7C2223A85CE}"/>
          </ac:graphicFrameMkLst>
        </pc:graphicFrameChg>
      </pc:sldChg>
      <pc:sldChg chg="addSp delSp modSp mod">
        <pc:chgData name="Suzanne Kevlyn" userId="09e09a272ef5727f" providerId="LiveId" clId="{F0A46A80-A113-4D6F-B6DC-4FB215CCE083}" dt="2026-03-06T15:34:08.829" v="11094" actId="1076"/>
        <pc:sldMkLst>
          <pc:docMk/>
          <pc:sldMk cId="115479149" sldId="2147475227"/>
        </pc:sldMkLst>
        <pc:spChg chg="add mod">
          <ac:chgData name="Suzanne Kevlyn" userId="09e09a272ef5727f" providerId="LiveId" clId="{F0A46A80-A113-4D6F-B6DC-4FB215CCE083}" dt="2026-03-06T15:32:45.188" v="10842" actId="6549"/>
          <ac:spMkLst>
            <pc:docMk/>
            <pc:sldMk cId="115479149" sldId="2147475227"/>
            <ac:spMk id="3" creationId="{1E0B35A7-9A69-DF9B-1403-4CA230A65851}"/>
          </ac:spMkLst>
        </pc:spChg>
        <pc:spChg chg="add mod">
          <ac:chgData name="Suzanne Kevlyn" userId="09e09a272ef5727f" providerId="LiveId" clId="{F0A46A80-A113-4D6F-B6DC-4FB215CCE083}" dt="2026-03-06T15:34:08.829" v="11094" actId="1076"/>
          <ac:spMkLst>
            <pc:docMk/>
            <pc:sldMk cId="115479149" sldId="2147475227"/>
            <ac:spMk id="5" creationId="{18EE54FC-BBF7-0A2A-4000-DD55B0991888}"/>
          </ac:spMkLst>
        </pc:spChg>
        <pc:spChg chg="del">
          <ac:chgData name="Suzanne Kevlyn" userId="09e09a272ef5727f" providerId="LiveId" clId="{F0A46A80-A113-4D6F-B6DC-4FB215CCE083}" dt="2026-03-05T20:16:41.085" v="1293" actId="478"/>
          <ac:spMkLst>
            <pc:docMk/>
            <pc:sldMk cId="115479149" sldId="2147475227"/>
            <ac:spMk id="5" creationId="{EE906EF3-A276-DB82-5AE1-E40E9D90BA0A}"/>
          </ac:spMkLst>
        </pc:spChg>
        <pc:graphicFrameChg chg="mod modGraphic">
          <ac:chgData name="Suzanne Kevlyn" userId="09e09a272ef5727f" providerId="LiveId" clId="{F0A46A80-A113-4D6F-B6DC-4FB215CCE083}" dt="2026-03-06T15:32:08.850" v="10608" actId="1076"/>
          <ac:graphicFrameMkLst>
            <pc:docMk/>
            <pc:sldMk cId="115479149" sldId="2147475227"/>
            <ac:graphicFrameMk id="9" creationId="{2CEA844F-4E74-A684-86B5-F62D5A4B8C54}"/>
          </ac:graphicFrameMkLst>
        </pc:graphicFrameChg>
      </pc:sldChg>
      <pc:sldChg chg="addSp delSp modSp mod">
        <pc:chgData name="Suzanne Kevlyn" userId="09e09a272ef5727f" providerId="LiveId" clId="{F0A46A80-A113-4D6F-B6DC-4FB215CCE083}" dt="2026-03-06T15:35:29.273" v="11270" actId="1076"/>
        <pc:sldMkLst>
          <pc:docMk/>
          <pc:sldMk cId="2180809000" sldId="2147475228"/>
        </pc:sldMkLst>
        <pc:spChg chg="add mod">
          <ac:chgData name="Suzanne Kevlyn" userId="09e09a272ef5727f" providerId="LiveId" clId="{F0A46A80-A113-4D6F-B6DC-4FB215CCE083}" dt="2026-03-06T15:35:29.273" v="11270" actId="1076"/>
          <ac:spMkLst>
            <pc:docMk/>
            <pc:sldMk cId="2180809000" sldId="2147475228"/>
            <ac:spMk id="3" creationId="{19405910-6DD1-249F-70F8-B1C23AB2FBFF}"/>
          </ac:spMkLst>
        </pc:spChg>
        <pc:spChg chg="add del mod">
          <ac:chgData name="Suzanne Kevlyn" userId="09e09a272ef5727f" providerId="LiveId" clId="{F0A46A80-A113-4D6F-B6DC-4FB215CCE083}" dt="2026-03-06T15:35:25.202" v="11269" actId="478"/>
          <ac:spMkLst>
            <pc:docMk/>
            <pc:sldMk cId="2180809000" sldId="2147475228"/>
            <ac:spMk id="5" creationId="{156E6A71-A4A7-5ABF-6617-EE18240EE722}"/>
          </ac:spMkLst>
        </pc:spChg>
        <pc:spChg chg="del">
          <ac:chgData name="Suzanne Kevlyn" userId="09e09a272ef5727f" providerId="LiveId" clId="{F0A46A80-A113-4D6F-B6DC-4FB215CCE083}" dt="2026-03-05T20:29:21.709" v="1388" actId="478"/>
          <ac:spMkLst>
            <pc:docMk/>
            <pc:sldMk cId="2180809000" sldId="2147475228"/>
            <ac:spMk id="5" creationId="{7F79290E-22F2-B42B-248E-4E74A2C9B173}"/>
          </ac:spMkLst>
        </pc:spChg>
        <pc:graphicFrameChg chg="mod modGraphic">
          <ac:chgData name="Suzanne Kevlyn" userId="09e09a272ef5727f" providerId="LiveId" clId="{F0A46A80-A113-4D6F-B6DC-4FB215CCE083}" dt="2026-03-05T20:40:57.728" v="1580" actId="404"/>
          <ac:graphicFrameMkLst>
            <pc:docMk/>
            <pc:sldMk cId="2180809000" sldId="2147475228"/>
            <ac:graphicFrameMk id="9" creationId="{E12C8CD7-5FB7-74D0-D78E-49730E37F986}"/>
          </ac:graphicFrameMkLst>
        </pc:graphicFrameChg>
      </pc:sldChg>
      <pc:sldChg chg="addSp delSp modSp mod">
        <pc:chgData name="Suzanne Kevlyn" userId="09e09a272ef5727f" providerId="LiveId" clId="{F0A46A80-A113-4D6F-B6DC-4FB215CCE083}" dt="2026-03-06T15:36:20.817" v="11408" actId="1076"/>
        <pc:sldMkLst>
          <pc:docMk/>
          <pc:sldMk cId="645945763" sldId="2147475229"/>
        </pc:sldMkLst>
        <pc:spChg chg="add mod">
          <ac:chgData name="Suzanne Kevlyn" userId="09e09a272ef5727f" providerId="LiveId" clId="{F0A46A80-A113-4D6F-B6DC-4FB215CCE083}" dt="2026-03-06T15:36:18.844" v="11407" actId="1076"/>
          <ac:spMkLst>
            <pc:docMk/>
            <pc:sldMk cId="645945763" sldId="2147475229"/>
            <ac:spMk id="3" creationId="{C93E2DA1-1620-7616-DD4C-D4A69A2240AD}"/>
          </ac:spMkLst>
        </pc:spChg>
        <pc:spChg chg="del">
          <ac:chgData name="Suzanne Kevlyn" userId="09e09a272ef5727f" providerId="LiveId" clId="{F0A46A80-A113-4D6F-B6DC-4FB215CCE083}" dt="2026-03-05T20:29:23.906" v="1389" actId="478"/>
          <ac:spMkLst>
            <pc:docMk/>
            <pc:sldMk cId="645945763" sldId="2147475229"/>
            <ac:spMk id="5" creationId="{61150751-7B16-678F-930F-B278143D92D9}"/>
          </ac:spMkLst>
        </pc:spChg>
        <pc:graphicFrameChg chg="mod modGraphic">
          <ac:chgData name="Suzanne Kevlyn" userId="09e09a272ef5727f" providerId="LiveId" clId="{F0A46A80-A113-4D6F-B6DC-4FB215CCE083}" dt="2026-03-06T15:36:20.817" v="11408" actId="1076"/>
          <ac:graphicFrameMkLst>
            <pc:docMk/>
            <pc:sldMk cId="645945763" sldId="2147475229"/>
            <ac:graphicFrameMk id="9" creationId="{D1FCD9B8-A119-D4C8-EA29-1AB66DA6C08F}"/>
          </ac:graphicFrameMkLst>
        </pc:graphicFrameChg>
      </pc:sldChg>
      <pc:sldChg chg="delSp del mod">
        <pc:chgData name="Suzanne Kevlyn" userId="09e09a272ef5727f" providerId="LiveId" clId="{F0A46A80-A113-4D6F-B6DC-4FB215CCE083}" dt="2026-03-05T18:03:09.753" v="586" actId="2696"/>
        <pc:sldMkLst>
          <pc:docMk/>
          <pc:sldMk cId="2353731115" sldId="2147475230"/>
        </pc:sldMkLst>
        <pc:spChg chg="del">
          <ac:chgData name="Suzanne Kevlyn" userId="09e09a272ef5727f" providerId="LiveId" clId="{F0A46A80-A113-4D6F-B6DC-4FB215CCE083}" dt="2026-03-05T17:58:03.981" v="411" actId="478"/>
          <ac:spMkLst>
            <pc:docMk/>
            <pc:sldMk cId="2353731115" sldId="2147475230"/>
            <ac:spMk id="2" creationId="{AC16B350-908F-0B06-4C23-49048F0A3334}"/>
          </ac:spMkLst>
        </pc:spChg>
      </pc:sldChg>
      <pc:sldChg chg="add del">
        <pc:chgData name="Suzanne Kevlyn" userId="09e09a272ef5727f" providerId="LiveId" clId="{F0A46A80-A113-4D6F-B6DC-4FB215CCE083}" dt="2026-03-05T22:41:16.230" v="7224" actId="2696"/>
        <pc:sldMkLst>
          <pc:docMk/>
          <pc:sldMk cId="3240775939" sldId="2147475230"/>
        </pc:sldMkLst>
      </pc:sldChg>
      <pc:sldChg chg="add del">
        <pc:chgData name="Suzanne Kevlyn" userId="09e09a272ef5727f" providerId="LiveId" clId="{F0A46A80-A113-4D6F-B6DC-4FB215CCE083}" dt="2026-03-05T22:41:16.230" v="7224" actId="2696"/>
        <pc:sldMkLst>
          <pc:docMk/>
          <pc:sldMk cId="1482910675" sldId="2147475231"/>
        </pc:sldMkLst>
      </pc:sldChg>
      <pc:sldChg chg="delSp del mod">
        <pc:chgData name="Suzanne Kevlyn" userId="09e09a272ef5727f" providerId="LiveId" clId="{F0A46A80-A113-4D6F-B6DC-4FB215CCE083}" dt="2026-03-05T18:03:09.753" v="586" actId="2696"/>
        <pc:sldMkLst>
          <pc:docMk/>
          <pc:sldMk cId="3845218831" sldId="2147475231"/>
        </pc:sldMkLst>
        <pc:spChg chg="del">
          <ac:chgData name="Suzanne Kevlyn" userId="09e09a272ef5727f" providerId="LiveId" clId="{F0A46A80-A113-4D6F-B6DC-4FB215CCE083}" dt="2026-03-05T17:58:06.954" v="413" actId="478"/>
          <ac:spMkLst>
            <pc:docMk/>
            <pc:sldMk cId="3845218831" sldId="2147475231"/>
            <ac:spMk id="2" creationId="{7651132D-9118-22E6-3D00-3BD010403543}"/>
          </ac:spMkLst>
        </pc:spChg>
      </pc:sldChg>
      <pc:sldChg chg="addSp delSp modSp mod">
        <pc:chgData name="Suzanne Kevlyn" userId="09e09a272ef5727f" providerId="LiveId" clId="{F0A46A80-A113-4D6F-B6DC-4FB215CCE083}" dt="2026-03-06T17:07:32.692" v="14301" actId="20577"/>
        <pc:sldMkLst>
          <pc:docMk/>
          <pc:sldMk cId="712184322" sldId="2147475232"/>
        </pc:sldMkLst>
        <pc:spChg chg="add mod">
          <ac:chgData name="Suzanne Kevlyn" userId="09e09a272ef5727f" providerId="LiveId" clId="{F0A46A80-A113-4D6F-B6DC-4FB215CCE083}" dt="2026-03-06T17:07:32.692" v="14301" actId="20577"/>
          <ac:spMkLst>
            <pc:docMk/>
            <pc:sldMk cId="712184322" sldId="2147475232"/>
            <ac:spMk id="2" creationId="{61480BE1-611C-BD6A-19EB-40A693C094AE}"/>
          </ac:spMkLst>
        </pc:spChg>
        <pc:spChg chg="del">
          <ac:chgData name="Suzanne Kevlyn" userId="09e09a272ef5727f" providerId="LiveId" clId="{F0A46A80-A113-4D6F-B6DC-4FB215CCE083}" dt="2026-03-05T17:58:05.108" v="412" actId="478"/>
          <ac:spMkLst>
            <pc:docMk/>
            <pc:sldMk cId="712184322" sldId="2147475232"/>
            <ac:spMk id="2" creationId="{C784D0AC-1D30-D826-69C5-131988CF22B7}"/>
          </ac:spMkLst>
        </pc:spChg>
        <pc:spChg chg="add mod">
          <ac:chgData name="Suzanne Kevlyn" userId="09e09a272ef5727f" providerId="LiveId" clId="{F0A46A80-A113-4D6F-B6DC-4FB215CCE083}" dt="2026-03-05T21:42:17.475" v="4537" actId="20577"/>
          <ac:spMkLst>
            <pc:docMk/>
            <pc:sldMk cId="712184322" sldId="2147475232"/>
            <ac:spMk id="6" creationId="{8B53A244-ACA4-00BA-3CDF-0A60B6F41AA4}"/>
          </ac:spMkLst>
        </pc:spChg>
        <pc:spChg chg="add del mod">
          <ac:chgData name="Suzanne Kevlyn" userId="09e09a272ef5727f" providerId="LiveId" clId="{F0A46A80-A113-4D6F-B6DC-4FB215CCE083}" dt="2026-03-05T18:02:43.017" v="584" actId="478"/>
          <ac:spMkLst>
            <pc:docMk/>
            <pc:sldMk cId="712184322" sldId="2147475232"/>
            <ac:spMk id="7" creationId="{807EA28B-70B0-153C-C5ED-81B7AB9E61EB}"/>
          </ac:spMkLst>
        </pc:spChg>
        <pc:graphicFrameChg chg="mod modGraphic">
          <ac:chgData name="Suzanne Kevlyn" userId="09e09a272ef5727f" providerId="LiveId" clId="{F0A46A80-A113-4D6F-B6DC-4FB215CCE083}" dt="2026-03-05T21:40:29.316" v="4228" actId="20577"/>
          <ac:graphicFrameMkLst>
            <pc:docMk/>
            <pc:sldMk cId="712184322" sldId="2147475232"/>
            <ac:graphicFrameMk id="5" creationId="{6E646102-EF93-5827-11AF-73AB795AC8B8}"/>
          </ac:graphicFrameMkLst>
        </pc:graphicFrameChg>
      </pc:sldChg>
      <pc:sldChg chg="delSp del mod">
        <pc:chgData name="Suzanne Kevlyn" userId="09e09a272ef5727f" providerId="LiveId" clId="{F0A46A80-A113-4D6F-B6DC-4FB215CCE083}" dt="2026-03-05T18:03:09.753" v="586" actId="2696"/>
        <pc:sldMkLst>
          <pc:docMk/>
          <pc:sldMk cId="494940079" sldId="2147475233"/>
        </pc:sldMkLst>
        <pc:spChg chg="del">
          <ac:chgData name="Suzanne Kevlyn" userId="09e09a272ef5727f" providerId="LiveId" clId="{F0A46A80-A113-4D6F-B6DC-4FB215CCE083}" dt="2026-03-05T17:58:08.105" v="414" actId="478"/>
          <ac:spMkLst>
            <pc:docMk/>
            <pc:sldMk cId="494940079" sldId="2147475233"/>
            <ac:spMk id="2" creationId="{8BFE0F12-1129-B0F5-9139-6EEBC1E8655E}"/>
          </ac:spMkLst>
        </pc:spChg>
      </pc:sldChg>
      <pc:sldChg chg="add del">
        <pc:chgData name="Suzanne Kevlyn" userId="09e09a272ef5727f" providerId="LiveId" clId="{F0A46A80-A113-4D6F-B6DC-4FB215CCE083}" dt="2026-03-05T22:41:16.230" v="7224" actId="2696"/>
        <pc:sldMkLst>
          <pc:docMk/>
          <pc:sldMk cId="2413451889" sldId="2147475233"/>
        </pc:sldMkLst>
      </pc:sldChg>
      <pc:sldChg chg="modSp mod ord">
        <pc:chgData name="Suzanne Kevlyn" userId="09e09a272ef5727f" providerId="LiveId" clId="{F0A46A80-A113-4D6F-B6DC-4FB215CCE083}" dt="2026-03-06T15:40:03.712" v="11700"/>
        <pc:sldMkLst>
          <pc:docMk/>
          <pc:sldMk cId="3134133858" sldId="2147475234"/>
        </pc:sldMkLst>
        <pc:graphicFrameChg chg="mod">
          <ac:chgData name="Suzanne Kevlyn" userId="09e09a272ef5727f" providerId="LiveId" clId="{F0A46A80-A113-4D6F-B6DC-4FB215CCE083}" dt="2026-03-06T15:39:42.812" v="11698" actId="1076"/>
          <ac:graphicFrameMkLst>
            <pc:docMk/>
            <pc:sldMk cId="3134133858" sldId="2147475234"/>
            <ac:graphicFrameMk id="9" creationId="{6F5AFD08-7E46-0003-92BF-43BCA62ED58C}"/>
          </ac:graphicFrameMkLst>
        </pc:graphicFrameChg>
      </pc:sldChg>
      <pc:sldChg chg="add">
        <pc:chgData name="Suzanne Kevlyn" userId="09e09a272ef5727f" providerId="LiveId" clId="{F0A46A80-A113-4D6F-B6DC-4FB215CCE083}" dt="2026-03-06T15:40:13.220" v="11702"/>
        <pc:sldMkLst>
          <pc:docMk/>
          <pc:sldMk cId="244342428" sldId="2147475235"/>
        </pc:sldMkLst>
      </pc:sldChg>
      <pc:sldChg chg="del">
        <pc:chgData name="Suzanne Kevlyn" userId="09e09a272ef5727f" providerId="LiveId" clId="{F0A46A80-A113-4D6F-B6DC-4FB215CCE083}" dt="2026-03-06T15:40:09.905" v="11701" actId="2696"/>
        <pc:sldMkLst>
          <pc:docMk/>
          <pc:sldMk cId="1084459893" sldId="2147475235"/>
        </pc:sldMkLst>
      </pc:sldChg>
      <pc:sldChg chg="modSp add mod">
        <pc:chgData name="Suzanne Kevlyn" userId="09e09a272ef5727f" providerId="LiveId" clId="{F0A46A80-A113-4D6F-B6DC-4FB215CCE083}" dt="2026-03-06T15:40:40.821" v="11707" actId="1076"/>
        <pc:sldMkLst>
          <pc:docMk/>
          <pc:sldMk cId="891641408" sldId="2147475236"/>
        </pc:sldMkLst>
        <pc:graphicFrameChg chg="mod">
          <ac:chgData name="Suzanne Kevlyn" userId="09e09a272ef5727f" providerId="LiveId" clId="{F0A46A80-A113-4D6F-B6DC-4FB215CCE083}" dt="2026-03-06T15:40:40.821" v="11707" actId="1076"/>
          <ac:graphicFrameMkLst>
            <pc:docMk/>
            <pc:sldMk cId="891641408" sldId="2147475236"/>
            <ac:graphicFrameMk id="9" creationId="{9C9DEC92-AC94-3354-FFA2-100C363FB13F}"/>
          </ac:graphicFrameMkLst>
        </pc:graphicFrameChg>
      </pc:sldChg>
      <pc:sldChg chg="modSp del mod">
        <pc:chgData name="Suzanne Kevlyn" userId="09e09a272ef5727f" providerId="LiveId" clId="{F0A46A80-A113-4D6F-B6DC-4FB215CCE083}" dt="2026-03-06T15:40:18.521" v="11703" actId="2696"/>
        <pc:sldMkLst>
          <pc:docMk/>
          <pc:sldMk cId="2341680792" sldId="2147475236"/>
        </pc:sldMkLst>
        <pc:graphicFrameChg chg="mod">
          <ac:chgData name="Suzanne Kevlyn" userId="09e09a272ef5727f" providerId="LiveId" clId="{F0A46A80-A113-4D6F-B6DC-4FB215CCE083}" dt="2026-03-06T15:31:26.306" v="10605" actId="1076"/>
          <ac:graphicFrameMkLst>
            <pc:docMk/>
            <pc:sldMk cId="2341680792" sldId="2147475236"/>
            <ac:graphicFrameMk id="9" creationId="{9C9DEC92-AC94-3354-FFA2-100C363FB13F}"/>
          </ac:graphicFrameMkLst>
        </pc:graphicFrameChg>
      </pc:sldChg>
      <pc:sldChg chg="addSp delSp modSp add mod">
        <pc:chgData name="Suzanne Kevlyn" userId="09e09a272ef5727f" providerId="LiveId" clId="{F0A46A80-A113-4D6F-B6DC-4FB215CCE083}" dt="2026-03-05T17:56:35.627" v="390" actId="478"/>
        <pc:sldMkLst>
          <pc:docMk/>
          <pc:sldMk cId="3992951056" sldId="2147475237"/>
        </pc:sldMkLst>
        <pc:spChg chg="del">
          <ac:chgData name="Suzanne Kevlyn" userId="09e09a272ef5727f" providerId="LiveId" clId="{F0A46A80-A113-4D6F-B6DC-4FB215CCE083}" dt="2026-03-05T17:42:22.220" v="86" actId="478"/>
          <ac:spMkLst>
            <pc:docMk/>
            <pc:sldMk cId="3992951056" sldId="2147475237"/>
            <ac:spMk id="3" creationId="{B0FE26B1-EFA2-0EF9-6493-F7126FEE7344}"/>
          </ac:spMkLst>
        </pc:spChg>
        <pc:spChg chg="add del mod">
          <ac:chgData name="Suzanne Kevlyn" userId="09e09a272ef5727f" providerId="LiveId" clId="{F0A46A80-A113-4D6F-B6DC-4FB215CCE083}" dt="2026-03-05T17:56:35.627" v="390" actId="478"/>
          <ac:spMkLst>
            <pc:docMk/>
            <pc:sldMk cId="3992951056" sldId="2147475237"/>
            <ac:spMk id="6" creationId="{B5D89474-6B88-BEB9-2600-EC6937A25897}"/>
          </ac:spMkLst>
        </pc:spChg>
      </pc:sldChg>
      <pc:sldChg chg="addSp delSp modSp add mod">
        <pc:chgData name="Suzanne Kevlyn" userId="09e09a272ef5727f" providerId="LiveId" clId="{F0A46A80-A113-4D6F-B6DC-4FB215CCE083}" dt="2026-03-05T21:06:10.861" v="2019" actId="20577"/>
        <pc:sldMkLst>
          <pc:docMk/>
          <pc:sldMk cId="3667363720" sldId="2147475238"/>
        </pc:sldMkLst>
        <pc:spChg chg="del">
          <ac:chgData name="Suzanne Kevlyn" userId="09e09a272ef5727f" providerId="LiveId" clId="{F0A46A80-A113-4D6F-B6DC-4FB215CCE083}" dt="2026-03-05T17:42:26.493" v="88" actId="478"/>
          <ac:spMkLst>
            <pc:docMk/>
            <pc:sldMk cId="3667363720" sldId="2147475238"/>
            <ac:spMk id="2" creationId="{05F85002-CDC3-4351-85E6-BFF1B35FCDF2}"/>
          </ac:spMkLst>
        </pc:spChg>
        <pc:spChg chg="add del mod">
          <ac:chgData name="Suzanne Kevlyn" userId="09e09a272ef5727f" providerId="LiveId" clId="{F0A46A80-A113-4D6F-B6DC-4FB215CCE083}" dt="2026-03-05T17:44:24.474" v="153" actId="478"/>
          <ac:spMkLst>
            <pc:docMk/>
            <pc:sldMk cId="3667363720" sldId="2147475238"/>
            <ac:spMk id="5" creationId="{AEE50B15-076C-BD9E-68FE-F4537E8F2BE4}"/>
          </ac:spMkLst>
        </pc:spChg>
        <pc:spChg chg="mod">
          <ac:chgData name="Suzanne Kevlyn" userId="09e09a272ef5727f" providerId="LiveId" clId="{F0A46A80-A113-4D6F-B6DC-4FB215CCE083}" dt="2026-03-05T21:06:10.861" v="2019" actId="20577"/>
          <ac:spMkLst>
            <pc:docMk/>
            <pc:sldMk cId="3667363720" sldId="2147475238"/>
            <ac:spMk id="7" creationId="{AEBDDF8C-440E-D43E-49A5-2446D84AB7EA}"/>
          </ac:spMkLst>
        </pc:spChg>
        <pc:spChg chg="add del mod">
          <ac:chgData name="Suzanne Kevlyn" userId="09e09a272ef5727f" providerId="LiveId" clId="{F0A46A80-A113-4D6F-B6DC-4FB215CCE083}" dt="2026-03-05T17:56:50.361" v="393" actId="478"/>
          <ac:spMkLst>
            <pc:docMk/>
            <pc:sldMk cId="3667363720" sldId="2147475238"/>
            <ac:spMk id="8" creationId="{B042B0DD-A971-5938-C7BC-93C7DE64F623}"/>
          </ac:spMkLst>
        </pc:spChg>
      </pc:sldChg>
      <pc:sldChg chg="delSp modSp add mod">
        <pc:chgData name="Suzanne Kevlyn" userId="09e09a272ef5727f" providerId="LiveId" clId="{F0A46A80-A113-4D6F-B6DC-4FB215CCE083}" dt="2026-03-06T20:31:12.478" v="19490" actId="6549"/>
        <pc:sldMkLst>
          <pc:docMk/>
          <pc:sldMk cId="2181463872" sldId="2147475239"/>
        </pc:sldMkLst>
        <pc:spChg chg="del">
          <ac:chgData name="Suzanne Kevlyn" userId="09e09a272ef5727f" providerId="LiveId" clId="{F0A46A80-A113-4D6F-B6DC-4FB215CCE083}" dt="2026-03-05T21:12:35.671" v="2825" actId="478"/>
          <ac:spMkLst>
            <pc:docMk/>
            <pc:sldMk cId="2181463872" sldId="2147475239"/>
            <ac:spMk id="2" creationId="{86915AEB-E160-D080-10DF-07B11B087CA9}"/>
          </ac:spMkLst>
        </pc:spChg>
        <pc:spChg chg="mod">
          <ac:chgData name="Suzanne Kevlyn" userId="09e09a272ef5727f" providerId="LiveId" clId="{F0A46A80-A113-4D6F-B6DC-4FB215CCE083}" dt="2026-03-05T21:12:05.394" v="2763" actId="20577"/>
          <ac:spMkLst>
            <pc:docMk/>
            <pc:sldMk cId="2181463872" sldId="2147475239"/>
            <ac:spMk id="5" creationId="{AB7A1EC7-A0EE-D72C-6239-899470BC3553}"/>
          </ac:spMkLst>
        </pc:spChg>
        <pc:spChg chg="mod">
          <ac:chgData name="Suzanne Kevlyn" userId="09e09a272ef5727f" providerId="LiveId" clId="{F0A46A80-A113-4D6F-B6DC-4FB215CCE083}" dt="2026-03-06T20:31:12.478" v="19490" actId="6549"/>
          <ac:spMkLst>
            <pc:docMk/>
            <pc:sldMk cId="2181463872" sldId="2147475239"/>
            <ac:spMk id="7" creationId="{4293572B-5D14-1CE4-E03F-D943E405C65C}"/>
          </ac:spMkLst>
        </pc:spChg>
      </pc:sldChg>
      <pc:sldChg chg="modSp add del mod">
        <pc:chgData name="Suzanne Kevlyn" userId="09e09a272ef5727f" providerId="LiveId" clId="{F0A46A80-A113-4D6F-B6DC-4FB215CCE083}" dt="2026-03-06T16:00:23.676" v="12354" actId="2696"/>
        <pc:sldMkLst>
          <pc:docMk/>
          <pc:sldMk cId="708342917" sldId="2147475240"/>
        </pc:sldMkLst>
        <pc:spChg chg="mod">
          <ac:chgData name="Suzanne Kevlyn" userId="09e09a272ef5727f" providerId="LiveId" clId="{F0A46A80-A113-4D6F-B6DC-4FB215CCE083}" dt="2026-03-06T15:44:59.816" v="11710" actId="1076"/>
          <ac:spMkLst>
            <pc:docMk/>
            <pc:sldMk cId="708342917" sldId="2147475240"/>
            <ac:spMk id="3" creationId="{7ED84354-B4B4-94D7-E8B4-8DEC1F2DA8CB}"/>
          </ac:spMkLst>
        </pc:spChg>
        <pc:graphicFrameChg chg="modGraphic">
          <ac:chgData name="Suzanne Kevlyn" userId="09e09a272ef5727f" providerId="LiveId" clId="{F0A46A80-A113-4D6F-B6DC-4FB215CCE083}" dt="2026-03-06T15:45:46.098" v="11845" actId="20577"/>
          <ac:graphicFrameMkLst>
            <pc:docMk/>
            <pc:sldMk cId="708342917" sldId="2147475240"/>
            <ac:graphicFrameMk id="8" creationId="{43B10019-7A5E-A73F-1BC0-C2C40866E965}"/>
          </ac:graphicFrameMkLst>
        </pc:graphicFrameChg>
      </pc:sldChg>
      <pc:sldChg chg="add del">
        <pc:chgData name="Suzanne Kevlyn" userId="09e09a272ef5727f" providerId="LiveId" clId="{F0A46A80-A113-4D6F-B6DC-4FB215CCE083}" dt="2026-03-06T20:30:53.614" v="19489" actId="2696"/>
        <pc:sldMkLst>
          <pc:docMk/>
          <pc:sldMk cId="1465295724" sldId="2147475241"/>
        </pc:sldMkLst>
      </pc:sldChg>
      <pc:sldChg chg="delSp modSp add del mod ord">
        <pc:chgData name="Suzanne Kevlyn" userId="09e09a272ef5727f" providerId="LiveId" clId="{F0A46A80-A113-4D6F-B6DC-4FB215CCE083}" dt="2026-03-06T15:54:49.702" v="12184" actId="2696"/>
        <pc:sldMkLst>
          <pc:docMk/>
          <pc:sldMk cId="1781821219" sldId="2147475241"/>
        </pc:sldMkLst>
        <pc:spChg chg="mod">
          <ac:chgData name="Suzanne Kevlyn" userId="09e09a272ef5727f" providerId="LiveId" clId="{F0A46A80-A113-4D6F-B6DC-4FB215CCE083}" dt="2026-03-06T15:49:26.915" v="11986" actId="20577"/>
          <ac:spMkLst>
            <pc:docMk/>
            <pc:sldMk cId="1781821219" sldId="2147475241"/>
            <ac:spMk id="2" creationId="{8CD86EE1-2DBB-CE3E-D34C-1BE532E964D8}"/>
          </ac:spMkLst>
        </pc:spChg>
        <pc:spChg chg="del">
          <ac:chgData name="Suzanne Kevlyn" userId="09e09a272ef5727f" providerId="LiveId" clId="{F0A46A80-A113-4D6F-B6DC-4FB215CCE083}" dt="2026-03-06T15:54:46.969" v="12183" actId="478"/>
          <ac:spMkLst>
            <pc:docMk/>
            <pc:sldMk cId="1781821219" sldId="2147475241"/>
            <ac:spMk id="11" creationId="{DE54A7DA-E520-39B9-93C8-72F390CA09D4}"/>
          </ac:spMkLst>
        </pc:spChg>
      </pc:sldChg>
      <pc:sldChg chg="addSp delSp modSp add mod">
        <pc:chgData name="Suzanne Kevlyn" userId="09e09a272ef5727f" providerId="LiveId" clId="{F0A46A80-A113-4D6F-B6DC-4FB215CCE083}" dt="2026-03-06T20:17:07.474" v="19252"/>
        <pc:sldMkLst>
          <pc:docMk/>
          <pc:sldMk cId="2577653012" sldId="2147475242"/>
        </pc:sldMkLst>
        <pc:spChg chg="mod">
          <ac:chgData name="Suzanne Kevlyn" userId="09e09a272ef5727f" providerId="LiveId" clId="{F0A46A80-A113-4D6F-B6DC-4FB215CCE083}" dt="2026-03-06T17:22:08.829" v="15352" actId="20577"/>
          <ac:spMkLst>
            <pc:docMk/>
            <pc:sldMk cId="2577653012" sldId="2147475242"/>
            <ac:spMk id="2" creationId="{AECE551A-91B4-4C6E-7535-C3F4E7BE2703}"/>
          </ac:spMkLst>
        </pc:spChg>
        <pc:spChg chg="del">
          <ac:chgData name="Suzanne Kevlyn" userId="09e09a272ef5727f" providerId="LiveId" clId="{F0A46A80-A113-4D6F-B6DC-4FB215CCE083}" dt="2026-03-06T17:18:03.232" v="14805" actId="478"/>
          <ac:spMkLst>
            <pc:docMk/>
            <pc:sldMk cId="2577653012" sldId="2147475242"/>
            <ac:spMk id="3" creationId="{E45ABA91-C016-B30D-DB99-EB7251B94836}"/>
          </ac:spMkLst>
        </pc:spChg>
        <pc:spChg chg="add mod">
          <ac:chgData name="Suzanne Kevlyn" userId="09e09a272ef5727f" providerId="LiveId" clId="{F0A46A80-A113-4D6F-B6DC-4FB215CCE083}" dt="2026-03-06T20:17:07.474" v="19252"/>
          <ac:spMkLst>
            <pc:docMk/>
            <pc:sldMk cId="2577653012" sldId="2147475242"/>
            <ac:spMk id="6" creationId="{6C9144C4-E677-25D2-5897-AF6E81D5926C}"/>
          </ac:spMkLst>
        </pc:spChg>
        <pc:graphicFrameChg chg="add mod modGraphic">
          <ac:chgData name="Suzanne Kevlyn" userId="09e09a272ef5727f" providerId="LiveId" clId="{F0A46A80-A113-4D6F-B6DC-4FB215CCE083}" dt="2026-03-06T20:14:48.579" v="19152" actId="12"/>
          <ac:graphicFrameMkLst>
            <pc:docMk/>
            <pc:sldMk cId="2577653012" sldId="2147475242"/>
            <ac:graphicFrameMk id="4" creationId="{BD38B67F-194B-CD07-CFED-0AC542CF2585}"/>
          </ac:graphicFrameMkLst>
        </pc:graphicFrameChg>
      </pc:sldChg>
      <pc:sldChg chg="modSp add del mod">
        <pc:chgData name="Suzanne Kevlyn" userId="09e09a272ef5727f" providerId="LiveId" clId="{F0A46A80-A113-4D6F-B6DC-4FB215CCE083}" dt="2026-03-06T17:43:33.632" v="18308" actId="2696"/>
        <pc:sldMkLst>
          <pc:docMk/>
          <pc:sldMk cId="3380262887" sldId="2147475243"/>
        </pc:sldMkLst>
        <pc:spChg chg="mod">
          <ac:chgData name="Suzanne Kevlyn" userId="09e09a272ef5727f" providerId="LiveId" clId="{F0A46A80-A113-4D6F-B6DC-4FB215CCE083}" dt="2026-03-06T17:25:05.596" v="15816" actId="20577"/>
          <ac:spMkLst>
            <pc:docMk/>
            <pc:sldMk cId="3380262887" sldId="2147475243"/>
            <ac:spMk id="2" creationId="{EC043E5C-71B3-5179-E3F1-FE58E276CDBB}"/>
          </ac:spMkLst>
        </pc:spChg>
        <pc:graphicFrameChg chg="mod modGraphic">
          <ac:chgData name="Suzanne Kevlyn" userId="09e09a272ef5727f" providerId="LiveId" clId="{F0A46A80-A113-4D6F-B6DC-4FB215CCE083}" dt="2026-03-06T17:43:18.749" v="18305" actId="21"/>
          <ac:graphicFrameMkLst>
            <pc:docMk/>
            <pc:sldMk cId="3380262887" sldId="2147475243"/>
            <ac:graphicFrameMk id="4" creationId="{3C5629BB-FAEE-5A09-4628-1F6DFEE9E6CD}"/>
          </ac:graphicFrameMkLst>
        </pc:graphicFrameChg>
      </pc:sldChg>
      <pc:sldChg chg="addSp modSp add mod">
        <pc:chgData name="Suzanne Kevlyn" userId="09e09a272ef5727f" providerId="LiveId" clId="{F0A46A80-A113-4D6F-B6DC-4FB215CCE083}" dt="2026-03-06T20:17:02.697" v="19251" actId="1076"/>
        <pc:sldMkLst>
          <pc:docMk/>
          <pc:sldMk cId="912192472" sldId="2147475244"/>
        </pc:sldMkLst>
        <pc:spChg chg="mod">
          <ac:chgData name="Suzanne Kevlyn" userId="09e09a272ef5727f" providerId="LiveId" clId="{F0A46A80-A113-4D6F-B6DC-4FB215CCE083}" dt="2026-03-06T17:42:23.957" v="18297" actId="20577"/>
          <ac:spMkLst>
            <pc:docMk/>
            <pc:sldMk cId="912192472" sldId="2147475244"/>
            <ac:spMk id="2" creationId="{09DC2516-7884-A5FE-D87D-E61708D7563F}"/>
          </ac:spMkLst>
        </pc:spChg>
        <pc:spChg chg="add mod">
          <ac:chgData name="Suzanne Kevlyn" userId="09e09a272ef5727f" providerId="LiveId" clId="{F0A46A80-A113-4D6F-B6DC-4FB215CCE083}" dt="2026-03-06T20:17:02.697" v="19251" actId="1076"/>
          <ac:spMkLst>
            <pc:docMk/>
            <pc:sldMk cId="912192472" sldId="2147475244"/>
            <ac:spMk id="3" creationId="{8517EC2C-3AC4-18BF-5B1F-4E6625F73CD9}"/>
          </ac:spMkLst>
        </pc:spChg>
        <pc:graphicFrameChg chg="mod modGraphic">
          <ac:chgData name="Suzanne Kevlyn" userId="09e09a272ef5727f" providerId="LiveId" clId="{F0A46A80-A113-4D6F-B6DC-4FB215CCE083}" dt="2026-03-06T20:16:35.972" v="19232" actId="6549"/>
          <ac:graphicFrameMkLst>
            <pc:docMk/>
            <pc:sldMk cId="912192472" sldId="2147475244"/>
            <ac:graphicFrameMk id="4" creationId="{4DBACBE8-F904-C35D-8074-DB11A182F879}"/>
          </ac:graphicFrameMkLst>
        </pc:graphicFrameChg>
      </pc:sldChg>
      <pc:sldMasterChg chg="modSp mod delSldLayout modSldLayout">
        <pc:chgData name="Suzanne Kevlyn" userId="09e09a272ef5727f" providerId="LiveId" clId="{F0A46A80-A113-4D6F-B6DC-4FB215CCE083}" dt="2026-03-05T21:29:59.355" v="3666" actId="478"/>
        <pc:sldMasterMkLst>
          <pc:docMk/>
          <pc:sldMasterMk cId="2080917565" sldId="2147483660"/>
        </pc:sldMasterMkLst>
        <pc:spChg chg="mod">
          <ac:chgData name="Suzanne Kevlyn" userId="09e09a272ef5727f" providerId="LiveId" clId="{F0A46A80-A113-4D6F-B6DC-4FB215CCE083}" dt="2026-03-05T17:51:47.131" v="383" actId="768"/>
          <ac:spMkLst>
            <pc:docMk/>
            <pc:sldMasterMk cId="2080917565" sldId="2147483660"/>
            <ac:spMk id="4" creationId="{00000000-0000-0000-0000-000000000000}"/>
          </ac:spMkLst>
        </pc:spChg>
        <pc:sldLayoutChg chg="modSp mod">
          <pc:chgData name="Suzanne Kevlyn" userId="09e09a272ef5727f" providerId="LiveId" clId="{F0A46A80-A113-4D6F-B6DC-4FB215CCE083}" dt="2026-03-05T17:51:56.998" v="385" actId="768"/>
          <pc:sldLayoutMkLst>
            <pc:docMk/>
            <pc:sldMasterMk cId="2080917565" sldId="2147483660"/>
            <pc:sldLayoutMk cId="4043212998" sldId="2147483661"/>
          </pc:sldLayoutMkLst>
          <pc:spChg chg="mod">
            <ac:chgData name="Suzanne Kevlyn" userId="09e09a272ef5727f" providerId="LiveId" clId="{F0A46A80-A113-4D6F-B6DC-4FB215CCE083}" dt="2026-03-05T17:51:56.998" v="385" actId="768"/>
            <ac:spMkLst>
              <pc:docMk/>
              <pc:sldMasterMk cId="2080917565" sldId="2147483660"/>
              <pc:sldLayoutMk cId="4043212998" sldId="2147483661"/>
              <ac:spMk id="4" creationId="{00000000-0000-0000-0000-000000000000}"/>
            </ac:spMkLst>
          </pc:spChg>
        </pc:sldLayoutChg>
        <pc:sldLayoutChg chg="modSp mod">
          <pc:chgData name="Suzanne Kevlyn" userId="09e09a272ef5727f" providerId="LiveId" clId="{F0A46A80-A113-4D6F-B6DC-4FB215CCE083}" dt="2026-03-05T17:52:04.871" v="386" actId="768"/>
          <pc:sldLayoutMkLst>
            <pc:docMk/>
            <pc:sldMasterMk cId="2080917565" sldId="2147483660"/>
            <pc:sldLayoutMk cId="1420455829" sldId="2147483662"/>
          </pc:sldLayoutMkLst>
          <pc:spChg chg="mod">
            <ac:chgData name="Suzanne Kevlyn" userId="09e09a272ef5727f" providerId="LiveId" clId="{F0A46A80-A113-4D6F-B6DC-4FB215CCE083}" dt="2026-03-05T17:52:04.871" v="386" actId="768"/>
            <ac:spMkLst>
              <pc:docMk/>
              <pc:sldMasterMk cId="2080917565" sldId="2147483660"/>
              <pc:sldLayoutMk cId="1420455829" sldId="2147483662"/>
              <ac:spMk id="4" creationId="{00000000-0000-0000-0000-000000000000}"/>
            </ac:spMkLst>
          </pc:spChg>
        </pc:sldLayoutChg>
        <pc:sldLayoutChg chg="modSp mod">
          <pc:chgData name="Suzanne Kevlyn" userId="09e09a272ef5727f" providerId="LiveId" clId="{F0A46A80-A113-4D6F-B6DC-4FB215CCE083}" dt="2026-03-05T17:52:18.672" v="388" actId="768"/>
          <pc:sldLayoutMkLst>
            <pc:docMk/>
            <pc:sldMasterMk cId="2080917565" sldId="2147483660"/>
            <pc:sldLayoutMk cId="2207837201" sldId="2147483663"/>
          </pc:sldLayoutMkLst>
          <pc:spChg chg="mod">
            <ac:chgData name="Suzanne Kevlyn" userId="09e09a272ef5727f" providerId="LiveId" clId="{F0A46A80-A113-4D6F-B6DC-4FB215CCE083}" dt="2026-03-05T17:52:18.672" v="388" actId="768"/>
            <ac:spMkLst>
              <pc:docMk/>
              <pc:sldMasterMk cId="2080917565" sldId="2147483660"/>
              <pc:sldLayoutMk cId="2207837201" sldId="2147483663"/>
              <ac:spMk id="4" creationId="{00000000-0000-0000-0000-000000000000}"/>
            </ac:spMkLst>
          </pc:spChg>
        </pc:sldLayoutChg>
        <pc:sldLayoutChg chg="modSp mod">
          <pc:chgData name="Suzanne Kevlyn" userId="09e09a272ef5727f" providerId="LiveId" clId="{F0A46A80-A113-4D6F-B6DC-4FB215CCE083}" dt="2026-03-05T17:52:25.836" v="389" actId="768"/>
          <pc:sldLayoutMkLst>
            <pc:docMk/>
            <pc:sldMasterMk cId="2080917565" sldId="2147483660"/>
            <pc:sldLayoutMk cId="2906811069" sldId="2147483664"/>
          </pc:sldLayoutMkLst>
          <pc:spChg chg="mod">
            <ac:chgData name="Suzanne Kevlyn" userId="09e09a272ef5727f" providerId="LiveId" clId="{F0A46A80-A113-4D6F-B6DC-4FB215CCE083}" dt="2026-03-05T17:52:25.836" v="389" actId="768"/>
            <ac:spMkLst>
              <pc:docMk/>
              <pc:sldMasterMk cId="2080917565" sldId="2147483660"/>
              <pc:sldLayoutMk cId="2906811069" sldId="2147483664"/>
              <ac:spMk id="5" creationId="{00000000-0000-0000-0000-000000000000}"/>
            </ac:spMkLst>
          </pc:spChg>
        </pc:sldLayoutChg>
        <pc:sldLayoutChg chg="modSp mod">
          <pc:chgData name="Suzanne Kevlyn" userId="09e09a272ef5727f" providerId="LiveId" clId="{F0A46A80-A113-4D6F-B6DC-4FB215CCE083}" dt="2026-03-05T17:50:42.408" v="361" actId="20577"/>
          <pc:sldLayoutMkLst>
            <pc:docMk/>
            <pc:sldMasterMk cId="2080917565" sldId="2147483660"/>
            <pc:sldLayoutMk cId="932398533" sldId="2147483665"/>
          </pc:sldLayoutMkLst>
          <pc:spChg chg="mod">
            <ac:chgData name="Suzanne Kevlyn" userId="09e09a272ef5727f" providerId="LiveId" clId="{F0A46A80-A113-4D6F-B6DC-4FB215CCE083}" dt="2026-03-05T17:50:42.408" v="361" actId="20577"/>
            <ac:spMkLst>
              <pc:docMk/>
              <pc:sldMasterMk cId="2080917565" sldId="2147483660"/>
              <pc:sldLayoutMk cId="932398533" sldId="2147483665"/>
              <ac:spMk id="7" creationId="{00000000-0000-0000-0000-000000000000}"/>
            </ac:spMkLst>
          </pc:spChg>
        </pc:sldLayoutChg>
        <pc:sldLayoutChg chg="modSp mod">
          <pc:chgData name="Suzanne Kevlyn" userId="09e09a272ef5727f" providerId="LiveId" clId="{F0A46A80-A113-4D6F-B6DC-4FB215CCE083}" dt="2026-03-05T17:50:47.850" v="366" actId="20577"/>
          <pc:sldLayoutMkLst>
            <pc:docMk/>
            <pc:sldMasterMk cId="2080917565" sldId="2147483660"/>
            <pc:sldLayoutMk cId="4231574342" sldId="2147483666"/>
          </pc:sldLayoutMkLst>
          <pc:spChg chg="mod">
            <ac:chgData name="Suzanne Kevlyn" userId="09e09a272ef5727f" providerId="LiveId" clId="{F0A46A80-A113-4D6F-B6DC-4FB215CCE083}" dt="2026-03-05T17:50:47.850" v="366" actId="20577"/>
            <ac:spMkLst>
              <pc:docMk/>
              <pc:sldMasterMk cId="2080917565" sldId="2147483660"/>
              <pc:sldLayoutMk cId="4231574342" sldId="2147483666"/>
              <ac:spMk id="3" creationId="{00000000-0000-0000-0000-000000000000}"/>
            </ac:spMkLst>
          </pc:spChg>
        </pc:sldLayoutChg>
        <pc:sldLayoutChg chg="modSp mod">
          <pc:chgData name="Suzanne Kevlyn" userId="09e09a272ef5727f" providerId="LiveId" clId="{F0A46A80-A113-4D6F-B6DC-4FB215CCE083}" dt="2026-03-05T17:49:08.537" v="321" actId="20577"/>
          <pc:sldLayoutMkLst>
            <pc:docMk/>
            <pc:sldMasterMk cId="2080917565" sldId="2147483660"/>
            <pc:sldLayoutMk cId="2205395692" sldId="2147483667"/>
          </pc:sldLayoutMkLst>
          <pc:spChg chg="mod">
            <ac:chgData name="Suzanne Kevlyn" userId="09e09a272ef5727f" providerId="LiveId" clId="{F0A46A80-A113-4D6F-B6DC-4FB215CCE083}" dt="2026-03-05T17:49:08.537" v="321" actId="20577"/>
            <ac:spMkLst>
              <pc:docMk/>
              <pc:sldMasterMk cId="2080917565" sldId="2147483660"/>
              <pc:sldLayoutMk cId="2205395692" sldId="2147483667"/>
              <ac:spMk id="12" creationId="{4A4B075B-ABEF-5812-5D1E-61CC450ECAD8}"/>
            </ac:spMkLst>
          </pc:spChg>
        </pc:sldLayoutChg>
        <pc:sldLayoutChg chg="modSp mod">
          <pc:chgData name="Suzanne Kevlyn" userId="09e09a272ef5727f" providerId="LiveId" clId="{F0A46A80-A113-4D6F-B6DC-4FB215CCE083}" dt="2026-03-05T17:50:53.440" v="371" actId="20577"/>
          <pc:sldLayoutMkLst>
            <pc:docMk/>
            <pc:sldMasterMk cId="2080917565" sldId="2147483660"/>
            <pc:sldLayoutMk cId="3927614527" sldId="2147483668"/>
          </pc:sldLayoutMkLst>
          <pc:spChg chg="mod">
            <ac:chgData name="Suzanne Kevlyn" userId="09e09a272ef5727f" providerId="LiveId" clId="{F0A46A80-A113-4D6F-B6DC-4FB215CCE083}" dt="2026-03-05T17:50:53.440" v="371" actId="20577"/>
            <ac:spMkLst>
              <pc:docMk/>
              <pc:sldMasterMk cId="2080917565" sldId="2147483660"/>
              <pc:sldLayoutMk cId="3927614527" sldId="2147483668"/>
              <ac:spMk id="5" creationId="{00000000-0000-0000-0000-000000000000}"/>
            </ac:spMkLst>
          </pc:spChg>
        </pc:sldLayoutChg>
        <pc:sldLayoutChg chg="modSp mod">
          <pc:chgData name="Suzanne Kevlyn" userId="09e09a272ef5727f" providerId="LiveId" clId="{F0A46A80-A113-4D6F-B6DC-4FB215CCE083}" dt="2026-03-05T17:50:56.897" v="376" actId="20577"/>
          <pc:sldLayoutMkLst>
            <pc:docMk/>
            <pc:sldMasterMk cId="2080917565" sldId="2147483660"/>
            <pc:sldLayoutMk cId="1724882350" sldId="2147483670"/>
          </pc:sldLayoutMkLst>
          <pc:spChg chg="mod">
            <ac:chgData name="Suzanne Kevlyn" userId="09e09a272ef5727f" providerId="LiveId" clId="{F0A46A80-A113-4D6F-B6DC-4FB215CCE083}" dt="2026-03-05T17:50:56.897" v="376" actId="20577"/>
            <ac:spMkLst>
              <pc:docMk/>
              <pc:sldMasterMk cId="2080917565" sldId="2147483660"/>
              <pc:sldLayoutMk cId="1724882350" sldId="2147483670"/>
              <ac:spMk id="4" creationId="{00000000-0000-0000-0000-000000000000}"/>
            </ac:spMkLst>
          </pc:spChg>
        </pc:sldLayoutChg>
        <pc:sldLayoutChg chg="modSp mod">
          <pc:chgData name="Suzanne Kevlyn" userId="09e09a272ef5727f" providerId="LiveId" clId="{F0A46A80-A113-4D6F-B6DC-4FB215CCE083}" dt="2026-03-05T17:51:00.323" v="381" actId="20577"/>
          <pc:sldLayoutMkLst>
            <pc:docMk/>
            <pc:sldMasterMk cId="2080917565" sldId="2147483660"/>
            <pc:sldLayoutMk cId="3528710255" sldId="2147483671"/>
          </pc:sldLayoutMkLst>
          <pc:spChg chg="mod">
            <ac:chgData name="Suzanne Kevlyn" userId="09e09a272ef5727f" providerId="LiveId" clId="{F0A46A80-A113-4D6F-B6DC-4FB215CCE083}" dt="2026-03-05T17:51:00.323" v="381" actId="20577"/>
            <ac:spMkLst>
              <pc:docMk/>
              <pc:sldMasterMk cId="2080917565" sldId="2147483660"/>
              <pc:sldLayoutMk cId="3528710255" sldId="2147483671"/>
              <ac:spMk id="4" creationId="{00000000-0000-0000-0000-000000000000}"/>
            </ac:spMkLst>
          </pc:spChg>
        </pc:sldLayoutChg>
        <pc:sldLayoutChg chg="addSp delSp mod">
          <pc:chgData name="Suzanne Kevlyn" userId="09e09a272ef5727f" providerId="LiveId" clId="{F0A46A80-A113-4D6F-B6DC-4FB215CCE083}" dt="2026-03-05T21:29:59.355" v="3666" actId="478"/>
          <pc:sldLayoutMkLst>
            <pc:docMk/>
            <pc:sldMasterMk cId="2080917565" sldId="2147483660"/>
            <pc:sldLayoutMk cId="780212689" sldId="2147483672"/>
          </pc:sldLayoutMkLst>
          <pc:spChg chg="add del">
            <ac:chgData name="Suzanne Kevlyn" userId="09e09a272ef5727f" providerId="LiveId" clId="{F0A46A80-A113-4D6F-B6DC-4FB215CCE083}" dt="2026-03-05T21:29:59.355" v="3666" actId="478"/>
            <ac:spMkLst>
              <pc:docMk/>
              <pc:sldMasterMk cId="2080917565" sldId="2147483660"/>
              <pc:sldLayoutMk cId="780212689" sldId="2147483672"/>
              <ac:spMk id="2" creationId="{35A8063A-D45C-111D-A71E-06BBEC12E5FA}"/>
            </ac:spMkLst>
          </pc:spChg>
        </pc:sldLayoutChg>
        <pc:sldLayoutChg chg="modTransition">
          <pc:chgData name="Suzanne Kevlyn" userId="09e09a272ef5727f" providerId="LiveId" clId="{F0A46A80-A113-4D6F-B6DC-4FB215CCE083}" dt="2026-03-05T17:46:45.377" v="298"/>
          <pc:sldLayoutMkLst>
            <pc:docMk/>
            <pc:sldMasterMk cId="2080917565" sldId="2147483660"/>
            <pc:sldLayoutMk cId="1721619838" sldId="2147483746"/>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1383185692" sldId="2147483747"/>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2554380387" sldId="2147483748"/>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2096844746" sldId="2147483749"/>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156651949" sldId="2147483750"/>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4144845640" sldId="2147483751"/>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2908505293" sldId="2147483752"/>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80200720" sldId="2147483753"/>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1433843374" sldId="2147483754"/>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1425659821" sldId="2147483755"/>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341011720" sldId="2147483756"/>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2867648378" sldId="2147483757"/>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4171458423" sldId="2147483758"/>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847740653" sldId="2147483759"/>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2455663269" sldId="2147483760"/>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300409660" sldId="2147483761"/>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1893862517" sldId="2147483762"/>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225518943" sldId="2147483763"/>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1120143714" sldId="2147483764"/>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1960672909" sldId="2147483765"/>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242231614" sldId="2147483766"/>
          </pc:sldLayoutMkLst>
        </pc:sldLayoutChg>
        <pc:sldLayoutChg chg="modTransition">
          <pc:chgData name="Suzanne Kevlyn" userId="09e09a272ef5727f" providerId="LiveId" clId="{F0A46A80-A113-4D6F-B6DC-4FB215CCE083}" dt="2026-03-05T17:46:45.377" v="298"/>
          <pc:sldLayoutMkLst>
            <pc:docMk/>
            <pc:sldMasterMk cId="2080917565" sldId="2147483660"/>
            <pc:sldLayoutMk cId="3934221755" sldId="2147483777"/>
          </pc:sldLayoutMkLst>
        </pc:sldLayoutChg>
        <pc:sldLayoutChg chg="del">
          <pc:chgData name="Suzanne Kevlyn" userId="09e09a272ef5727f" providerId="LiveId" clId="{F0A46A80-A113-4D6F-B6DC-4FB215CCE083}" dt="2026-03-05T18:16:35.590" v="791" actId="2696"/>
          <pc:sldLayoutMkLst>
            <pc:docMk/>
            <pc:sldMasterMk cId="2080917565" sldId="2147483660"/>
            <pc:sldLayoutMk cId="1893877836" sldId="2147483779"/>
          </pc:sldLayoutMkLst>
        </pc:sldLayoutChg>
      </pc:sldMasterChg>
      <pc:sldMasterChg chg="del delSldLayout">
        <pc:chgData name="Suzanne Kevlyn" userId="09e09a272ef5727f" providerId="LiveId" clId="{F0A46A80-A113-4D6F-B6DC-4FB215CCE083}" dt="2026-03-05T17:40:32.410" v="0" actId="2696"/>
        <pc:sldMasterMkLst>
          <pc:docMk/>
          <pc:sldMasterMk cId="3442265880" sldId="2147483673"/>
        </pc:sldMasterMkLst>
        <pc:sldLayoutChg chg="del">
          <pc:chgData name="Suzanne Kevlyn" userId="09e09a272ef5727f" providerId="LiveId" clId="{F0A46A80-A113-4D6F-B6DC-4FB215CCE083}" dt="2026-03-05T17:40:32.410" v="0" actId="2696"/>
          <pc:sldLayoutMkLst>
            <pc:docMk/>
            <pc:sldMasterMk cId="3442265880" sldId="2147483673"/>
            <pc:sldLayoutMk cId="2911607508" sldId="2147483674"/>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3777495396" sldId="2147483675"/>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1836865912" sldId="2147483676"/>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1131722079" sldId="2147483677"/>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3372124081" sldId="2147483678"/>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625297423" sldId="2147483679"/>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3601616120" sldId="2147483680"/>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916759811" sldId="2147483681"/>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2650816940" sldId="2147483682"/>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2532865408" sldId="2147483683"/>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837096267" sldId="2147483684"/>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3810998915" sldId="2147483685"/>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600152825" sldId="2147483686"/>
          </pc:sldLayoutMkLst>
        </pc:sldLayoutChg>
        <pc:sldLayoutChg chg="del">
          <pc:chgData name="Suzanne Kevlyn" userId="09e09a272ef5727f" providerId="LiveId" clId="{F0A46A80-A113-4D6F-B6DC-4FB215CCE083}" dt="2026-03-05T17:40:32.410" v="0" actId="2696"/>
          <pc:sldLayoutMkLst>
            <pc:docMk/>
            <pc:sldMasterMk cId="3442265880" sldId="2147483673"/>
            <pc:sldLayoutMk cId="4062834449" sldId="2147483687"/>
          </pc:sldLayoutMkLst>
        </pc:sldLayoutChg>
      </pc:sldMasterChg>
      <pc:sldMasterChg chg="del delSldLayout">
        <pc:chgData name="Suzanne Kevlyn" userId="09e09a272ef5727f" providerId="LiveId" clId="{F0A46A80-A113-4D6F-B6DC-4FB215CCE083}" dt="2026-03-05T17:40:32.410" v="0" actId="2696"/>
        <pc:sldMasterMkLst>
          <pc:docMk/>
          <pc:sldMasterMk cId="2072853778" sldId="2147483688"/>
        </pc:sldMasterMkLst>
        <pc:sldLayoutChg chg="del">
          <pc:chgData name="Suzanne Kevlyn" userId="09e09a272ef5727f" providerId="LiveId" clId="{F0A46A80-A113-4D6F-B6DC-4FB215CCE083}" dt="2026-03-05T17:40:32.410" v="0" actId="2696"/>
          <pc:sldLayoutMkLst>
            <pc:docMk/>
            <pc:sldMasterMk cId="2072853778" sldId="2147483688"/>
            <pc:sldLayoutMk cId="658868449" sldId="2147483689"/>
          </pc:sldLayoutMkLst>
        </pc:sldLayoutChg>
      </pc:sldMasterChg>
      <pc:sldMasterChg chg="del delSldLayout">
        <pc:chgData name="Suzanne Kevlyn" userId="09e09a272ef5727f" providerId="LiveId" clId="{F0A46A80-A113-4D6F-B6DC-4FB215CCE083}" dt="2026-03-05T17:40:32.410" v="0" actId="2696"/>
        <pc:sldMasterMkLst>
          <pc:docMk/>
          <pc:sldMasterMk cId="2348603171" sldId="2147483690"/>
        </pc:sldMasterMkLst>
        <pc:sldLayoutChg chg="del">
          <pc:chgData name="Suzanne Kevlyn" userId="09e09a272ef5727f" providerId="LiveId" clId="{F0A46A80-A113-4D6F-B6DC-4FB215CCE083}" dt="2026-03-05T17:40:32.410" v="0" actId="2696"/>
          <pc:sldLayoutMkLst>
            <pc:docMk/>
            <pc:sldMasterMk cId="2348603171" sldId="2147483690"/>
            <pc:sldLayoutMk cId="1461164158" sldId="2147483691"/>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3185046383" sldId="2147483692"/>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5852776" sldId="2147483693"/>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437519987" sldId="2147483694"/>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1147013072" sldId="2147483695"/>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3135970416" sldId="2147483696"/>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1243566504" sldId="2147483697"/>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98784553" sldId="2147483698"/>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096099701" sldId="2147483699"/>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1727396474" sldId="2147483700"/>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1229129320" sldId="2147483701"/>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271534514" sldId="2147483702"/>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908475931" sldId="2147483703"/>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219445224" sldId="2147483704"/>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57212719" sldId="2147483705"/>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463092389" sldId="2147483706"/>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184648603" sldId="2147483707"/>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661672394" sldId="2147483708"/>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1546118366" sldId="2147483709"/>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3194930994" sldId="2147483710"/>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3217242159" sldId="2147483711"/>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2324040786" sldId="2147483712"/>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1648748247" sldId="2147483713"/>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96361833" sldId="2147483714"/>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3612092284" sldId="2147483715"/>
          </pc:sldLayoutMkLst>
        </pc:sldLayoutChg>
        <pc:sldLayoutChg chg="del">
          <pc:chgData name="Suzanne Kevlyn" userId="09e09a272ef5727f" providerId="LiveId" clId="{F0A46A80-A113-4D6F-B6DC-4FB215CCE083}" dt="2026-03-05T17:40:32.410" v="0" actId="2696"/>
          <pc:sldLayoutMkLst>
            <pc:docMk/>
            <pc:sldMasterMk cId="2348603171" sldId="2147483690"/>
            <pc:sldLayoutMk cId="1530294473" sldId="2147483716"/>
          </pc:sldLayoutMkLst>
        </pc:sldLayoutChg>
      </pc:sldMasterChg>
      <pc:sldMasterChg chg="del delSldLayout">
        <pc:chgData name="Suzanne Kevlyn" userId="09e09a272ef5727f" providerId="LiveId" clId="{F0A46A80-A113-4D6F-B6DC-4FB215CCE083}" dt="2026-03-05T17:40:32.410" v="0" actId="2696"/>
        <pc:sldMasterMkLst>
          <pc:docMk/>
          <pc:sldMasterMk cId="1857812989" sldId="2147483717"/>
        </pc:sldMasterMkLst>
        <pc:sldLayoutChg chg="del">
          <pc:chgData name="Suzanne Kevlyn" userId="09e09a272ef5727f" providerId="LiveId" clId="{F0A46A80-A113-4D6F-B6DC-4FB215CCE083}" dt="2026-03-05T17:40:32.410" v="0" actId="2696"/>
          <pc:sldLayoutMkLst>
            <pc:docMk/>
            <pc:sldMasterMk cId="1857812989" sldId="2147483717"/>
            <pc:sldLayoutMk cId="1770779178" sldId="2147483718"/>
          </pc:sldLayoutMkLst>
        </pc:sldLayoutChg>
        <pc:sldLayoutChg chg="del">
          <pc:chgData name="Suzanne Kevlyn" userId="09e09a272ef5727f" providerId="LiveId" clId="{F0A46A80-A113-4D6F-B6DC-4FB215CCE083}" dt="2026-03-05T17:40:32.410" v="0" actId="2696"/>
          <pc:sldLayoutMkLst>
            <pc:docMk/>
            <pc:sldMasterMk cId="1857812989" sldId="2147483717"/>
            <pc:sldLayoutMk cId="2007083931" sldId="2147483719"/>
          </pc:sldLayoutMkLst>
        </pc:sldLayoutChg>
        <pc:sldLayoutChg chg="del">
          <pc:chgData name="Suzanne Kevlyn" userId="09e09a272ef5727f" providerId="LiveId" clId="{F0A46A80-A113-4D6F-B6DC-4FB215CCE083}" dt="2026-03-05T17:40:32.410" v="0" actId="2696"/>
          <pc:sldLayoutMkLst>
            <pc:docMk/>
            <pc:sldMasterMk cId="1857812989" sldId="2147483717"/>
            <pc:sldLayoutMk cId="24230876" sldId="2147483720"/>
          </pc:sldLayoutMkLst>
        </pc:sldLayoutChg>
        <pc:sldLayoutChg chg="del">
          <pc:chgData name="Suzanne Kevlyn" userId="09e09a272ef5727f" providerId="LiveId" clId="{F0A46A80-A113-4D6F-B6DC-4FB215CCE083}" dt="2026-03-05T17:40:32.410" v="0" actId="2696"/>
          <pc:sldLayoutMkLst>
            <pc:docMk/>
            <pc:sldMasterMk cId="1857812989" sldId="2147483717"/>
            <pc:sldLayoutMk cId="2414457414" sldId="2147483721"/>
          </pc:sldLayoutMkLst>
        </pc:sldLayoutChg>
        <pc:sldLayoutChg chg="del">
          <pc:chgData name="Suzanne Kevlyn" userId="09e09a272ef5727f" providerId="LiveId" clId="{F0A46A80-A113-4D6F-B6DC-4FB215CCE083}" dt="2026-03-05T17:40:32.410" v="0" actId="2696"/>
          <pc:sldLayoutMkLst>
            <pc:docMk/>
            <pc:sldMasterMk cId="1857812989" sldId="2147483717"/>
            <pc:sldLayoutMk cId="1734321806" sldId="2147483722"/>
          </pc:sldLayoutMkLst>
        </pc:sldLayoutChg>
        <pc:sldLayoutChg chg="del">
          <pc:chgData name="Suzanne Kevlyn" userId="09e09a272ef5727f" providerId="LiveId" clId="{F0A46A80-A113-4D6F-B6DC-4FB215CCE083}" dt="2026-03-05T17:40:32.410" v="0" actId="2696"/>
          <pc:sldLayoutMkLst>
            <pc:docMk/>
            <pc:sldMasterMk cId="1857812989" sldId="2147483717"/>
            <pc:sldLayoutMk cId="2743150318" sldId="2147483723"/>
          </pc:sldLayoutMkLst>
        </pc:sldLayoutChg>
        <pc:sldLayoutChg chg="del">
          <pc:chgData name="Suzanne Kevlyn" userId="09e09a272ef5727f" providerId="LiveId" clId="{F0A46A80-A113-4D6F-B6DC-4FB215CCE083}" dt="2026-03-05T17:40:32.410" v="0" actId="2696"/>
          <pc:sldLayoutMkLst>
            <pc:docMk/>
            <pc:sldMasterMk cId="1857812989" sldId="2147483717"/>
            <pc:sldLayoutMk cId="1208201401" sldId="2147483724"/>
          </pc:sldLayoutMkLst>
        </pc:sldLayoutChg>
        <pc:sldLayoutChg chg="del">
          <pc:chgData name="Suzanne Kevlyn" userId="09e09a272ef5727f" providerId="LiveId" clId="{F0A46A80-A113-4D6F-B6DC-4FB215CCE083}" dt="2026-03-05T17:40:32.410" v="0" actId="2696"/>
          <pc:sldLayoutMkLst>
            <pc:docMk/>
            <pc:sldMasterMk cId="1857812989" sldId="2147483717"/>
            <pc:sldLayoutMk cId="2797717841" sldId="2147483725"/>
          </pc:sldLayoutMkLst>
        </pc:sldLayoutChg>
      </pc:sldMasterChg>
      <pc:sldMasterChg chg="del delSldLayout">
        <pc:chgData name="Suzanne Kevlyn" userId="09e09a272ef5727f" providerId="LiveId" clId="{F0A46A80-A113-4D6F-B6DC-4FB215CCE083}" dt="2026-03-05T17:40:32.410" v="0" actId="2696"/>
        <pc:sldMasterMkLst>
          <pc:docMk/>
          <pc:sldMasterMk cId="1292994659" sldId="2147483726"/>
        </pc:sldMasterMkLst>
        <pc:sldLayoutChg chg="del">
          <pc:chgData name="Suzanne Kevlyn" userId="09e09a272ef5727f" providerId="LiveId" clId="{F0A46A80-A113-4D6F-B6DC-4FB215CCE083}" dt="2026-03-05T17:40:32.410" v="0" actId="2696"/>
          <pc:sldLayoutMkLst>
            <pc:docMk/>
            <pc:sldMasterMk cId="1292994659" sldId="2147483726"/>
            <pc:sldLayoutMk cId="2186614236" sldId="2147483727"/>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3323460645" sldId="2147483728"/>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2415998344" sldId="2147483729"/>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3295932422" sldId="2147483730"/>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1274803900" sldId="2147483731"/>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1333984640" sldId="2147483732"/>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3714857191" sldId="2147483733"/>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1432797344" sldId="2147483734"/>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40547987" sldId="2147483735"/>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2377548044" sldId="2147483736"/>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2002229639" sldId="2147483737"/>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108914772" sldId="2147483738"/>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1360971384" sldId="2147483739"/>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3763581893" sldId="2147483740"/>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2799224484" sldId="2147483741"/>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2102223959" sldId="2147483742"/>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3804017166" sldId="2147483743"/>
          </pc:sldLayoutMkLst>
        </pc:sldLayoutChg>
        <pc:sldLayoutChg chg="del">
          <pc:chgData name="Suzanne Kevlyn" userId="09e09a272ef5727f" providerId="LiveId" clId="{F0A46A80-A113-4D6F-B6DC-4FB215CCE083}" dt="2026-03-05T17:40:32.410" v="0" actId="2696"/>
          <pc:sldLayoutMkLst>
            <pc:docMk/>
            <pc:sldMasterMk cId="1292994659" sldId="2147483726"/>
            <pc:sldLayoutMk cId="3531716542" sldId="2147483744"/>
          </pc:sldLayoutMkLst>
        </pc:sldLayoutChg>
      </pc:sldMasterChg>
      <pc:sldMasterChg chg="modSp mod modSldLayout">
        <pc:chgData name="Suzanne Kevlyn" userId="09e09a272ef5727f" providerId="LiveId" clId="{F0A46A80-A113-4D6F-B6DC-4FB215CCE083}" dt="2026-03-05T17:46:33.972" v="297" actId="20577"/>
        <pc:sldMasterMkLst>
          <pc:docMk/>
          <pc:sldMasterMk cId="2816578638" sldId="2147483780"/>
        </pc:sldMasterMkLst>
        <pc:spChg chg="mod">
          <ac:chgData name="Suzanne Kevlyn" userId="09e09a272ef5727f" providerId="LiveId" clId="{F0A46A80-A113-4D6F-B6DC-4FB215CCE083}" dt="2026-03-05T17:45:31.690" v="180" actId="20577"/>
          <ac:spMkLst>
            <pc:docMk/>
            <pc:sldMasterMk cId="2816578638" sldId="2147483780"/>
            <ac:spMk id="4" creationId="{00000000-0000-0000-0000-000000000000}"/>
          </ac:spMkLst>
        </pc:spChg>
        <pc:sldLayoutChg chg="modSp mod">
          <pc:chgData name="Suzanne Kevlyn" userId="09e09a272ef5727f" providerId="LiveId" clId="{F0A46A80-A113-4D6F-B6DC-4FB215CCE083}" dt="2026-03-05T17:45:36.501" v="190" actId="20577"/>
          <pc:sldLayoutMkLst>
            <pc:docMk/>
            <pc:sldMasterMk cId="2816578638" sldId="2147483780"/>
            <pc:sldLayoutMk cId="1583347165" sldId="2147483781"/>
          </pc:sldLayoutMkLst>
          <pc:spChg chg="mod">
            <ac:chgData name="Suzanne Kevlyn" userId="09e09a272ef5727f" providerId="LiveId" clId="{F0A46A80-A113-4D6F-B6DC-4FB215CCE083}" dt="2026-03-05T17:45:36.501" v="190" actId="20577"/>
            <ac:spMkLst>
              <pc:docMk/>
              <pc:sldMasterMk cId="2816578638" sldId="2147483780"/>
              <pc:sldLayoutMk cId="1583347165" sldId="2147483781"/>
              <ac:spMk id="4" creationId="{00000000-0000-0000-0000-000000000000}"/>
            </ac:spMkLst>
          </pc:spChg>
        </pc:sldLayoutChg>
        <pc:sldLayoutChg chg="modSp mod">
          <pc:chgData name="Suzanne Kevlyn" userId="09e09a272ef5727f" providerId="LiveId" clId="{F0A46A80-A113-4D6F-B6DC-4FB215CCE083}" dt="2026-03-05T17:45:41.390" v="200" actId="20577"/>
          <pc:sldLayoutMkLst>
            <pc:docMk/>
            <pc:sldMasterMk cId="2816578638" sldId="2147483780"/>
            <pc:sldLayoutMk cId="2783340644" sldId="2147483782"/>
          </pc:sldLayoutMkLst>
          <pc:spChg chg="mod">
            <ac:chgData name="Suzanne Kevlyn" userId="09e09a272ef5727f" providerId="LiveId" clId="{F0A46A80-A113-4D6F-B6DC-4FB215CCE083}" dt="2026-03-05T17:45:41.390" v="200" actId="20577"/>
            <ac:spMkLst>
              <pc:docMk/>
              <pc:sldMasterMk cId="2816578638" sldId="2147483780"/>
              <pc:sldLayoutMk cId="2783340644" sldId="2147483782"/>
              <ac:spMk id="4" creationId="{00000000-0000-0000-0000-000000000000}"/>
            </ac:spMkLst>
          </pc:spChg>
        </pc:sldLayoutChg>
        <pc:sldLayoutChg chg="modSp mod">
          <pc:chgData name="Suzanne Kevlyn" userId="09e09a272ef5727f" providerId="LiveId" clId="{F0A46A80-A113-4D6F-B6DC-4FB215CCE083}" dt="2026-03-05T17:45:46.969" v="210" actId="20577"/>
          <pc:sldLayoutMkLst>
            <pc:docMk/>
            <pc:sldMasterMk cId="2816578638" sldId="2147483780"/>
            <pc:sldLayoutMk cId="746784630" sldId="2147483783"/>
          </pc:sldLayoutMkLst>
          <pc:spChg chg="mod">
            <ac:chgData name="Suzanne Kevlyn" userId="09e09a272ef5727f" providerId="LiveId" clId="{F0A46A80-A113-4D6F-B6DC-4FB215CCE083}" dt="2026-03-05T17:45:46.969" v="210" actId="20577"/>
            <ac:spMkLst>
              <pc:docMk/>
              <pc:sldMasterMk cId="2816578638" sldId="2147483780"/>
              <pc:sldLayoutMk cId="746784630" sldId="2147483783"/>
              <ac:spMk id="4" creationId="{00000000-0000-0000-0000-000000000000}"/>
            </ac:spMkLst>
          </pc:spChg>
        </pc:sldLayoutChg>
        <pc:sldLayoutChg chg="modSp mod">
          <pc:chgData name="Suzanne Kevlyn" userId="09e09a272ef5727f" providerId="LiveId" clId="{F0A46A80-A113-4D6F-B6DC-4FB215CCE083}" dt="2026-03-05T17:45:51.354" v="220" actId="20577"/>
          <pc:sldLayoutMkLst>
            <pc:docMk/>
            <pc:sldMasterMk cId="2816578638" sldId="2147483780"/>
            <pc:sldLayoutMk cId="3318162152" sldId="2147483784"/>
          </pc:sldLayoutMkLst>
          <pc:spChg chg="mod">
            <ac:chgData name="Suzanne Kevlyn" userId="09e09a272ef5727f" providerId="LiveId" clId="{F0A46A80-A113-4D6F-B6DC-4FB215CCE083}" dt="2026-03-05T17:45:51.354" v="220" actId="20577"/>
            <ac:spMkLst>
              <pc:docMk/>
              <pc:sldMasterMk cId="2816578638" sldId="2147483780"/>
              <pc:sldLayoutMk cId="3318162152" sldId="2147483784"/>
              <ac:spMk id="5" creationId="{00000000-0000-0000-0000-000000000000}"/>
            </ac:spMkLst>
          </pc:spChg>
        </pc:sldLayoutChg>
        <pc:sldLayoutChg chg="modSp mod">
          <pc:chgData name="Suzanne Kevlyn" userId="09e09a272ef5727f" providerId="LiveId" clId="{F0A46A80-A113-4D6F-B6DC-4FB215CCE083}" dt="2026-03-05T17:45:55.541" v="230" actId="20577"/>
          <pc:sldLayoutMkLst>
            <pc:docMk/>
            <pc:sldMasterMk cId="2816578638" sldId="2147483780"/>
            <pc:sldLayoutMk cId="3475656373" sldId="2147483785"/>
          </pc:sldLayoutMkLst>
          <pc:spChg chg="mod">
            <ac:chgData name="Suzanne Kevlyn" userId="09e09a272ef5727f" providerId="LiveId" clId="{F0A46A80-A113-4D6F-B6DC-4FB215CCE083}" dt="2026-03-05T17:45:55.541" v="230" actId="20577"/>
            <ac:spMkLst>
              <pc:docMk/>
              <pc:sldMasterMk cId="2816578638" sldId="2147483780"/>
              <pc:sldLayoutMk cId="3475656373" sldId="2147483785"/>
              <ac:spMk id="7" creationId="{00000000-0000-0000-0000-000000000000}"/>
            </ac:spMkLst>
          </pc:spChg>
        </pc:sldLayoutChg>
        <pc:sldLayoutChg chg="modSp mod">
          <pc:chgData name="Suzanne Kevlyn" userId="09e09a272ef5727f" providerId="LiveId" clId="{F0A46A80-A113-4D6F-B6DC-4FB215CCE083}" dt="2026-03-05T17:45:59.781" v="240" actId="20577"/>
          <pc:sldLayoutMkLst>
            <pc:docMk/>
            <pc:sldMasterMk cId="2816578638" sldId="2147483780"/>
            <pc:sldLayoutMk cId="2315321014" sldId="2147483786"/>
          </pc:sldLayoutMkLst>
          <pc:spChg chg="mod">
            <ac:chgData name="Suzanne Kevlyn" userId="09e09a272ef5727f" providerId="LiveId" clId="{F0A46A80-A113-4D6F-B6DC-4FB215CCE083}" dt="2026-03-05T17:45:59.781" v="240" actId="20577"/>
            <ac:spMkLst>
              <pc:docMk/>
              <pc:sldMasterMk cId="2816578638" sldId="2147483780"/>
              <pc:sldLayoutMk cId="2315321014" sldId="2147483786"/>
              <ac:spMk id="3" creationId="{00000000-0000-0000-0000-000000000000}"/>
            </ac:spMkLst>
          </pc:spChg>
        </pc:sldLayoutChg>
        <pc:sldLayoutChg chg="modSp mod">
          <pc:chgData name="Suzanne Kevlyn" userId="09e09a272ef5727f" providerId="LiveId" clId="{F0A46A80-A113-4D6F-B6DC-4FB215CCE083}" dt="2026-03-05T17:44:43.337" v="169" actId="20577"/>
          <pc:sldLayoutMkLst>
            <pc:docMk/>
            <pc:sldMasterMk cId="2816578638" sldId="2147483780"/>
            <pc:sldLayoutMk cId="3477370203" sldId="2147483787"/>
          </pc:sldLayoutMkLst>
          <pc:spChg chg="mod">
            <ac:chgData name="Suzanne Kevlyn" userId="09e09a272ef5727f" providerId="LiveId" clId="{F0A46A80-A113-4D6F-B6DC-4FB215CCE083}" dt="2026-03-05T17:44:43.337" v="169" actId="20577"/>
            <ac:spMkLst>
              <pc:docMk/>
              <pc:sldMasterMk cId="2816578638" sldId="2147483780"/>
              <pc:sldLayoutMk cId="3477370203" sldId="2147483787"/>
              <ac:spMk id="12" creationId="{4A4B075B-ABEF-5812-5D1E-61CC450ECAD8}"/>
            </ac:spMkLst>
          </pc:spChg>
        </pc:sldLayoutChg>
        <pc:sldLayoutChg chg="modSp mod">
          <pc:chgData name="Suzanne Kevlyn" userId="09e09a272ef5727f" providerId="LiveId" clId="{F0A46A80-A113-4D6F-B6DC-4FB215CCE083}" dt="2026-03-05T17:46:08.018" v="254" actId="20577"/>
          <pc:sldLayoutMkLst>
            <pc:docMk/>
            <pc:sldMasterMk cId="2816578638" sldId="2147483780"/>
            <pc:sldLayoutMk cId="4221938814" sldId="2147483788"/>
          </pc:sldLayoutMkLst>
          <pc:spChg chg="mod">
            <ac:chgData name="Suzanne Kevlyn" userId="09e09a272ef5727f" providerId="LiveId" clId="{F0A46A80-A113-4D6F-B6DC-4FB215CCE083}" dt="2026-03-05T17:46:08.018" v="254" actId="20577"/>
            <ac:spMkLst>
              <pc:docMk/>
              <pc:sldMasterMk cId="2816578638" sldId="2147483780"/>
              <pc:sldLayoutMk cId="4221938814" sldId="2147483788"/>
              <ac:spMk id="5" creationId="{00000000-0000-0000-0000-000000000000}"/>
            </ac:spMkLst>
          </pc:spChg>
        </pc:sldLayoutChg>
        <pc:sldLayoutChg chg="modSp mod">
          <pc:chgData name="Suzanne Kevlyn" userId="09e09a272ef5727f" providerId="LiveId" clId="{F0A46A80-A113-4D6F-B6DC-4FB215CCE083}" dt="2026-03-05T17:46:22.904" v="276" actId="20577"/>
          <pc:sldLayoutMkLst>
            <pc:docMk/>
            <pc:sldMasterMk cId="2816578638" sldId="2147483780"/>
            <pc:sldLayoutMk cId="1568742517" sldId="2147483790"/>
          </pc:sldLayoutMkLst>
          <pc:spChg chg="mod">
            <ac:chgData name="Suzanne Kevlyn" userId="09e09a272ef5727f" providerId="LiveId" clId="{F0A46A80-A113-4D6F-B6DC-4FB215CCE083}" dt="2026-03-05T17:46:22.904" v="276" actId="20577"/>
            <ac:spMkLst>
              <pc:docMk/>
              <pc:sldMasterMk cId="2816578638" sldId="2147483780"/>
              <pc:sldLayoutMk cId="1568742517" sldId="2147483790"/>
              <ac:spMk id="4" creationId="{00000000-0000-0000-0000-000000000000}"/>
            </ac:spMkLst>
          </pc:spChg>
        </pc:sldLayoutChg>
        <pc:sldLayoutChg chg="modSp mod">
          <pc:chgData name="Suzanne Kevlyn" userId="09e09a272ef5727f" providerId="LiveId" clId="{F0A46A80-A113-4D6F-B6DC-4FB215CCE083}" dt="2026-03-05T17:46:27.208" v="286" actId="20577"/>
          <pc:sldLayoutMkLst>
            <pc:docMk/>
            <pc:sldMasterMk cId="2816578638" sldId="2147483780"/>
            <pc:sldLayoutMk cId="1572094425" sldId="2147483791"/>
          </pc:sldLayoutMkLst>
          <pc:spChg chg="mod">
            <ac:chgData name="Suzanne Kevlyn" userId="09e09a272ef5727f" providerId="LiveId" clId="{F0A46A80-A113-4D6F-B6DC-4FB215CCE083}" dt="2026-03-05T17:46:27.208" v="286" actId="20577"/>
            <ac:spMkLst>
              <pc:docMk/>
              <pc:sldMasterMk cId="2816578638" sldId="2147483780"/>
              <pc:sldLayoutMk cId="1572094425" sldId="2147483791"/>
              <ac:spMk id="4" creationId="{00000000-0000-0000-0000-000000000000}"/>
            </ac:spMkLst>
          </pc:spChg>
        </pc:sldLayoutChg>
        <pc:sldLayoutChg chg="modSp mod">
          <pc:chgData name="Suzanne Kevlyn" userId="09e09a272ef5727f" providerId="LiveId" clId="{F0A46A80-A113-4D6F-B6DC-4FB215CCE083}" dt="2026-03-05T17:46:33.972" v="297" actId="20577"/>
          <pc:sldLayoutMkLst>
            <pc:docMk/>
            <pc:sldMasterMk cId="2816578638" sldId="2147483780"/>
            <pc:sldLayoutMk cId="3908011878" sldId="2147483792"/>
          </pc:sldLayoutMkLst>
          <pc:spChg chg="mod">
            <ac:chgData name="Suzanne Kevlyn" userId="09e09a272ef5727f" providerId="LiveId" clId="{F0A46A80-A113-4D6F-B6DC-4FB215CCE083}" dt="2026-03-05T17:46:33.972" v="297" actId="20577"/>
            <ac:spMkLst>
              <pc:docMk/>
              <pc:sldMasterMk cId="2816578638" sldId="2147483780"/>
              <pc:sldLayoutMk cId="3908011878" sldId="2147483792"/>
              <ac:spMk id="2" creationId="{35A8063A-D45C-111D-A71E-06BBEC12E5FA}"/>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Importance of</a:t>
            </a:r>
            <a:r>
              <a:rPr lang="en-US" sz="1600" b="1" baseline="0" dirty="0"/>
              <a:t> Health &amp; Wellness</a:t>
            </a:r>
          </a:p>
          <a:p>
            <a:pPr>
              <a:defRPr sz="1600" b="1"/>
            </a:pPr>
            <a:r>
              <a:rPr lang="en-US" sz="1400" b="0" i="1" baseline="0" dirty="0"/>
              <a:t>% of P3M Functional Nutrition Users</a:t>
            </a:r>
            <a:endParaRPr lang="en-US" sz="1400" b="0" i="1" dirty="0"/>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 P3M Functional Nutrition Users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Focusing on health and wellness is essential to how I live my life</c:v>
                </c:pt>
                <c:pt idx="1">
                  <c:v>Health and wellness is very important, and I prioritize it most of the time</c:v>
                </c:pt>
                <c:pt idx="2">
                  <c:v>Health and wellness is important, but I take more of an “everything in moderation” approach</c:v>
                </c:pt>
                <c:pt idx="3">
                  <c:v>Health and wellness is not a big priority - I do what I can, when I can</c:v>
                </c:pt>
                <c:pt idx="4">
                  <c:v>I don't really think about health and wellness</c:v>
                </c:pt>
              </c:strCache>
            </c:strRef>
          </c:cat>
          <c:val>
            <c:numRef>
              <c:f>Sheet1!$B$2:$B$6</c:f>
              <c:numCache>
                <c:formatCode>0_ ;\-0_ ;\-_ </c:formatCode>
                <c:ptCount val="5"/>
                <c:pt idx="0">
                  <c:v>27.350993377483444</c:v>
                </c:pt>
                <c:pt idx="1">
                  <c:v>40.52980132450331</c:v>
                </c:pt>
                <c:pt idx="2">
                  <c:v>29.403973509933774</c:v>
                </c:pt>
                <c:pt idx="3">
                  <c:v>2.2516556291390728</c:v>
                </c:pt>
                <c:pt idx="4">
                  <c:v>0.46357615894039739</c:v>
                </c:pt>
              </c:numCache>
            </c:numRef>
          </c:val>
          <c:extLst>
            <c:ext xmlns:c16="http://schemas.microsoft.com/office/drawing/2014/chart" uri="{C3380CC4-5D6E-409C-BE32-E72D297353CC}">
              <c16:uniqueId val="{00000000-5E31-40F9-8377-4FCA135D5CD4}"/>
            </c:ext>
          </c:extLst>
        </c:ser>
        <c:dLbls>
          <c:showLegendKey val="0"/>
          <c:showVal val="0"/>
          <c:showCatName val="0"/>
          <c:showSerName val="0"/>
          <c:showPercent val="0"/>
          <c:showBubbleSize val="0"/>
        </c:dLbls>
        <c:gapWidth val="150"/>
        <c:overlap val="100"/>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P3M Dietary Supplements Users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Sheet1!$A$2:$A$6</c15:sqref>
                        </c15:formulaRef>
                      </c:ext>
                    </c:extLst>
                    <c:strCache>
                      <c:ptCount val="5"/>
                      <c:pt idx="0">
                        <c:v>Focusing on health and wellness is essential to how I live my life</c:v>
                      </c:pt>
                      <c:pt idx="1">
                        <c:v>Health and wellness is very important, and I prioritize it most of the time</c:v>
                      </c:pt>
                      <c:pt idx="2">
                        <c:v>Health and wellness is important, but I take more of an “everything in moderation” approach</c:v>
                      </c:pt>
                      <c:pt idx="3">
                        <c:v>Health and wellness is not a big priority - I do what I can, when I can</c:v>
                      </c:pt>
                      <c:pt idx="4">
                        <c:v>I don't really think about health and wellness</c:v>
                      </c:pt>
                    </c:strCache>
                  </c:strRef>
                </c:cat>
                <c:val>
                  <c:numRef>
                    <c:extLst>
                      <c:ext uri="{02D57815-91ED-43cb-92C2-25804820EDAC}">
                        <c15:formulaRef>
                          <c15:sqref>Sheet1!$C$2:$C$6</c15:sqref>
                        </c15:formulaRef>
                      </c:ext>
                    </c:extLst>
                    <c:numCache>
                      <c:formatCode>0_ ;\-0_ ;\-_ </c:formatCode>
                      <c:ptCount val="5"/>
                      <c:pt idx="0">
                        <c:v>28.834870075440069</c:v>
                      </c:pt>
                      <c:pt idx="1">
                        <c:v>39.647946353730092</c:v>
                      </c:pt>
                      <c:pt idx="2">
                        <c:v>28.918692372170998</c:v>
                      </c:pt>
                      <c:pt idx="3">
                        <c:v>2.0955574182732608</c:v>
                      </c:pt>
                      <c:pt idx="4">
                        <c:v>0.50293378038558256</c:v>
                      </c:pt>
                    </c:numCache>
                  </c:numRef>
                </c:val>
                <c:extLst>
                  <c:ext xmlns:c16="http://schemas.microsoft.com/office/drawing/2014/chart" uri="{C3380CC4-5D6E-409C-BE32-E72D297353CC}">
                    <c16:uniqueId val="{00000001-5E31-40F9-8377-4FCA135D5CD4}"/>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P3M Functional Food Users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Sheet1!$A$2:$A$6</c15:sqref>
                        </c15:formulaRef>
                      </c:ext>
                    </c:extLst>
                    <c:strCache>
                      <c:ptCount val="5"/>
                      <c:pt idx="0">
                        <c:v>Focusing on health and wellness is essential to how I live my life</c:v>
                      </c:pt>
                      <c:pt idx="1">
                        <c:v>Health and wellness is very important, and I prioritize it most of the time</c:v>
                      </c:pt>
                      <c:pt idx="2">
                        <c:v>Health and wellness is important, but I take more of an “everything in moderation” approach</c:v>
                      </c:pt>
                      <c:pt idx="3">
                        <c:v>Health and wellness is not a big priority - I do what I can, when I can</c:v>
                      </c:pt>
                      <c:pt idx="4">
                        <c:v>I don't really think about health and wellness</c:v>
                      </c:pt>
                    </c:strCache>
                  </c:strRef>
                </c:cat>
                <c:val>
                  <c:numRef>
                    <c:extLst xmlns:c15="http://schemas.microsoft.com/office/drawing/2012/chart">
                      <c:ext xmlns:c15="http://schemas.microsoft.com/office/drawing/2012/chart" uri="{02D57815-91ED-43cb-92C2-25804820EDAC}">
                        <c15:formulaRef>
                          <c15:sqref>Sheet1!$D$2:$D$6</c15:sqref>
                        </c15:formulaRef>
                      </c:ext>
                    </c:extLst>
                    <c:numCache>
                      <c:formatCode>0_ ;\-0_ ;\-_ </c:formatCode>
                      <c:ptCount val="5"/>
                      <c:pt idx="0">
                        <c:v>31.476050830889537</c:v>
                      </c:pt>
                      <c:pt idx="1">
                        <c:v>43.988269794721404</c:v>
                      </c:pt>
                      <c:pt idx="2">
                        <c:v>23.167155425219942</c:v>
                      </c:pt>
                      <c:pt idx="3">
                        <c:v>0.97751710654936452</c:v>
                      </c:pt>
                      <c:pt idx="4">
                        <c:v>0.39100684261974583</c:v>
                      </c:pt>
                    </c:numCache>
                  </c:numRef>
                </c:val>
                <c:extLst xmlns:c15="http://schemas.microsoft.com/office/drawing/2012/chart">
                  <c:ext xmlns:c16="http://schemas.microsoft.com/office/drawing/2014/chart" uri="{C3380CC4-5D6E-409C-BE32-E72D297353CC}">
                    <c16:uniqueId val="{00000002-5E31-40F9-8377-4FCA135D5CD4}"/>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Sheet1!$E$1</c15:sqref>
                        </c15:formulaRef>
                      </c:ext>
                    </c:extLst>
                    <c:strCache>
                      <c:ptCount val="1"/>
                      <c:pt idx="0">
                        <c:v>P3M Functional Beverage Users</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Sheet1!$A$2:$A$6</c15:sqref>
                        </c15:formulaRef>
                      </c:ext>
                    </c:extLst>
                    <c:strCache>
                      <c:ptCount val="5"/>
                      <c:pt idx="0">
                        <c:v>Focusing on health and wellness is essential to how I live my life</c:v>
                      </c:pt>
                      <c:pt idx="1">
                        <c:v>Health and wellness is very important, and I prioritize it most of the time</c:v>
                      </c:pt>
                      <c:pt idx="2">
                        <c:v>Health and wellness is important, but I take more of an “everything in moderation” approach</c:v>
                      </c:pt>
                      <c:pt idx="3">
                        <c:v>Health and wellness is not a big priority - I do what I can, when I can</c:v>
                      </c:pt>
                      <c:pt idx="4">
                        <c:v>I don't really think about health and wellness</c:v>
                      </c:pt>
                    </c:strCache>
                  </c:strRef>
                </c:cat>
                <c:val>
                  <c:numRef>
                    <c:extLst xmlns:c15="http://schemas.microsoft.com/office/drawing/2012/chart">
                      <c:ext xmlns:c15="http://schemas.microsoft.com/office/drawing/2012/chart" uri="{02D57815-91ED-43cb-92C2-25804820EDAC}">
                        <c15:formulaRef>
                          <c15:sqref>Sheet1!$E$2:$E$6</c15:sqref>
                        </c15:formulaRef>
                      </c:ext>
                    </c:extLst>
                    <c:numCache>
                      <c:formatCode>0_ ;\-0_ ;\-_ </c:formatCode>
                      <c:ptCount val="5"/>
                      <c:pt idx="0">
                        <c:v>30.746268656716417</c:v>
                      </c:pt>
                      <c:pt idx="1">
                        <c:v>42.885572139303477</c:v>
                      </c:pt>
                      <c:pt idx="2">
                        <c:v>24.577114427860696</c:v>
                      </c:pt>
                      <c:pt idx="3">
                        <c:v>1.3930348258706466</c:v>
                      </c:pt>
                      <c:pt idx="4">
                        <c:v>0.39800995024875618</c:v>
                      </c:pt>
                    </c:numCache>
                  </c:numRef>
                </c:val>
                <c:extLst xmlns:c15="http://schemas.microsoft.com/office/drawing/2012/chart">
                  <c:ext xmlns:c16="http://schemas.microsoft.com/office/drawing/2014/chart" uri="{C3380CC4-5D6E-409C-BE32-E72D297353CC}">
                    <c16:uniqueId val="{00000001-D0C1-4847-A1CC-41EDA74D2EE5}"/>
                  </c:ext>
                </c:extLst>
              </c15:ser>
            </c15:filteredBarSeries>
          </c:ext>
        </c:extLst>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Importance of</a:t>
            </a:r>
            <a:r>
              <a:rPr lang="en-US" sz="1600" b="1" baseline="0" dirty="0"/>
              <a:t> Health &amp; Wellness</a:t>
            </a:r>
          </a:p>
          <a:p>
            <a:pPr>
              <a:defRPr sz="1600" b="1"/>
            </a:pPr>
            <a:r>
              <a:rPr lang="en-US" sz="1400" b="0" i="1" baseline="0" dirty="0"/>
              <a:t>% of P3M Category Users</a:t>
            </a:r>
            <a:endParaRPr lang="en-US" sz="1400" b="0" i="1" dirty="0"/>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1"/>
          <c:tx>
            <c:strRef>
              <c:f>Sheet1!$C$1</c:f>
              <c:strCache>
                <c:ptCount val="1"/>
                <c:pt idx="0">
                  <c:v>P3M Dietary Supplements Users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Focusing on health and wellness is essential to how I live my life</c:v>
                </c:pt>
                <c:pt idx="1">
                  <c:v>Health and wellness is very important, and I prioritize it most of the time</c:v>
                </c:pt>
                <c:pt idx="2">
                  <c:v>Health and wellness is important, but I take more of an “everything in moderation” approach</c:v>
                </c:pt>
                <c:pt idx="3">
                  <c:v>Health and wellness is not a big priority - I do what I can, when I can</c:v>
                </c:pt>
                <c:pt idx="4">
                  <c:v>I don't really think about health and wellness</c:v>
                </c:pt>
              </c:strCache>
            </c:strRef>
          </c:cat>
          <c:val>
            <c:numRef>
              <c:f>Sheet1!$C$2:$C$6</c:f>
              <c:numCache>
                <c:formatCode>0_ ;\-0_ ;\-_ </c:formatCode>
                <c:ptCount val="5"/>
                <c:pt idx="0">
                  <c:v>28.834870075440069</c:v>
                </c:pt>
                <c:pt idx="1">
                  <c:v>39.647946353730092</c:v>
                </c:pt>
                <c:pt idx="2">
                  <c:v>28.918692372170998</c:v>
                </c:pt>
                <c:pt idx="3">
                  <c:v>2.0955574182732608</c:v>
                </c:pt>
                <c:pt idx="4">
                  <c:v>0.50293378038558256</c:v>
                </c:pt>
              </c:numCache>
            </c:numRef>
          </c:val>
          <c:extLst>
            <c:ext xmlns:c16="http://schemas.microsoft.com/office/drawing/2014/chart" uri="{C3380CC4-5D6E-409C-BE32-E72D297353CC}">
              <c16:uniqueId val="{00000001-5E31-40F9-8377-4FCA135D5CD4}"/>
            </c:ext>
          </c:extLst>
        </c:ser>
        <c:ser>
          <c:idx val="2"/>
          <c:order val="2"/>
          <c:tx>
            <c:strRef>
              <c:f>Sheet1!$D$1</c:f>
              <c:strCache>
                <c:ptCount val="1"/>
                <c:pt idx="0">
                  <c:v>P3M Functional Food Users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Focusing on health and wellness is essential to how I live my life</c:v>
                </c:pt>
                <c:pt idx="1">
                  <c:v>Health and wellness is very important, and I prioritize it most of the time</c:v>
                </c:pt>
                <c:pt idx="2">
                  <c:v>Health and wellness is important, but I take more of an “everything in moderation” approach</c:v>
                </c:pt>
                <c:pt idx="3">
                  <c:v>Health and wellness is not a big priority - I do what I can, when I can</c:v>
                </c:pt>
                <c:pt idx="4">
                  <c:v>I don't really think about health and wellness</c:v>
                </c:pt>
              </c:strCache>
            </c:strRef>
          </c:cat>
          <c:val>
            <c:numRef>
              <c:f>Sheet1!$D$2:$D$6</c:f>
              <c:numCache>
                <c:formatCode>0_ ;\-0_ ;\-_ </c:formatCode>
                <c:ptCount val="5"/>
                <c:pt idx="0">
                  <c:v>31.476050830889537</c:v>
                </c:pt>
                <c:pt idx="1">
                  <c:v>43.988269794721404</c:v>
                </c:pt>
                <c:pt idx="2">
                  <c:v>23.167155425219942</c:v>
                </c:pt>
                <c:pt idx="3">
                  <c:v>0.97751710654936452</c:v>
                </c:pt>
                <c:pt idx="4">
                  <c:v>0.39100684261974583</c:v>
                </c:pt>
              </c:numCache>
            </c:numRef>
          </c:val>
          <c:extLst>
            <c:ext xmlns:c16="http://schemas.microsoft.com/office/drawing/2014/chart" uri="{C3380CC4-5D6E-409C-BE32-E72D297353CC}">
              <c16:uniqueId val="{00000002-5E31-40F9-8377-4FCA135D5CD4}"/>
            </c:ext>
          </c:extLst>
        </c:ser>
        <c:ser>
          <c:idx val="3"/>
          <c:order val="3"/>
          <c:tx>
            <c:strRef>
              <c:f>Sheet1!$E$1</c:f>
              <c:strCache>
                <c:ptCount val="1"/>
                <c:pt idx="0">
                  <c:v>P3M Functional Beverage Users</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Focusing on health and wellness is essential to how I live my life</c:v>
                </c:pt>
                <c:pt idx="1">
                  <c:v>Health and wellness is very important, and I prioritize it most of the time</c:v>
                </c:pt>
                <c:pt idx="2">
                  <c:v>Health and wellness is important, but I take more of an “everything in moderation” approach</c:v>
                </c:pt>
                <c:pt idx="3">
                  <c:v>Health and wellness is not a big priority - I do what I can, when I can</c:v>
                </c:pt>
                <c:pt idx="4">
                  <c:v>I don't really think about health and wellness</c:v>
                </c:pt>
              </c:strCache>
            </c:strRef>
          </c:cat>
          <c:val>
            <c:numRef>
              <c:f>Sheet1!$E$2:$E$6</c:f>
              <c:numCache>
                <c:formatCode>0_ ;\-0_ ;\-_ </c:formatCode>
                <c:ptCount val="5"/>
                <c:pt idx="0">
                  <c:v>30.746268656716417</c:v>
                </c:pt>
                <c:pt idx="1">
                  <c:v>42.885572139303477</c:v>
                </c:pt>
                <c:pt idx="2">
                  <c:v>24.577114427860696</c:v>
                </c:pt>
                <c:pt idx="3">
                  <c:v>1.3930348258706466</c:v>
                </c:pt>
                <c:pt idx="4">
                  <c:v>0.39800995024875618</c:v>
                </c:pt>
              </c:numCache>
            </c:numRef>
          </c:val>
          <c:extLst>
            <c:ext xmlns:c16="http://schemas.microsoft.com/office/drawing/2014/chart" uri="{C3380CC4-5D6E-409C-BE32-E72D297353CC}">
              <c16:uniqueId val="{00000001-D0C1-4847-A1CC-41EDA74D2EE5}"/>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Total P3M Functional Nutrition Users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Sheet1!$A$2:$A$6</c15:sqref>
                        </c15:formulaRef>
                      </c:ext>
                    </c:extLst>
                    <c:strCache>
                      <c:ptCount val="5"/>
                      <c:pt idx="0">
                        <c:v>Focusing on health and wellness is essential to how I live my life</c:v>
                      </c:pt>
                      <c:pt idx="1">
                        <c:v>Health and wellness is very important, and I prioritize it most of the time</c:v>
                      </c:pt>
                      <c:pt idx="2">
                        <c:v>Health and wellness is important, but I take more of an “everything in moderation” approach</c:v>
                      </c:pt>
                      <c:pt idx="3">
                        <c:v>Health and wellness is not a big priority - I do what I can, when I can</c:v>
                      </c:pt>
                      <c:pt idx="4">
                        <c:v>I don't really think about health and wellness</c:v>
                      </c:pt>
                    </c:strCache>
                  </c:strRef>
                </c:cat>
                <c:val>
                  <c:numRef>
                    <c:extLst>
                      <c:ext uri="{02D57815-91ED-43cb-92C2-25804820EDAC}">
                        <c15:formulaRef>
                          <c15:sqref>Sheet1!$B$2:$B$6</c15:sqref>
                        </c15:formulaRef>
                      </c:ext>
                    </c:extLst>
                    <c:numCache>
                      <c:formatCode>0_ ;\-0_ ;\-_ </c:formatCode>
                      <c:ptCount val="5"/>
                      <c:pt idx="0">
                        <c:v>27.350993377483444</c:v>
                      </c:pt>
                      <c:pt idx="1">
                        <c:v>40.52980132450331</c:v>
                      </c:pt>
                      <c:pt idx="2">
                        <c:v>29.403973509933774</c:v>
                      </c:pt>
                      <c:pt idx="3">
                        <c:v>2.2516556291390728</c:v>
                      </c:pt>
                      <c:pt idx="4">
                        <c:v>0.46357615894039739</c:v>
                      </c:pt>
                    </c:numCache>
                  </c:numRef>
                </c:val>
                <c:extLst>
                  <c:ext xmlns:c16="http://schemas.microsoft.com/office/drawing/2014/chart" uri="{C3380CC4-5D6E-409C-BE32-E72D297353CC}">
                    <c16:uniqueId val="{00000000-5E31-40F9-8377-4FCA135D5CD4}"/>
                  </c:ext>
                </c:extLst>
              </c15:ser>
            </c15:filteredBarSeries>
          </c:ext>
        </c:extLst>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Current Health</a:t>
            </a:r>
            <a:r>
              <a:rPr lang="en-US" sz="1600" b="1" baseline="0" dirty="0"/>
              <a:t> and Wellness Goals </a:t>
            </a:r>
          </a:p>
          <a:p>
            <a:pPr>
              <a:defRPr sz="1600" b="1"/>
            </a:pPr>
            <a:r>
              <a:rPr lang="en-US" sz="1400" b="0" i="1" baseline="0" dirty="0"/>
              <a:t>% of P3M Functional Nutrition Users</a:t>
            </a:r>
            <a:endParaRPr lang="en-US" sz="1400" b="0" i="1" dirty="0"/>
          </a:p>
        </c:rich>
      </c:tx>
      <c:layout>
        <c:manualLayout>
          <c:xMode val="edge"/>
          <c:yMode val="edge"/>
          <c:x val="0.36302411411332641"/>
          <c:y val="6.0634692449620092E-3"/>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 P3M Functional Nutrition Users</c:v>
                </c:pt>
              </c:strCache>
            </c:strRef>
          </c:tx>
          <c:spPr>
            <a:solidFill>
              <a:schemeClr val="accent2"/>
            </a:solidFill>
            <a:ln>
              <a:noFill/>
            </a:ln>
            <a:effectLst/>
          </c:spPr>
          <c:invertIfNegative val="0"/>
          <c:dPt>
            <c:idx val="6"/>
            <c:invertIfNegative val="0"/>
            <c:bubble3D val="0"/>
            <c:spPr>
              <a:solidFill>
                <a:schemeClr val="accent2"/>
              </a:solidFill>
              <a:ln>
                <a:solidFill>
                  <a:srgbClr val="1D4F3E"/>
                </a:solidFill>
              </a:ln>
              <a:effectLst/>
            </c:spPr>
            <c:extLst>
              <c:ext xmlns:c16="http://schemas.microsoft.com/office/drawing/2014/chart" uri="{C3380CC4-5D6E-409C-BE32-E72D297353CC}">
                <c16:uniqueId val="{00000000-6167-4F9B-A90B-4947E5960C76}"/>
              </c:ext>
            </c:extLst>
          </c:dPt>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Sheet1!$A$2:$A$28</c:f>
              <c:strCache>
                <c:ptCount val="27"/>
                <c:pt idx="0">
                  <c:v>Improving overall/general health</c:v>
                </c:pt>
                <c:pt idx="1">
                  <c:v>Healthy aging/longevity</c:v>
                </c:pt>
                <c:pt idx="2">
                  <c:v>Improving overall fitness level</c:v>
                </c:pt>
                <c:pt idx="3">
                  <c:v>Reducing stress/anxiety</c:v>
                </c:pt>
                <c:pt idx="4">
                  <c:v>Managing weight</c:v>
                </c:pt>
                <c:pt idx="5">
                  <c:v>Improving physical energy levels</c:v>
                </c:pt>
                <c:pt idx="6">
                  <c:v>Improving sleep</c:v>
                </c:pt>
                <c:pt idx="7">
                  <c:v>Improving overall mental health</c:v>
                </c:pt>
                <c:pt idx="8">
                  <c:v>Building muscle/strength</c:v>
                </c:pt>
                <c:pt idx="9">
                  <c:v>Improving mood/emotional well-being</c:v>
                </c:pt>
                <c:pt idx="10">
                  <c:v>Improving cognition/mental energy (alertness, focus, etc.)</c:v>
                </c:pt>
                <c:pt idx="11">
                  <c:v>Improving appearance (e.g., hair, skin, nails, etc.)</c:v>
                </c:pt>
                <c:pt idx="12">
                  <c:v>Boosting immunity</c:v>
                </c:pt>
                <c:pt idx="13">
                  <c:v>Improving my heart/cardiovascular health</c:v>
                </c:pt>
                <c:pt idx="14">
                  <c:v>Improving gut/gastrointestinal health</c:v>
                </c:pt>
                <c:pt idx="15">
                  <c:v>Improving brain health</c:v>
                </c:pt>
                <c:pt idx="16">
                  <c:v>Improving bone or joint health</c:v>
                </c:pt>
                <c:pt idx="17">
                  <c:v>Reducing inflammation</c:v>
                </c:pt>
                <c:pt idx="18">
                  <c:v>Managing blood sugar</c:v>
                </c:pt>
                <c:pt idx="19">
                  <c:v>Improving eye health</c:v>
                </c:pt>
                <c:pt idx="20">
                  <c:v>Managing a diagnosed medical condition</c:v>
                </c:pt>
                <c:pt idx="21">
                  <c:v>Improving sexual health</c:v>
                </c:pt>
                <c:pt idx="22">
                  <c:v>Cleansing/detox</c:v>
                </c:pt>
                <c:pt idx="23">
                  <c:v>Addressing a nutrient gap/deficiency</c:v>
                </c:pt>
                <c:pt idx="24">
                  <c:v>Hormonal/metabolism support</c:v>
                </c:pt>
                <c:pt idx="25">
                  <c:v>Improving liver health</c:v>
                </c:pt>
                <c:pt idx="26">
                  <c:v>Managing perimenopause/menopause</c:v>
                </c:pt>
              </c:strCache>
            </c:strRef>
          </c:cat>
          <c:val>
            <c:numRef>
              <c:f>Sheet1!$B$2:$B$28</c:f>
              <c:numCache>
                <c:formatCode>0_ ;\-0_ ;\-_ </c:formatCode>
                <c:ptCount val="27"/>
                <c:pt idx="0">
                  <c:v>69.47019867549669</c:v>
                </c:pt>
                <c:pt idx="1">
                  <c:v>59.735099337748345</c:v>
                </c:pt>
                <c:pt idx="2">
                  <c:v>58.410596026490069</c:v>
                </c:pt>
                <c:pt idx="3">
                  <c:v>55.960264900662253</c:v>
                </c:pt>
                <c:pt idx="4">
                  <c:v>54.23841059602649</c:v>
                </c:pt>
                <c:pt idx="5">
                  <c:v>53.70860927152318</c:v>
                </c:pt>
                <c:pt idx="6">
                  <c:v>51.523178807947019</c:v>
                </c:pt>
                <c:pt idx="7">
                  <c:v>48.211920529801326</c:v>
                </c:pt>
                <c:pt idx="8">
                  <c:v>46.953642384105962</c:v>
                </c:pt>
                <c:pt idx="9">
                  <c:v>42.847682119205302</c:v>
                </c:pt>
                <c:pt idx="10">
                  <c:v>39.47019867549669</c:v>
                </c:pt>
                <c:pt idx="11">
                  <c:v>37.41721854304636</c:v>
                </c:pt>
                <c:pt idx="12">
                  <c:v>35.76158940397351</c:v>
                </c:pt>
                <c:pt idx="13">
                  <c:v>33.443708609271525</c:v>
                </c:pt>
                <c:pt idx="14">
                  <c:v>32.185430463576161</c:v>
                </c:pt>
                <c:pt idx="15">
                  <c:v>32.05298013245033</c:v>
                </c:pt>
                <c:pt idx="16">
                  <c:v>30.132450331125828</c:v>
                </c:pt>
                <c:pt idx="17">
                  <c:v>27.350993377483444</c:v>
                </c:pt>
                <c:pt idx="18">
                  <c:v>22.516556291390728</c:v>
                </c:pt>
                <c:pt idx="19">
                  <c:v>22.450331125827816</c:v>
                </c:pt>
                <c:pt idx="20">
                  <c:v>20.596026490066226</c:v>
                </c:pt>
                <c:pt idx="21">
                  <c:v>19.47019867549669</c:v>
                </c:pt>
                <c:pt idx="22">
                  <c:v>18.609271523178808</c:v>
                </c:pt>
                <c:pt idx="23">
                  <c:v>17.6158940397351</c:v>
                </c:pt>
                <c:pt idx="24">
                  <c:v>17.417218543046356</c:v>
                </c:pt>
                <c:pt idx="25">
                  <c:v>15.76158940397351</c:v>
                </c:pt>
                <c:pt idx="26">
                  <c:v>13.443708609271523</c:v>
                </c:pt>
              </c:numCache>
            </c:numRef>
          </c:val>
          <c:extLst>
            <c:ext xmlns:c16="http://schemas.microsoft.com/office/drawing/2014/chart" uri="{C3380CC4-5D6E-409C-BE32-E72D297353CC}">
              <c16:uniqueId val="{00000000-AA96-40E0-A150-F987810E3A81}"/>
            </c:ext>
          </c:extLst>
        </c:ser>
        <c:dLbls>
          <c:showLegendKey val="0"/>
          <c:showVal val="0"/>
          <c:showCatName val="0"/>
          <c:showSerName val="0"/>
          <c:showPercent val="0"/>
          <c:showBubbleSize val="0"/>
        </c:dLbls>
        <c:gapWidth val="219"/>
        <c:axId val="1960507023"/>
        <c:axId val="1960497903"/>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Core Health and Wellness Behaviors </a:t>
            </a:r>
            <a:endParaRPr lang="en-US" sz="1600" b="1" baseline="0" dirty="0"/>
          </a:p>
          <a:p>
            <a:pPr>
              <a:defRPr sz="1600" b="1"/>
            </a:pPr>
            <a:r>
              <a:rPr lang="en-US" sz="1400" b="0" i="1" baseline="0" dirty="0"/>
              <a:t>% of P3M Functional Nutrition Users</a:t>
            </a:r>
            <a:endParaRPr lang="en-US" sz="1400" b="0" i="1" dirty="0"/>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Total P3M Functional Nutrition Users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Eating a healthy diet</c:v>
                </c:pt>
                <c:pt idx="1">
                  <c:v>Prioritizing exercise/physical fitness</c:v>
                </c:pt>
                <c:pt idx="2">
                  <c:v>Prioritizing sleep</c:v>
                </c:pt>
                <c:pt idx="3">
                  <c:v>Taking dietary supplements</c:v>
                </c:pt>
                <c:pt idx="4">
                  <c:v>Spending time outdoors/in nature</c:v>
                </c:pt>
                <c:pt idx="5">
                  <c:v>Consuming functional foods</c:v>
                </c:pt>
                <c:pt idx="6">
                  <c:v>Consuming functional beverages</c:v>
                </c:pt>
                <c:pt idx="7">
                  <c:v>Emotional well-being/mindfulness practices (e.g., meditation, journaling, etc.)</c:v>
                </c:pt>
                <c:pt idx="8">
                  <c:v>Researching/learning about health and wellness</c:v>
                </c:pt>
                <c:pt idx="9">
                  <c:v>Engaging in creative outlets (e.g., music, painting/drawing, writing, acting, etc.)</c:v>
                </c:pt>
                <c:pt idx="10">
                  <c:v>Using health and wellness apps (workout plans/trackers, diet/nutrient trackers, sleep support, mindfulness support, etc.)</c:v>
                </c:pt>
                <c:pt idx="11">
                  <c:v>Using wearable health technology (e.g., watches, rings, patches, etc.)</c:v>
                </c:pt>
                <c:pt idx="12">
                  <c:v>Limiting screen time</c:v>
                </c:pt>
                <c:pt idx="13">
                  <c:v>Using personalized health technology (e.g., personalized nutrition plans, microbiome analysis, etc.)</c:v>
                </c:pt>
                <c:pt idx="14">
                  <c:v>Following a special diet/lifestyle (e.g., vegan, keto, etc.)</c:v>
                </c:pt>
              </c:strCache>
            </c:strRef>
          </c:cat>
          <c:val>
            <c:numRef>
              <c:f>Sheet1!$B$2:$B$16</c:f>
              <c:numCache>
                <c:formatCode>0_ ;\-0_ ;\-_ </c:formatCode>
                <c:ptCount val="15"/>
                <c:pt idx="0">
                  <c:v>67.41721854304636</c:v>
                </c:pt>
                <c:pt idx="1">
                  <c:v>61.65562913907285</c:v>
                </c:pt>
                <c:pt idx="2">
                  <c:v>61.059602649006621</c:v>
                </c:pt>
                <c:pt idx="3">
                  <c:v>55.298013245033111</c:v>
                </c:pt>
                <c:pt idx="4">
                  <c:v>52.847682119205302</c:v>
                </c:pt>
                <c:pt idx="5">
                  <c:v>41.721854304635762</c:v>
                </c:pt>
                <c:pt idx="6">
                  <c:v>37.483443708609272</c:v>
                </c:pt>
                <c:pt idx="7">
                  <c:v>35.629139072847686</c:v>
                </c:pt>
                <c:pt idx="8">
                  <c:v>35.629139072847686</c:v>
                </c:pt>
                <c:pt idx="9">
                  <c:v>33.17880794701987</c:v>
                </c:pt>
                <c:pt idx="10">
                  <c:v>31.920529801324506</c:v>
                </c:pt>
                <c:pt idx="11">
                  <c:v>31.059602649006624</c:v>
                </c:pt>
                <c:pt idx="12">
                  <c:v>24.701986754966889</c:v>
                </c:pt>
                <c:pt idx="13">
                  <c:v>16.688741721854306</c:v>
                </c:pt>
                <c:pt idx="14">
                  <c:v>16.09271523178808</c:v>
                </c:pt>
              </c:numCache>
            </c:numRef>
          </c:val>
          <c:extLst>
            <c:ext xmlns:c16="http://schemas.microsoft.com/office/drawing/2014/chart" uri="{C3380CC4-5D6E-409C-BE32-E72D297353CC}">
              <c16:uniqueId val="{00000000-CC26-4DE9-A482-C7E61C0B333C}"/>
            </c:ext>
          </c:extLst>
        </c:ser>
        <c:dLbls>
          <c:showLegendKey val="0"/>
          <c:showVal val="0"/>
          <c:showCatName val="0"/>
          <c:showSerName val="0"/>
          <c:showPercent val="0"/>
          <c:showBubbleSize val="0"/>
        </c:dLbls>
        <c:gapWidth val="150"/>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P3M Dietary Supplements Users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Sheet1!$A$2:$A$16</c15:sqref>
                        </c15:formulaRef>
                      </c:ext>
                    </c:extLst>
                    <c:strCache>
                      <c:ptCount val="15"/>
                      <c:pt idx="0">
                        <c:v>Eating a healthy diet</c:v>
                      </c:pt>
                      <c:pt idx="1">
                        <c:v>Prioritizing exercise/physical fitness</c:v>
                      </c:pt>
                      <c:pt idx="2">
                        <c:v>Prioritizing sleep</c:v>
                      </c:pt>
                      <c:pt idx="3">
                        <c:v>Taking dietary supplements</c:v>
                      </c:pt>
                      <c:pt idx="4">
                        <c:v>Spending time outdoors/in nature</c:v>
                      </c:pt>
                      <c:pt idx="5">
                        <c:v>Consuming functional foods</c:v>
                      </c:pt>
                      <c:pt idx="6">
                        <c:v>Consuming functional beverages</c:v>
                      </c:pt>
                      <c:pt idx="7">
                        <c:v>Emotional well-being/mindfulness practices (e.g., meditation, journaling, etc.)</c:v>
                      </c:pt>
                      <c:pt idx="8">
                        <c:v>Researching/learning about health and wellness</c:v>
                      </c:pt>
                      <c:pt idx="9">
                        <c:v>Engaging in creative outlets (e.g., music, painting/drawing, writing, acting, etc.)</c:v>
                      </c:pt>
                      <c:pt idx="10">
                        <c:v>Using health and wellness apps (workout plans/trackers, diet/nutrient trackers, sleep support, mindfulness support, etc.)</c:v>
                      </c:pt>
                      <c:pt idx="11">
                        <c:v>Using wearable health technology (e.g., watches, rings, patches, etc.)</c:v>
                      </c:pt>
                      <c:pt idx="12">
                        <c:v>Limiting screen time</c:v>
                      </c:pt>
                      <c:pt idx="13">
                        <c:v>Using personalized health technology (e.g., personalized nutrition plans, microbiome analysis, etc.)</c:v>
                      </c:pt>
                      <c:pt idx="14">
                        <c:v>Following a special diet/lifestyle (e.g., vegan, keto, etc.)</c:v>
                      </c:pt>
                    </c:strCache>
                  </c:strRef>
                </c:cat>
                <c:val>
                  <c:numRef>
                    <c:extLst>
                      <c:ext uri="{02D57815-91ED-43cb-92C2-25804820EDAC}">
                        <c15:formulaRef>
                          <c15:sqref>Sheet1!$C$2:$C$16</c15:sqref>
                        </c15:formulaRef>
                      </c:ext>
                    </c:extLst>
                    <c:numCache>
                      <c:formatCode>0_ ;\-0_ ;\-_ </c:formatCode>
                      <c:ptCount val="15"/>
                      <c:pt idx="0">
                        <c:v>69.991617770326911</c:v>
                      </c:pt>
                      <c:pt idx="1">
                        <c:v>63.537300922045269</c:v>
                      </c:pt>
                      <c:pt idx="2">
                        <c:v>63.118189438390615</c:v>
                      </c:pt>
                      <c:pt idx="3">
                        <c:v>65.297569153394804</c:v>
                      </c:pt>
                      <c:pt idx="4">
                        <c:v>54.903604358759431</c:v>
                      </c:pt>
                      <c:pt idx="5">
                        <c:v>41.492036881810563</c:v>
                      </c:pt>
                      <c:pt idx="6">
                        <c:v>38.390611902766139</c:v>
                      </c:pt>
                      <c:pt idx="7">
                        <c:v>35.708298407376361</c:v>
                      </c:pt>
                      <c:pt idx="8">
                        <c:v>37.80385582564962</c:v>
                      </c:pt>
                      <c:pt idx="9">
                        <c:v>33.612740989103102</c:v>
                      </c:pt>
                      <c:pt idx="10">
                        <c:v>32.690695725062866</c:v>
                      </c:pt>
                      <c:pt idx="11">
                        <c:v>33.10980720871752</c:v>
                      </c:pt>
                      <c:pt idx="12">
                        <c:v>24.224643755238894</c:v>
                      </c:pt>
                      <c:pt idx="13">
                        <c:v>17.015926236378878</c:v>
                      </c:pt>
                      <c:pt idx="14">
                        <c:v>16.177703269069571</c:v>
                      </c:pt>
                    </c:numCache>
                  </c:numRef>
                </c:val>
                <c:extLst>
                  <c:ext xmlns:c16="http://schemas.microsoft.com/office/drawing/2014/chart" uri="{C3380CC4-5D6E-409C-BE32-E72D297353CC}">
                    <c16:uniqueId val="{00000001-CC26-4DE9-A482-C7E61C0B333C}"/>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P3M Functional Food Users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Sheet1!$A$2:$A$16</c15:sqref>
                        </c15:formulaRef>
                      </c:ext>
                    </c:extLst>
                    <c:strCache>
                      <c:ptCount val="15"/>
                      <c:pt idx="0">
                        <c:v>Eating a healthy diet</c:v>
                      </c:pt>
                      <c:pt idx="1">
                        <c:v>Prioritizing exercise/physical fitness</c:v>
                      </c:pt>
                      <c:pt idx="2">
                        <c:v>Prioritizing sleep</c:v>
                      </c:pt>
                      <c:pt idx="3">
                        <c:v>Taking dietary supplements</c:v>
                      </c:pt>
                      <c:pt idx="4">
                        <c:v>Spending time outdoors/in nature</c:v>
                      </c:pt>
                      <c:pt idx="5">
                        <c:v>Consuming functional foods</c:v>
                      </c:pt>
                      <c:pt idx="6">
                        <c:v>Consuming functional beverages</c:v>
                      </c:pt>
                      <c:pt idx="7">
                        <c:v>Emotional well-being/mindfulness practices (e.g., meditation, journaling, etc.)</c:v>
                      </c:pt>
                      <c:pt idx="8">
                        <c:v>Researching/learning about health and wellness</c:v>
                      </c:pt>
                      <c:pt idx="9">
                        <c:v>Engaging in creative outlets (e.g., music, painting/drawing, writing, acting, etc.)</c:v>
                      </c:pt>
                      <c:pt idx="10">
                        <c:v>Using health and wellness apps (workout plans/trackers, diet/nutrient trackers, sleep support, mindfulness support, etc.)</c:v>
                      </c:pt>
                      <c:pt idx="11">
                        <c:v>Using wearable health technology (e.g., watches, rings, patches, etc.)</c:v>
                      </c:pt>
                      <c:pt idx="12">
                        <c:v>Limiting screen time</c:v>
                      </c:pt>
                      <c:pt idx="13">
                        <c:v>Using personalized health technology (e.g., personalized nutrition plans, microbiome analysis, etc.)</c:v>
                      </c:pt>
                      <c:pt idx="14">
                        <c:v>Following a special diet/lifestyle (e.g., vegan, keto, etc.)</c:v>
                      </c:pt>
                    </c:strCache>
                  </c:strRef>
                </c:cat>
                <c:val>
                  <c:numRef>
                    <c:extLst xmlns:c15="http://schemas.microsoft.com/office/drawing/2012/chart">
                      <c:ext xmlns:c15="http://schemas.microsoft.com/office/drawing/2012/chart" uri="{02D57815-91ED-43cb-92C2-25804820EDAC}">
                        <c15:formulaRef>
                          <c15:sqref>Sheet1!$D$2:$D$16</c15:sqref>
                        </c15:formulaRef>
                      </c:ext>
                    </c:extLst>
                    <c:numCache>
                      <c:formatCode>0_ ;\-0_ ;\-_ </c:formatCode>
                      <c:ptCount val="15"/>
                      <c:pt idx="0">
                        <c:v>69.40371456500489</c:v>
                      </c:pt>
                      <c:pt idx="1">
                        <c:v>65.004887585532742</c:v>
                      </c:pt>
                      <c:pt idx="2">
                        <c:v>63.049853372434015</c:v>
                      </c:pt>
                      <c:pt idx="3">
                        <c:v>55.52297165200391</c:v>
                      </c:pt>
                      <c:pt idx="4">
                        <c:v>53.861192570869989</c:v>
                      </c:pt>
                      <c:pt idx="5">
                        <c:v>53.372434017595303</c:v>
                      </c:pt>
                      <c:pt idx="6">
                        <c:v>45.650048875855326</c:v>
                      </c:pt>
                      <c:pt idx="7">
                        <c:v>39.296187683284458</c:v>
                      </c:pt>
                      <c:pt idx="8">
                        <c:v>42.326490713587489</c:v>
                      </c:pt>
                      <c:pt idx="9">
                        <c:v>36.754643206256105</c:v>
                      </c:pt>
                      <c:pt idx="10">
                        <c:v>37.927663734115349</c:v>
                      </c:pt>
                      <c:pt idx="11">
                        <c:v>33.137829912023456</c:v>
                      </c:pt>
                      <c:pt idx="12">
                        <c:v>26.881720430107524</c:v>
                      </c:pt>
                      <c:pt idx="13">
                        <c:v>21.016617790811338</c:v>
                      </c:pt>
                      <c:pt idx="14">
                        <c:v>19.648093841642229</c:v>
                      </c:pt>
                    </c:numCache>
                  </c:numRef>
                </c:val>
                <c:extLst xmlns:c15="http://schemas.microsoft.com/office/drawing/2012/chart">
                  <c:ext xmlns:c16="http://schemas.microsoft.com/office/drawing/2014/chart" uri="{C3380CC4-5D6E-409C-BE32-E72D297353CC}">
                    <c16:uniqueId val="{00000002-CC26-4DE9-A482-C7E61C0B333C}"/>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Sheet1!$E$1</c15:sqref>
                        </c15:formulaRef>
                      </c:ext>
                    </c:extLst>
                    <c:strCache>
                      <c:ptCount val="1"/>
                      <c:pt idx="0">
                        <c:v>P3M Functional Beverage Users</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Sheet1!$A$2:$A$16</c15:sqref>
                        </c15:formulaRef>
                      </c:ext>
                    </c:extLst>
                    <c:strCache>
                      <c:ptCount val="15"/>
                      <c:pt idx="0">
                        <c:v>Eating a healthy diet</c:v>
                      </c:pt>
                      <c:pt idx="1">
                        <c:v>Prioritizing exercise/physical fitness</c:v>
                      </c:pt>
                      <c:pt idx="2">
                        <c:v>Prioritizing sleep</c:v>
                      </c:pt>
                      <c:pt idx="3">
                        <c:v>Taking dietary supplements</c:v>
                      </c:pt>
                      <c:pt idx="4">
                        <c:v>Spending time outdoors/in nature</c:v>
                      </c:pt>
                      <c:pt idx="5">
                        <c:v>Consuming functional foods</c:v>
                      </c:pt>
                      <c:pt idx="6">
                        <c:v>Consuming functional beverages</c:v>
                      </c:pt>
                      <c:pt idx="7">
                        <c:v>Emotional well-being/mindfulness practices (e.g., meditation, journaling, etc.)</c:v>
                      </c:pt>
                      <c:pt idx="8">
                        <c:v>Researching/learning about health and wellness</c:v>
                      </c:pt>
                      <c:pt idx="9">
                        <c:v>Engaging in creative outlets (e.g., music, painting/drawing, writing, acting, etc.)</c:v>
                      </c:pt>
                      <c:pt idx="10">
                        <c:v>Using health and wellness apps (workout plans/trackers, diet/nutrient trackers, sleep support, mindfulness support, etc.)</c:v>
                      </c:pt>
                      <c:pt idx="11">
                        <c:v>Using wearable health technology (e.g., watches, rings, patches, etc.)</c:v>
                      </c:pt>
                      <c:pt idx="12">
                        <c:v>Limiting screen time</c:v>
                      </c:pt>
                      <c:pt idx="13">
                        <c:v>Using personalized health technology (e.g., personalized nutrition plans, microbiome analysis, etc.)</c:v>
                      </c:pt>
                      <c:pt idx="14">
                        <c:v>Following a special diet/lifestyle (e.g., vegan, keto, etc.)</c:v>
                      </c:pt>
                    </c:strCache>
                  </c:strRef>
                </c:cat>
                <c:val>
                  <c:numRef>
                    <c:extLst xmlns:c15="http://schemas.microsoft.com/office/drawing/2012/chart">
                      <c:ext xmlns:c15="http://schemas.microsoft.com/office/drawing/2012/chart" uri="{02D57815-91ED-43cb-92C2-25804820EDAC}">
                        <c15:formulaRef>
                          <c15:sqref>Sheet1!$E$2:$E$16</c15:sqref>
                        </c15:formulaRef>
                      </c:ext>
                    </c:extLst>
                    <c:numCache>
                      <c:formatCode>0_ ;\-0_ ;\-_ </c:formatCode>
                      <c:ptCount val="15"/>
                      <c:pt idx="0">
                        <c:v>67.46268656716417</c:v>
                      </c:pt>
                      <c:pt idx="1">
                        <c:v>63.582089552238799</c:v>
                      </c:pt>
                      <c:pt idx="2">
                        <c:v>61.592039800995018</c:v>
                      </c:pt>
                      <c:pt idx="3">
                        <c:v>54.626865671641788</c:v>
                      </c:pt>
                      <c:pt idx="4">
                        <c:v>54.626865671641788</c:v>
                      </c:pt>
                      <c:pt idx="5">
                        <c:v>50.646766169154226</c:v>
                      </c:pt>
                      <c:pt idx="6">
                        <c:v>50.049751243781088</c:v>
                      </c:pt>
                      <c:pt idx="7">
                        <c:v>40.398009950248756</c:v>
                      </c:pt>
                      <c:pt idx="8">
                        <c:v>40.696517412935322</c:v>
                      </c:pt>
                      <c:pt idx="9">
                        <c:v>37.512437810945272</c:v>
                      </c:pt>
                      <c:pt idx="10">
                        <c:v>38.009950248756219</c:v>
                      </c:pt>
                      <c:pt idx="11">
                        <c:v>33.830845771144276</c:v>
                      </c:pt>
                      <c:pt idx="12">
                        <c:v>27.462686567164177</c:v>
                      </c:pt>
                      <c:pt idx="13">
                        <c:v>21.691542288557212</c:v>
                      </c:pt>
                      <c:pt idx="14">
                        <c:v>19.00497512437811</c:v>
                      </c:pt>
                    </c:numCache>
                  </c:numRef>
                </c:val>
                <c:extLst xmlns:c15="http://schemas.microsoft.com/office/drawing/2012/chart">
                  <c:ext xmlns:c16="http://schemas.microsoft.com/office/drawing/2014/chart" uri="{C3380CC4-5D6E-409C-BE32-E72D297353CC}">
                    <c16:uniqueId val="{00000003-CC26-4DE9-A482-C7E61C0B333C}"/>
                  </c:ext>
                </c:extLst>
              </c15:ser>
            </c15:filteredBarSeries>
          </c:ext>
        </c:extLst>
      </c:barChart>
      <c:catAx>
        <c:axId val="196050702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t"/>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Health &amp; Wellness Information Sources</a:t>
            </a:r>
          </a:p>
          <a:p>
            <a:pPr>
              <a:defRPr sz="1600" b="1"/>
            </a:pPr>
            <a:r>
              <a:rPr lang="en-US" sz="1400" b="0" i="1" dirty="0"/>
              <a:t>% selecting</a:t>
            </a:r>
            <a:r>
              <a:rPr lang="en-US" sz="1400" b="0" i="1" baseline="0" dirty="0"/>
              <a:t> as one of top 3 Information Sources among</a:t>
            </a:r>
            <a:r>
              <a:rPr lang="en-US" sz="1400" b="0" i="1" dirty="0"/>
              <a:t> P3M Functional Nutrition Users</a:t>
            </a:r>
          </a:p>
        </c:rich>
      </c:tx>
      <c:layout>
        <c:manualLayout>
          <c:xMode val="edge"/>
          <c:yMode val="edge"/>
          <c:x val="0.12762504546814432"/>
          <c:y val="2.471824338278784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50431702067776629"/>
          <c:y val="0.1555052155926053"/>
          <c:w val="0.47799582370425758"/>
          <c:h val="0.81428359805065398"/>
        </c:manualLayout>
      </c:layout>
      <c:barChart>
        <c:barDir val="bar"/>
        <c:grouping val="clustered"/>
        <c:varyColors val="0"/>
        <c:ser>
          <c:idx val="0"/>
          <c:order val="0"/>
          <c:tx>
            <c:strRef>
              <c:f>Sheet1!$B$1</c:f>
              <c:strCache>
                <c:ptCount val="1"/>
                <c:pt idx="0">
                  <c:v>Total P3M Functional Nutrition Users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Doctor/Medical Professional</c:v>
                </c:pt>
                <c:pt idx="1">
                  <c:v>Health and wellness publications/websites</c:v>
                </c:pt>
                <c:pt idx="2">
                  <c:v>Friends and family</c:v>
                </c:pt>
                <c:pt idx="3">
                  <c:v>Online reviews</c:v>
                </c:pt>
                <c:pt idx="4">
                  <c:v>Health &amp; Wellness product manufacturers/brands</c:v>
                </c:pt>
                <c:pt idx="5">
                  <c:v>General interest publications/websites (e.g., women's/men's magazines)</c:v>
                </c:pt>
                <c:pt idx="6">
                  <c:v>Product packaging</c:v>
                </c:pt>
                <c:pt idx="7">
                  <c:v>Social media influencer/podcaster</c:v>
                </c:pt>
                <c:pt idx="8">
                  <c:v>Coach/Trainer/Physical Therapist</c:v>
                </c:pt>
                <c:pt idx="9">
                  <c:v>Government websites (e.g., CDC, NIH)</c:v>
                </c:pt>
                <c:pt idx="10">
                  <c:v>Health technology companies/apps</c:v>
                </c:pt>
                <c:pt idx="11">
                  <c:v>Other Wellness Professionals (e.g., acupuncturist, masseuse, aesthetician, etc.)</c:v>
                </c:pt>
                <c:pt idx="12">
                  <c:v>Therapist/Counselor</c:v>
                </c:pt>
                <c:pt idx="13">
                  <c:v>Retailers (e.g., GNC, Whole Foods, etc.)</c:v>
                </c:pt>
                <c:pt idx="14">
                  <c:v>Athlete influence/podcaster</c:v>
                </c:pt>
                <c:pt idx="15">
                  <c:v>Third-party testers/certifiers</c:v>
                </c:pt>
                <c:pt idx="16">
                  <c:v>Celebrity influencer/podcaster</c:v>
                </c:pt>
              </c:strCache>
            </c:strRef>
          </c:cat>
          <c:val>
            <c:numRef>
              <c:f>Sheet1!$B$2:$B$18</c:f>
              <c:numCache>
                <c:formatCode>0_ ;\-0_ ;\-_ </c:formatCode>
                <c:ptCount val="17"/>
                <c:pt idx="0">
                  <c:v>55.099337748344375</c:v>
                </c:pt>
                <c:pt idx="1">
                  <c:v>36.688741721854306</c:v>
                </c:pt>
                <c:pt idx="2">
                  <c:v>35.033112582781456</c:v>
                </c:pt>
                <c:pt idx="3">
                  <c:v>25.231788079470199</c:v>
                </c:pt>
                <c:pt idx="4">
                  <c:v>18.079470198675498</c:v>
                </c:pt>
                <c:pt idx="5">
                  <c:v>15.165562913907285</c:v>
                </c:pt>
                <c:pt idx="6">
                  <c:v>12.913907284768213</c:v>
                </c:pt>
                <c:pt idx="7">
                  <c:v>12.3841059602649</c:v>
                </c:pt>
                <c:pt idx="8">
                  <c:v>12.185430463576159</c:v>
                </c:pt>
                <c:pt idx="9">
                  <c:v>11.390728476821192</c:v>
                </c:pt>
                <c:pt idx="10">
                  <c:v>10.066225165562914</c:v>
                </c:pt>
                <c:pt idx="11">
                  <c:v>9.072847682119205</c:v>
                </c:pt>
                <c:pt idx="12">
                  <c:v>8.6092715231788084</c:v>
                </c:pt>
                <c:pt idx="13">
                  <c:v>8.6092715231788084</c:v>
                </c:pt>
                <c:pt idx="14">
                  <c:v>8.5430463576158946</c:v>
                </c:pt>
                <c:pt idx="15">
                  <c:v>5.5629139072847682</c:v>
                </c:pt>
                <c:pt idx="16">
                  <c:v>4.8344370860927155</c:v>
                </c:pt>
              </c:numCache>
            </c:numRef>
          </c:val>
          <c:extLst>
            <c:ext xmlns:c16="http://schemas.microsoft.com/office/drawing/2014/chart" uri="{C3380CC4-5D6E-409C-BE32-E72D297353CC}">
              <c16:uniqueId val="{00000000-53AE-437A-8754-A40C865069A2}"/>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P3M Dietary Supplements Users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Sheet1!$A$2:$A$18</c15:sqref>
                        </c15:formulaRef>
                      </c:ext>
                    </c:extLst>
                    <c:strCache>
                      <c:ptCount val="17"/>
                      <c:pt idx="0">
                        <c:v>Doctor/Medical Professional</c:v>
                      </c:pt>
                      <c:pt idx="1">
                        <c:v>Health and wellness publications/websites</c:v>
                      </c:pt>
                      <c:pt idx="2">
                        <c:v>Friends and family</c:v>
                      </c:pt>
                      <c:pt idx="3">
                        <c:v>Online reviews</c:v>
                      </c:pt>
                      <c:pt idx="4">
                        <c:v>Health &amp; Wellness product manufacturers/brands</c:v>
                      </c:pt>
                      <c:pt idx="5">
                        <c:v>General interest publications/websites (e.g., women's/men's magazines)</c:v>
                      </c:pt>
                      <c:pt idx="6">
                        <c:v>Product packaging</c:v>
                      </c:pt>
                      <c:pt idx="7">
                        <c:v>Social media influencer/podcaster</c:v>
                      </c:pt>
                      <c:pt idx="8">
                        <c:v>Coach/Trainer/Physical Therapist</c:v>
                      </c:pt>
                      <c:pt idx="9">
                        <c:v>Government websites (e.g., CDC, NIH)</c:v>
                      </c:pt>
                      <c:pt idx="10">
                        <c:v>Health technology companies/apps</c:v>
                      </c:pt>
                      <c:pt idx="11">
                        <c:v>Other Wellness Professionals (e.g., acupuncturist, masseuse, aesthetician, etc.)</c:v>
                      </c:pt>
                      <c:pt idx="12">
                        <c:v>Therapist/Counselor</c:v>
                      </c:pt>
                      <c:pt idx="13">
                        <c:v>Retailers (e.g., GNC, Whole Foods, etc.)</c:v>
                      </c:pt>
                      <c:pt idx="14">
                        <c:v>Athlete influence/podcaster</c:v>
                      </c:pt>
                      <c:pt idx="15">
                        <c:v>Third-party testers/certifiers</c:v>
                      </c:pt>
                      <c:pt idx="16">
                        <c:v>Celebrity influencer/podcaster</c:v>
                      </c:pt>
                    </c:strCache>
                  </c:strRef>
                </c:cat>
                <c:val>
                  <c:numRef>
                    <c:extLst>
                      <c:ext uri="{02D57815-91ED-43cb-92C2-25804820EDAC}">
                        <c15:formulaRef>
                          <c15:sqref>Sheet1!$C$2:$C$18</c15:sqref>
                        </c15:formulaRef>
                      </c:ext>
                    </c:extLst>
                    <c:numCache>
                      <c:formatCode>0_ ;\-0_ ;\-_ </c:formatCode>
                      <c:ptCount val="17"/>
                      <c:pt idx="0">
                        <c:v>57.334450963956414</c:v>
                      </c:pt>
                      <c:pt idx="1">
                        <c:v>37.80385582564962</c:v>
                      </c:pt>
                      <c:pt idx="2">
                        <c:v>34.283319362950543</c:v>
                      </c:pt>
                      <c:pt idx="3">
                        <c:v>26.068734283319362</c:v>
                      </c:pt>
                      <c:pt idx="4">
                        <c:v>17.435037720033531</c:v>
                      </c:pt>
                      <c:pt idx="5">
                        <c:v>15.423302598491199</c:v>
                      </c:pt>
                      <c:pt idx="6">
                        <c:v>12.740989103101425</c:v>
                      </c:pt>
                      <c:pt idx="7">
                        <c:v>11.232187761944678</c:v>
                      </c:pt>
                      <c:pt idx="8">
                        <c:v>11.73512154233026</c:v>
                      </c:pt>
                      <c:pt idx="9">
                        <c:v>11.73512154233026</c:v>
                      </c:pt>
                      <c:pt idx="10">
                        <c:v>9.5557418273260684</c:v>
                      </c:pt>
                      <c:pt idx="11">
                        <c:v>9.6395641240569994</c:v>
                      </c:pt>
                      <c:pt idx="12">
                        <c:v>8.2145850796311812</c:v>
                      </c:pt>
                      <c:pt idx="13">
                        <c:v>8.2984073763621122</c:v>
                      </c:pt>
                      <c:pt idx="14">
                        <c:v>8.130762782900252</c:v>
                      </c:pt>
                      <c:pt idx="15">
                        <c:v>6.0352053646269912</c:v>
                      </c:pt>
                      <c:pt idx="16">
                        <c:v>4.8616932103939652</c:v>
                      </c:pt>
                    </c:numCache>
                  </c:numRef>
                </c:val>
                <c:extLst>
                  <c:ext xmlns:c16="http://schemas.microsoft.com/office/drawing/2014/chart" uri="{C3380CC4-5D6E-409C-BE32-E72D297353CC}">
                    <c16:uniqueId val="{00000001-53AE-437A-8754-A40C865069A2}"/>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P3M Functional Food Users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Sheet1!$A$2:$A$18</c15:sqref>
                        </c15:formulaRef>
                      </c:ext>
                    </c:extLst>
                    <c:strCache>
                      <c:ptCount val="17"/>
                      <c:pt idx="0">
                        <c:v>Doctor/Medical Professional</c:v>
                      </c:pt>
                      <c:pt idx="1">
                        <c:v>Health and wellness publications/websites</c:v>
                      </c:pt>
                      <c:pt idx="2">
                        <c:v>Friends and family</c:v>
                      </c:pt>
                      <c:pt idx="3">
                        <c:v>Online reviews</c:v>
                      </c:pt>
                      <c:pt idx="4">
                        <c:v>Health &amp; Wellness product manufacturers/brands</c:v>
                      </c:pt>
                      <c:pt idx="5">
                        <c:v>General interest publications/websites (e.g., women's/men's magazines)</c:v>
                      </c:pt>
                      <c:pt idx="6">
                        <c:v>Product packaging</c:v>
                      </c:pt>
                      <c:pt idx="7">
                        <c:v>Social media influencer/podcaster</c:v>
                      </c:pt>
                      <c:pt idx="8">
                        <c:v>Coach/Trainer/Physical Therapist</c:v>
                      </c:pt>
                      <c:pt idx="9">
                        <c:v>Government websites (e.g., CDC, NIH)</c:v>
                      </c:pt>
                      <c:pt idx="10">
                        <c:v>Health technology companies/apps</c:v>
                      </c:pt>
                      <c:pt idx="11">
                        <c:v>Other Wellness Professionals (e.g., acupuncturist, masseuse, aesthetician, etc.)</c:v>
                      </c:pt>
                      <c:pt idx="12">
                        <c:v>Therapist/Counselor</c:v>
                      </c:pt>
                      <c:pt idx="13">
                        <c:v>Retailers (e.g., GNC, Whole Foods, etc.)</c:v>
                      </c:pt>
                      <c:pt idx="14">
                        <c:v>Athlete influence/podcaster</c:v>
                      </c:pt>
                      <c:pt idx="15">
                        <c:v>Third-party testers/certifiers</c:v>
                      </c:pt>
                      <c:pt idx="16">
                        <c:v>Celebrity influencer/podcaster</c:v>
                      </c:pt>
                    </c:strCache>
                  </c:strRef>
                </c:cat>
                <c:val>
                  <c:numRef>
                    <c:extLst xmlns:c15="http://schemas.microsoft.com/office/drawing/2012/chart">
                      <c:ext xmlns:c15="http://schemas.microsoft.com/office/drawing/2012/chart" uri="{02D57815-91ED-43cb-92C2-25804820EDAC}">
                        <c15:formulaRef>
                          <c15:sqref>Sheet1!$D$2:$D$18</c15:sqref>
                        </c15:formulaRef>
                      </c:ext>
                    </c:extLst>
                    <c:numCache>
                      <c:formatCode>0_ ;\-0_ ;\-_ </c:formatCode>
                      <c:ptCount val="17"/>
                      <c:pt idx="0">
                        <c:v>51.612903225806448</c:v>
                      </c:pt>
                      <c:pt idx="1">
                        <c:v>37.927663734115349</c:v>
                      </c:pt>
                      <c:pt idx="2">
                        <c:v>31.76930596285435</c:v>
                      </c:pt>
                      <c:pt idx="3">
                        <c:v>26.19745845552297</c:v>
                      </c:pt>
                      <c:pt idx="4">
                        <c:v>20.43010752688172</c:v>
                      </c:pt>
                      <c:pt idx="5">
                        <c:v>14.760508308895405</c:v>
                      </c:pt>
                      <c:pt idx="6">
                        <c:v>13.685239491691105</c:v>
                      </c:pt>
                      <c:pt idx="7">
                        <c:v>13.880742913000978</c:v>
                      </c:pt>
                      <c:pt idx="8">
                        <c:v>12.903225806451612</c:v>
                      </c:pt>
                      <c:pt idx="9">
                        <c:v>10.654936461388074</c:v>
                      </c:pt>
                      <c:pt idx="10">
                        <c:v>10.654936461388074</c:v>
                      </c:pt>
                      <c:pt idx="11">
                        <c:v>8.6999022482893444</c:v>
                      </c:pt>
                      <c:pt idx="12">
                        <c:v>8.7976539589442808</c:v>
                      </c:pt>
                      <c:pt idx="13">
                        <c:v>9.5796676441837736</c:v>
                      </c:pt>
                      <c:pt idx="14">
                        <c:v>10.166177908113392</c:v>
                      </c:pt>
                      <c:pt idx="15">
                        <c:v>6.4516129032258061</c:v>
                      </c:pt>
                      <c:pt idx="16">
                        <c:v>5.376344086021505</c:v>
                      </c:pt>
                    </c:numCache>
                  </c:numRef>
                </c:val>
                <c:extLst xmlns:c15="http://schemas.microsoft.com/office/drawing/2012/chart">
                  <c:ext xmlns:c16="http://schemas.microsoft.com/office/drawing/2014/chart" uri="{C3380CC4-5D6E-409C-BE32-E72D297353CC}">
                    <c16:uniqueId val="{00000002-53AE-437A-8754-A40C865069A2}"/>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Sheet1!$E$1</c15:sqref>
                        </c15:formulaRef>
                      </c:ext>
                    </c:extLst>
                    <c:strCache>
                      <c:ptCount val="1"/>
                      <c:pt idx="0">
                        <c:v>P3M Functional Beverage Users</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Sheet1!$A$2:$A$18</c15:sqref>
                        </c15:formulaRef>
                      </c:ext>
                    </c:extLst>
                    <c:strCache>
                      <c:ptCount val="17"/>
                      <c:pt idx="0">
                        <c:v>Doctor/Medical Professional</c:v>
                      </c:pt>
                      <c:pt idx="1">
                        <c:v>Health and wellness publications/websites</c:v>
                      </c:pt>
                      <c:pt idx="2">
                        <c:v>Friends and family</c:v>
                      </c:pt>
                      <c:pt idx="3">
                        <c:v>Online reviews</c:v>
                      </c:pt>
                      <c:pt idx="4">
                        <c:v>Health &amp; Wellness product manufacturers/brands</c:v>
                      </c:pt>
                      <c:pt idx="5">
                        <c:v>General interest publications/websites (e.g., women's/men's magazines)</c:v>
                      </c:pt>
                      <c:pt idx="6">
                        <c:v>Product packaging</c:v>
                      </c:pt>
                      <c:pt idx="7">
                        <c:v>Social media influencer/podcaster</c:v>
                      </c:pt>
                      <c:pt idx="8">
                        <c:v>Coach/Trainer/Physical Therapist</c:v>
                      </c:pt>
                      <c:pt idx="9">
                        <c:v>Government websites (e.g., CDC, NIH)</c:v>
                      </c:pt>
                      <c:pt idx="10">
                        <c:v>Health technology companies/apps</c:v>
                      </c:pt>
                      <c:pt idx="11">
                        <c:v>Other Wellness Professionals (e.g., acupuncturist, masseuse, aesthetician, etc.)</c:v>
                      </c:pt>
                      <c:pt idx="12">
                        <c:v>Therapist/Counselor</c:v>
                      </c:pt>
                      <c:pt idx="13">
                        <c:v>Retailers (e.g., GNC, Whole Foods, etc.)</c:v>
                      </c:pt>
                      <c:pt idx="14">
                        <c:v>Athlete influence/podcaster</c:v>
                      </c:pt>
                      <c:pt idx="15">
                        <c:v>Third-party testers/certifiers</c:v>
                      </c:pt>
                      <c:pt idx="16">
                        <c:v>Celebrity influencer/podcaster</c:v>
                      </c:pt>
                    </c:strCache>
                  </c:strRef>
                </c:cat>
                <c:val>
                  <c:numRef>
                    <c:extLst xmlns:c15="http://schemas.microsoft.com/office/drawing/2012/chart">
                      <c:ext xmlns:c15="http://schemas.microsoft.com/office/drawing/2012/chart" uri="{02D57815-91ED-43cb-92C2-25804820EDAC}">
                        <c15:formulaRef>
                          <c15:sqref>Sheet1!$E$2:$E$18</c15:sqref>
                        </c15:formulaRef>
                      </c:ext>
                    </c:extLst>
                    <c:numCache>
                      <c:formatCode>0_ ;\-0_ ;\-_ </c:formatCode>
                      <c:ptCount val="17"/>
                      <c:pt idx="0">
                        <c:v>50.845771144278601</c:v>
                      </c:pt>
                      <c:pt idx="1">
                        <c:v>36.218905472636813</c:v>
                      </c:pt>
                      <c:pt idx="2">
                        <c:v>33.233830845771145</c:v>
                      </c:pt>
                      <c:pt idx="3">
                        <c:v>25.970149253731343</c:v>
                      </c:pt>
                      <c:pt idx="4">
                        <c:v>20</c:v>
                      </c:pt>
                      <c:pt idx="5">
                        <c:v>14.427860696517412</c:v>
                      </c:pt>
                      <c:pt idx="6">
                        <c:v>12.835820895522387</c:v>
                      </c:pt>
                      <c:pt idx="7">
                        <c:v>14.129353233830845</c:v>
                      </c:pt>
                      <c:pt idx="8">
                        <c:v>12.835820895522387</c:v>
                      </c:pt>
                      <c:pt idx="9">
                        <c:v>10.646766169154228</c:v>
                      </c:pt>
                      <c:pt idx="10">
                        <c:v>11.243781094527362</c:v>
                      </c:pt>
                      <c:pt idx="11">
                        <c:v>9.1542288557213922</c:v>
                      </c:pt>
                      <c:pt idx="12">
                        <c:v>9.5522388059701484</c:v>
                      </c:pt>
                      <c:pt idx="13">
                        <c:v>9.3532338308457703</c:v>
                      </c:pt>
                      <c:pt idx="14">
                        <c:v>10.149253731343283</c:v>
                      </c:pt>
                      <c:pt idx="15">
                        <c:v>6.0696517412935318</c:v>
                      </c:pt>
                      <c:pt idx="16">
                        <c:v>5.6716417910447756</c:v>
                      </c:pt>
                    </c:numCache>
                  </c:numRef>
                </c:val>
                <c:extLst xmlns:c15="http://schemas.microsoft.com/office/drawing/2012/chart">
                  <c:ext xmlns:c16="http://schemas.microsoft.com/office/drawing/2014/chart" uri="{C3380CC4-5D6E-409C-BE32-E72D297353CC}">
                    <c16:uniqueId val="{00000003-53AE-437A-8754-A40C865069A2}"/>
                  </c:ext>
                </c:extLst>
              </c15:ser>
            </c15:filteredBarSeries>
          </c:ext>
        </c:extLst>
      </c:barChart>
      <c:catAx>
        <c:axId val="196050702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t"/>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Health &amp; Wellness Challenges</a:t>
            </a:r>
          </a:p>
          <a:p>
            <a:pPr>
              <a:defRPr sz="1600" b="1"/>
            </a:pPr>
            <a:r>
              <a:rPr lang="en-US" sz="1400" b="0" i="1" dirty="0"/>
              <a:t>% of </a:t>
            </a:r>
            <a:r>
              <a:rPr lang="en-US" sz="1400" b="0" i="1" baseline="0" dirty="0"/>
              <a:t>P3M Functional Nutrition Users</a:t>
            </a:r>
            <a:endParaRPr lang="en-US" sz="1400" b="0" i="1" dirty="0"/>
          </a:p>
        </c:rich>
      </c:tx>
      <c:layout>
        <c:manualLayout>
          <c:xMode val="edge"/>
          <c:yMode val="edge"/>
          <c:x val="0.3957837169651367"/>
          <c:y val="0.14556298880975063"/>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834186850601258"/>
          <c:y val="0.20768817384515742"/>
          <c:w val="0.82740979546714277"/>
          <c:h val="0.62752353693625695"/>
        </c:manualLayout>
      </c:layout>
      <c:barChart>
        <c:barDir val="col"/>
        <c:grouping val="clustered"/>
        <c:varyColors val="0"/>
        <c:ser>
          <c:idx val="0"/>
          <c:order val="0"/>
          <c:tx>
            <c:strRef>
              <c:f>Sheet1!$B$1</c:f>
              <c:strCache>
                <c:ptCount val="1"/>
                <c:pt idx="0">
                  <c:v>Total P3M Functional Nutrition Users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There is too much conflicting information about what to do/not to do</c:v>
                </c:pt>
                <c:pt idx="1">
                  <c:v>It's difficult to stay motivated and stick to a routine</c:v>
                </c:pt>
                <c:pt idx="2">
                  <c:v>It's too expensive to prioritize health and well-being</c:v>
                </c:pt>
                <c:pt idx="3">
                  <c:v>I don't trust the guidance/information from celebrities, athletes, or other influencers</c:v>
                </c:pt>
                <c:pt idx="4">
                  <c:v>It's too complicated/there are too many things to focus on</c:v>
                </c:pt>
                <c:pt idx="5">
                  <c:v>I don't trust the claims made by health and wellness brands</c:v>
                </c:pt>
                <c:pt idx="6">
                  <c:v>Solutions aren't personalized enough</c:v>
                </c:pt>
                <c:pt idx="7">
                  <c:v>I don't trust the guidance/information from health and wellness professionals</c:v>
                </c:pt>
                <c:pt idx="8">
                  <c:v>None of the above are challenges for me</c:v>
                </c:pt>
              </c:strCache>
            </c:strRef>
          </c:cat>
          <c:val>
            <c:numRef>
              <c:f>Sheet1!$B$2:$B$10</c:f>
              <c:numCache>
                <c:formatCode>0_ ;\-0_ ;\-_ </c:formatCode>
                <c:ptCount val="9"/>
                <c:pt idx="0">
                  <c:v>37.748344370860927</c:v>
                </c:pt>
                <c:pt idx="1">
                  <c:v>36.490066225165563</c:v>
                </c:pt>
                <c:pt idx="2">
                  <c:v>26.357615894039736</c:v>
                </c:pt>
                <c:pt idx="3">
                  <c:v>26.225165562913908</c:v>
                </c:pt>
                <c:pt idx="4">
                  <c:v>21.920529801324506</c:v>
                </c:pt>
                <c:pt idx="5">
                  <c:v>20.264900662251655</c:v>
                </c:pt>
                <c:pt idx="6">
                  <c:v>18.874172185430464</c:v>
                </c:pt>
                <c:pt idx="7">
                  <c:v>10.927152317880795</c:v>
                </c:pt>
                <c:pt idx="8">
                  <c:v>23.17880794701987</c:v>
                </c:pt>
              </c:numCache>
            </c:numRef>
          </c:val>
          <c:extLst>
            <c:ext xmlns:c16="http://schemas.microsoft.com/office/drawing/2014/chart" uri="{C3380CC4-5D6E-409C-BE32-E72D297353CC}">
              <c16:uniqueId val="{00000000-27E6-4391-960D-3CE5548C59DF}"/>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P3M Dietary Supplements Users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Sheet1!$A$2:$A$10</c15:sqref>
                        </c15:formulaRef>
                      </c:ext>
                    </c:extLst>
                    <c:strCache>
                      <c:ptCount val="9"/>
                      <c:pt idx="0">
                        <c:v>There is too much conflicting information about what to do/not to do</c:v>
                      </c:pt>
                      <c:pt idx="1">
                        <c:v>It's difficult to stay motivated and stick to a routine</c:v>
                      </c:pt>
                      <c:pt idx="2">
                        <c:v>It's too expensive to prioritize health and well-being</c:v>
                      </c:pt>
                      <c:pt idx="3">
                        <c:v>I don't trust the guidance/information from celebrities, athletes, or other influencers</c:v>
                      </c:pt>
                      <c:pt idx="4">
                        <c:v>It's too complicated/there are too many things to focus on</c:v>
                      </c:pt>
                      <c:pt idx="5">
                        <c:v>I don't trust the claims made by health and wellness brands</c:v>
                      </c:pt>
                      <c:pt idx="6">
                        <c:v>Solutions aren't personalized enough</c:v>
                      </c:pt>
                      <c:pt idx="7">
                        <c:v>I don't trust the guidance/information from health and wellness professionals</c:v>
                      </c:pt>
                      <c:pt idx="8">
                        <c:v>None of the above are challenges for me</c:v>
                      </c:pt>
                    </c:strCache>
                  </c:strRef>
                </c:cat>
                <c:val>
                  <c:numRef>
                    <c:extLst>
                      <c:ext uri="{02D57815-91ED-43cb-92C2-25804820EDAC}">
                        <c15:formulaRef>
                          <c15:sqref>Sheet1!$C$2:$C$10</c15:sqref>
                        </c15:formulaRef>
                      </c:ext>
                    </c:extLst>
                    <c:numCache>
                      <c:formatCode>0_ ;\-0_ ;\-_ </c:formatCode>
                      <c:ptCount val="9"/>
                      <c:pt idx="0">
                        <c:v>37.720033528918691</c:v>
                      </c:pt>
                      <c:pt idx="1">
                        <c:v>37.217099748533109</c:v>
                      </c:pt>
                      <c:pt idx="2">
                        <c:v>25.398155909471921</c:v>
                      </c:pt>
                      <c:pt idx="3">
                        <c:v>27.745180217937971</c:v>
                      </c:pt>
                      <c:pt idx="4">
                        <c:v>21.626152556580053</c:v>
                      </c:pt>
                      <c:pt idx="5">
                        <c:v>20.871751886001675</c:v>
                      </c:pt>
                      <c:pt idx="6">
                        <c:v>18.692372170997487</c:v>
                      </c:pt>
                      <c:pt idx="7">
                        <c:v>10.393964794635373</c:v>
                      </c:pt>
                      <c:pt idx="8">
                        <c:v>22.799664710813076</c:v>
                      </c:pt>
                    </c:numCache>
                  </c:numRef>
                </c:val>
                <c:extLst>
                  <c:ext xmlns:c16="http://schemas.microsoft.com/office/drawing/2014/chart" uri="{C3380CC4-5D6E-409C-BE32-E72D297353CC}">
                    <c16:uniqueId val="{00000001-27E6-4391-960D-3CE5548C59DF}"/>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P3M Functional Food Users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Sheet1!$A$2:$A$10</c15:sqref>
                        </c15:formulaRef>
                      </c:ext>
                    </c:extLst>
                    <c:strCache>
                      <c:ptCount val="9"/>
                      <c:pt idx="0">
                        <c:v>There is too much conflicting information about what to do/not to do</c:v>
                      </c:pt>
                      <c:pt idx="1">
                        <c:v>It's difficult to stay motivated and stick to a routine</c:v>
                      </c:pt>
                      <c:pt idx="2">
                        <c:v>It's too expensive to prioritize health and well-being</c:v>
                      </c:pt>
                      <c:pt idx="3">
                        <c:v>I don't trust the guidance/information from celebrities, athletes, or other influencers</c:v>
                      </c:pt>
                      <c:pt idx="4">
                        <c:v>It's too complicated/there are too many things to focus on</c:v>
                      </c:pt>
                      <c:pt idx="5">
                        <c:v>I don't trust the claims made by health and wellness brands</c:v>
                      </c:pt>
                      <c:pt idx="6">
                        <c:v>Solutions aren't personalized enough</c:v>
                      </c:pt>
                      <c:pt idx="7">
                        <c:v>I don't trust the guidance/information from health and wellness professionals</c:v>
                      </c:pt>
                      <c:pt idx="8">
                        <c:v>None of the above are challenges for me</c:v>
                      </c:pt>
                    </c:strCache>
                  </c:strRef>
                </c:cat>
                <c:val>
                  <c:numRef>
                    <c:extLst xmlns:c15="http://schemas.microsoft.com/office/drawing/2012/chart">
                      <c:ext xmlns:c15="http://schemas.microsoft.com/office/drawing/2012/chart" uri="{02D57815-91ED-43cb-92C2-25804820EDAC}">
                        <c15:formulaRef>
                          <c15:sqref>Sheet1!$D$2:$D$10</c15:sqref>
                        </c15:formulaRef>
                      </c:ext>
                    </c:extLst>
                    <c:numCache>
                      <c:formatCode>0_ ;\-0_ ;\-_ </c:formatCode>
                      <c:ptCount val="9"/>
                      <c:pt idx="0">
                        <c:v>38.514173998044967</c:v>
                      </c:pt>
                      <c:pt idx="1">
                        <c:v>33.822091886608014</c:v>
                      </c:pt>
                      <c:pt idx="2">
                        <c:v>26.490713587487779</c:v>
                      </c:pt>
                      <c:pt idx="3">
                        <c:v>26.19745845552297</c:v>
                      </c:pt>
                      <c:pt idx="4">
                        <c:v>23.264907135874878</c:v>
                      </c:pt>
                      <c:pt idx="5">
                        <c:v>20.234604105571847</c:v>
                      </c:pt>
                      <c:pt idx="6">
                        <c:v>21.603128054740957</c:v>
                      </c:pt>
                      <c:pt idx="7">
                        <c:v>12.023460410557185</c:v>
                      </c:pt>
                      <c:pt idx="8">
                        <c:v>23.362658846529815</c:v>
                      </c:pt>
                    </c:numCache>
                  </c:numRef>
                </c:val>
                <c:extLst xmlns:c15="http://schemas.microsoft.com/office/drawing/2012/chart">
                  <c:ext xmlns:c16="http://schemas.microsoft.com/office/drawing/2014/chart" uri="{C3380CC4-5D6E-409C-BE32-E72D297353CC}">
                    <c16:uniqueId val="{00000002-27E6-4391-960D-3CE5548C59DF}"/>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Sheet1!$E$1</c15:sqref>
                        </c15:formulaRef>
                      </c:ext>
                    </c:extLst>
                    <c:strCache>
                      <c:ptCount val="1"/>
                      <c:pt idx="0">
                        <c:v>P3M Functional Beverage Users</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Sheet1!$A$2:$A$10</c15:sqref>
                        </c15:formulaRef>
                      </c:ext>
                    </c:extLst>
                    <c:strCache>
                      <c:ptCount val="9"/>
                      <c:pt idx="0">
                        <c:v>There is too much conflicting information about what to do/not to do</c:v>
                      </c:pt>
                      <c:pt idx="1">
                        <c:v>It's difficult to stay motivated and stick to a routine</c:v>
                      </c:pt>
                      <c:pt idx="2">
                        <c:v>It's too expensive to prioritize health and well-being</c:v>
                      </c:pt>
                      <c:pt idx="3">
                        <c:v>I don't trust the guidance/information from celebrities, athletes, or other influencers</c:v>
                      </c:pt>
                      <c:pt idx="4">
                        <c:v>It's too complicated/there are too many things to focus on</c:v>
                      </c:pt>
                      <c:pt idx="5">
                        <c:v>I don't trust the claims made by health and wellness brands</c:v>
                      </c:pt>
                      <c:pt idx="6">
                        <c:v>Solutions aren't personalized enough</c:v>
                      </c:pt>
                      <c:pt idx="7">
                        <c:v>I don't trust the guidance/information from health and wellness professionals</c:v>
                      </c:pt>
                      <c:pt idx="8">
                        <c:v>None of the above are challenges for me</c:v>
                      </c:pt>
                    </c:strCache>
                  </c:strRef>
                </c:cat>
                <c:val>
                  <c:numRef>
                    <c:extLst xmlns:c15="http://schemas.microsoft.com/office/drawing/2012/chart">
                      <c:ext xmlns:c15="http://schemas.microsoft.com/office/drawing/2012/chart" uri="{02D57815-91ED-43cb-92C2-25804820EDAC}">
                        <c15:formulaRef>
                          <c15:sqref>Sheet1!$E$2:$E$10</c15:sqref>
                        </c15:formulaRef>
                      </c:ext>
                    </c:extLst>
                    <c:numCache>
                      <c:formatCode>0_ ;\-0_ ;\-_ </c:formatCode>
                      <c:ptCount val="9"/>
                      <c:pt idx="0">
                        <c:v>39.701492537313428</c:v>
                      </c:pt>
                      <c:pt idx="1">
                        <c:v>34.726368159203979</c:v>
                      </c:pt>
                      <c:pt idx="2">
                        <c:v>28.557213930348258</c:v>
                      </c:pt>
                      <c:pt idx="3">
                        <c:v>26.06965174129353</c:v>
                      </c:pt>
                      <c:pt idx="4">
                        <c:v>22.985074626865671</c:v>
                      </c:pt>
                      <c:pt idx="5">
                        <c:v>20.398009950248756</c:v>
                      </c:pt>
                      <c:pt idx="6">
                        <c:v>20.696517412935322</c:v>
                      </c:pt>
                      <c:pt idx="7">
                        <c:v>12.139303482587064</c:v>
                      </c:pt>
                      <c:pt idx="8">
                        <c:v>21.990049751243781</c:v>
                      </c:pt>
                    </c:numCache>
                  </c:numRef>
                </c:val>
                <c:extLst xmlns:c15="http://schemas.microsoft.com/office/drawing/2012/chart">
                  <c:ext xmlns:c16="http://schemas.microsoft.com/office/drawing/2014/chart" uri="{C3380CC4-5D6E-409C-BE32-E72D297353CC}">
                    <c16:uniqueId val="{00000003-27E6-4391-960D-3CE5548C59DF}"/>
                  </c:ext>
                </c:extLst>
              </c15:ser>
            </c15:filteredBarSeries>
          </c:ext>
        </c:extLst>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P3M Functional Nutrition </a:t>
            </a:r>
            <a:r>
              <a:rPr lang="en-US" sz="1600" b="1" baseline="0" dirty="0"/>
              <a:t>Category Usage</a:t>
            </a:r>
          </a:p>
          <a:p>
            <a:pPr>
              <a:defRPr sz="1600" b="1"/>
            </a:pPr>
            <a:r>
              <a:rPr lang="en-US" sz="1400" b="0" i="1" baseline="0" dirty="0"/>
              <a:t>% of P3M Category Users</a:t>
            </a:r>
            <a:endParaRPr lang="en-US" sz="1400" b="0" i="1" dirty="0"/>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Sheet1!$A$2</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Total P3M Functional Nutrition Users</c:v>
                </c:pt>
                <c:pt idx="1">
                  <c:v>P3M Dietary Supplements Users</c:v>
                </c:pt>
                <c:pt idx="2">
                  <c:v>P3M Functional Food Users</c:v>
                </c:pt>
                <c:pt idx="3">
                  <c:v>P3M Functional Beverage Users</c:v>
                </c:pt>
              </c:strCache>
            </c:strRef>
          </c:cat>
          <c:val>
            <c:numRef>
              <c:f>Sheet1!$B$2:$E$2</c:f>
              <c:numCache>
                <c:formatCode>0_ ;\-0_ ;\-_ </c:formatCode>
                <c:ptCount val="4"/>
                <c:pt idx="0">
                  <c:v>79.006622516556291</c:v>
                </c:pt>
                <c:pt idx="1">
                  <c:v>100</c:v>
                </c:pt>
                <c:pt idx="2">
                  <c:v>76.832844574780054</c:v>
                </c:pt>
                <c:pt idx="3">
                  <c:v>76.019900497512438</c:v>
                </c:pt>
              </c:numCache>
            </c:numRef>
          </c:val>
          <c:extLst>
            <c:ext xmlns:c16="http://schemas.microsoft.com/office/drawing/2014/chart" uri="{C3380CC4-5D6E-409C-BE32-E72D297353CC}">
              <c16:uniqueId val="{00000000-5E31-40F9-8377-4FCA135D5CD4}"/>
            </c:ext>
          </c:extLst>
        </c:ser>
        <c:ser>
          <c:idx val="1"/>
          <c:order val="1"/>
          <c:tx>
            <c:strRef>
              <c:f>Sheet1!$A$3</c:f>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Total P3M Functional Nutrition Users</c:v>
                </c:pt>
                <c:pt idx="1">
                  <c:v>P3M Dietary Supplements Users</c:v>
                </c:pt>
                <c:pt idx="2">
                  <c:v>P3M Functional Food Users</c:v>
                </c:pt>
                <c:pt idx="3">
                  <c:v>P3M Functional Beverage Users</c:v>
                </c:pt>
              </c:strCache>
            </c:strRef>
          </c:cat>
          <c:val>
            <c:numRef>
              <c:f>Sheet1!$B$3:$E$3</c:f>
              <c:numCache>
                <c:formatCode>0_ ;\-0_ ;\-_ </c:formatCode>
                <c:ptCount val="4"/>
                <c:pt idx="0">
                  <c:v>67.748344370860934</c:v>
                </c:pt>
                <c:pt idx="1">
                  <c:v>65.884325230511323</c:v>
                </c:pt>
                <c:pt idx="2">
                  <c:v>100</c:v>
                </c:pt>
                <c:pt idx="3">
                  <c:v>79.303482587064664</c:v>
                </c:pt>
              </c:numCache>
            </c:numRef>
          </c:val>
          <c:extLst>
            <c:ext xmlns:c16="http://schemas.microsoft.com/office/drawing/2014/chart" uri="{C3380CC4-5D6E-409C-BE32-E72D297353CC}">
              <c16:uniqueId val="{00000001-5E31-40F9-8377-4FCA135D5CD4}"/>
            </c:ext>
          </c:extLst>
        </c:ser>
        <c:ser>
          <c:idx val="2"/>
          <c:order val="2"/>
          <c:tx>
            <c:strRef>
              <c:f>Sheet1!$A$4</c:f>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Total P3M Functional Nutrition Users</c:v>
                </c:pt>
                <c:pt idx="1">
                  <c:v>P3M Dietary Supplements Users</c:v>
                </c:pt>
                <c:pt idx="2">
                  <c:v>P3M Functional Food Users</c:v>
                </c:pt>
                <c:pt idx="3">
                  <c:v>P3M Functional Beverage Users</c:v>
                </c:pt>
              </c:strCache>
            </c:strRef>
          </c:cat>
          <c:val>
            <c:numRef>
              <c:f>Sheet1!$B$4:$E$4</c:f>
              <c:numCache>
                <c:formatCode>0_ ;\-0_ ;\-_ </c:formatCode>
                <c:ptCount val="4"/>
                <c:pt idx="0">
                  <c:v>66.556291390728475</c:v>
                </c:pt>
                <c:pt idx="1">
                  <c:v>64.040234702430851</c:v>
                </c:pt>
                <c:pt idx="2">
                  <c:v>77.908113391984358</c:v>
                </c:pt>
                <c:pt idx="3">
                  <c:v>100</c:v>
                </c:pt>
              </c:numCache>
            </c:numRef>
          </c:val>
          <c:extLst>
            <c:ext xmlns:c16="http://schemas.microsoft.com/office/drawing/2014/chart" uri="{C3380CC4-5D6E-409C-BE32-E72D297353CC}">
              <c16:uniqueId val="{00000002-5E31-40F9-8377-4FCA135D5CD4}"/>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3"/>
                <c:order val="3"/>
                <c:tx>
                  <c:strRef>
                    <c:extLst>
                      <c:ext uri="{02D57815-91ED-43cb-92C2-25804820EDAC}">
                        <c15:formulaRef>
                          <c15:sqref>Sheet1!$A$5</c15:sqref>
                        </c15:formulaRef>
                      </c:ext>
                    </c:extLst>
                    <c:strCache>
                      <c:ptCount val="1"/>
                      <c:pt idx="0">
                        <c:v>Organic foods or beverages</c:v>
                      </c:pt>
                    </c:strCache>
                  </c:strRef>
                </c:tx>
                <c:spPr>
                  <a:solidFill>
                    <a:schemeClr val="accent2">
                      <a:lumMod val="60000"/>
                    </a:schemeClr>
                  </a:solidFill>
                  <a:ln>
                    <a:noFill/>
                  </a:ln>
                  <a:effectLst/>
                </c:spPr>
                <c:invertIfNegative val="0"/>
                <c:cat>
                  <c:strRef>
                    <c:extLst>
                      <c:ext uri="{02D57815-91ED-43cb-92C2-25804820EDAC}">
                        <c15:formulaRef>
                          <c15:sqref>Sheet1!$B$1:$E$1</c15:sqref>
                        </c15:formulaRef>
                      </c:ext>
                    </c:extLst>
                    <c:strCache>
                      <c:ptCount val="4"/>
                      <c:pt idx="0">
                        <c:v>Total P3M Functional Nutrition Users</c:v>
                      </c:pt>
                      <c:pt idx="1">
                        <c:v>P3M Dietary Supplements Users</c:v>
                      </c:pt>
                      <c:pt idx="2">
                        <c:v>P3M Functional Food Users</c:v>
                      </c:pt>
                      <c:pt idx="3">
                        <c:v>P3M Functional Beverage Users</c:v>
                      </c:pt>
                    </c:strCache>
                  </c:strRef>
                </c:cat>
                <c:val>
                  <c:numRef>
                    <c:extLst>
                      <c:ext uri="{02D57815-91ED-43cb-92C2-25804820EDAC}">
                        <c15:formulaRef>
                          <c15:sqref>Sheet1!$B$5:$E$5</c15:sqref>
                        </c15:formulaRef>
                      </c:ext>
                    </c:extLst>
                    <c:numCache>
                      <c:formatCode>0_ ;\-0_ ;\-_ </c:formatCode>
                      <c:ptCount val="4"/>
                      <c:pt idx="0">
                        <c:v>62.450331125827816</c:v>
                      </c:pt>
                      <c:pt idx="1">
                        <c:v>65.046102263202016</c:v>
                      </c:pt>
                      <c:pt idx="2">
                        <c:v>72.140762463343108</c:v>
                      </c:pt>
                      <c:pt idx="3">
                        <c:v>71.243781094527364</c:v>
                      </c:pt>
                    </c:numCache>
                  </c:numRef>
                </c:val>
                <c:extLst>
                  <c:ext xmlns:c16="http://schemas.microsoft.com/office/drawing/2014/chart" uri="{C3380CC4-5D6E-409C-BE32-E72D297353CC}">
                    <c16:uniqueId val="{00000001-D0C1-4847-A1CC-41EDA74D2EE5}"/>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Sheet1!$A$6</c15:sqref>
                        </c15:formulaRef>
                      </c:ext>
                    </c:extLst>
                    <c:strCache>
                      <c:ptCount val="1"/>
                      <c:pt idx="0">
                        <c:v>Personalized skincare products</c:v>
                      </c:pt>
                    </c:strCache>
                  </c:strRef>
                </c:tx>
                <c:spPr>
                  <a:solidFill>
                    <a:schemeClr val="accent4">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Sheet1!$B$1:$E$1</c15:sqref>
                        </c15:formulaRef>
                      </c:ext>
                    </c:extLst>
                    <c:strCache>
                      <c:ptCount val="4"/>
                      <c:pt idx="0">
                        <c:v>Total P3M Functional Nutrition Users</c:v>
                      </c:pt>
                      <c:pt idx="1">
                        <c:v>P3M Dietary Supplements Users</c:v>
                      </c:pt>
                      <c:pt idx="2">
                        <c:v>P3M Functional Food Users</c:v>
                      </c:pt>
                      <c:pt idx="3">
                        <c:v>P3M Functional Beverage Users</c:v>
                      </c:pt>
                    </c:strCache>
                  </c:strRef>
                </c:cat>
                <c:val>
                  <c:numRef>
                    <c:extLst xmlns:c15="http://schemas.microsoft.com/office/drawing/2012/chart">
                      <c:ext xmlns:c15="http://schemas.microsoft.com/office/drawing/2012/chart" uri="{02D57815-91ED-43cb-92C2-25804820EDAC}">
                        <c15:formulaRef>
                          <c15:sqref>Sheet1!$B$6:$E$6</c15:sqref>
                        </c15:formulaRef>
                      </c:ext>
                    </c:extLst>
                    <c:numCache>
                      <c:formatCode>0_ ;\-0_ ;\-_ </c:formatCode>
                      <c:ptCount val="4"/>
                      <c:pt idx="0">
                        <c:v>46.423841059602651</c:v>
                      </c:pt>
                      <c:pt idx="1">
                        <c:v>47.611064543168482</c:v>
                      </c:pt>
                      <c:pt idx="2">
                        <c:v>55.620723362658843</c:v>
                      </c:pt>
                      <c:pt idx="3">
                        <c:v>54.328358208955223</c:v>
                      </c:pt>
                    </c:numCache>
                  </c:numRef>
                </c:val>
                <c:extLst xmlns:c15="http://schemas.microsoft.com/office/drawing/2012/chart">
                  <c:ext xmlns:c16="http://schemas.microsoft.com/office/drawing/2014/chart" uri="{C3380CC4-5D6E-409C-BE32-E72D297353CC}">
                    <c16:uniqueId val="{00000000-6899-44DA-A081-25F00643518D}"/>
                  </c:ext>
                </c:extLst>
              </c15:ser>
            </c15:filteredBarSeries>
            <c15:filteredBarSeries>
              <c15:ser>
                <c:idx val="5"/>
                <c:order val="5"/>
                <c:tx>
                  <c:strRef>
                    <c:extLst xmlns:c15="http://schemas.microsoft.com/office/drawing/2012/chart">
                      <c:ext xmlns:c15="http://schemas.microsoft.com/office/drawing/2012/chart" uri="{02D57815-91ED-43cb-92C2-25804820EDAC}">
                        <c15:formulaRef>
                          <c15:sqref>Sheet1!$A$7</c15:sqref>
                        </c15:formulaRef>
                      </c:ext>
                    </c:extLst>
                    <c:strCache>
                      <c:ptCount val="1"/>
                      <c:pt idx="0">
                        <c:v>At-home fitness equipment</c:v>
                      </c:pt>
                    </c:strCache>
                  </c:strRef>
                </c:tx>
                <c:spPr>
                  <a:solidFill>
                    <a:schemeClr val="accent6">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Sheet1!$B$1:$E$1</c15:sqref>
                        </c15:formulaRef>
                      </c:ext>
                    </c:extLst>
                    <c:strCache>
                      <c:ptCount val="4"/>
                      <c:pt idx="0">
                        <c:v>Total P3M Functional Nutrition Users</c:v>
                      </c:pt>
                      <c:pt idx="1">
                        <c:v>P3M Dietary Supplements Users</c:v>
                      </c:pt>
                      <c:pt idx="2">
                        <c:v>P3M Functional Food Users</c:v>
                      </c:pt>
                      <c:pt idx="3">
                        <c:v>P3M Functional Beverage Users</c:v>
                      </c:pt>
                    </c:strCache>
                  </c:strRef>
                </c:cat>
                <c:val>
                  <c:numRef>
                    <c:extLst xmlns:c15="http://schemas.microsoft.com/office/drawing/2012/chart">
                      <c:ext xmlns:c15="http://schemas.microsoft.com/office/drawing/2012/chart" uri="{02D57815-91ED-43cb-92C2-25804820EDAC}">
                        <c15:formulaRef>
                          <c15:sqref>Sheet1!$B$7:$E$7</c15:sqref>
                        </c15:formulaRef>
                      </c:ext>
                    </c:extLst>
                    <c:numCache>
                      <c:formatCode>0_ ;\-0_ ;\-_ </c:formatCode>
                      <c:ptCount val="4"/>
                      <c:pt idx="0">
                        <c:v>39.072847682119203</c:v>
                      </c:pt>
                      <c:pt idx="1">
                        <c:v>40.905280804694051</c:v>
                      </c:pt>
                      <c:pt idx="2">
                        <c:v>46.823069403714562</c:v>
                      </c:pt>
                      <c:pt idx="3">
                        <c:v>46.96517412935323</c:v>
                      </c:pt>
                    </c:numCache>
                  </c:numRef>
                </c:val>
                <c:extLst xmlns:c15="http://schemas.microsoft.com/office/drawing/2012/chart">
                  <c:ext xmlns:c16="http://schemas.microsoft.com/office/drawing/2014/chart" uri="{C3380CC4-5D6E-409C-BE32-E72D297353CC}">
                    <c16:uniqueId val="{00000001-6899-44DA-A081-25F00643518D}"/>
                  </c:ext>
                </c:extLst>
              </c15:ser>
            </c15:filteredBarSeries>
            <c15:filteredBarSeries>
              <c15:ser>
                <c:idx val="6"/>
                <c:order val="6"/>
                <c:tx>
                  <c:strRef>
                    <c:extLst xmlns:c15="http://schemas.microsoft.com/office/drawing/2012/chart">
                      <c:ext xmlns:c15="http://schemas.microsoft.com/office/drawing/2012/chart" uri="{02D57815-91ED-43cb-92C2-25804820EDAC}">
                        <c15:formulaRef>
                          <c15:sqref>Sheet1!$A$8</c15:sqref>
                        </c15:formulaRef>
                      </c:ext>
                    </c:extLst>
                    <c:strCache>
                      <c:ptCount val="1"/>
                      <c:pt idx="0">
                        <c:v>At-home skincare equipment</c:v>
                      </c:pt>
                    </c:strCache>
                  </c:strRef>
                </c:tx>
                <c:spPr>
                  <a:solidFill>
                    <a:schemeClr val="accent2">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Sheet1!$B$1:$E$1</c15:sqref>
                        </c15:formulaRef>
                      </c:ext>
                    </c:extLst>
                    <c:strCache>
                      <c:ptCount val="4"/>
                      <c:pt idx="0">
                        <c:v>Total P3M Functional Nutrition Users</c:v>
                      </c:pt>
                      <c:pt idx="1">
                        <c:v>P3M Dietary Supplements Users</c:v>
                      </c:pt>
                      <c:pt idx="2">
                        <c:v>P3M Functional Food Users</c:v>
                      </c:pt>
                      <c:pt idx="3">
                        <c:v>P3M Functional Beverage Users</c:v>
                      </c:pt>
                    </c:strCache>
                  </c:strRef>
                </c:cat>
                <c:val>
                  <c:numRef>
                    <c:extLst xmlns:c15="http://schemas.microsoft.com/office/drawing/2012/chart">
                      <c:ext xmlns:c15="http://schemas.microsoft.com/office/drawing/2012/chart" uri="{02D57815-91ED-43cb-92C2-25804820EDAC}">
                        <c15:formulaRef>
                          <c15:sqref>Sheet1!$B$8:$E$8</c15:sqref>
                        </c15:formulaRef>
                      </c:ext>
                    </c:extLst>
                    <c:numCache>
                      <c:formatCode>0_ ;\-0_ ;\-_ </c:formatCode>
                      <c:ptCount val="4"/>
                      <c:pt idx="0">
                        <c:v>24.569536423841061</c:v>
                      </c:pt>
                      <c:pt idx="1">
                        <c:v>25.48197820620285</c:v>
                      </c:pt>
                      <c:pt idx="2">
                        <c:v>32.453567937438905</c:v>
                      </c:pt>
                      <c:pt idx="3">
                        <c:v>31.542288557213929</c:v>
                      </c:pt>
                    </c:numCache>
                  </c:numRef>
                </c:val>
                <c:extLst xmlns:c15="http://schemas.microsoft.com/office/drawing/2012/chart">
                  <c:ext xmlns:c16="http://schemas.microsoft.com/office/drawing/2014/chart" uri="{C3380CC4-5D6E-409C-BE32-E72D297353CC}">
                    <c16:uniqueId val="{00000002-6899-44DA-A081-25F00643518D}"/>
                  </c:ext>
                </c:extLst>
              </c15:ser>
            </c15:filteredBarSeries>
            <c15:filteredBarSeries>
              <c15:ser>
                <c:idx val="7"/>
                <c:order val="7"/>
                <c:tx>
                  <c:strRef>
                    <c:extLst xmlns:c15="http://schemas.microsoft.com/office/drawing/2012/chart">
                      <c:ext xmlns:c15="http://schemas.microsoft.com/office/drawing/2012/chart" uri="{02D57815-91ED-43cb-92C2-25804820EDAC}">
                        <c15:formulaRef>
                          <c15:sqref>Sheet1!$A$9</c15:sqref>
                        </c15:formulaRef>
                      </c:ext>
                    </c:extLst>
                    <c:strCache>
                      <c:ptCount val="1"/>
                      <c:pt idx="0">
                        <c:v>Foods or beverages formulated specifically for supporting GLP-1 users</c:v>
                      </c:pt>
                    </c:strCache>
                  </c:strRef>
                </c:tx>
                <c:spPr>
                  <a:solidFill>
                    <a:schemeClr val="accent4">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Sheet1!$B$1:$E$1</c15:sqref>
                        </c15:formulaRef>
                      </c:ext>
                    </c:extLst>
                    <c:strCache>
                      <c:ptCount val="4"/>
                      <c:pt idx="0">
                        <c:v>Total P3M Functional Nutrition Users</c:v>
                      </c:pt>
                      <c:pt idx="1">
                        <c:v>P3M Dietary Supplements Users</c:v>
                      </c:pt>
                      <c:pt idx="2">
                        <c:v>P3M Functional Food Users</c:v>
                      </c:pt>
                      <c:pt idx="3">
                        <c:v>P3M Functional Beverage Users</c:v>
                      </c:pt>
                    </c:strCache>
                  </c:strRef>
                </c:cat>
                <c:val>
                  <c:numRef>
                    <c:extLst xmlns:c15="http://schemas.microsoft.com/office/drawing/2012/chart">
                      <c:ext xmlns:c15="http://schemas.microsoft.com/office/drawing/2012/chart" uri="{02D57815-91ED-43cb-92C2-25804820EDAC}">
                        <c15:formulaRef>
                          <c15:sqref>Sheet1!$B$9:$E$9</c15:sqref>
                        </c15:formulaRef>
                      </c:ext>
                    </c:extLst>
                    <c:numCache>
                      <c:formatCode>0_ ;\-0_ ;\-_ </c:formatCode>
                      <c:ptCount val="4"/>
                      <c:pt idx="0">
                        <c:v>24.437086092715234</c:v>
                      </c:pt>
                      <c:pt idx="1">
                        <c:v>24.643755238893547</c:v>
                      </c:pt>
                      <c:pt idx="2">
                        <c:v>30.107526881720428</c:v>
                      </c:pt>
                      <c:pt idx="3">
                        <c:v>30.746268656716417</c:v>
                      </c:pt>
                    </c:numCache>
                  </c:numRef>
                </c:val>
                <c:extLst xmlns:c15="http://schemas.microsoft.com/office/drawing/2012/chart">
                  <c:ext xmlns:c16="http://schemas.microsoft.com/office/drawing/2014/chart" uri="{C3380CC4-5D6E-409C-BE32-E72D297353CC}">
                    <c16:uniqueId val="{00000003-6899-44DA-A081-25F00643518D}"/>
                  </c:ext>
                </c:extLst>
              </c15:ser>
            </c15:filteredBarSeries>
          </c:ext>
        </c:extLst>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Frequency</a:t>
            </a:r>
            <a:r>
              <a:rPr lang="en-US" sz="1600" b="1" baseline="0" dirty="0"/>
              <a:t> of</a:t>
            </a:r>
            <a:r>
              <a:rPr lang="en-US" sz="1600" b="1" dirty="0"/>
              <a:t> Functional Nutrition </a:t>
            </a:r>
            <a:r>
              <a:rPr lang="en-US" sz="1600" b="1" baseline="0" dirty="0"/>
              <a:t>Category Usage</a:t>
            </a:r>
          </a:p>
          <a:p>
            <a:pPr>
              <a:defRPr sz="1600" b="1"/>
            </a:pPr>
            <a:r>
              <a:rPr lang="en-US" sz="1400" b="0" i="1" baseline="0" dirty="0"/>
              <a:t>% of P3M Category Users</a:t>
            </a:r>
            <a:endParaRPr lang="en-US" sz="1400" b="0" i="1" dirty="0"/>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Sheet1!$A$2</c:f>
              <c:strCache>
                <c:ptCount val="1"/>
                <c:pt idx="0">
                  <c:v>More than once/day</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Supplements</c:v>
                </c:pt>
                <c:pt idx="1">
                  <c:v>Functional Foods</c:v>
                </c:pt>
                <c:pt idx="2">
                  <c:v>Functional Beverages</c:v>
                </c:pt>
              </c:strCache>
            </c:strRef>
          </c:cat>
          <c:val>
            <c:numRef>
              <c:f>Sheet1!$B$2:$D$2</c:f>
              <c:numCache>
                <c:formatCode>0%</c:formatCode>
                <c:ptCount val="3"/>
                <c:pt idx="0">
                  <c:v>0.22</c:v>
                </c:pt>
                <c:pt idx="1">
                  <c:v>0.28999999999999998</c:v>
                </c:pt>
                <c:pt idx="2">
                  <c:v>0.25</c:v>
                </c:pt>
              </c:numCache>
            </c:numRef>
          </c:val>
          <c:extLst>
            <c:ext xmlns:c16="http://schemas.microsoft.com/office/drawing/2014/chart" uri="{C3380CC4-5D6E-409C-BE32-E72D297353CC}">
              <c16:uniqueId val="{00000000-5E31-40F9-8377-4FCA135D5CD4}"/>
            </c:ext>
          </c:extLst>
        </c:ser>
        <c:ser>
          <c:idx val="1"/>
          <c:order val="1"/>
          <c:tx>
            <c:strRef>
              <c:f>Sheet1!$A$3</c:f>
              <c:strCache>
                <c:ptCount val="1"/>
                <c:pt idx="0">
                  <c:v>Daily</c:v>
                </c:pt>
              </c:strCache>
            </c:strRef>
          </c:tx>
          <c:spPr>
            <a:solidFill>
              <a:schemeClr val="accent4"/>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Supplements</c:v>
                </c:pt>
                <c:pt idx="1">
                  <c:v>Functional Foods</c:v>
                </c:pt>
                <c:pt idx="2">
                  <c:v>Functional Beverages</c:v>
                </c:pt>
              </c:strCache>
            </c:strRef>
          </c:cat>
          <c:val>
            <c:numRef>
              <c:f>Sheet1!$B$3:$D$3</c:f>
              <c:numCache>
                <c:formatCode>0%</c:formatCode>
                <c:ptCount val="3"/>
                <c:pt idx="0">
                  <c:v>0.66</c:v>
                </c:pt>
                <c:pt idx="1">
                  <c:v>0.38</c:v>
                </c:pt>
                <c:pt idx="2">
                  <c:v>0.38</c:v>
                </c:pt>
              </c:numCache>
            </c:numRef>
          </c:val>
          <c:extLst>
            <c:ext xmlns:c16="http://schemas.microsoft.com/office/drawing/2014/chart" uri="{C3380CC4-5D6E-409C-BE32-E72D297353CC}">
              <c16:uniqueId val="{00000001-5E31-40F9-8377-4FCA135D5CD4}"/>
            </c:ext>
          </c:extLst>
        </c:ser>
        <c:ser>
          <c:idx val="2"/>
          <c:order val="2"/>
          <c:tx>
            <c:strRef>
              <c:f>Sheet1!$A$4</c:f>
              <c:strCache>
                <c:ptCount val="1"/>
                <c:pt idx="0">
                  <c:v>Weekly/a few times a week</c:v>
                </c:pt>
              </c:strCache>
            </c:strRef>
          </c:tx>
          <c:spPr>
            <a:solidFill>
              <a:schemeClr val="accent6"/>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Supplements</c:v>
                </c:pt>
                <c:pt idx="1">
                  <c:v>Functional Foods</c:v>
                </c:pt>
                <c:pt idx="2">
                  <c:v>Functional Beverages</c:v>
                </c:pt>
              </c:strCache>
            </c:strRef>
          </c:cat>
          <c:val>
            <c:numRef>
              <c:f>Sheet1!$B$4:$D$4</c:f>
              <c:numCache>
                <c:formatCode>0%</c:formatCode>
                <c:ptCount val="3"/>
                <c:pt idx="0">
                  <c:v>0.1</c:v>
                </c:pt>
                <c:pt idx="1">
                  <c:v>0.3</c:v>
                </c:pt>
                <c:pt idx="2">
                  <c:v>0.3</c:v>
                </c:pt>
              </c:numCache>
            </c:numRef>
          </c:val>
          <c:extLst>
            <c:ext xmlns:c16="http://schemas.microsoft.com/office/drawing/2014/chart" uri="{C3380CC4-5D6E-409C-BE32-E72D297353CC}">
              <c16:uniqueId val="{00000002-5E31-40F9-8377-4FCA135D5CD4}"/>
            </c:ext>
          </c:extLst>
        </c:ser>
        <c:ser>
          <c:idx val="3"/>
          <c:order val="3"/>
          <c:tx>
            <c:strRef>
              <c:f>Sheet1!$A$5</c:f>
              <c:strCache>
                <c:ptCount val="1"/>
                <c:pt idx="0">
                  <c:v>Less than once a week</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Supplements</c:v>
                </c:pt>
                <c:pt idx="1">
                  <c:v>Functional Foods</c:v>
                </c:pt>
                <c:pt idx="2">
                  <c:v>Functional Beverages</c:v>
                </c:pt>
              </c:strCache>
            </c:strRef>
          </c:cat>
          <c:val>
            <c:numRef>
              <c:f>Sheet1!$B$5:$D$5</c:f>
              <c:numCache>
                <c:formatCode>0%</c:formatCode>
                <c:ptCount val="3"/>
                <c:pt idx="0">
                  <c:v>0.02</c:v>
                </c:pt>
                <c:pt idx="1">
                  <c:v>0.03</c:v>
                </c:pt>
                <c:pt idx="2">
                  <c:v>0.06</c:v>
                </c:pt>
              </c:numCache>
            </c:numRef>
          </c:val>
          <c:extLst>
            <c:ext xmlns:c16="http://schemas.microsoft.com/office/drawing/2014/chart" uri="{C3380CC4-5D6E-409C-BE32-E72D297353CC}">
              <c16:uniqueId val="{00000001-D0C1-4847-A1CC-41EDA74D2EE5}"/>
            </c:ext>
          </c:extLst>
        </c:ser>
        <c:dLbls>
          <c:showLegendKey val="0"/>
          <c:showVal val="0"/>
          <c:showCatName val="0"/>
          <c:showSerName val="0"/>
          <c:showPercent val="0"/>
          <c:showBubbleSize val="0"/>
        </c:dLbls>
        <c:gapWidth val="219"/>
        <c:axId val="1960507023"/>
        <c:axId val="1960497903"/>
      </c:barChart>
      <c:catAx>
        <c:axId val="196050702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t"/>
        <c:numFmt formatCode="0%" sourceLinked="1"/>
        <c:majorTickMark val="none"/>
        <c:minorTickMark val="none"/>
        <c:tickLblPos val="nextTo"/>
        <c:crossAx val="1960507023"/>
        <c:crosses val="autoZero"/>
        <c:crossBetween val="between"/>
      </c:valAx>
      <c:spPr>
        <a:noFill/>
        <a:ln>
          <a:noFill/>
        </a:ln>
        <a:effectLst/>
      </c:spPr>
    </c:plotArea>
    <c:legend>
      <c:legendPos val="b"/>
      <c:layout>
        <c:manualLayout>
          <c:xMode val="edge"/>
          <c:yMode val="edge"/>
          <c:x val="2.7952149396308835E-2"/>
          <c:y val="0.85268621089171437"/>
          <c:w val="0.9223201418121445"/>
          <c:h val="0.14731378910828566"/>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Monthly Spend on Functional Nutrition Products </a:t>
            </a:r>
          </a:p>
          <a:p>
            <a:pPr>
              <a:defRPr sz="1600" b="1"/>
            </a:pPr>
            <a:r>
              <a:rPr lang="en-US" sz="1400" b="0" i="1" dirty="0"/>
              <a:t>% of Once/Week+</a:t>
            </a:r>
            <a:r>
              <a:rPr lang="en-US" sz="1400" b="0" i="1" baseline="0" dirty="0"/>
              <a:t> Category Users</a:t>
            </a:r>
            <a:endParaRPr lang="en-US" sz="1400" b="0" i="1" dirty="0"/>
          </a:p>
        </c:rich>
      </c:tx>
      <c:layout>
        <c:manualLayout>
          <c:xMode val="edge"/>
          <c:yMode val="edge"/>
          <c:x val="0.17067523633881965"/>
          <c:y val="2.8097437442032502E-3"/>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6145027418232139E-2"/>
          <c:y val="0.35013718559146434"/>
          <c:w val="0.9677099451635357"/>
          <c:h val="0.49457319374516884"/>
        </c:manualLayout>
      </c:layout>
      <c:barChart>
        <c:barDir val="col"/>
        <c:grouping val="clustered"/>
        <c:varyColors val="0"/>
        <c:ser>
          <c:idx val="0"/>
          <c:order val="0"/>
          <c:tx>
            <c:strRef>
              <c:f>Sheet1!$A$2</c:f>
              <c:strCache>
                <c:ptCount val="1"/>
                <c:pt idx="0">
                  <c:v>Less than $25</c:v>
                </c:pt>
              </c:strCache>
            </c:strRef>
          </c:tx>
          <c:spPr>
            <a:solidFill>
              <a:schemeClr val="accent2"/>
            </a:solidFill>
            <a:ln>
              <a:noFill/>
            </a:ln>
            <a:effectLst/>
          </c:spPr>
          <c:invertIfNegative val="0"/>
          <c:dLbls>
            <c:dLbl>
              <c:idx val="0"/>
              <c:numFmt formatCode="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0-066D-4426-A6A8-CEDFD7131C8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Dietary Supplements</c:v>
                </c:pt>
                <c:pt idx="1">
                  <c:v>Functional Foods</c:v>
                </c:pt>
                <c:pt idx="2">
                  <c:v>Functional Beverages</c:v>
                </c:pt>
              </c:strCache>
            </c:strRef>
          </c:cat>
          <c:val>
            <c:numRef>
              <c:f>Sheet1!$B$2:$D$2</c:f>
              <c:numCache>
                <c:formatCode>General</c:formatCode>
                <c:ptCount val="3"/>
                <c:pt idx="0">
                  <c:v>29</c:v>
                </c:pt>
                <c:pt idx="1">
                  <c:v>13</c:v>
                </c:pt>
                <c:pt idx="2">
                  <c:v>20</c:v>
                </c:pt>
              </c:numCache>
            </c:numRef>
          </c:val>
          <c:extLst>
            <c:ext xmlns:c16="http://schemas.microsoft.com/office/drawing/2014/chart" uri="{C3380CC4-5D6E-409C-BE32-E72D297353CC}">
              <c16:uniqueId val="{00000001-066D-4426-A6A8-CEDFD7131C8A}"/>
            </c:ext>
          </c:extLst>
        </c:ser>
        <c:ser>
          <c:idx val="1"/>
          <c:order val="1"/>
          <c:tx>
            <c:strRef>
              <c:f>Sheet1!$A$3</c:f>
              <c:strCache>
                <c:ptCount val="1"/>
                <c:pt idx="0">
                  <c:v>$25 to $49</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Dietary Supplements</c:v>
                </c:pt>
                <c:pt idx="1">
                  <c:v>Functional Foods</c:v>
                </c:pt>
                <c:pt idx="2">
                  <c:v>Functional Beverages</c:v>
                </c:pt>
              </c:strCache>
            </c:strRef>
          </c:cat>
          <c:val>
            <c:numRef>
              <c:f>Sheet1!$B$3:$D$3</c:f>
              <c:numCache>
                <c:formatCode>General</c:formatCode>
                <c:ptCount val="3"/>
                <c:pt idx="0">
                  <c:v>29</c:v>
                </c:pt>
                <c:pt idx="1">
                  <c:v>20</c:v>
                </c:pt>
                <c:pt idx="2">
                  <c:v>30</c:v>
                </c:pt>
              </c:numCache>
            </c:numRef>
          </c:val>
          <c:extLst>
            <c:ext xmlns:c16="http://schemas.microsoft.com/office/drawing/2014/chart" uri="{C3380CC4-5D6E-409C-BE32-E72D297353CC}">
              <c16:uniqueId val="{00000002-066D-4426-A6A8-CEDFD7131C8A}"/>
            </c:ext>
          </c:extLst>
        </c:ser>
        <c:ser>
          <c:idx val="2"/>
          <c:order val="2"/>
          <c:tx>
            <c:strRef>
              <c:f>Sheet1!$A$4</c:f>
              <c:strCache>
                <c:ptCount val="1"/>
                <c:pt idx="0">
                  <c:v>$50 to $75</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Dietary Supplements</c:v>
                </c:pt>
                <c:pt idx="1">
                  <c:v>Functional Foods</c:v>
                </c:pt>
                <c:pt idx="2">
                  <c:v>Functional Beverages</c:v>
                </c:pt>
              </c:strCache>
            </c:strRef>
          </c:cat>
          <c:val>
            <c:numRef>
              <c:f>Sheet1!$B$4:$D$4</c:f>
              <c:numCache>
                <c:formatCode>General</c:formatCode>
                <c:ptCount val="3"/>
                <c:pt idx="0">
                  <c:v>19</c:v>
                </c:pt>
                <c:pt idx="1">
                  <c:v>25</c:v>
                </c:pt>
                <c:pt idx="2">
                  <c:v>23</c:v>
                </c:pt>
              </c:numCache>
            </c:numRef>
          </c:val>
          <c:extLst>
            <c:ext xmlns:c16="http://schemas.microsoft.com/office/drawing/2014/chart" uri="{C3380CC4-5D6E-409C-BE32-E72D297353CC}">
              <c16:uniqueId val="{00000003-066D-4426-A6A8-CEDFD7131C8A}"/>
            </c:ext>
          </c:extLst>
        </c:ser>
        <c:ser>
          <c:idx val="3"/>
          <c:order val="3"/>
          <c:tx>
            <c:strRef>
              <c:f>Sheet1!$A$5</c:f>
              <c:strCache>
                <c:ptCount val="1"/>
                <c:pt idx="0">
                  <c:v>$75 or more</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Dietary Supplements</c:v>
                </c:pt>
                <c:pt idx="1">
                  <c:v>Functional Foods</c:v>
                </c:pt>
                <c:pt idx="2">
                  <c:v>Functional Beverages</c:v>
                </c:pt>
              </c:strCache>
            </c:strRef>
          </c:cat>
          <c:val>
            <c:numRef>
              <c:f>Sheet1!$B$5:$D$5</c:f>
              <c:numCache>
                <c:formatCode>General</c:formatCode>
                <c:ptCount val="3"/>
                <c:pt idx="0">
                  <c:v>23</c:v>
                </c:pt>
                <c:pt idx="1">
                  <c:v>43</c:v>
                </c:pt>
                <c:pt idx="2">
                  <c:v>26</c:v>
                </c:pt>
              </c:numCache>
            </c:numRef>
          </c:val>
          <c:extLst>
            <c:ext xmlns:c16="http://schemas.microsoft.com/office/drawing/2014/chart" uri="{C3380CC4-5D6E-409C-BE32-E72D297353CC}">
              <c16:uniqueId val="{00000004-066D-4426-A6A8-CEDFD7131C8A}"/>
            </c:ext>
          </c:extLst>
        </c:ser>
        <c:dLbls>
          <c:showLegendKey val="0"/>
          <c:showVal val="0"/>
          <c:showCatName val="0"/>
          <c:showSerName val="0"/>
          <c:showPercent val="0"/>
          <c:showBubbleSize val="0"/>
        </c:dLbls>
        <c:gapWidth val="219"/>
        <c:axId val="1960507023"/>
        <c:axId val="1960497903"/>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General" sourceLinked="1"/>
        <c:majorTickMark val="none"/>
        <c:minorTickMark val="none"/>
        <c:tickLblPos val="nextTo"/>
        <c:crossAx val="1960507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Frequency of Supplement</a:t>
            </a:r>
            <a:r>
              <a:rPr lang="en-US" sz="1600" b="1" baseline="0" dirty="0"/>
              <a:t> Sub-Category Use</a:t>
            </a:r>
            <a:endParaRPr lang="en-US" sz="1600" b="1" dirty="0"/>
          </a:p>
          <a:p>
            <a:pPr>
              <a:defRPr sz="1600" b="1"/>
            </a:pPr>
            <a:r>
              <a:rPr lang="en-US" sz="1400" b="0" i="1" dirty="0"/>
              <a:t>% of Once/Week+</a:t>
            </a:r>
            <a:r>
              <a:rPr lang="en-US" sz="1400" b="0" i="1" baseline="0" dirty="0"/>
              <a:t> Supplement Users</a:t>
            </a:r>
            <a:endParaRPr lang="en-US" sz="1400" b="0" i="1" dirty="0"/>
          </a:p>
        </c:rich>
      </c:tx>
      <c:layout>
        <c:manualLayout>
          <c:xMode val="edge"/>
          <c:yMode val="edge"/>
          <c:x val="0.25074767002605403"/>
          <c:y val="2.8504308291206881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6145027418232139E-2"/>
          <c:y val="0.15781416589369837"/>
          <c:w val="0.9677099451635357"/>
          <c:h val="0.53778235719394984"/>
        </c:manualLayout>
      </c:layout>
      <c:barChart>
        <c:barDir val="col"/>
        <c:grouping val="clustered"/>
        <c:varyColors val="0"/>
        <c:ser>
          <c:idx val="0"/>
          <c:order val="0"/>
          <c:tx>
            <c:strRef>
              <c:f>Sheet1!$A$2</c:f>
              <c:strCache>
                <c:ptCount val="1"/>
                <c:pt idx="0">
                  <c:v>Daily/multiple times per day</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Vitamins</c:v>
                </c:pt>
                <c:pt idx="1">
                  <c:v>Minerals</c:v>
                </c:pt>
                <c:pt idx="2">
                  <c:v>Herbs/Botanicals</c:v>
                </c:pt>
                <c:pt idx="3">
                  <c:v>Sports Nutrition</c:v>
                </c:pt>
                <c:pt idx="4">
                  <c:v>Meal Replacements</c:v>
                </c:pt>
                <c:pt idx="5">
                  <c:v>Specialty Products</c:v>
                </c:pt>
              </c:strCache>
            </c:strRef>
          </c:cat>
          <c:val>
            <c:numRef>
              <c:f>Sheet1!$B$2:$G$2</c:f>
              <c:numCache>
                <c:formatCode>General</c:formatCode>
                <c:ptCount val="6"/>
                <c:pt idx="0">
                  <c:v>77</c:v>
                </c:pt>
                <c:pt idx="1">
                  <c:v>56</c:v>
                </c:pt>
                <c:pt idx="2">
                  <c:v>20</c:v>
                </c:pt>
                <c:pt idx="3">
                  <c:v>19</c:v>
                </c:pt>
                <c:pt idx="4">
                  <c:v>19</c:v>
                </c:pt>
                <c:pt idx="5">
                  <c:v>43</c:v>
                </c:pt>
              </c:numCache>
            </c:numRef>
          </c:val>
          <c:extLst>
            <c:ext xmlns:c16="http://schemas.microsoft.com/office/drawing/2014/chart" uri="{C3380CC4-5D6E-409C-BE32-E72D297353CC}">
              <c16:uniqueId val="{00000001-CDA7-497D-926F-B1FFE264FBD6}"/>
            </c:ext>
          </c:extLst>
        </c:ser>
        <c:ser>
          <c:idx val="1"/>
          <c:order val="1"/>
          <c:tx>
            <c:strRef>
              <c:f>Sheet1!$A$3</c:f>
              <c:strCache>
                <c:ptCount val="1"/>
                <c:pt idx="0">
                  <c:v>Once/a few times per week</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Vitamins</c:v>
                </c:pt>
                <c:pt idx="1">
                  <c:v>Minerals</c:v>
                </c:pt>
                <c:pt idx="2">
                  <c:v>Herbs/Botanicals</c:v>
                </c:pt>
                <c:pt idx="3">
                  <c:v>Sports Nutrition</c:v>
                </c:pt>
                <c:pt idx="4">
                  <c:v>Meal Replacements</c:v>
                </c:pt>
                <c:pt idx="5">
                  <c:v>Specialty Products</c:v>
                </c:pt>
              </c:strCache>
            </c:strRef>
          </c:cat>
          <c:val>
            <c:numRef>
              <c:f>Sheet1!$B$3:$G$3</c:f>
              <c:numCache>
                <c:formatCode>General</c:formatCode>
                <c:ptCount val="6"/>
                <c:pt idx="0">
                  <c:v>16</c:v>
                </c:pt>
                <c:pt idx="1">
                  <c:v>24</c:v>
                </c:pt>
                <c:pt idx="2">
                  <c:v>26</c:v>
                </c:pt>
                <c:pt idx="3">
                  <c:v>30</c:v>
                </c:pt>
                <c:pt idx="4">
                  <c:v>35</c:v>
                </c:pt>
                <c:pt idx="5">
                  <c:v>28</c:v>
                </c:pt>
              </c:numCache>
            </c:numRef>
          </c:val>
          <c:extLst>
            <c:ext xmlns:c16="http://schemas.microsoft.com/office/drawing/2014/chart" uri="{C3380CC4-5D6E-409C-BE32-E72D297353CC}">
              <c16:uniqueId val="{00000002-CDA7-497D-926F-B1FFE264FBD6}"/>
            </c:ext>
          </c:extLst>
        </c:ser>
        <c:ser>
          <c:idx val="2"/>
          <c:order val="2"/>
          <c:tx>
            <c:strRef>
              <c:f>Sheet1!$A$4</c:f>
              <c:strCache>
                <c:ptCount val="1"/>
                <c:pt idx="0">
                  <c:v>Once every few weeks or less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Vitamins</c:v>
                </c:pt>
                <c:pt idx="1">
                  <c:v>Minerals</c:v>
                </c:pt>
                <c:pt idx="2">
                  <c:v>Herbs/Botanicals</c:v>
                </c:pt>
                <c:pt idx="3">
                  <c:v>Sports Nutrition</c:v>
                </c:pt>
                <c:pt idx="4">
                  <c:v>Meal Replacements</c:v>
                </c:pt>
                <c:pt idx="5">
                  <c:v>Specialty Products</c:v>
                </c:pt>
              </c:strCache>
            </c:strRef>
          </c:cat>
          <c:val>
            <c:numRef>
              <c:f>Sheet1!$B$4:$G$4</c:f>
              <c:numCache>
                <c:formatCode>General</c:formatCode>
                <c:ptCount val="6"/>
                <c:pt idx="0">
                  <c:v>5</c:v>
                </c:pt>
                <c:pt idx="1">
                  <c:v>9</c:v>
                </c:pt>
                <c:pt idx="2">
                  <c:v>20</c:v>
                </c:pt>
                <c:pt idx="3">
                  <c:v>18</c:v>
                </c:pt>
                <c:pt idx="4">
                  <c:v>22</c:v>
                </c:pt>
                <c:pt idx="5">
                  <c:v>13</c:v>
                </c:pt>
              </c:numCache>
            </c:numRef>
          </c:val>
          <c:extLst>
            <c:ext xmlns:c16="http://schemas.microsoft.com/office/drawing/2014/chart" uri="{C3380CC4-5D6E-409C-BE32-E72D297353CC}">
              <c16:uniqueId val="{00000003-CDA7-497D-926F-B1FFE264FBD6}"/>
            </c:ext>
          </c:extLst>
        </c:ser>
        <c:ser>
          <c:idx val="3"/>
          <c:order val="3"/>
          <c:tx>
            <c:strRef>
              <c:f>Sheet1!$A$5</c:f>
              <c:strCache>
                <c:ptCount val="1"/>
                <c:pt idx="0">
                  <c:v>Never</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Vitamins</c:v>
                </c:pt>
                <c:pt idx="1">
                  <c:v>Minerals</c:v>
                </c:pt>
                <c:pt idx="2">
                  <c:v>Herbs/Botanicals</c:v>
                </c:pt>
                <c:pt idx="3">
                  <c:v>Sports Nutrition</c:v>
                </c:pt>
                <c:pt idx="4">
                  <c:v>Meal Replacements</c:v>
                </c:pt>
                <c:pt idx="5">
                  <c:v>Specialty Products</c:v>
                </c:pt>
              </c:strCache>
            </c:strRef>
          </c:cat>
          <c:val>
            <c:numRef>
              <c:f>Sheet1!$B$5:$G$5</c:f>
              <c:numCache>
                <c:formatCode>General</c:formatCode>
                <c:ptCount val="6"/>
                <c:pt idx="0">
                  <c:v>3</c:v>
                </c:pt>
                <c:pt idx="1">
                  <c:v>11</c:v>
                </c:pt>
                <c:pt idx="2">
                  <c:v>34</c:v>
                </c:pt>
                <c:pt idx="3">
                  <c:v>32</c:v>
                </c:pt>
                <c:pt idx="4">
                  <c:v>25</c:v>
                </c:pt>
                <c:pt idx="5">
                  <c:v>16</c:v>
                </c:pt>
              </c:numCache>
            </c:numRef>
          </c:val>
          <c:extLst>
            <c:ext xmlns:c16="http://schemas.microsoft.com/office/drawing/2014/chart" uri="{C3380CC4-5D6E-409C-BE32-E72D297353CC}">
              <c16:uniqueId val="{00000004-CDA7-497D-926F-B1FFE264FBD6}"/>
            </c:ext>
          </c:extLst>
        </c:ser>
        <c:dLbls>
          <c:showLegendKey val="0"/>
          <c:showVal val="0"/>
          <c:showCatName val="0"/>
          <c:showSerName val="0"/>
          <c:showPercent val="0"/>
          <c:showBubbleSize val="0"/>
        </c:dLbls>
        <c:gapWidth val="219"/>
        <c:axId val="1960507023"/>
        <c:axId val="1960497903"/>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General" sourceLinked="1"/>
        <c:majorTickMark val="none"/>
        <c:minorTickMark val="none"/>
        <c:tickLblPos val="nextTo"/>
        <c:crossAx val="1960507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Supplement Formats Used</a:t>
            </a:r>
          </a:p>
          <a:p>
            <a:pPr>
              <a:defRPr sz="1600" b="1"/>
            </a:pPr>
            <a:r>
              <a:rPr lang="en-US" sz="1400" b="0" i="1" dirty="0"/>
              <a:t>% of Once/Week+</a:t>
            </a:r>
            <a:r>
              <a:rPr lang="en-US" sz="1400" b="0" i="1" baseline="0" dirty="0"/>
              <a:t> Supplement Users</a:t>
            </a:r>
            <a:endParaRPr lang="en-US" sz="1400" b="0" i="1" dirty="0"/>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2189522312623409"/>
          <c:y val="0.17799883557669649"/>
          <c:w val="0.58812820169867019"/>
          <c:h val="0.78741997065178004"/>
        </c:manualLayout>
      </c:layout>
      <c:barChart>
        <c:barDir val="bar"/>
        <c:grouping val="clustered"/>
        <c:varyColors val="0"/>
        <c:ser>
          <c:idx val="0"/>
          <c:order val="0"/>
          <c:tx>
            <c:strRef>
              <c:f>Sheet1!$B$1</c:f>
              <c:strCache>
                <c:ptCount val="1"/>
                <c:pt idx="0">
                  <c:v>P3M Dietary Supplement Users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Capsules</c:v>
                </c:pt>
                <c:pt idx="1">
                  <c:v>Pills</c:v>
                </c:pt>
                <c:pt idx="2">
                  <c:v>Gummies</c:v>
                </c:pt>
                <c:pt idx="3">
                  <c:v>Tablets</c:v>
                </c:pt>
                <c:pt idx="4">
                  <c:v>Softgels/gelcaps</c:v>
                </c:pt>
                <c:pt idx="5">
                  <c:v>Powders</c:v>
                </c:pt>
                <c:pt idx="6">
                  <c:v>Chewables</c:v>
                </c:pt>
                <c:pt idx="7">
                  <c:v>Liquids</c:v>
                </c:pt>
                <c:pt idx="8">
                  <c:v>Vegetarian capsules</c:v>
                </c:pt>
                <c:pt idx="9">
                  <c:v>Quick dissolves</c:v>
                </c:pt>
                <c:pt idx="10">
                  <c:v>Shots</c:v>
                </c:pt>
                <c:pt idx="11">
                  <c:v>Tinctures/droplets</c:v>
                </c:pt>
                <c:pt idx="12">
                  <c:v>Lozenges</c:v>
                </c:pt>
                <c:pt idx="13">
                  <c:v>Effervescents</c:v>
                </c:pt>
                <c:pt idx="14">
                  <c:v>Injections//infusions</c:v>
                </c:pt>
              </c:strCache>
            </c:strRef>
          </c:cat>
          <c:val>
            <c:numRef>
              <c:f>Sheet1!$B$2:$B$16</c:f>
              <c:numCache>
                <c:formatCode>0_ ;\-0_ ;\-_ </c:formatCode>
                <c:ptCount val="15"/>
                <c:pt idx="0">
                  <c:v>45.280764635603347</c:v>
                </c:pt>
                <c:pt idx="1">
                  <c:v>42.891278375149348</c:v>
                </c:pt>
                <c:pt idx="2">
                  <c:v>42.174432497013143</c:v>
                </c:pt>
                <c:pt idx="3">
                  <c:v>41.099163679808846</c:v>
                </c:pt>
                <c:pt idx="4">
                  <c:v>34.28912783751494</c:v>
                </c:pt>
                <c:pt idx="5">
                  <c:v>27.837514934289132</c:v>
                </c:pt>
                <c:pt idx="6">
                  <c:v>21.385902031063324</c:v>
                </c:pt>
                <c:pt idx="7">
                  <c:v>14.575866188769416</c:v>
                </c:pt>
                <c:pt idx="8">
                  <c:v>7.7658303464755081</c:v>
                </c:pt>
                <c:pt idx="9">
                  <c:v>7.2879330943847078</c:v>
                </c:pt>
                <c:pt idx="10">
                  <c:v>3.8231780167264042</c:v>
                </c:pt>
                <c:pt idx="11">
                  <c:v>3.3452807646356035</c:v>
                </c:pt>
                <c:pt idx="12">
                  <c:v>2.6284348864994027</c:v>
                </c:pt>
                <c:pt idx="13">
                  <c:v>2.5089605734767026</c:v>
                </c:pt>
                <c:pt idx="14">
                  <c:v>1.4336917562724016</c:v>
                </c:pt>
              </c:numCache>
            </c:numRef>
          </c:val>
          <c:extLst>
            <c:ext xmlns:c16="http://schemas.microsoft.com/office/drawing/2014/chart" uri="{C3380CC4-5D6E-409C-BE32-E72D297353CC}">
              <c16:uniqueId val="{00000000-5F24-48FE-A9E3-6C5A37993159}"/>
            </c:ext>
          </c:extLst>
        </c:ser>
        <c:dLbls>
          <c:showLegendKey val="0"/>
          <c:showVal val="0"/>
          <c:showCatName val="0"/>
          <c:showSerName val="0"/>
          <c:showPercent val="0"/>
          <c:showBubbleSize val="0"/>
        </c:dLbls>
        <c:gapWidth val="150"/>
        <c:overlap val="30"/>
        <c:axId val="1960507023"/>
        <c:axId val="1960497903"/>
        <c:extLst/>
      </c:barChart>
      <c:catAx>
        <c:axId val="196050702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t"/>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Frequency of Functional Food </a:t>
            </a:r>
            <a:r>
              <a:rPr lang="en-US" sz="1600" b="1" baseline="0" dirty="0"/>
              <a:t>Sub-Category Use</a:t>
            </a:r>
            <a:endParaRPr lang="en-US" sz="1600" b="1" dirty="0"/>
          </a:p>
          <a:p>
            <a:pPr>
              <a:defRPr sz="1600" b="1"/>
            </a:pPr>
            <a:r>
              <a:rPr lang="en-US" sz="1400" b="0" i="1" dirty="0"/>
              <a:t>% of Once/Week+</a:t>
            </a:r>
            <a:r>
              <a:rPr lang="en-US" sz="1400" b="0" i="1" baseline="0" dirty="0"/>
              <a:t> Functional Food Users</a:t>
            </a:r>
            <a:endParaRPr lang="en-US" sz="1400" b="0" i="1" dirty="0"/>
          </a:p>
        </c:rich>
      </c:tx>
      <c:layout>
        <c:manualLayout>
          <c:xMode val="edge"/>
          <c:yMode val="edge"/>
          <c:x val="0.25423510547117656"/>
          <c:y val="5.3373922373913966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6145027418232139E-2"/>
          <c:y val="0.19029295941270372"/>
          <c:w val="0.9677099451635357"/>
          <c:h val="0.48141017082545728"/>
        </c:manualLayout>
      </c:layout>
      <c:barChart>
        <c:barDir val="col"/>
        <c:grouping val="clustered"/>
        <c:varyColors val="0"/>
        <c:ser>
          <c:idx val="0"/>
          <c:order val="0"/>
          <c:tx>
            <c:strRef>
              <c:f>Sheet1!$A$2</c:f>
              <c:strCache>
                <c:ptCount val="1"/>
                <c:pt idx="0">
                  <c:v>Daily/multiple times per day</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Sheet1!$B$1:$F$1</c:f>
              <c:strCache>
                <c:ptCount val="5"/>
                <c:pt idx="0">
                  <c:v>Protein-Enhanced</c:v>
                </c:pt>
                <c:pt idx="1">
                  <c:v>Fiber/Whole Grain-Enriched</c:v>
                </c:pt>
                <c:pt idx="2">
                  <c:v>Probiotic-Enhanced/Digestive Health</c:v>
                </c:pt>
                <c:pt idx="3">
                  <c:v>Vitamin/Mineral Fortified</c:v>
                </c:pt>
                <c:pt idx="4">
                  <c:v>Plant-Based Ingredient Enhanced</c:v>
                </c:pt>
              </c:strCache>
            </c:strRef>
          </c:cat>
          <c:val>
            <c:numRef>
              <c:f>Sheet1!$B$2:$F$2</c:f>
              <c:numCache>
                <c:formatCode>General</c:formatCode>
                <c:ptCount val="5"/>
                <c:pt idx="0">
                  <c:v>37</c:v>
                </c:pt>
                <c:pt idx="1">
                  <c:v>45</c:v>
                </c:pt>
                <c:pt idx="2">
                  <c:v>32</c:v>
                </c:pt>
                <c:pt idx="3">
                  <c:v>33</c:v>
                </c:pt>
                <c:pt idx="4">
                  <c:v>25</c:v>
                </c:pt>
              </c:numCache>
            </c:numRef>
          </c:val>
          <c:extLst>
            <c:ext xmlns:c16="http://schemas.microsoft.com/office/drawing/2014/chart" uri="{C3380CC4-5D6E-409C-BE32-E72D297353CC}">
              <c16:uniqueId val="{00000001-CDA7-497D-926F-B1FFE264FBD6}"/>
            </c:ext>
          </c:extLst>
        </c:ser>
        <c:ser>
          <c:idx val="1"/>
          <c:order val="1"/>
          <c:tx>
            <c:strRef>
              <c:f>Sheet1!$A$3</c:f>
              <c:strCache>
                <c:ptCount val="1"/>
                <c:pt idx="0">
                  <c:v>Once/a few times per week</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Sheet1!$B$1:$F$1</c:f>
              <c:strCache>
                <c:ptCount val="5"/>
                <c:pt idx="0">
                  <c:v>Protein-Enhanced</c:v>
                </c:pt>
                <c:pt idx="1">
                  <c:v>Fiber/Whole Grain-Enriched</c:v>
                </c:pt>
                <c:pt idx="2">
                  <c:v>Probiotic-Enhanced/Digestive Health</c:v>
                </c:pt>
                <c:pt idx="3">
                  <c:v>Vitamin/Mineral Fortified</c:v>
                </c:pt>
                <c:pt idx="4">
                  <c:v>Plant-Based Ingredient Enhanced</c:v>
                </c:pt>
              </c:strCache>
            </c:strRef>
          </c:cat>
          <c:val>
            <c:numRef>
              <c:f>Sheet1!$B$3:$F$3</c:f>
              <c:numCache>
                <c:formatCode>General</c:formatCode>
                <c:ptCount val="5"/>
                <c:pt idx="0">
                  <c:v>50</c:v>
                </c:pt>
                <c:pt idx="1">
                  <c:v>45</c:v>
                </c:pt>
                <c:pt idx="2">
                  <c:v>44</c:v>
                </c:pt>
                <c:pt idx="3">
                  <c:v>50</c:v>
                </c:pt>
                <c:pt idx="4">
                  <c:v>47</c:v>
                </c:pt>
              </c:numCache>
            </c:numRef>
          </c:val>
          <c:extLst>
            <c:ext xmlns:c16="http://schemas.microsoft.com/office/drawing/2014/chart" uri="{C3380CC4-5D6E-409C-BE32-E72D297353CC}">
              <c16:uniqueId val="{00000002-CDA7-497D-926F-B1FFE264FBD6}"/>
            </c:ext>
          </c:extLst>
        </c:ser>
        <c:ser>
          <c:idx val="2"/>
          <c:order val="2"/>
          <c:tx>
            <c:strRef>
              <c:f>Sheet1!$A$4</c:f>
              <c:strCache>
                <c:ptCount val="1"/>
                <c:pt idx="0">
                  <c:v>Once every few weeks or less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Sheet1!$B$1:$F$1</c:f>
              <c:strCache>
                <c:ptCount val="5"/>
                <c:pt idx="0">
                  <c:v>Protein-Enhanced</c:v>
                </c:pt>
                <c:pt idx="1">
                  <c:v>Fiber/Whole Grain-Enriched</c:v>
                </c:pt>
                <c:pt idx="2">
                  <c:v>Probiotic-Enhanced/Digestive Health</c:v>
                </c:pt>
                <c:pt idx="3">
                  <c:v>Vitamin/Mineral Fortified</c:v>
                </c:pt>
                <c:pt idx="4">
                  <c:v>Plant-Based Ingredient Enhanced</c:v>
                </c:pt>
              </c:strCache>
            </c:strRef>
          </c:cat>
          <c:val>
            <c:numRef>
              <c:f>Sheet1!$B$4:$F$4</c:f>
              <c:numCache>
                <c:formatCode>General</c:formatCode>
                <c:ptCount val="5"/>
                <c:pt idx="0">
                  <c:v>11</c:v>
                </c:pt>
                <c:pt idx="1">
                  <c:v>9</c:v>
                </c:pt>
                <c:pt idx="2">
                  <c:v>19</c:v>
                </c:pt>
                <c:pt idx="3">
                  <c:v>14</c:v>
                </c:pt>
                <c:pt idx="4">
                  <c:v>19</c:v>
                </c:pt>
              </c:numCache>
            </c:numRef>
          </c:val>
          <c:extLst>
            <c:ext xmlns:c16="http://schemas.microsoft.com/office/drawing/2014/chart" uri="{C3380CC4-5D6E-409C-BE32-E72D297353CC}">
              <c16:uniqueId val="{00000003-CDA7-497D-926F-B1FFE264FBD6}"/>
            </c:ext>
          </c:extLst>
        </c:ser>
        <c:ser>
          <c:idx val="3"/>
          <c:order val="3"/>
          <c:tx>
            <c:strRef>
              <c:f>Sheet1!$A$5</c:f>
              <c:strCache>
                <c:ptCount val="1"/>
                <c:pt idx="0">
                  <c:v>Never</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Sheet1!$B$1:$F$1</c:f>
              <c:strCache>
                <c:ptCount val="5"/>
                <c:pt idx="0">
                  <c:v>Protein-Enhanced</c:v>
                </c:pt>
                <c:pt idx="1">
                  <c:v>Fiber/Whole Grain-Enriched</c:v>
                </c:pt>
                <c:pt idx="2">
                  <c:v>Probiotic-Enhanced/Digestive Health</c:v>
                </c:pt>
                <c:pt idx="3">
                  <c:v>Vitamin/Mineral Fortified</c:v>
                </c:pt>
                <c:pt idx="4">
                  <c:v>Plant-Based Ingredient Enhanced</c:v>
                </c:pt>
              </c:strCache>
            </c:strRef>
          </c:cat>
          <c:val>
            <c:numRef>
              <c:f>Sheet1!$B$5:$F$5</c:f>
              <c:numCache>
                <c:formatCode>General</c:formatCode>
                <c:ptCount val="5"/>
                <c:pt idx="0">
                  <c:v>2</c:v>
                </c:pt>
                <c:pt idx="1">
                  <c:v>1</c:v>
                </c:pt>
                <c:pt idx="2">
                  <c:v>6</c:v>
                </c:pt>
                <c:pt idx="3">
                  <c:v>3</c:v>
                </c:pt>
                <c:pt idx="4">
                  <c:v>8</c:v>
                </c:pt>
              </c:numCache>
            </c:numRef>
          </c:val>
          <c:extLst>
            <c:ext xmlns:c16="http://schemas.microsoft.com/office/drawing/2014/chart" uri="{C3380CC4-5D6E-409C-BE32-E72D297353CC}">
              <c16:uniqueId val="{00000004-CDA7-497D-926F-B1FFE264FBD6}"/>
            </c:ext>
          </c:extLst>
        </c:ser>
        <c:dLbls>
          <c:showLegendKey val="0"/>
          <c:showVal val="0"/>
          <c:showCatName val="0"/>
          <c:showSerName val="0"/>
          <c:showPercent val="0"/>
          <c:showBubbleSize val="0"/>
        </c:dLbls>
        <c:gapWidth val="219"/>
        <c:axId val="1960507023"/>
        <c:axId val="1960497903"/>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General" sourceLinked="1"/>
        <c:majorTickMark val="none"/>
        <c:minorTickMark val="none"/>
        <c:tickLblPos val="nextTo"/>
        <c:crossAx val="1960507023"/>
        <c:crosses val="autoZero"/>
        <c:crossBetween val="between"/>
      </c:valAx>
      <c:spPr>
        <a:noFill/>
        <a:ln>
          <a:noFill/>
        </a:ln>
        <a:effectLst/>
      </c:spPr>
    </c:plotArea>
    <c:legend>
      <c:legendPos val="b"/>
      <c:layout>
        <c:manualLayout>
          <c:xMode val="edge"/>
          <c:yMode val="edge"/>
          <c:x val="7.0233798757405333E-2"/>
          <c:y val="0.82642156017153945"/>
          <c:w val="0.85953227890049666"/>
          <c:h val="5.5548138206297559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Frequency of Functional Beverage </a:t>
            </a:r>
            <a:r>
              <a:rPr lang="en-US" sz="1600" b="1" baseline="0" dirty="0"/>
              <a:t>Sub-Category Use</a:t>
            </a:r>
            <a:endParaRPr lang="en-US" sz="1600" b="1" dirty="0"/>
          </a:p>
          <a:p>
            <a:pPr>
              <a:defRPr sz="1600" b="1"/>
            </a:pPr>
            <a:r>
              <a:rPr lang="en-US" sz="1400" b="0" i="1" dirty="0"/>
              <a:t>% of Once/Week+</a:t>
            </a:r>
            <a:r>
              <a:rPr lang="en-US" sz="1400" b="0" i="1" baseline="0" dirty="0"/>
              <a:t> Functional Beverage Users</a:t>
            </a:r>
            <a:endParaRPr lang="en-US" sz="1400" b="0" i="1" dirty="0"/>
          </a:p>
        </c:rich>
      </c:tx>
      <c:layout>
        <c:manualLayout>
          <c:xMode val="edge"/>
          <c:yMode val="edge"/>
          <c:x val="0.24545797309498335"/>
          <c:y val="7.3557890983932006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6145027418232139E-2"/>
          <c:y val="0.19029295941270372"/>
          <c:w val="0.9677099451635357"/>
          <c:h val="0.54762238297294596"/>
        </c:manualLayout>
      </c:layout>
      <c:barChart>
        <c:barDir val="col"/>
        <c:grouping val="clustered"/>
        <c:varyColors val="0"/>
        <c:ser>
          <c:idx val="0"/>
          <c:order val="0"/>
          <c:tx>
            <c:strRef>
              <c:f>Sheet1!$A$2</c:f>
              <c:strCache>
                <c:ptCount val="1"/>
                <c:pt idx="0">
                  <c:v>Daily/multiple times per day</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Enhanced/Vitamin Waters</c:v>
                </c:pt>
                <c:pt idx="1">
                  <c:v>Sports/Electrolyte Drinks</c:v>
                </c:pt>
                <c:pt idx="2">
                  <c:v>RTD Protein Shakes</c:v>
                </c:pt>
                <c:pt idx="3">
                  <c:v>Probiotic/Digestive Health Drinks</c:v>
                </c:pt>
                <c:pt idx="4">
                  <c:v>Energy Drinks</c:v>
                </c:pt>
                <c:pt idx="5">
                  <c:v>Functional Teas/Coffees</c:v>
                </c:pt>
              </c:strCache>
            </c:strRef>
          </c:cat>
          <c:val>
            <c:numRef>
              <c:f>Sheet1!$B$2:$G$2</c:f>
              <c:numCache>
                <c:formatCode>General</c:formatCode>
                <c:ptCount val="6"/>
                <c:pt idx="0">
                  <c:v>27</c:v>
                </c:pt>
                <c:pt idx="1">
                  <c:v>27</c:v>
                </c:pt>
                <c:pt idx="2">
                  <c:v>28</c:v>
                </c:pt>
                <c:pt idx="3">
                  <c:v>25</c:v>
                </c:pt>
                <c:pt idx="4">
                  <c:v>20</c:v>
                </c:pt>
                <c:pt idx="5">
                  <c:v>27</c:v>
                </c:pt>
              </c:numCache>
            </c:numRef>
          </c:val>
          <c:extLst>
            <c:ext xmlns:c16="http://schemas.microsoft.com/office/drawing/2014/chart" uri="{C3380CC4-5D6E-409C-BE32-E72D297353CC}">
              <c16:uniqueId val="{00000001-CDA7-497D-926F-B1FFE264FBD6}"/>
            </c:ext>
          </c:extLst>
        </c:ser>
        <c:ser>
          <c:idx val="1"/>
          <c:order val="1"/>
          <c:tx>
            <c:strRef>
              <c:f>Sheet1!$A$3</c:f>
              <c:strCache>
                <c:ptCount val="1"/>
                <c:pt idx="0">
                  <c:v>Once/a few times per week</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Enhanced/Vitamin Waters</c:v>
                </c:pt>
                <c:pt idx="1">
                  <c:v>Sports/Electrolyte Drinks</c:v>
                </c:pt>
                <c:pt idx="2">
                  <c:v>RTD Protein Shakes</c:v>
                </c:pt>
                <c:pt idx="3">
                  <c:v>Probiotic/Digestive Health Drinks</c:v>
                </c:pt>
                <c:pt idx="4">
                  <c:v>Energy Drinks</c:v>
                </c:pt>
                <c:pt idx="5">
                  <c:v>Functional Teas/Coffees</c:v>
                </c:pt>
              </c:strCache>
            </c:strRef>
          </c:cat>
          <c:val>
            <c:numRef>
              <c:f>Sheet1!$B$3:$G$3</c:f>
              <c:numCache>
                <c:formatCode>General</c:formatCode>
                <c:ptCount val="6"/>
                <c:pt idx="0">
                  <c:v>47</c:v>
                </c:pt>
                <c:pt idx="1">
                  <c:v>49</c:v>
                </c:pt>
                <c:pt idx="2">
                  <c:v>45</c:v>
                </c:pt>
                <c:pt idx="3">
                  <c:v>44</c:v>
                </c:pt>
                <c:pt idx="4">
                  <c:v>40</c:v>
                </c:pt>
                <c:pt idx="5">
                  <c:v>39</c:v>
                </c:pt>
              </c:numCache>
            </c:numRef>
          </c:val>
          <c:extLst>
            <c:ext xmlns:c16="http://schemas.microsoft.com/office/drawing/2014/chart" uri="{C3380CC4-5D6E-409C-BE32-E72D297353CC}">
              <c16:uniqueId val="{00000002-CDA7-497D-926F-B1FFE264FBD6}"/>
            </c:ext>
          </c:extLst>
        </c:ser>
        <c:ser>
          <c:idx val="2"/>
          <c:order val="2"/>
          <c:tx>
            <c:strRef>
              <c:f>Sheet1!$A$4</c:f>
              <c:strCache>
                <c:ptCount val="1"/>
                <c:pt idx="0">
                  <c:v>Once every few weeks or less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Enhanced/Vitamin Waters</c:v>
                </c:pt>
                <c:pt idx="1">
                  <c:v>Sports/Electrolyte Drinks</c:v>
                </c:pt>
                <c:pt idx="2">
                  <c:v>RTD Protein Shakes</c:v>
                </c:pt>
                <c:pt idx="3">
                  <c:v>Probiotic/Digestive Health Drinks</c:v>
                </c:pt>
                <c:pt idx="4">
                  <c:v>Energy Drinks</c:v>
                </c:pt>
                <c:pt idx="5">
                  <c:v>Functional Teas/Coffees</c:v>
                </c:pt>
              </c:strCache>
            </c:strRef>
          </c:cat>
          <c:val>
            <c:numRef>
              <c:f>Sheet1!$B$4:$G$4</c:f>
              <c:numCache>
                <c:formatCode>General</c:formatCode>
                <c:ptCount val="6"/>
                <c:pt idx="0">
                  <c:v>18</c:v>
                </c:pt>
                <c:pt idx="1">
                  <c:v>19</c:v>
                </c:pt>
                <c:pt idx="2">
                  <c:v>20</c:v>
                </c:pt>
                <c:pt idx="3">
                  <c:v>21</c:v>
                </c:pt>
                <c:pt idx="4">
                  <c:v>22</c:v>
                </c:pt>
                <c:pt idx="5">
                  <c:v>19</c:v>
                </c:pt>
              </c:numCache>
            </c:numRef>
          </c:val>
          <c:extLst>
            <c:ext xmlns:c16="http://schemas.microsoft.com/office/drawing/2014/chart" uri="{C3380CC4-5D6E-409C-BE32-E72D297353CC}">
              <c16:uniqueId val="{00000003-CDA7-497D-926F-B1FFE264FBD6}"/>
            </c:ext>
          </c:extLst>
        </c:ser>
        <c:ser>
          <c:idx val="3"/>
          <c:order val="3"/>
          <c:tx>
            <c:strRef>
              <c:f>Sheet1!$A$5</c:f>
              <c:strCache>
                <c:ptCount val="1"/>
                <c:pt idx="0">
                  <c:v>Never</c:v>
                </c:pt>
              </c:strCache>
            </c:strRef>
          </c:tx>
          <c:spPr>
            <a:solidFill>
              <a:schemeClr val="accent2">
                <a:lumMod val="60000"/>
              </a:schemeClr>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Enhanced/Vitamin Waters</c:v>
                </c:pt>
                <c:pt idx="1">
                  <c:v>Sports/Electrolyte Drinks</c:v>
                </c:pt>
                <c:pt idx="2">
                  <c:v>RTD Protein Shakes</c:v>
                </c:pt>
                <c:pt idx="3">
                  <c:v>Probiotic/Digestive Health Drinks</c:v>
                </c:pt>
                <c:pt idx="4">
                  <c:v>Energy Drinks</c:v>
                </c:pt>
                <c:pt idx="5">
                  <c:v>Functional Teas/Coffees</c:v>
                </c:pt>
              </c:strCache>
            </c:strRef>
          </c:cat>
          <c:val>
            <c:numRef>
              <c:f>Sheet1!$B$5:$G$5</c:f>
              <c:numCache>
                <c:formatCode>General</c:formatCode>
                <c:ptCount val="6"/>
                <c:pt idx="0">
                  <c:v>8</c:v>
                </c:pt>
                <c:pt idx="1">
                  <c:v>4</c:v>
                </c:pt>
                <c:pt idx="2">
                  <c:v>7</c:v>
                </c:pt>
                <c:pt idx="3">
                  <c:v>10</c:v>
                </c:pt>
                <c:pt idx="4">
                  <c:v>18</c:v>
                </c:pt>
                <c:pt idx="5">
                  <c:v>15</c:v>
                </c:pt>
              </c:numCache>
            </c:numRef>
          </c:val>
          <c:extLst>
            <c:ext xmlns:c16="http://schemas.microsoft.com/office/drawing/2014/chart" uri="{C3380CC4-5D6E-409C-BE32-E72D297353CC}">
              <c16:uniqueId val="{00000004-CDA7-497D-926F-B1FFE264FBD6}"/>
            </c:ext>
          </c:extLst>
        </c:ser>
        <c:dLbls>
          <c:showLegendKey val="0"/>
          <c:showVal val="0"/>
          <c:showCatName val="0"/>
          <c:showSerName val="0"/>
          <c:showPercent val="0"/>
          <c:showBubbleSize val="0"/>
        </c:dLbls>
        <c:gapWidth val="219"/>
        <c:axId val="1960507023"/>
        <c:axId val="1960497903"/>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General" sourceLinked="1"/>
        <c:majorTickMark val="none"/>
        <c:minorTickMark val="none"/>
        <c:tickLblPos val="nextTo"/>
        <c:crossAx val="1960507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Macro Reasons for Using Functional Nutrition Products</a:t>
            </a:r>
          </a:p>
          <a:p>
            <a:pPr>
              <a:defRPr sz="1600" b="1"/>
            </a:pPr>
            <a:r>
              <a:rPr lang="en-US" sz="1400" b="0" i="1" dirty="0"/>
              <a:t>% of P3M Category Users</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Supporting general health and wellness (maintaining long-term health, preventing illness, promoting vitality, etc.)</c:v>
                </c:pt>
                <c:pt idx="1">
                  <c:v>Filling nutritional gaps (compensating for dietary gaps, ensuring adequacy of key nutrients, etc.)</c:v>
                </c:pt>
                <c:pt idx="2">
                  <c:v>Helping me look and feel better (improving appearance, managing stress, elevating mood, improving sleep, etc.)</c:v>
                </c:pt>
                <c:pt idx="3">
                  <c:v>Addressing a specific health condition (correcting a deficiency, supporting a diagnosed condition, etc.)</c:v>
                </c:pt>
                <c:pt idx="4">
                  <c:v>Enhancing physical or mental performance (boosting energy/stamina, supporting physical performance and recovery, elevating cognition and focus, etc.)</c:v>
                </c:pt>
              </c:strCache>
            </c:strRef>
          </c:cat>
          <c:val>
            <c:numRef>
              <c:f>Sheet1!$B$2:$B$6</c:f>
              <c:numCache>
                <c:formatCode>0_ ;\-0_ ;\-_ </c:formatCode>
                <c:ptCount val="5"/>
                <c:pt idx="0">
                  <c:v>37.133277451802179</c:v>
                </c:pt>
                <c:pt idx="1">
                  <c:v>27.577535624476113</c:v>
                </c:pt>
                <c:pt idx="2">
                  <c:v>12.154233025984912</c:v>
                </c:pt>
                <c:pt idx="3">
                  <c:v>12.070410729253982</c:v>
                </c:pt>
                <c:pt idx="4">
                  <c:v>11.064543168482817</c:v>
                </c:pt>
              </c:numCache>
            </c:numRef>
          </c:val>
          <c:extLst>
            <c:ext xmlns:c16="http://schemas.microsoft.com/office/drawing/2014/chart" uri="{C3380CC4-5D6E-409C-BE32-E72D297353CC}">
              <c16:uniqueId val="{00000000-0D32-4D86-9AFD-365F798816A6}"/>
            </c:ext>
          </c:extLst>
        </c:ser>
        <c:ser>
          <c:idx val="1"/>
          <c:order val="1"/>
          <c:tx>
            <c:strRef>
              <c:f>Sheet1!$C$1</c:f>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Supporting general health and wellness (maintaining long-term health, preventing illness, promoting vitality, etc.)</c:v>
                </c:pt>
                <c:pt idx="1">
                  <c:v>Filling nutritional gaps (compensating for dietary gaps, ensuring adequacy of key nutrients, etc.)</c:v>
                </c:pt>
                <c:pt idx="2">
                  <c:v>Helping me look and feel better (improving appearance, managing stress, elevating mood, improving sleep, etc.)</c:v>
                </c:pt>
                <c:pt idx="3">
                  <c:v>Addressing a specific health condition (correcting a deficiency, supporting a diagnosed condition, etc.)</c:v>
                </c:pt>
                <c:pt idx="4">
                  <c:v>Enhancing physical or mental performance (boosting energy/stamina, supporting physical performance and recovery, elevating cognition and focus, etc.)</c:v>
                </c:pt>
              </c:strCache>
            </c:strRef>
          </c:cat>
          <c:val>
            <c:numRef>
              <c:f>Sheet1!$C$2:$C$6</c:f>
              <c:numCache>
                <c:formatCode>0_ ;\-0_ ;\-_ </c:formatCode>
                <c:ptCount val="5"/>
                <c:pt idx="0">
                  <c:v>37.243401759530791</c:v>
                </c:pt>
                <c:pt idx="1">
                  <c:v>21.309872922776147</c:v>
                </c:pt>
                <c:pt idx="2">
                  <c:v>13.782991202346041</c:v>
                </c:pt>
                <c:pt idx="3">
                  <c:v>9.8729227761485827</c:v>
                </c:pt>
                <c:pt idx="4">
                  <c:v>17.790811339198434</c:v>
                </c:pt>
              </c:numCache>
            </c:numRef>
          </c:val>
          <c:extLst>
            <c:ext xmlns:c16="http://schemas.microsoft.com/office/drawing/2014/chart" uri="{C3380CC4-5D6E-409C-BE32-E72D297353CC}">
              <c16:uniqueId val="{00000001-0D32-4D86-9AFD-365F798816A6}"/>
            </c:ext>
          </c:extLst>
        </c:ser>
        <c:ser>
          <c:idx val="2"/>
          <c:order val="2"/>
          <c:tx>
            <c:strRef>
              <c:f>Sheet1!$D$1</c:f>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Supporting general health and wellness (maintaining long-term health, preventing illness, promoting vitality, etc.)</c:v>
                </c:pt>
                <c:pt idx="1">
                  <c:v>Filling nutritional gaps (compensating for dietary gaps, ensuring adequacy of key nutrients, etc.)</c:v>
                </c:pt>
                <c:pt idx="2">
                  <c:v>Helping me look and feel better (improving appearance, managing stress, elevating mood, improving sleep, etc.)</c:v>
                </c:pt>
                <c:pt idx="3">
                  <c:v>Addressing a specific health condition (correcting a deficiency, supporting a diagnosed condition, etc.)</c:v>
                </c:pt>
                <c:pt idx="4">
                  <c:v>Enhancing physical or mental performance (boosting energy/stamina, supporting physical performance and recovery, elevating cognition and focus, etc.)</c:v>
                </c:pt>
              </c:strCache>
            </c:strRef>
          </c:cat>
          <c:val>
            <c:numRef>
              <c:f>Sheet1!$D$2:$D$6</c:f>
              <c:numCache>
                <c:formatCode>0_ ;\-0_ ;\-_ </c:formatCode>
                <c:ptCount val="5"/>
                <c:pt idx="0">
                  <c:v>31.542288557213929</c:v>
                </c:pt>
                <c:pt idx="1">
                  <c:v>22.587064676616915</c:v>
                </c:pt>
                <c:pt idx="2">
                  <c:v>14.129353233830845</c:v>
                </c:pt>
                <c:pt idx="3">
                  <c:v>9.3532338308457703</c:v>
                </c:pt>
                <c:pt idx="4">
                  <c:v>22.388059701492537</c:v>
                </c:pt>
              </c:numCache>
            </c:numRef>
          </c:val>
          <c:extLst>
            <c:ext xmlns:c16="http://schemas.microsoft.com/office/drawing/2014/chart" uri="{C3380CC4-5D6E-409C-BE32-E72D297353CC}">
              <c16:uniqueId val="{00000002-0D32-4D86-9AFD-365F798816A6}"/>
            </c:ext>
          </c:extLst>
        </c:ser>
        <c:dLbls>
          <c:showLegendKey val="0"/>
          <c:showVal val="0"/>
          <c:showCatName val="0"/>
          <c:showSerName val="0"/>
          <c:showPercent val="0"/>
          <c:showBubbleSize val="0"/>
        </c:dLbls>
        <c:gapWidth val="219"/>
        <c:axId val="1960507023"/>
        <c:axId val="1960497903"/>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Role Category</a:t>
            </a:r>
            <a:r>
              <a:rPr lang="en-US" sz="1600" b="1" baseline="0" dirty="0"/>
              <a:t> Plays in Routine</a:t>
            </a:r>
          </a:p>
          <a:p>
            <a:pPr>
              <a:defRPr sz="1600" b="1"/>
            </a:pPr>
            <a:r>
              <a:rPr lang="en-US" sz="1400" b="0" i="1" baseline="0" dirty="0"/>
              <a:t>% of Once/Week+ Category Users</a:t>
            </a:r>
            <a:endParaRPr lang="en-US" sz="1400" b="0" i="1" dirty="0"/>
          </a:p>
        </c:rich>
      </c:tx>
      <c:layout>
        <c:manualLayout>
          <c:xMode val="edge"/>
          <c:yMode val="edge"/>
          <c:x val="0.34057883332587907"/>
          <c:y val="7.866988602600708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As part of my daily routine</c:v>
                </c:pt>
                <c:pt idx="1">
                  <c:v>When I'm feeling unwell or experiencing specific symptoms (cold, flu, stomach upset, sore throat, menstrual cramps, etc.)</c:v>
                </c:pt>
                <c:pt idx="2">
                  <c:v>When I have a specific physical or emotional need (lacking energy, lacking focus, stressed/anxious, etc.)</c:v>
                </c:pt>
                <c:pt idx="3">
                  <c:v>When I'm traveling</c:v>
                </c:pt>
                <c:pt idx="4">
                  <c:v>When I'm unable to eat properly</c:v>
                </c:pt>
                <c:pt idx="5">
                  <c:v>During seasonal changes</c:v>
                </c:pt>
              </c:strCache>
            </c:strRef>
          </c:cat>
          <c:val>
            <c:numRef>
              <c:f>Sheet1!$B$2:$B$7</c:f>
              <c:numCache>
                <c:formatCode>0_ ;\-0_ ;\-_ </c:formatCode>
                <c:ptCount val="6"/>
                <c:pt idx="0">
                  <c:v>88.530465949820794</c:v>
                </c:pt>
                <c:pt idx="1">
                  <c:v>27.35961768219833</c:v>
                </c:pt>
                <c:pt idx="2">
                  <c:v>23.536439665471924</c:v>
                </c:pt>
                <c:pt idx="3">
                  <c:v>22.222222222222225</c:v>
                </c:pt>
                <c:pt idx="4">
                  <c:v>16.367980884109919</c:v>
                </c:pt>
                <c:pt idx="5">
                  <c:v>15.531660692951016</c:v>
                </c:pt>
              </c:numCache>
            </c:numRef>
          </c:val>
          <c:extLst>
            <c:ext xmlns:c16="http://schemas.microsoft.com/office/drawing/2014/chart" uri="{C3380CC4-5D6E-409C-BE32-E72D297353CC}">
              <c16:uniqueId val="{00000000-737A-46BB-A9BE-8E926C1E3296}"/>
            </c:ext>
          </c:extLst>
        </c:ser>
        <c:ser>
          <c:idx val="1"/>
          <c:order val="1"/>
          <c:tx>
            <c:strRef>
              <c:f>Sheet1!$C$1</c:f>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As part of my daily routine</c:v>
                </c:pt>
                <c:pt idx="1">
                  <c:v>When I'm feeling unwell or experiencing specific symptoms (cold, flu, stomach upset, sore throat, menstrual cramps, etc.)</c:v>
                </c:pt>
                <c:pt idx="2">
                  <c:v>When I have a specific physical or emotional need (lacking energy, lacking focus, stressed/anxious, etc.)</c:v>
                </c:pt>
                <c:pt idx="3">
                  <c:v>When I'm traveling</c:v>
                </c:pt>
                <c:pt idx="4">
                  <c:v>When I'm unable to eat properly</c:v>
                </c:pt>
                <c:pt idx="5">
                  <c:v>During seasonal changes</c:v>
                </c:pt>
              </c:strCache>
            </c:strRef>
          </c:cat>
          <c:val>
            <c:numRef>
              <c:f>Sheet1!$C$2:$C$7</c:f>
              <c:numCache>
                <c:formatCode>0_ ;\-0_ ;\-_ </c:formatCode>
                <c:ptCount val="6"/>
                <c:pt idx="0">
                  <c:v>72.673031026252971</c:v>
                </c:pt>
                <c:pt idx="1">
                  <c:v>29.236276849642003</c:v>
                </c:pt>
                <c:pt idx="2">
                  <c:v>36.754176610978519</c:v>
                </c:pt>
                <c:pt idx="3">
                  <c:v>28.758949880668254</c:v>
                </c:pt>
                <c:pt idx="4">
                  <c:v>31.742243436754173</c:v>
                </c:pt>
                <c:pt idx="5">
                  <c:v>19.093078758949879</c:v>
                </c:pt>
              </c:numCache>
            </c:numRef>
          </c:val>
          <c:extLst>
            <c:ext xmlns:c16="http://schemas.microsoft.com/office/drawing/2014/chart" uri="{C3380CC4-5D6E-409C-BE32-E72D297353CC}">
              <c16:uniqueId val="{00000001-737A-46BB-A9BE-8E926C1E3296}"/>
            </c:ext>
          </c:extLst>
        </c:ser>
        <c:ser>
          <c:idx val="2"/>
          <c:order val="2"/>
          <c:tx>
            <c:strRef>
              <c:f>Sheet1!$D$1</c:f>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As part of my daily routine</c:v>
                </c:pt>
                <c:pt idx="1">
                  <c:v>When I'm feeling unwell or experiencing specific symptoms (cold, flu, stomach upset, sore throat, menstrual cramps, etc.)</c:v>
                </c:pt>
                <c:pt idx="2">
                  <c:v>When I have a specific physical or emotional need (lacking energy, lacking focus, stressed/anxious, etc.)</c:v>
                </c:pt>
                <c:pt idx="3">
                  <c:v>When I'm traveling</c:v>
                </c:pt>
                <c:pt idx="4">
                  <c:v>When I'm unable to eat properly</c:v>
                </c:pt>
                <c:pt idx="5">
                  <c:v>During seasonal changes</c:v>
                </c:pt>
              </c:strCache>
            </c:strRef>
          </c:cat>
          <c:val>
            <c:numRef>
              <c:f>Sheet1!$D$2:$D$7</c:f>
              <c:numCache>
                <c:formatCode>0_ ;\-0_ ;\-_ </c:formatCode>
                <c:ptCount val="6"/>
                <c:pt idx="0">
                  <c:v>68.772348033373063</c:v>
                </c:pt>
                <c:pt idx="1">
                  <c:v>39.69010727056019</c:v>
                </c:pt>
                <c:pt idx="2">
                  <c:v>47.794994040524429</c:v>
                </c:pt>
                <c:pt idx="3">
                  <c:v>31.466030989272941</c:v>
                </c:pt>
                <c:pt idx="4">
                  <c:v>31.227651966626933</c:v>
                </c:pt>
                <c:pt idx="5">
                  <c:v>17.878426698450536</c:v>
                </c:pt>
              </c:numCache>
            </c:numRef>
          </c:val>
          <c:extLst>
            <c:ext xmlns:c16="http://schemas.microsoft.com/office/drawing/2014/chart" uri="{C3380CC4-5D6E-409C-BE32-E72D297353CC}">
              <c16:uniqueId val="{00000002-737A-46BB-A9BE-8E926C1E3296}"/>
            </c:ext>
          </c:extLst>
        </c:ser>
        <c:dLbls>
          <c:showLegendKey val="0"/>
          <c:showVal val="0"/>
          <c:showCatName val="0"/>
          <c:showSerName val="0"/>
          <c:showPercent val="0"/>
          <c:showBubbleSize val="0"/>
        </c:dLbls>
        <c:gapWidth val="219"/>
        <c:axId val="1960507023"/>
        <c:axId val="1960497903"/>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spc="0" baseline="0">
                <a:solidFill>
                  <a:srgbClr val="000000">
                    <a:lumMod val="65000"/>
                    <a:lumOff val="35000"/>
                  </a:srgbClr>
                </a:solidFill>
                <a:latin typeface="+mn-lt"/>
                <a:ea typeface="+mn-ea"/>
                <a:cs typeface="+mn-cs"/>
              </a:defRPr>
            </a:pPr>
            <a:r>
              <a:rPr lang="en-US" sz="1600" b="1" dirty="0"/>
              <a:t>Top 2 Box Supplement</a:t>
            </a:r>
            <a:r>
              <a:rPr lang="en-US" sz="1600" b="1" baseline="0" dirty="0"/>
              <a:t> Attitudes Agreement</a:t>
            </a:r>
            <a:endParaRPr lang="en-US" sz="1600" b="1" dirty="0"/>
          </a:p>
          <a:p>
            <a:pPr marL="0" marR="0" lvl="0" indent="0" algn="ctr" defTabSz="914400" rtl="0" eaLnBrk="1" fontAlgn="auto" latinLnBrk="0" hangingPunct="1">
              <a:lnSpc>
                <a:spcPct val="100000"/>
              </a:lnSpc>
              <a:spcBef>
                <a:spcPts val="0"/>
              </a:spcBef>
              <a:spcAft>
                <a:spcPts val="0"/>
              </a:spcAft>
              <a:buClrTx/>
              <a:buSzTx/>
              <a:buFontTx/>
              <a:buNone/>
              <a:tabLst/>
              <a:defRPr sz="1600" b="1">
                <a:solidFill>
                  <a:srgbClr val="000000">
                    <a:lumMod val="65000"/>
                    <a:lumOff val="35000"/>
                  </a:srgbClr>
                </a:solidFill>
              </a:defRPr>
            </a:pPr>
            <a:r>
              <a:rPr lang="en-US" sz="1400" b="0" i="1" u="none" strike="noStrike" kern="1200" spc="0" baseline="0" dirty="0">
                <a:solidFill>
                  <a:srgbClr val="000000">
                    <a:lumMod val="65000"/>
                    <a:lumOff val="35000"/>
                  </a:srgbClr>
                </a:solidFill>
              </a:rPr>
              <a:t>%  Agree Completely/Somewhat among Once/Week+ Supplement Users</a:t>
            </a:r>
          </a:p>
          <a:p>
            <a:pPr marL="0" marR="0" lvl="0" indent="0" algn="ctr" defTabSz="914400" rtl="0" eaLnBrk="1" fontAlgn="auto" latinLnBrk="0" hangingPunct="1">
              <a:lnSpc>
                <a:spcPct val="100000"/>
              </a:lnSpc>
              <a:spcBef>
                <a:spcPts val="0"/>
              </a:spcBef>
              <a:spcAft>
                <a:spcPts val="0"/>
              </a:spcAft>
              <a:buClrTx/>
              <a:buSzTx/>
              <a:buFontTx/>
              <a:buNone/>
              <a:tabLst/>
              <a:defRPr sz="1600" b="1">
                <a:solidFill>
                  <a:srgbClr val="000000">
                    <a:lumMod val="65000"/>
                    <a:lumOff val="35000"/>
                  </a:srgbClr>
                </a:solidFill>
              </a:defRPr>
            </a:pPr>
            <a:endParaRPr lang="en-US" sz="1600" b="1" dirty="0"/>
          </a:p>
        </c:rich>
      </c:tx>
      <c:layout>
        <c:manualLayout>
          <c:xMode val="edge"/>
          <c:yMode val="edge"/>
          <c:x val="0.35049954800927563"/>
          <c:y val="4.4679058362459743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spc="0" baseline="0">
              <a:solidFill>
                <a:srgbClr val="000000">
                  <a:lumMod val="65000"/>
                  <a:lumOff val="35000"/>
                </a:srgb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I'm generally confident that Dietary Supplements I use are actually working as claimed</c:v>
                </c:pt>
                <c:pt idx="1">
                  <c:v>Using Dietary Supplements gives me peace of mind</c:v>
                </c:pt>
                <c:pt idx="2">
                  <c:v>When it comes to Dietary Supplements, quality matters more than price</c:v>
                </c:pt>
                <c:pt idx="3">
                  <c:v>Dietary Supplements are essential for good health</c:v>
                </c:pt>
                <c:pt idx="4">
                  <c:v>Using Dietary Supplements makes me feel empowered and in control</c:v>
                </c:pt>
                <c:pt idx="5">
                  <c:v>I would miss Dietary Supplements if I stopped using them</c:v>
                </c:pt>
                <c:pt idx="6">
                  <c:v>I regularly research Dietary Supplements before buying</c:v>
                </c:pt>
                <c:pt idx="7">
                  <c:v>Dietary Supplements are too expensive</c:v>
                </c:pt>
                <c:pt idx="8">
                  <c:v>The Dietary Supplements category is overly complex and overwhelming</c:v>
                </c:pt>
                <c:pt idx="9">
                  <c:v>I enjoy experimenting with different Dietary Supplements products and brands</c:v>
                </c:pt>
                <c:pt idx="10">
                  <c:v>Most brands of Dietary Supplements are basically the same</c:v>
                </c:pt>
                <c:pt idx="11">
                  <c:v>I worry about the safety and side effects of using Dietary Supplements</c:v>
                </c:pt>
                <c:pt idx="12">
                  <c:v>I'm skeptical about the science behind Dietary Supplements</c:v>
                </c:pt>
                <c:pt idx="13">
                  <c:v>Dietary Supplements feel artificial or overly engineered</c:v>
                </c:pt>
                <c:pt idx="14">
                  <c:v>Dietary Supplements are difficult to incorporate into my routine</c:v>
                </c:pt>
              </c:strCache>
            </c:strRef>
          </c:cat>
          <c:val>
            <c:numRef>
              <c:f>Sheet1!$B$2:$B$16</c:f>
              <c:numCache>
                <c:formatCode>0_ ;\-0_ ;\-_ </c:formatCode>
                <c:ptCount val="15"/>
                <c:pt idx="0">
                  <c:v>79.211469534050181</c:v>
                </c:pt>
                <c:pt idx="1">
                  <c:v>77.538829151732386</c:v>
                </c:pt>
                <c:pt idx="2">
                  <c:v>77.18040621266428</c:v>
                </c:pt>
                <c:pt idx="3">
                  <c:v>75.029868578255687</c:v>
                </c:pt>
                <c:pt idx="4">
                  <c:v>70.250896057347674</c:v>
                </c:pt>
                <c:pt idx="5">
                  <c:v>69.056152927120678</c:v>
                </c:pt>
                <c:pt idx="6">
                  <c:v>66.427718040621272</c:v>
                </c:pt>
                <c:pt idx="7">
                  <c:v>52.44922341696536</c:v>
                </c:pt>
                <c:pt idx="8">
                  <c:v>48.148148148148152</c:v>
                </c:pt>
                <c:pt idx="9">
                  <c:v>43.249701314217447</c:v>
                </c:pt>
                <c:pt idx="10">
                  <c:v>39.187574671445645</c:v>
                </c:pt>
                <c:pt idx="11">
                  <c:v>32.258064516129032</c:v>
                </c:pt>
                <c:pt idx="12">
                  <c:v>28.55436081242533</c:v>
                </c:pt>
                <c:pt idx="13">
                  <c:v>24.133811230585426</c:v>
                </c:pt>
                <c:pt idx="14">
                  <c:v>17.562724014336919</c:v>
                </c:pt>
              </c:numCache>
            </c:numRef>
          </c:val>
          <c:extLst>
            <c:ext xmlns:c16="http://schemas.microsoft.com/office/drawing/2014/chart" uri="{C3380CC4-5D6E-409C-BE32-E72D297353CC}">
              <c16:uniqueId val="{00000000-E398-4AF2-9578-56F3924284C7}"/>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Sheet1!$A$2:$A$16</c15:sqref>
                        </c15:formulaRef>
                      </c:ext>
                    </c:extLst>
                    <c:strCache>
                      <c:ptCount val="15"/>
                      <c:pt idx="0">
                        <c:v>I'm generally confident that Dietary Supplements I use are actually working as claimed</c:v>
                      </c:pt>
                      <c:pt idx="1">
                        <c:v>Using Dietary Supplements gives me peace of mind</c:v>
                      </c:pt>
                      <c:pt idx="2">
                        <c:v>When it comes to Dietary Supplements, quality matters more than price</c:v>
                      </c:pt>
                      <c:pt idx="3">
                        <c:v>Dietary Supplements are essential for good health</c:v>
                      </c:pt>
                      <c:pt idx="4">
                        <c:v>Using Dietary Supplements makes me feel empowered and in control</c:v>
                      </c:pt>
                      <c:pt idx="5">
                        <c:v>I would miss Dietary Supplements if I stopped using them</c:v>
                      </c:pt>
                      <c:pt idx="6">
                        <c:v>I regularly research Dietary Supplements before buying</c:v>
                      </c:pt>
                      <c:pt idx="7">
                        <c:v>Dietary Supplements are too expensive</c:v>
                      </c:pt>
                      <c:pt idx="8">
                        <c:v>The Dietary Supplements category is overly complex and overwhelming</c:v>
                      </c:pt>
                      <c:pt idx="9">
                        <c:v>I enjoy experimenting with different Dietary Supplements products and brands</c:v>
                      </c:pt>
                      <c:pt idx="10">
                        <c:v>Most brands of Dietary Supplements are basically the same</c:v>
                      </c:pt>
                      <c:pt idx="11">
                        <c:v>I worry about the safety and side effects of using Dietary Supplements</c:v>
                      </c:pt>
                      <c:pt idx="12">
                        <c:v>I'm skeptical about the science behind Dietary Supplements</c:v>
                      </c:pt>
                      <c:pt idx="13">
                        <c:v>Dietary Supplements feel artificial or overly engineered</c:v>
                      </c:pt>
                      <c:pt idx="14">
                        <c:v>Dietary Supplements are difficult to incorporate into my routine</c:v>
                      </c:pt>
                    </c:strCache>
                  </c:strRef>
                </c:cat>
                <c:val>
                  <c:numRef>
                    <c:extLst>
                      <c:ext uri="{02D57815-91ED-43cb-92C2-25804820EDAC}">
                        <c15:formulaRef>
                          <c15:sqref>Sheet1!$C$2:$C$16</c15:sqref>
                        </c15:formulaRef>
                      </c:ext>
                    </c:extLst>
                    <c:numCache>
                      <c:formatCode>0_ ;\-0_ ;\-_ </c:formatCode>
                      <c:ptCount val="15"/>
                      <c:pt idx="0">
                        <c:v>77.326968973747015</c:v>
                      </c:pt>
                      <c:pt idx="1">
                        <c:v>78.758949880668254</c:v>
                      </c:pt>
                      <c:pt idx="2">
                        <c:v>78.281622911694498</c:v>
                      </c:pt>
                      <c:pt idx="3">
                        <c:v>77.446300715990446</c:v>
                      </c:pt>
                      <c:pt idx="4">
                        <c:v>76.252983293556085</c:v>
                      </c:pt>
                      <c:pt idx="5">
                        <c:v>69.33174224343675</c:v>
                      </c:pt>
                      <c:pt idx="6">
                        <c:v>71.002386634844868</c:v>
                      </c:pt>
                      <c:pt idx="7">
                        <c:v>55.60859188544152</c:v>
                      </c:pt>
                      <c:pt idx="8">
                        <c:v>40.334128878281618</c:v>
                      </c:pt>
                      <c:pt idx="9">
                        <c:v>71.002386634844868</c:v>
                      </c:pt>
                      <c:pt idx="10">
                        <c:v>34.248210023866342</c:v>
                      </c:pt>
                      <c:pt idx="11">
                        <c:v>31.145584725536988</c:v>
                      </c:pt>
                      <c:pt idx="12">
                        <c:v>32.935560859188541</c:v>
                      </c:pt>
                      <c:pt idx="13">
                        <c:v>29.713603818615749</c:v>
                      </c:pt>
                      <c:pt idx="14">
                        <c:v>27.80429594272076</c:v>
                      </c:pt>
                    </c:numCache>
                  </c:numRef>
                </c:val>
                <c:extLst>
                  <c:ext xmlns:c16="http://schemas.microsoft.com/office/drawing/2014/chart" uri="{C3380CC4-5D6E-409C-BE32-E72D297353CC}">
                    <c16:uniqueId val="{00000001-E398-4AF2-9578-56F3924284C7}"/>
                  </c:ext>
                </c:extLst>
              </c15:ser>
            </c15:filteredBarSeries>
            <c15:filteredBarSeries>
              <c15:ser>
                <c:idx val="2"/>
                <c:order val="2"/>
                <c:tx>
                  <c:strRef>
                    <c:extLst>
                      <c:ext xmlns:c15="http://schemas.microsoft.com/office/drawing/2012/chart" uri="{02D57815-91ED-43cb-92C2-25804820EDAC}">
                        <c15:formulaRef>
                          <c15:sqref>Sheet1!$D$1</c15:sqref>
                        </c15:formulaRef>
                      </c:ext>
                    </c:extLst>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xmlns:c15="http://schemas.microsoft.com/office/drawing/2012/chart" uri="{02D57815-91ED-43cb-92C2-25804820EDAC}">
                        <c15:formulaRef>
                          <c15:sqref>Sheet1!$A$2:$A$16</c15:sqref>
                        </c15:formulaRef>
                      </c:ext>
                    </c:extLst>
                    <c:strCache>
                      <c:ptCount val="15"/>
                      <c:pt idx="0">
                        <c:v>I'm generally confident that Dietary Supplements I use are actually working as claimed</c:v>
                      </c:pt>
                      <c:pt idx="1">
                        <c:v>Using Dietary Supplements gives me peace of mind</c:v>
                      </c:pt>
                      <c:pt idx="2">
                        <c:v>When it comes to Dietary Supplements, quality matters more than price</c:v>
                      </c:pt>
                      <c:pt idx="3">
                        <c:v>Dietary Supplements are essential for good health</c:v>
                      </c:pt>
                      <c:pt idx="4">
                        <c:v>Using Dietary Supplements makes me feel empowered and in control</c:v>
                      </c:pt>
                      <c:pt idx="5">
                        <c:v>I would miss Dietary Supplements if I stopped using them</c:v>
                      </c:pt>
                      <c:pt idx="6">
                        <c:v>I regularly research Dietary Supplements before buying</c:v>
                      </c:pt>
                      <c:pt idx="7">
                        <c:v>Dietary Supplements are too expensive</c:v>
                      </c:pt>
                      <c:pt idx="8">
                        <c:v>The Dietary Supplements category is overly complex and overwhelming</c:v>
                      </c:pt>
                      <c:pt idx="9">
                        <c:v>I enjoy experimenting with different Dietary Supplements products and brands</c:v>
                      </c:pt>
                      <c:pt idx="10">
                        <c:v>Most brands of Dietary Supplements are basically the same</c:v>
                      </c:pt>
                      <c:pt idx="11">
                        <c:v>I worry about the safety and side effects of using Dietary Supplements</c:v>
                      </c:pt>
                      <c:pt idx="12">
                        <c:v>I'm skeptical about the science behind Dietary Supplements</c:v>
                      </c:pt>
                      <c:pt idx="13">
                        <c:v>Dietary Supplements feel artificial or overly engineered</c:v>
                      </c:pt>
                      <c:pt idx="14">
                        <c:v>Dietary Supplements are difficult to incorporate into my routine</c:v>
                      </c:pt>
                    </c:strCache>
                  </c:strRef>
                </c:cat>
                <c:val>
                  <c:numRef>
                    <c:extLst>
                      <c:ext xmlns:c15="http://schemas.microsoft.com/office/drawing/2012/chart" uri="{02D57815-91ED-43cb-92C2-25804820EDAC}">
                        <c15:formulaRef>
                          <c15:sqref>Sheet1!$D$2:$D$16</c15:sqref>
                        </c15:formulaRef>
                      </c:ext>
                    </c:extLst>
                    <c:numCache>
                      <c:formatCode>0_ ;\-0_ ;\-_ </c:formatCode>
                      <c:ptCount val="15"/>
                      <c:pt idx="0">
                        <c:v>79.261025029797366</c:v>
                      </c:pt>
                      <c:pt idx="1">
                        <c:v>76.996424314660302</c:v>
                      </c:pt>
                      <c:pt idx="2">
                        <c:v>77.830750893921333</c:v>
                      </c:pt>
                      <c:pt idx="3">
                        <c:v>69.129916567342065</c:v>
                      </c:pt>
                      <c:pt idx="4">
                        <c:v>74.612634088200238</c:v>
                      </c:pt>
                      <c:pt idx="5">
                        <c:v>71.871275327771144</c:v>
                      </c:pt>
                      <c:pt idx="6">
                        <c:v>65.315852205005953</c:v>
                      </c:pt>
                      <c:pt idx="7">
                        <c:v>51.966626936829556</c:v>
                      </c:pt>
                      <c:pt idx="8">
                        <c:v>36.948748510131104</c:v>
                      </c:pt>
                      <c:pt idx="9">
                        <c:v>69.010727056019064</c:v>
                      </c:pt>
                      <c:pt idx="10">
                        <c:v>34.445768772348032</c:v>
                      </c:pt>
                      <c:pt idx="11">
                        <c:v>30.989272943980929</c:v>
                      </c:pt>
                      <c:pt idx="12">
                        <c:v>30.631704410011917</c:v>
                      </c:pt>
                      <c:pt idx="13">
                        <c:v>32.419547079856969</c:v>
                      </c:pt>
                      <c:pt idx="14">
                        <c:v>23.361144219308699</c:v>
                      </c:pt>
                    </c:numCache>
                  </c:numRef>
                </c:val>
                <c:extLst xmlns:c15="http://schemas.microsoft.com/office/drawing/2012/chart">
                  <c:ext xmlns:c16="http://schemas.microsoft.com/office/drawing/2014/chart" uri="{C3380CC4-5D6E-409C-BE32-E72D297353CC}">
                    <c16:uniqueId val="{00000002-E398-4AF2-9578-56F3924284C7}"/>
                  </c:ext>
                </c:extLst>
              </c15:ser>
            </c15:filteredBarSeries>
          </c:ext>
        </c:extLst>
      </c:barChart>
      <c:catAx>
        <c:axId val="196050702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t"/>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200" b="1" i="0" u="none" strike="noStrike" kern="1200" spc="0" baseline="0">
                <a:solidFill>
                  <a:srgbClr val="000000">
                    <a:lumMod val="65000"/>
                    <a:lumOff val="35000"/>
                  </a:srgbClr>
                </a:solidFill>
                <a:latin typeface="+mn-lt"/>
                <a:ea typeface="+mn-ea"/>
                <a:cs typeface="+mn-cs"/>
              </a:defRPr>
            </a:pPr>
            <a:r>
              <a:rPr lang="en-US" sz="1200" b="1" dirty="0"/>
              <a:t>All Health and Wellness</a:t>
            </a:r>
            <a:r>
              <a:rPr lang="en-US" sz="1200" b="1" baseline="0" dirty="0"/>
              <a:t> Needs Addressed by Supplements</a:t>
            </a:r>
            <a:endParaRPr lang="en-US" sz="1200" b="1" dirty="0"/>
          </a:p>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0000">
                    <a:lumMod val="65000"/>
                    <a:lumOff val="35000"/>
                  </a:srgbClr>
                </a:solidFill>
              </a:defRPr>
            </a:pPr>
            <a:r>
              <a:rPr lang="en-US" sz="1200" b="0" i="1" u="none" strike="noStrike" kern="1200" spc="0" baseline="0" dirty="0">
                <a:solidFill>
                  <a:srgbClr val="000000">
                    <a:lumMod val="65000"/>
                    <a:lumOff val="35000"/>
                  </a:srgbClr>
                </a:solidFill>
              </a:rPr>
              <a:t>% of Once/Week+ Category Users</a:t>
            </a:r>
          </a:p>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0000">
                    <a:lumMod val="65000"/>
                    <a:lumOff val="35000"/>
                  </a:srgbClr>
                </a:solidFill>
              </a:defRPr>
            </a:pPr>
            <a:endParaRPr lang="en-US" sz="1200" b="1" dirty="0"/>
          </a:p>
        </c:rich>
      </c:tx>
      <c:layout>
        <c:manualLayout>
          <c:xMode val="edge"/>
          <c:yMode val="edge"/>
          <c:x val="0.24287355815500586"/>
          <c:y val="8.6255569927512071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200" b="1" i="0" u="none" strike="noStrike" kern="1200" spc="0" baseline="0">
              <a:solidFill>
                <a:srgbClr val="000000">
                  <a:lumMod val="65000"/>
                  <a:lumOff val="35000"/>
                </a:srgbClr>
              </a:solidFill>
              <a:latin typeface="+mn-lt"/>
              <a:ea typeface="+mn-ea"/>
              <a:cs typeface="+mn-cs"/>
            </a:defRPr>
          </a:pPr>
          <a:endParaRPr lang="en-US"/>
        </a:p>
      </c:txPr>
    </c:title>
    <c:autoTitleDeleted val="0"/>
    <c:plotArea>
      <c:layout>
        <c:manualLayout>
          <c:layoutTarget val="inner"/>
          <c:xMode val="edge"/>
          <c:yMode val="edge"/>
          <c:x val="0.32921246391643999"/>
          <c:y val="0.17285162236789592"/>
          <c:w val="0.50516450123512835"/>
          <c:h val="0.74201970652015969"/>
        </c:manualLayout>
      </c:layout>
      <c:barChart>
        <c:barDir val="bar"/>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Sheet1!$A$2:$A$28</c:f>
              <c:strCache>
                <c:ptCount val="27"/>
                <c:pt idx="0">
                  <c:v>Improving overall/general health</c:v>
                </c:pt>
                <c:pt idx="1">
                  <c:v>Healthy aging/longevity</c:v>
                </c:pt>
                <c:pt idx="2">
                  <c:v>Improving physical energy levels</c:v>
                </c:pt>
                <c:pt idx="3">
                  <c:v>Boosting immunity</c:v>
                </c:pt>
                <c:pt idx="4">
                  <c:v>Improving overall fitness level</c:v>
                </c:pt>
                <c:pt idx="5">
                  <c:v>Improving sleep</c:v>
                </c:pt>
                <c:pt idx="6">
                  <c:v>Improving overall mental health</c:v>
                </c:pt>
                <c:pt idx="7">
                  <c:v>Addressing a nutrient gap/deficiency</c:v>
                </c:pt>
                <c:pt idx="8">
                  <c:v>Improving bone or joint health</c:v>
                </c:pt>
                <c:pt idx="9">
                  <c:v>Reducing stress/anxiety</c:v>
                </c:pt>
                <c:pt idx="10">
                  <c:v>Improving appearance (e.g., hair, skin, nails, etc.)</c:v>
                </c:pt>
                <c:pt idx="11">
                  <c:v>Improving gut/gastrointestinal health</c:v>
                </c:pt>
                <c:pt idx="12">
                  <c:v>Building muscle/strength</c:v>
                </c:pt>
                <c:pt idx="13">
                  <c:v>Improving mood/emotional well-being</c:v>
                </c:pt>
                <c:pt idx="14">
                  <c:v>Improving cognition/mental energy (alertness, focus, etc.)</c:v>
                </c:pt>
                <c:pt idx="15">
                  <c:v>Improving my heart/cardiovascular health</c:v>
                </c:pt>
                <c:pt idx="16">
                  <c:v>Managing weight</c:v>
                </c:pt>
                <c:pt idx="17">
                  <c:v>Reducing inflammation</c:v>
                </c:pt>
                <c:pt idx="18">
                  <c:v>Improving brain health</c:v>
                </c:pt>
                <c:pt idx="19">
                  <c:v>Managing a diagnosed medical condition</c:v>
                </c:pt>
                <c:pt idx="20">
                  <c:v>Improving eye health</c:v>
                </c:pt>
                <c:pt idx="21">
                  <c:v>Managing blood sugar</c:v>
                </c:pt>
                <c:pt idx="22">
                  <c:v>Hormonal/metabolism support</c:v>
                </c:pt>
                <c:pt idx="23">
                  <c:v>Cleansing/detox</c:v>
                </c:pt>
                <c:pt idx="24">
                  <c:v>Managing perimenopause/menopause</c:v>
                </c:pt>
                <c:pt idx="25">
                  <c:v>Improving sexual health</c:v>
                </c:pt>
                <c:pt idx="26">
                  <c:v>Improving liver health</c:v>
                </c:pt>
              </c:strCache>
            </c:strRef>
          </c:cat>
          <c:val>
            <c:numRef>
              <c:f>Sheet1!$B$2:$B$28</c:f>
              <c:numCache>
                <c:formatCode>0_ ;\-0_ ;\-_ </c:formatCode>
                <c:ptCount val="27"/>
                <c:pt idx="0">
                  <c:v>66.786140979689378</c:v>
                </c:pt>
                <c:pt idx="1">
                  <c:v>45.400238948626047</c:v>
                </c:pt>
                <c:pt idx="2">
                  <c:v>37.514934289127844</c:v>
                </c:pt>
                <c:pt idx="3">
                  <c:v>34.886499402628438</c:v>
                </c:pt>
                <c:pt idx="4">
                  <c:v>34.408602150537639</c:v>
                </c:pt>
                <c:pt idx="5">
                  <c:v>31.063321385902032</c:v>
                </c:pt>
                <c:pt idx="6">
                  <c:v>29.032258064516132</c:v>
                </c:pt>
                <c:pt idx="7">
                  <c:v>28.31541218637993</c:v>
                </c:pt>
                <c:pt idx="8">
                  <c:v>27.956989247311832</c:v>
                </c:pt>
                <c:pt idx="9">
                  <c:v>27.47909199522103</c:v>
                </c:pt>
                <c:pt idx="10">
                  <c:v>26.045400238948627</c:v>
                </c:pt>
                <c:pt idx="11">
                  <c:v>26.045400238948627</c:v>
                </c:pt>
                <c:pt idx="12">
                  <c:v>25.089605734767026</c:v>
                </c:pt>
                <c:pt idx="13">
                  <c:v>24.014336917562726</c:v>
                </c:pt>
                <c:pt idx="14">
                  <c:v>23.894862604540027</c:v>
                </c:pt>
                <c:pt idx="15">
                  <c:v>23.416965352449225</c:v>
                </c:pt>
                <c:pt idx="16">
                  <c:v>22.819593787335727</c:v>
                </c:pt>
                <c:pt idx="17">
                  <c:v>21.027479091995222</c:v>
                </c:pt>
                <c:pt idx="18">
                  <c:v>20.071684587813621</c:v>
                </c:pt>
                <c:pt idx="19">
                  <c:v>16.367980884109919</c:v>
                </c:pt>
                <c:pt idx="20">
                  <c:v>16.009557945041816</c:v>
                </c:pt>
                <c:pt idx="21">
                  <c:v>12.903225806451614</c:v>
                </c:pt>
                <c:pt idx="22">
                  <c:v>12.425328554360814</c:v>
                </c:pt>
                <c:pt idx="23">
                  <c:v>12.186379928315413</c:v>
                </c:pt>
                <c:pt idx="24">
                  <c:v>9.5579450418160103</c:v>
                </c:pt>
                <c:pt idx="25">
                  <c:v>9.4384707287933107</c:v>
                </c:pt>
                <c:pt idx="26">
                  <c:v>9.1995221027479097</c:v>
                </c:pt>
              </c:numCache>
            </c:numRef>
          </c:val>
          <c:extLst>
            <c:ext xmlns:c16="http://schemas.microsoft.com/office/drawing/2014/chart" uri="{C3380CC4-5D6E-409C-BE32-E72D297353CC}">
              <c16:uniqueId val="{00000000-F1CC-4A69-BFB1-5D2187751F2A}"/>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Sheet1!$A$2:$A$28</c15:sqref>
                        </c15:formulaRef>
                      </c:ext>
                    </c:extLst>
                    <c:strCache>
                      <c:ptCount val="27"/>
                      <c:pt idx="0">
                        <c:v>Improving overall/general health</c:v>
                      </c:pt>
                      <c:pt idx="1">
                        <c:v>Healthy aging/longevity</c:v>
                      </c:pt>
                      <c:pt idx="2">
                        <c:v>Improving physical energy levels</c:v>
                      </c:pt>
                      <c:pt idx="3">
                        <c:v>Boosting immunity</c:v>
                      </c:pt>
                      <c:pt idx="4">
                        <c:v>Improving overall fitness level</c:v>
                      </c:pt>
                      <c:pt idx="5">
                        <c:v>Improving sleep</c:v>
                      </c:pt>
                      <c:pt idx="6">
                        <c:v>Improving overall mental health</c:v>
                      </c:pt>
                      <c:pt idx="7">
                        <c:v>Addressing a nutrient gap/deficiency</c:v>
                      </c:pt>
                      <c:pt idx="8">
                        <c:v>Improving bone or joint health</c:v>
                      </c:pt>
                      <c:pt idx="9">
                        <c:v>Reducing stress/anxiety</c:v>
                      </c:pt>
                      <c:pt idx="10">
                        <c:v>Improving appearance (e.g., hair, skin, nails, etc.)</c:v>
                      </c:pt>
                      <c:pt idx="11">
                        <c:v>Improving gut/gastrointestinal health</c:v>
                      </c:pt>
                      <c:pt idx="12">
                        <c:v>Building muscle/strength</c:v>
                      </c:pt>
                      <c:pt idx="13">
                        <c:v>Improving mood/emotional well-being</c:v>
                      </c:pt>
                      <c:pt idx="14">
                        <c:v>Improving cognition/mental energy (alertness, focus, etc.)</c:v>
                      </c:pt>
                      <c:pt idx="15">
                        <c:v>Improving my heart/cardiovascular health</c:v>
                      </c:pt>
                      <c:pt idx="16">
                        <c:v>Managing weight</c:v>
                      </c:pt>
                      <c:pt idx="17">
                        <c:v>Reducing inflammation</c:v>
                      </c:pt>
                      <c:pt idx="18">
                        <c:v>Improving brain health</c:v>
                      </c:pt>
                      <c:pt idx="19">
                        <c:v>Managing a diagnosed medical condition</c:v>
                      </c:pt>
                      <c:pt idx="20">
                        <c:v>Improving eye health</c:v>
                      </c:pt>
                      <c:pt idx="21">
                        <c:v>Managing blood sugar</c:v>
                      </c:pt>
                      <c:pt idx="22">
                        <c:v>Hormonal/metabolism support</c:v>
                      </c:pt>
                      <c:pt idx="23">
                        <c:v>Cleansing/detox</c:v>
                      </c:pt>
                      <c:pt idx="24">
                        <c:v>Managing perimenopause/menopause</c:v>
                      </c:pt>
                      <c:pt idx="25">
                        <c:v>Improving sexual health</c:v>
                      </c:pt>
                      <c:pt idx="26">
                        <c:v>Improving liver health</c:v>
                      </c:pt>
                    </c:strCache>
                  </c:strRef>
                </c:cat>
                <c:val>
                  <c:numRef>
                    <c:extLst>
                      <c:ext uri="{02D57815-91ED-43cb-92C2-25804820EDAC}">
                        <c15:formulaRef>
                          <c15:sqref>Sheet1!$C$2:$C$28</c15:sqref>
                        </c15:formulaRef>
                      </c:ext>
                    </c:extLst>
                    <c:numCache>
                      <c:formatCode>0_ ;\-0_ ;\-_ </c:formatCode>
                      <c:ptCount val="27"/>
                      <c:pt idx="0">
                        <c:v>57.279236276849637</c:v>
                      </c:pt>
                      <c:pt idx="1">
                        <c:v>40.214797136038186</c:v>
                      </c:pt>
                      <c:pt idx="2">
                        <c:v>40.930787589498806</c:v>
                      </c:pt>
                      <c:pt idx="3">
                        <c:v>30.668257756563243</c:v>
                      </c:pt>
                      <c:pt idx="4">
                        <c:v>39.618138424820998</c:v>
                      </c:pt>
                      <c:pt idx="5">
                        <c:v>25.775656324582336</c:v>
                      </c:pt>
                      <c:pt idx="6">
                        <c:v>29.236276849642003</c:v>
                      </c:pt>
                      <c:pt idx="7">
                        <c:v>24.94033412887828</c:v>
                      </c:pt>
                      <c:pt idx="8">
                        <c:v>20.644391408114558</c:v>
                      </c:pt>
                      <c:pt idx="9">
                        <c:v>25.775656324582336</c:v>
                      </c:pt>
                      <c:pt idx="10">
                        <c:v>21.241050119331739</c:v>
                      </c:pt>
                      <c:pt idx="11">
                        <c:v>31.384248210023863</c:v>
                      </c:pt>
                      <c:pt idx="12">
                        <c:v>32.219570405727922</c:v>
                      </c:pt>
                      <c:pt idx="13">
                        <c:v>26.849642004773266</c:v>
                      </c:pt>
                      <c:pt idx="14">
                        <c:v>26.491646778042956</c:v>
                      </c:pt>
                      <c:pt idx="15">
                        <c:v>19.928400954653934</c:v>
                      </c:pt>
                      <c:pt idx="16">
                        <c:v>35.799522673031021</c:v>
                      </c:pt>
                      <c:pt idx="17">
                        <c:v>21.002386634844868</c:v>
                      </c:pt>
                      <c:pt idx="18">
                        <c:v>21.002386634844868</c:v>
                      </c:pt>
                      <c:pt idx="19">
                        <c:v>12.291169451073985</c:v>
                      </c:pt>
                      <c:pt idx="20">
                        <c:v>13.245823389021478</c:v>
                      </c:pt>
                      <c:pt idx="21">
                        <c:v>17.780429594272075</c:v>
                      </c:pt>
                      <c:pt idx="22">
                        <c:v>13.484486873508352</c:v>
                      </c:pt>
                      <c:pt idx="23">
                        <c:v>15.513126491646776</c:v>
                      </c:pt>
                      <c:pt idx="24">
                        <c:v>9.5465393794749396</c:v>
                      </c:pt>
                      <c:pt idx="25">
                        <c:v>9.9045346062052495</c:v>
                      </c:pt>
                      <c:pt idx="26">
                        <c:v>13.365155131264915</c:v>
                      </c:pt>
                    </c:numCache>
                  </c:numRef>
                </c:val>
                <c:extLst>
                  <c:ext xmlns:c16="http://schemas.microsoft.com/office/drawing/2014/chart" uri="{C3380CC4-5D6E-409C-BE32-E72D297353CC}">
                    <c16:uniqueId val="{00000001-F1CC-4A69-BFB1-5D2187751F2A}"/>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Sheet1!$A$2:$A$28</c15:sqref>
                        </c15:formulaRef>
                      </c:ext>
                    </c:extLst>
                    <c:strCache>
                      <c:ptCount val="27"/>
                      <c:pt idx="0">
                        <c:v>Improving overall/general health</c:v>
                      </c:pt>
                      <c:pt idx="1">
                        <c:v>Healthy aging/longevity</c:v>
                      </c:pt>
                      <c:pt idx="2">
                        <c:v>Improving physical energy levels</c:v>
                      </c:pt>
                      <c:pt idx="3">
                        <c:v>Boosting immunity</c:v>
                      </c:pt>
                      <c:pt idx="4">
                        <c:v>Improving overall fitness level</c:v>
                      </c:pt>
                      <c:pt idx="5">
                        <c:v>Improving sleep</c:v>
                      </c:pt>
                      <c:pt idx="6">
                        <c:v>Improving overall mental health</c:v>
                      </c:pt>
                      <c:pt idx="7">
                        <c:v>Addressing a nutrient gap/deficiency</c:v>
                      </c:pt>
                      <c:pt idx="8">
                        <c:v>Improving bone or joint health</c:v>
                      </c:pt>
                      <c:pt idx="9">
                        <c:v>Reducing stress/anxiety</c:v>
                      </c:pt>
                      <c:pt idx="10">
                        <c:v>Improving appearance (e.g., hair, skin, nails, etc.)</c:v>
                      </c:pt>
                      <c:pt idx="11">
                        <c:v>Improving gut/gastrointestinal health</c:v>
                      </c:pt>
                      <c:pt idx="12">
                        <c:v>Building muscle/strength</c:v>
                      </c:pt>
                      <c:pt idx="13">
                        <c:v>Improving mood/emotional well-being</c:v>
                      </c:pt>
                      <c:pt idx="14">
                        <c:v>Improving cognition/mental energy (alertness, focus, etc.)</c:v>
                      </c:pt>
                      <c:pt idx="15">
                        <c:v>Improving my heart/cardiovascular health</c:v>
                      </c:pt>
                      <c:pt idx="16">
                        <c:v>Managing weight</c:v>
                      </c:pt>
                      <c:pt idx="17">
                        <c:v>Reducing inflammation</c:v>
                      </c:pt>
                      <c:pt idx="18">
                        <c:v>Improving brain health</c:v>
                      </c:pt>
                      <c:pt idx="19">
                        <c:v>Managing a diagnosed medical condition</c:v>
                      </c:pt>
                      <c:pt idx="20">
                        <c:v>Improving eye health</c:v>
                      </c:pt>
                      <c:pt idx="21">
                        <c:v>Managing blood sugar</c:v>
                      </c:pt>
                      <c:pt idx="22">
                        <c:v>Hormonal/metabolism support</c:v>
                      </c:pt>
                      <c:pt idx="23">
                        <c:v>Cleansing/detox</c:v>
                      </c:pt>
                      <c:pt idx="24">
                        <c:v>Managing perimenopause/menopause</c:v>
                      </c:pt>
                      <c:pt idx="25">
                        <c:v>Improving sexual health</c:v>
                      </c:pt>
                      <c:pt idx="26">
                        <c:v>Improving liver health</c:v>
                      </c:pt>
                    </c:strCache>
                  </c:strRef>
                </c:cat>
                <c:val>
                  <c:numRef>
                    <c:extLst xmlns:c15="http://schemas.microsoft.com/office/drawing/2012/chart">
                      <c:ext xmlns:c15="http://schemas.microsoft.com/office/drawing/2012/chart" uri="{02D57815-91ED-43cb-92C2-25804820EDAC}">
                        <c15:formulaRef>
                          <c15:sqref>Sheet1!$D$2:$D$28</c15:sqref>
                        </c15:formulaRef>
                      </c:ext>
                    </c:extLst>
                    <c:numCache>
                      <c:formatCode>0_ ;\-0_ ;\-_ </c:formatCode>
                      <c:ptCount val="27"/>
                      <c:pt idx="0">
                        <c:v>52.562574493444572</c:v>
                      </c:pt>
                      <c:pt idx="1">
                        <c:v>34.564958283671032</c:v>
                      </c:pt>
                      <c:pt idx="2">
                        <c:v>44.100119189511318</c:v>
                      </c:pt>
                      <c:pt idx="3">
                        <c:v>30.631704410011917</c:v>
                      </c:pt>
                      <c:pt idx="4">
                        <c:v>37.067938021454111</c:v>
                      </c:pt>
                      <c:pt idx="5">
                        <c:v>23.71871275327771</c:v>
                      </c:pt>
                      <c:pt idx="6">
                        <c:v>29.201430274135873</c:v>
                      </c:pt>
                      <c:pt idx="7">
                        <c:v>22.526817640047675</c:v>
                      </c:pt>
                      <c:pt idx="8">
                        <c:v>17.282479141835516</c:v>
                      </c:pt>
                      <c:pt idx="9">
                        <c:v>31.704410011918949</c:v>
                      </c:pt>
                      <c:pt idx="10">
                        <c:v>17.40166865315852</c:v>
                      </c:pt>
                      <c:pt idx="11">
                        <c:v>27.532777115613825</c:v>
                      </c:pt>
                      <c:pt idx="12">
                        <c:v>29.916567342073897</c:v>
                      </c:pt>
                      <c:pt idx="13">
                        <c:v>31.227651966626933</c:v>
                      </c:pt>
                      <c:pt idx="14">
                        <c:v>30.870083432657925</c:v>
                      </c:pt>
                      <c:pt idx="15">
                        <c:v>16.09058402860548</c:v>
                      </c:pt>
                      <c:pt idx="16">
                        <c:v>27.77115613825983</c:v>
                      </c:pt>
                      <c:pt idx="17">
                        <c:v>18.116805721096544</c:v>
                      </c:pt>
                      <c:pt idx="18">
                        <c:v>20.023837902264599</c:v>
                      </c:pt>
                      <c:pt idx="19">
                        <c:v>9.7735399284862918</c:v>
                      </c:pt>
                      <c:pt idx="20">
                        <c:v>10.131108462455304</c:v>
                      </c:pt>
                      <c:pt idx="21">
                        <c:v>15.852205005959474</c:v>
                      </c:pt>
                      <c:pt idx="22">
                        <c:v>13.587604290822407</c:v>
                      </c:pt>
                      <c:pt idx="23">
                        <c:v>17.044100119189512</c:v>
                      </c:pt>
                      <c:pt idx="24">
                        <c:v>8.820023837902264</c:v>
                      </c:pt>
                      <c:pt idx="25">
                        <c:v>10.0119189511323</c:v>
                      </c:pt>
                      <c:pt idx="26">
                        <c:v>11.561382598331345</c:v>
                      </c:pt>
                    </c:numCache>
                  </c:numRef>
                </c:val>
                <c:extLst xmlns:c15="http://schemas.microsoft.com/office/drawing/2012/chart">
                  <c:ext xmlns:c16="http://schemas.microsoft.com/office/drawing/2014/chart" uri="{C3380CC4-5D6E-409C-BE32-E72D297353CC}">
                    <c16:uniqueId val="{00000002-F1CC-4A69-BFB1-5D2187751F2A}"/>
                  </c:ext>
                </c:extLst>
              </c15:ser>
            </c15:filteredBarSeries>
          </c:ext>
        </c:extLst>
      </c:barChart>
      <c:catAx>
        <c:axId val="196050702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t"/>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100" b="1" i="0" u="none" strike="noStrike" kern="1200" spc="0" baseline="0">
                <a:solidFill>
                  <a:srgbClr val="000000">
                    <a:lumMod val="65000"/>
                    <a:lumOff val="35000"/>
                  </a:srgbClr>
                </a:solidFill>
                <a:latin typeface="+mn-lt"/>
                <a:ea typeface="+mn-ea"/>
                <a:cs typeface="+mn-cs"/>
              </a:defRPr>
            </a:pPr>
            <a:r>
              <a:rPr lang="en-US" sz="1100" b="1" i="0" u="none" strike="noStrike" kern="1200" spc="0" baseline="0" dirty="0">
                <a:solidFill>
                  <a:srgbClr val="000000">
                    <a:lumMod val="65000"/>
                    <a:lumOff val="35000"/>
                  </a:srgbClr>
                </a:solidFill>
              </a:rPr>
              <a:t>Top Health and Wellness Needs Addressed by Supplements</a:t>
            </a:r>
          </a:p>
          <a:p>
            <a:pPr marL="0" marR="0" lvl="0" indent="0" algn="ctr" defTabSz="914400" rtl="0" eaLnBrk="1" fontAlgn="auto" latinLnBrk="0" hangingPunct="1">
              <a:lnSpc>
                <a:spcPct val="100000"/>
              </a:lnSpc>
              <a:spcBef>
                <a:spcPts val="0"/>
              </a:spcBef>
              <a:spcAft>
                <a:spcPts val="0"/>
              </a:spcAft>
              <a:buClrTx/>
              <a:buSzTx/>
              <a:buFontTx/>
              <a:buNone/>
              <a:tabLst/>
              <a:defRPr sz="1100" b="1">
                <a:solidFill>
                  <a:srgbClr val="000000">
                    <a:lumMod val="65000"/>
                    <a:lumOff val="35000"/>
                  </a:srgbClr>
                </a:solidFill>
              </a:defRPr>
            </a:pPr>
            <a:r>
              <a:rPr lang="en-US" sz="1000" b="0" i="1" u="none" strike="noStrike" kern="1200" spc="0" baseline="0" dirty="0">
                <a:solidFill>
                  <a:srgbClr val="000000">
                    <a:lumMod val="65000"/>
                    <a:lumOff val="35000"/>
                  </a:srgbClr>
                </a:solidFill>
              </a:rPr>
              <a:t>% selecting as one of Top 3 needs addressed among Once/Week+ Category Users</a:t>
            </a:r>
          </a:p>
          <a:p>
            <a:pPr marL="0" marR="0" lvl="0" indent="0" algn="ctr" defTabSz="914400" rtl="0" eaLnBrk="1" fontAlgn="auto" latinLnBrk="0" hangingPunct="1">
              <a:lnSpc>
                <a:spcPct val="100000"/>
              </a:lnSpc>
              <a:spcBef>
                <a:spcPts val="0"/>
              </a:spcBef>
              <a:spcAft>
                <a:spcPts val="0"/>
              </a:spcAft>
              <a:buClrTx/>
              <a:buSzTx/>
              <a:buFontTx/>
              <a:buNone/>
              <a:tabLst/>
              <a:defRPr sz="1100" b="1">
                <a:solidFill>
                  <a:srgbClr val="000000">
                    <a:lumMod val="65000"/>
                    <a:lumOff val="35000"/>
                  </a:srgbClr>
                </a:solidFill>
              </a:defRPr>
            </a:pPr>
            <a:endParaRPr lang="en-US" sz="1100" b="1" dirty="0"/>
          </a:p>
        </c:rich>
      </c:tx>
      <c:layout>
        <c:manualLayout>
          <c:xMode val="edge"/>
          <c:yMode val="edge"/>
          <c:x val="0.12806669770557866"/>
          <c:y val="6.3556795355933768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100" b="1" i="0" u="none" strike="noStrike" kern="1200" spc="0" baseline="0">
              <a:solidFill>
                <a:srgbClr val="000000">
                  <a:lumMod val="65000"/>
                  <a:lumOff val="35000"/>
                </a:srgbClr>
              </a:solidFill>
              <a:latin typeface="+mn-lt"/>
              <a:ea typeface="+mn-ea"/>
              <a:cs typeface="+mn-cs"/>
            </a:defRPr>
          </a:pPr>
          <a:endParaRPr lang="en-US"/>
        </a:p>
      </c:txPr>
    </c:title>
    <c:autoTitleDeleted val="0"/>
    <c:plotArea>
      <c:layout>
        <c:manualLayout>
          <c:layoutTarget val="inner"/>
          <c:xMode val="edge"/>
          <c:yMode val="edge"/>
          <c:x val="0.40562226231109283"/>
          <c:y val="0.16177459128246804"/>
          <c:w val="0.52684203375434702"/>
          <c:h val="0.81325669110693632"/>
        </c:manualLayout>
      </c:layout>
      <c:barChart>
        <c:barDir val="bar"/>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Sheet1!$A$2:$A$30</c:f>
              <c:strCache>
                <c:ptCount val="27"/>
                <c:pt idx="0">
                  <c:v>Improving overall/general health</c:v>
                </c:pt>
                <c:pt idx="1">
                  <c:v>Healthy aging/longevity</c:v>
                </c:pt>
                <c:pt idx="2">
                  <c:v>Addressing a nutrient gap/deficiency</c:v>
                </c:pt>
                <c:pt idx="3">
                  <c:v>Boosting immunity</c:v>
                </c:pt>
                <c:pt idx="4">
                  <c:v>Improving physical energy levels</c:v>
                </c:pt>
                <c:pt idx="5">
                  <c:v>Improving overall fitness level</c:v>
                </c:pt>
                <c:pt idx="6">
                  <c:v>Improving bone or joint health</c:v>
                </c:pt>
                <c:pt idx="7">
                  <c:v>Improving sleep</c:v>
                </c:pt>
                <c:pt idx="8">
                  <c:v>Improving overall mental health</c:v>
                </c:pt>
                <c:pt idx="9">
                  <c:v>Improving gut/gastrointestinal health</c:v>
                </c:pt>
                <c:pt idx="10">
                  <c:v>Managing weight</c:v>
                </c:pt>
                <c:pt idx="11">
                  <c:v>Improving appearance (e.g., hair, skin, nails, etc.)</c:v>
                </c:pt>
                <c:pt idx="12">
                  <c:v>Building muscle/strength</c:v>
                </c:pt>
                <c:pt idx="13">
                  <c:v>Reducing stress/anxiety</c:v>
                </c:pt>
                <c:pt idx="14">
                  <c:v>Improving my heart/cardiovascular health</c:v>
                </c:pt>
                <c:pt idx="15">
                  <c:v>Managing a diagnosed medical condition</c:v>
                </c:pt>
                <c:pt idx="16">
                  <c:v>Improving mood/emotional well-being</c:v>
                </c:pt>
                <c:pt idx="17">
                  <c:v>Reducing inflammation</c:v>
                </c:pt>
                <c:pt idx="18">
                  <c:v>Improving cognition/mental energy (alertness, focus, etc.)</c:v>
                </c:pt>
                <c:pt idx="19">
                  <c:v>Improving eye health</c:v>
                </c:pt>
                <c:pt idx="20">
                  <c:v>Cleansing/detox</c:v>
                </c:pt>
                <c:pt idx="21">
                  <c:v>Improving brain health</c:v>
                </c:pt>
                <c:pt idx="22">
                  <c:v>Managing blood sugar</c:v>
                </c:pt>
                <c:pt idx="23">
                  <c:v>Managing perimenopause/menopause</c:v>
                </c:pt>
                <c:pt idx="24">
                  <c:v>Hormonal/metabolism support</c:v>
                </c:pt>
                <c:pt idx="25">
                  <c:v>Improving sexual health</c:v>
                </c:pt>
                <c:pt idx="26">
                  <c:v>Improving liver health</c:v>
                </c:pt>
              </c:strCache>
              <c:extLst/>
            </c:strRef>
          </c:cat>
          <c:val>
            <c:numRef>
              <c:f>Sheet1!$B$2:$B$30</c:f>
              <c:numCache>
                <c:formatCode>0_ ;\-0_ ;\-_ </c:formatCode>
                <c:ptCount val="27"/>
                <c:pt idx="0">
                  <c:v>48.028673835125453</c:v>
                </c:pt>
                <c:pt idx="1">
                  <c:v>23.297491039426525</c:v>
                </c:pt>
                <c:pt idx="2">
                  <c:v>17.443249701314219</c:v>
                </c:pt>
                <c:pt idx="3">
                  <c:v>16.009557945041816</c:v>
                </c:pt>
                <c:pt idx="4">
                  <c:v>15.053763440860216</c:v>
                </c:pt>
                <c:pt idx="5">
                  <c:v>13.620071684587815</c:v>
                </c:pt>
                <c:pt idx="6">
                  <c:v>11.947431302270013</c:v>
                </c:pt>
                <c:pt idx="7">
                  <c:v>11.230585424133812</c:v>
                </c:pt>
                <c:pt idx="8">
                  <c:v>10.155316606929512</c:v>
                </c:pt>
                <c:pt idx="9">
                  <c:v>10.035842293906811</c:v>
                </c:pt>
                <c:pt idx="10">
                  <c:v>9.67741935483871</c:v>
                </c:pt>
                <c:pt idx="11">
                  <c:v>9.0800477897252101</c:v>
                </c:pt>
                <c:pt idx="12">
                  <c:v>8.8410991636798091</c:v>
                </c:pt>
                <c:pt idx="13">
                  <c:v>8.6021505376344098</c:v>
                </c:pt>
                <c:pt idx="14">
                  <c:v>7.8853046594982086</c:v>
                </c:pt>
                <c:pt idx="15">
                  <c:v>7.2879330943847078</c:v>
                </c:pt>
                <c:pt idx="16">
                  <c:v>7.1684587813620082</c:v>
                </c:pt>
                <c:pt idx="17">
                  <c:v>6.9295101553166072</c:v>
                </c:pt>
                <c:pt idx="18">
                  <c:v>6.3321385902031073</c:v>
                </c:pt>
                <c:pt idx="19">
                  <c:v>5.0179211469534053</c:v>
                </c:pt>
                <c:pt idx="20">
                  <c:v>4.7789725209080052</c:v>
                </c:pt>
                <c:pt idx="21">
                  <c:v>4.3010752688172049</c:v>
                </c:pt>
                <c:pt idx="22">
                  <c:v>4.1816009557945044</c:v>
                </c:pt>
                <c:pt idx="23">
                  <c:v>3.4647550776583036</c:v>
                </c:pt>
                <c:pt idx="24">
                  <c:v>3.4647550776583036</c:v>
                </c:pt>
                <c:pt idx="25">
                  <c:v>2.1505376344086025</c:v>
                </c:pt>
                <c:pt idx="26">
                  <c:v>0.83632019115890088</c:v>
                </c:pt>
              </c:numCache>
              <c:extLst/>
            </c:numRef>
          </c:val>
          <c:extLst>
            <c:ext xmlns:c16="http://schemas.microsoft.com/office/drawing/2014/chart" uri="{C3380CC4-5D6E-409C-BE32-E72D297353CC}">
              <c16:uniqueId val="{00000000-B669-4C56-BA55-4826EBC58DA8}"/>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Sheet1!$A$2:$A$30</c15:sqref>
                        </c15:formulaRef>
                      </c:ext>
                    </c:extLst>
                    <c:strCache>
                      <c:ptCount val="27"/>
                      <c:pt idx="0">
                        <c:v>Improving overall/general health</c:v>
                      </c:pt>
                      <c:pt idx="1">
                        <c:v>Healthy aging/longevity</c:v>
                      </c:pt>
                      <c:pt idx="2">
                        <c:v>Addressing a nutrient gap/deficiency</c:v>
                      </c:pt>
                      <c:pt idx="3">
                        <c:v>Boosting immunity</c:v>
                      </c:pt>
                      <c:pt idx="4">
                        <c:v>Improving physical energy levels</c:v>
                      </c:pt>
                      <c:pt idx="5">
                        <c:v>Improving overall fitness level</c:v>
                      </c:pt>
                      <c:pt idx="6">
                        <c:v>Improving bone or joint health</c:v>
                      </c:pt>
                      <c:pt idx="7">
                        <c:v>Improving sleep</c:v>
                      </c:pt>
                      <c:pt idx="8">
                        <c:v>Improving overall mental health</c:v>
                      </c:pt>
                      <c:pt idx="9">
                        <c:v>Improving gut/gastrointestinal health</c:v>
                      </c:pt>
                      <c:pt idx="10">
                        <c:v>Managing weight</c:v>
                      </c:pt>
                      <c:pt idx="11">
                        <c:v>Improving appearance (e.g., hair, skin, nails, etc.)</c:v>
                      </c:pt>
                      <c:pt idx="12">
                        <c:v>Building muscle/strength</c:v>
                      </c:pt>
                      <c:pt idx="13">
                        <c:v>Reducing stress/anxiety</c:v>
                      </c:pt>
                      <c:pt idx="14">
                        <c:v>Improving my heart/cardiovascular health</c:v>
                      </c:pt>
                      <c:pt idx="15">
                        <c:v>Managing a diagnosed medical condition</c:v>
                      </c:pt>
                      <c:pt idx="16">
                        <c:v>Improving mood/emotional well-being</c:v>
                      </c:pt>
                      <c:pt idx="17">
                        <c:v>Reducing inflammation</c:v>
                      </c:pt>
                      <c:pt idx="18">
                        <c:v>Improving cognition/mental energy (alertness, focus, etc.)</c:v>
                      </c:pt>
                      <c:pt idx="19">
                        <c:v>Improving eye health</c:v>
                      </c:pt>
                      <c:pt idx="20">
                        <c:v>Cleansing/detox</c:v>
                      </c:pt>
                      <c:pt idx="21">
                        <c:v>Improving brain health</c:v>
                      </c:pt>
                      <c:pt idx="22">
                        <c:v>Managing blood sugar</c:v>
                      </c:pt>
                      <c:pt idx="23">
                        <c:v>Managing perimenopause/menopause</c:v>
                      </c:pt>
                      <c:pt idx="24">
                        <c:v>Hormonal/metabolism support</c:v>
                      </c:pt>
                      <c:pt idx="25">
                        <c:v>Improving sexual health</c:v>
                      </c:pt>
                      <c:pt idx="26">
                        <c:v>Improving liver health</c:v>
                      </c:pt>
                    </c:strCache>
                  </c:strRef>
                </c:cat>
                <c:val>
                  <c:numRef>
                    <c:extLst>
                      <c:ext uri="{02D57815-91ED-43cb-92C2-25804820EDAC}">
                        <c15:formulaRef>
                          <c15:sqref>Sheet1!$C$2:$C$30</c15:sqref>
                        </c15:formulaRef>
                      </c:ext>
                    </c:extLst>
                    <c:numCache>
                      <c:formatCode>0_ ;\-0_ ;\-_ </c:formatCode>
                      <c:ptCount val="27"/>
                      <c:pt idx="0">
                        <c:v>36.99284009546539</c:v>
                      </c:pt>
                      <c:pt idx="1">
                        <c:v>19.809069212410499</c:v>
                      </c:pt>
                      <c:pt idx="2">
                        <c:v>12.052505966587111</c:v>
                      </c:pt>
                      <c:pt idx="3">
                        <c:v>13.842482100238662</c:v>
                      </c:pt>
                      <c:pt idx="4">
                        <c:v>16.229116945107396</c:v>
                      </c:pt>
                      <c:pt idx="5">
                        <c:v>18.25775656324582</c:v>
                      </c:pt>
                      <c:pt idx="6">
                        <c:v>6.4439140811455839</c:v>
                      </c:pt>
                      <c:pt idx="7">
                        <c:v>9.4272076372315023</c:v>
                      </c:pt>
                      <c:pt idx="8">
                        <c:v>10.620525059665869</c:v>
                      </c:pt>
                      <c:pt idx="9">
                        <c:v>15.155131264916466</c:v>
                      </c:pt>
                      <c:pt idx="10">
                        <c:v>17.303102625298326</c:v>
                      </c:pt>
                      <c:pt idx="11">
                        <c:v>6.085918854415274</c:v>
                      </c:pt>
                      <c:pt idx="12">
                        <c:v>15.393794749403339</c:v>
                      </c:pt>
                      <c:pt idx="13">
                        <c:v>10.262529832935559</c:v>
                      </c:pt>
                      <c:pt idx="14">
                        <c:v>6.4439140811455839</c:v>
                      </c:pt>
                      <c:pt idx="15">
                        <c:v>3.4606205250596656</c:v>
                      </c:pt>
                      <c:pt idx="16">
                        <c:v>9.4272076372315023</c:v>
                      </c:pt>
                      <c:pt idx="17">
                        <c:v>6.6825775656324575</c:v>
                      </c:pt>
                      <c:pt idx="18">
                        <c:v>8.472553699284008</c:v>
                      </c:pt>
                      <c:pt idx="19">
                        <c:v>3.6992840095465391</c:v>
                      </c:pt>
                      <c:pt idx="20">
                        <c:v>5.3699284009546533</c:v>
                      </c:pt>
                      <c:pt idx="21">
                        <c:v>5.8472553699284004</c:v>
                      </c:pt>
                      <c:pt idx="22">
                        <c:v>6.8019093078758948</c:v>
                      </c:pt>
                      <c:pt idx="23">
                        <c:v>2.8639618138424821</c:v>
                      </c:pt>
                      <c:pt idx="24">
                        <c:v>2.9832935560859184</c:v>
                      </c:pt>
                      <c:pt idx="25">
                        <c:v>2.9832935560859184</c:v>
                      </c:pt>
                      <c:pt idx="26">
                        <c:v>2.9832935560859184</c:v>
                      </c:pt>
                    </c:numCache>
                  </c:numRef>
                </c:val>
                <c:extLst>
                  <c:ext xmlns:c16="http://schemas.microsoft.com/office/drawing/2014/chart" uri="{C3380CC4-5D6E-409C-BE32-E72D297353CC}">
                    <c16:uniqueId val="{00000001-B669-4C56-BA55-4826EBC58DA8}"/>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Sheet1!$A$2:$A$30</c15:sqref>
                        </c15:formulaRef>
                      </c:ext>
                    </c:extLst>
                    <c:strCache>
                      <c:ptCount val="27"/>
                      <c:pt idx="0">
                        <c:v>Improving overall/general health</c:v>
                      </c:pt>
                      <c:pt idx="1">
                        <c:v>Healthy aging/longevity</c:v>
                      </c:pt>
                      <c:pt idx="2">
                        <c:v>Addressing a nutrient gap/deficiency</c:v>
                      </c:pt>
                      <c:pt idx="3">
                        <c:v>Boosting immunity</c:v>
                      </c:pt>
                      <c:pt idx="4">
                        <c:v>Improving physical energy levels</c:v>
                      </c:pt>
                      <c:pt idx="5">
                        <c:v>Improving overall fitness level</c:v>
                      </c:pt>
                      <c:pt idx="6">
                        <c:v>Improving bone or joint health</c:v>
                      </c:pt>
                      <c:pt idx="7">
                        <c:v>Improving sleep</c:v>
                      </c:pt>
                      <c:pt idx="8">
                        <c:v>Improving overall mental health</c:v>
                      </c:pt>
                      <c:pt idx="9">
                        <c:v>Improving gut/gastrointestinal health</c:v>
                      </c:pt>
                      <c:pt idx="10">
                        <c:v>Managing weight</c:v>
                      </c:pt>
                      <c:pt idx="11">
                        <c:v>Improving appearance (e.g., hair, skin, nails, etc.)</c:v>
                      </c:pt>
                      <c:pt idx="12">
                        <c:v>Building muscle/strength</c:v>
                      </c:pt>
                      <c:pt idx="13">
                        <c:v>Reducing stress/anxiety</c:v>
                      </c:pt>
                      <c:pt idx="14">
                        <c:v>Improving my heart/cardiovascular health</c:v>
                      </c:pt>
                      <c:pt idx="15">
                        <c:v>Managing a diagnosed medical condition</c:v>
                      </c:pt>
                      <c:pt idx="16">
                        <c:v>Improving mood/emotional well-being</c:v>
                      </c:pt>
                      <c:pt idx="17">
                        <c:v>Reducing inflammation</c:v>
                      </c:pt>
                      <c:pt idx="18">
                        <c:v>Improving cognition/mental energy (alertness, focus, etc.)</c:v>
                      </c:pt>
                      <c:pt idx="19">
                        <c:v>Improving eye health</c:v>
                      </c:pt>
                      <c:pt idx="20">
                        <c:v>Cleansing/detox</c:v>
                      </c:pt>
                      <c:pt idx="21">
                        <c:v>Improving brain health</c:v>
                      </c:pt>
                      <c:pt idx="22">
                        <c:v>Managing blood sugar</c:v>
                      </c:pt>
                      <c:pt idx="23">
                        <c:v>Managing perimenopause/menopause</c:v>
                      </c:pt>
                      <c:pt idx="24">
                        <c:v>Hormonal/metabolism support</c:v>
                      </c:pt>
                      <c:pt idx="25">
                        <c:v>Improving sexual health</c:v>
                      </c:pt>
                      <c:pt idx="26">
                        <c:v>Improving liver health</c:v>
                      </c:pt>
                    </c:strCache>
                  </c:strRef>
                </c:cat>
                <c:val>
                  <c:numRef>
                    <c:extLst xmlns:c15="http://schemas.microsoft.com/office/drawing/2012/chart">
                      <c:ext xmlns:c15="http://schemas.microsoft.com/office/drawing/2012/chart" uri="{02D57815-91ED-43cb-92C2-25804820EDAC}">
                        <c15:formulaRef>
                          <c15:sqref>Sheet1!$D$2:$D$30</c15:sqref>
                        </c15:formulaRef>
                      </c:ext>
                    </c:extLst>
                    <c:numCache>
                      <c:formatCode>0_ ;\-0_ ;\-_ </c:formatCode>
                      <c:ptCount val="27"/>
                      <c:pt idx="0">
                        <c:v>33.969010727056016</c:v>
                      </c:pt>
                      <c:pt idx="1">
                        <c:v>16.567342073897496</c:v>
                      </c:pt>
                      <c:pt idx="2">
                        <c:v>12.038140643623361</c:v>
                      </c:pt>
                      <c:pt idx="3">
                        <c:v>14.660309892729439</c:v>
                      </c:pt>
                      <c:pt idx="4">
                        <c:v>24.195470798569723</c:v>
                      </c:pt>
                      <c:pt idx="5">
                        <c:v>18.355184743742548</c:v>
                      </c:pt>
                      <c:pt idx="6">
                        <c:v>4.171632896305125</c:v>
                      </c:pt>
                      <c:pt idx="7">
                        <c:v>8.70083432657926</c:v>
                      </c:pt>
                      <c:pt idx="8">
                        <c:v>11.561382598331345</c:v>
                      </c:pt>
                      <c:pt idx="9">
                        <c:v>13.706793802145411</c:v>
                      </c:pt>
                      <c:pt idx="10">
                        <c:v>12.991656734207389</c:v>
                      </c:pt>
                      <c:pt idx="11">
                        <c:v>3.3373063170440997</c:v>
                      </c:pt>
                      <c:pt idx="12">
                        <c:v>13.587604290822407</c:v>
                      </c:pt>
                      <c:pt idx="13">
                        <c:v>13.945172824791417</c:v>
                      </c:pt>
                      <c:pt idx="14">
                        <c:v>5.7210965435041716</c:v>
                      </c:pt>
                      <c:pt idx="15">
                        <c:v>3.6948748510131106</c:v>
                      </c:pt>
                      <c:pt idx="16">
                        <c:v>11.918951132300357</c:v>
                      </c:pt>
                      <c:pt idx="17">
                        <c:v>5.4827175208581638</c:v>
                      </c:pt>
                      <c:pt idx="18">
                        <c:v>13.468414779499403</c:v>
                      </c:pt>
                      <c:pt idx="19">
                        <c:v>2.0262216924910605</c:v>
                      </c:pt>
                      <c:pt idx="20">
                        <c:v>5.8402860548271747</c:v>
                      </c:pt>
                      <c:pt idx="21">
                        <c:v>5.3635280095351607</c:v>
                      </c:pt>
                      <c:pt idx="22">
                        <c:v>6.1978545887961856</c:v>
                      </c:pt>
                      <c:pt idx="23">
                        <c:v>3.2181168057210963</c:v>
                      </c:pt>
                      <c:pt idx="24">
                        <c:v>3.6948748510131106</c:v>
                      </c:pt>
                      <c:pt idx="25">
                        <c:v>2.8605482717520858</c:v>
                      </c:pt>
                      <c:pt idx="26">
                        <c:v>4.171632896305125</c:v>
                      </c:pt>
                    </c:numCache>
                  </c:numRef>
                </c:val>
                <c:extLst xmlns:c15="http://schemas.microsoft.com/office/drawing/2012/chart">
                  <c:ext xmlns:c16="http://schemas.microsoft.com/office/drawing/2014/chart" uri="{C3380CC4-5D6E-409C-BE32-E72D297353CC}">
                    <c16:uniqueId val="{00000002-B669-4C56-BA55-4826EBC58DA8}"/>
                  </c:ext>
                </c:extLst>
              </c15:ser>
            </c15:filteredBarSeries>
          </c:ext>
        </c:extLst>
      </c:barChart>
      <c:catAx>
        <c:axId val="196050702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t"/>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spc="0" baseline="0">
                <a:solidFill>
                  <a:srgbClr val="000000">
                    <a:lumMod val="65000"/>
                    <a:lumOff val="35000"/>
                  </a:srgbClr>
                </a:solidFill>
                <a:latin typeface="+mn-lt"/>
                <a:ea typeface="+mn-ea"/>
                <a:cs typeface="+mn-cs"/>
              </a:defRPr>
            </a:pPr>
            <a:r>
              <a:rPr lang="en-US" sz="1400" b="1" i="0" u="none" strike="noStrike" kern="1200" spc="0" baseline="0" dirty="0">
                <a:solidFill>
                  <a:srgbClr val="000000">
                    <a:lumMod val="65000"/>
                    <a:lumOff val="35000"/>
                  </a:srgbClr>
                </a:solidFill>
              </a:rPr>
              <a:t>Top Box Supplement Category Attribute Importance  </a:t>
            </a:r>
          </a:p>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000000">
                    <a:lumMod val="65000"/>
                    <a:lumOff val="35000"/>
                  </a:srgbClr>
                </a:solidFill>
              </a:defRPr>
            </a:pPr>
            <a:r>
              <a:rPr lang="en-US" sz="1400" b="0" i="1" u="none" strike="noStrike" kern="1200" spc="0" baseline="0" dirty="0">
                <a:solidFill>
                  <a:srgbClr val="000000">
                    <a:lumMod val="65000"/>
                    <a:lumOff val="35000"/>
                  </a:srgbClr>
                </a:solidFill>
              </a:rPr>
              <a:t>% Very Important among Once/Week+ Supplement Users</a:t>
            </a:r>
          </a:p>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000000">
                    <a:lumMod val="65000"/>
                    <a:lumOff val="35000"/>
                  </a:srgbClr>
                </a:solidFill>
              </a:defRPr>
            </a:pPr>
            <a:endParaRPr lang="en-US" sz="1400" b="1" dirty="0"/>
          </a:p>
        </c:rich>
      </c:tx>
      <c:layout>
        <c:manualLayout>
          <c:xMode val="edge"/>
          <c:yMode val="edge"/>
          <c:x val="0.32022267400122889"/>
          <c:y val="6.1694826391653371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spc="0" baseline="0">
              <a:solidFill>
                <a:srgbClr val="000000">
                  <a:lumMod val="65000"/>
                  <a:lumOff val="35000"/>
                </a:srgbClr>
              </a:solidFill>
              <a:latin typeface="+mn-lt"/>
              <a:ea typeface="+mn-ea"/>
              <a:cs typeface="+mn-cs"/>
            </a:defRPr>
          </a:pPr>
          <a:endParaRPr lang="en-US"/>
        </a:p>
      </c:txPr>
    </c:title>
    <c:autoTitleDeleted val="0"/>
    <c:plotArea>
      <c:layout>
        <c:manualLayout>
          <c:layoutTarget val="inner"/>
          <c:xMode val="edge"/>
          <c:yMode val="edge"/>
          <c:x val="6.1637753781227265E-3"/>
          <c:y val="0.20777946988343671"/>
          <c:w val="0.94987310411590153"/>
          <c:h val="0.4740887615762896"/>
        </c:manualLayout>
      </c:layout>
      <c:barChart>
        <c:barDir val="col"/>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Sheet1!$A$2:$A$26</c:f>
              <c:strCache>
                <c:ptCount val="25"/>
                <c:pt idx="0">
                  <c:v>Causes no negative side effects/reactions</c:v>
                </c:pt>
                <c:pt idx="1">
                  <c:v>Delivers on claimed benefits</c:v>
                </c:pt>
                <c:pt idx="2">
                  <c:v>Made with high quality ingredients</c:v>
                </c:pt>
                <c:pt idx="3">
                  <c:v>Has proven, science-backed claims</c:v>
                </c:pt>
                <c:pt idx="4">
                  <c:v>Is a good value for the money</c:v>
                </c:pt>
                <c:pt idx="5">
                  <c:v>Transparent about ingredients and sourcing</c:v>
                </c:pt>
                <c:pt idx="6">
                  <c:v>Comes in easy-to-consume formats</c:v>
                </c:pt>
                <c:pt idx="7">
                  <c:v>Easily fits into my health and wellness routine</c:v>
                </c:pt>
                <c:pt idx="8">
                  <c:v>Provides an impact I can see or feel</c:v>
                </c:pt>
                <c:pt idx="9">
                  <c:v>Made with clean, simple ingredients</c:v>
                </c:pt>
                <c:pt idx="10">
                  <c:v>Recommended by a medical/wellness professional</c:v>
                </c:pt>
                <c:pt idx="11">
                  <c:v>Has third-party testing/certifications</c:v>
                </c:pt>
                <c:pt idx="12">
                  <c:v>Made by a familiar brand I know and trust</c:v>
                </c:pt>
                <c:pt idx="13">
                  <c:v>Positive ratings/reviews online</c:v>
                </c:pt>
                <c:pt idx="14">
                  <c:v>Provides multiple benefits in one product</c:v>
                </c:pt>
                <c:pt idx="15">
                  <c:v>Easy to take on-the-go</c:v>
                </c:pt>
                <c:pt idx="16">
                  <c:v>Has a good texture</c:v>
                </c:pt>
                <c:pt idx="17">
                  <c:v>Has a good taste</c:v>
                </c:pt>
                <c:pt idx="18">
                  <c:v>Provides an enjoyable consumption experience</c:v>
                </c:pt>
                <c:pt idx="19">
                  <c:v>Is fast-acting</c:v>
                </c:pt>
                <c:pt idx="20">
                  <c:v>Made by a purpose-driven brand</c:v>
                </c:pt>
                <c:pt idx="21">
                  <c:v>Sustainably produced</c:v>
                </c:pt>
                <c:pt idx="22">
                  <c:v>Made by brand that has been around a long time</c:v>
                </c:pt>
                <c:pt idx="23">
                  <c:v>Recommended by friends or family</c:v>
                </c:pt>
                <c:pt idx="24">
                  <c:v>Recommended by a celebrity, athlete or influencer</c:v>
                </c:pt>
              </c:strCache>
            </c:strRef>
          </c:cat>
          <c:val>
            <c:numRef>
              <c:f>Sheet1!$B$2:$B$26</c:f>
              <c:numCache>
                <c:formatCode>General</c:formatCode>
                <c:ptCount val="25"/>
                <c:pt idx="0">
                  <c:v>75</c:v>
                </c:pt>
                <c:pt idx="1">
                  <c:v>72</c:v>
                </c:pt>
                <c:pt idx="2">
                  <c:v>67</c:v>
                </c:pt>
                <c:pt idx="3">
                  <c:v>61</c:v>
                </c:pt>
                <c:pt idx="4">
                  <c:v>59</c:v>
                </c:pt>
                <c:pt idx="5">
                  <c:v>57</c:v>
                </c:pt>
                <c:pt idx="6">
                  <c:v>57</c:v>
                </c:pt>
                <c:pt idx="7">
                  <c:v>56</c:v>
                </c:pt>
                <c:pt idx="8">
                  <c:v>56</c:v>
                </c:pt>
                <c:pt idx="9">
                  <c:v>52</c:v>
                </c:pt>
                <c:pt idx="10">
                  <c:v>43</c:v>
                </c:pt>
                <c:pt idx="11">
                  <c:v>42</c:v>
                </c:pt>
                <c:pt idx="12">
                  <c:v>41</c:v>
                </c:pt>
                <c:pt idx="13">
                  <c:v>41</c:v>
                </c:pt>
                <c:pt idx="14">
                  <c:v>38</c:v>
                </c:pt>
                <c:pt idx="15">
                  <c:v>38</c:v>
                </c:pt>
                <c:pt idx="16">
                  <c:v>35</c:v>
                </c:pt>
                <c:pt idx="17">
                  <c:v>34</c:v>
                </c:pt>
                <c:pt idx="18">
                  <c:v>33</c:v>
                </c:pt>
                <c:pt idx="19">
                  <c:v>33</c:v>
                </c:pt>
                <c:pt idx="20">
                  <c:v>32</c:v>
                </c:pt>
                <c:pt idx="21">
                  <c:v>32</c:v>
                </c:pt>
                <c:pt idx="22">
                  <c:v>28</c:v>
                </c:pt>
                <c:pt idx="23">
                  <c:v>24</c:v>
                </c:pt>
                <c:pt idx="24">
                  <c:v>16</c:v>
                </c:pt>
              </c:numCache>
            </c:numRef>
          </c:val>
          <c:extLst>
            <c:ext xmlns:c16="http://schemas.microsoft.com/office/drawing/2014/chart" uri="{C3380CC4-5D6E-409C-BE32-E72D297353CC}">
              <c16:uniqueId val="{00000000-F1CC-4A69-BFB1-5D2187751F2A}"/>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Sheet1!$A$2:$A$26</c15:sqref>
                        </c15:formulaRef>
                      </c:ext>
                    </c:extLst>
                    <c:strCache>
                      <c:ptCount val="25"/>
                      <c:pt idx="0">
                        <c:v>Causes no negative side effects/reactions</c:v>
                      </c:pt>
                      <c:pt idx="1">
                        <c:v>Delivers on claimed benefits</c:v>
                      </c:pt>
                      <c:pt idx="2">
                        <c:v>Made with high quality ingredients</c:v>
                      </c:pt>
                      <c:pt idx="3">
                        <c:v>Has proven, science-backed claims</c:v>
                      </c:pt>
                      <c:pt idx="4">
                        <c:v>Is a good value for the money</c:v>
                      </c:pt>
                      <c:pt idx="5">
                        <c:v>Transparent about ingredients and sourcing</c:v>
                      </c:pt>
                      <c:pt idx="6">
                        <c:v>Comes in easy-to-consume formats</c:v>
                      </c:pt>
                      <c:pt idx="7">
                        <c:v>Easily fits into my health and wellness routine</c:v>
                      </c:pt>
                      <c:pt idx="8">
                        <c:v>Provides an impact I can see or feel</c:v>
                      </c:pt>
                      <c:pt idx="9">
                        <c:v>Made with clean, simple ingredients</c:v>
                      </c:pt>
                      <c:pt idx="10">
                        <c:v>Recommended by a medical/wellness professional</c:v>
                      </c:pt>
                      <c:pt idx="11">
                        <c:v>Has third-party testing/certifications</c:v>
                      </c:pt>
                      <c:pt idx="12">
                        <c:v>Made by a familiar brand I know and trust</c:v>
                      </c:pt>
                      <c:pt idx="13">
                        <c:v>Positive ratings/reviews online</c:v>
                      </c:pt>
                      <c:pt idx="14">
                        <c:v>Provides multiple benefits in one product</c:v>
                      </c:pt>
                      <c:pt idx="15">
                        <c:v>Easy to take on-the-go</c:v>
                      </c:pt>
                      <c:pt idx="16">
                        <c:v>Has a good texture</c:v>
                      </c:pt>
                      <c:pt idx="17">
                        <c:v>Has a good taste</c:v>
                      </c:pt>
                      <c:pt idx="18">
                        <c:v>Provides an enjoyable consumption experience</c:v>
                      </c:pt>
                      <c:pt idx="19">
                        <c:v>Is fast-acting</c:v>
                      </c:pt>
                      <c:pt idx="20">
                        <c:v>Made by a purpose-driven brand</c:v>
                      </c:pt>
                      <c:pt idx="21">
                        <c:v>Sustainably produced</c:v>
                      </c:pt>
                      <c:pt idx="22">
                        <c:v>Made by brand that has been around a long time</c:v>
                      </c:pt>
                      <c:pt idx="23">
                        <c:v>Recommended by friends or family</c:v>
                      </c:pt>
                      <c:pt idx="24">
                        <c:v>Recommended by a celebrity, athlete or influencer</c:v>
                      </c:pt>
                    </c:strCache>
                  </c:strRef>
                </c:cat>
                <c:val>
                  <c:numRef>
                    <c:extLst>
                      <c:ext uri="{02D57815-91ED-43cb-92C2-25804820EDAC}">
                        <c15:formulaRef>
                          <c15:sqref>Sheet1!$C$2:$C$26</c15:sqref>
                        </c15:formulaRef>
                      </c:ext>
                    </c:extLst>
                    <c:numCache>
                      <c:formatCode>General</c:formatCode>
                      <c:ptCount val="25"/>
                      <c:pt idx="0">
                        <c:v>71</c:v>
                      </c:pt>
                      <c:pt idx="1">
                        <c:v>68</c:v>
                      </c:pt>
                      <c:pt idx="2">
                        <c:v>68</c:v>
                      </c:pt>
                      <c:pt idx="3">
                        <c:v>56</c:v>
                      </c:pt>
                      <c:pt idx="4">
                        <c:v>60</c:v>
                      </c:pt>
                      <c:pt idx="5">
                        <c:v>60</c:v>
                      </c:pt>
                      <c:pt idx="6">
                        <c:v>51</c:v>
                      </c:pt>
                      <c:pt idx="7">
                        <c:v>59</c:v>
                      </c:pt>
                      <c:pt idx="8">
                        <c:v>58</c:v>
                      </c:pt>
                      <c:pt idx="9">
                        <c:v>61</c:v>
                      </c:pt>
                      <c:pt idx="10">
                        <c:v>41</c:v>
                      </c:pt>
                      <c:pt idx="11">
                        <c:v>43</c:v>
                      </c:pt>
                      <c:pt idx="12">
                        <c:v>39</c:v>
                      </c:pt>
                      <c:pt idx="13">
                        <c:v>44</c:v>
                      </c:pt>
                      <c:pt idx="14">
                        <c:v>45</c:v>
                      </c:pt>
                      <c:pt idx="15">
                        <c:v>40</c:v>
                      </c:pt>
                      <c:pt idx="16">
                        <c:v>53</c:v>
                      </c:pt>
                      <c:pt idx="17">
                        <c:v>66</c:v>
                      </c:pt>
                      <c:pt idx="18">
                        <c:v>53</c:v>
                      </c:pt>
                      <c:pt idx="19">
                        <c:v>39</c:v>
                      </c:pt>
                      <c:pt idx="20">
                        <c:v>39</c:v>
                      </c:pt>
                      <c:pt idx="21">
                        <c:v>37</c:v>
                      </c:pt>
                      <c:pt idx="22">
                        <c:v>30</c:v>
                      </c:pt>
                      <c:pt idx="23">
                        <c:v>30</c:v>
                      </c:pt>
                      <c:pt idx="24">
                        <c:v>21</c:v>
                      </c:pt>
                    </c:numCache>
                  </c:numRef>
                </c:val>
                <c:extLst>
                  <c:ext xmlns:c16="http://schemas.microsoft.com/office/drawing/2014/chart" uri="{C3380CC4-5D6E-409C-BE32-E72D297353CC}">
                    <c16:uniqueId val="{00000001-F1CC-4A69-BFB1-5D2187751F2A}"/>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Sheet1!$A$2:$A$26</c15:sqref>
                        </c15:formulaRef>
                      </c:ext>
                    </c:extLst>
                    <c:strCache>
                      <c:ptCount val="25"/>
                      <c:pt idx="0">
                        <c:v>Causes no negative side effects/reactions</c:v>
                      </c:pt>
                      <c:pt idx="1">
                        <c:v>Delivers on claimed benefits</c:v>
                      </c:pt>
                      <c:pt idx="2">
                        <c:v>Made with high quality ingredients</c:v>
                      </c:pt>
                      <c:pt idx="3">
                        <c:v>Has proven, science-backed claims</c:v>
                      </c:pt>
                      <c:pt idx="4">
                        <c:v>Is a good value for the money</c:v>
                      </c:pt>
                      <c:pt idx="5">
                        <c:v>Transparent about ingredients and sourcing</c:v>
                      </c:pt>
                      <c:pt idx="6">
                        <c:v>Comes in easy-to-consume formats</c:v>
                      </c:pt>
                      <c:pt idx="7">
                        <c:v>Easily fits into my health and wellness routine</c:v>
                      </c:pt>
                      <c:pt idx="8">
                        <c:v>Provides an impact I can see or feel</c:v>
                      </c:pt>
                      <c:pt idx="9">
                        <c:v>Made with clean, simple ingredients</c:v>
                      </c:pt>
                      <c:pt idx="10">
                        <c:v>Recommended by a medical/wellness professional</c:v>
                      </c:pt>
                      <c:pt idx="11">
                        <c:v>Has third-party testing/certifications</c:v>
                      </c:pt>
                      <c:pt idx="12">
                        <c:v>Made by a familiar brand I know and trust</c:v>
                      </c:pt>
                      <c:pt idx="13">
                        <c:v>Positive ratings/reviews online</c:v>
                      </c:pt>
                      <c:pt idx="14">
                        <c:v>Provides multiple benefits in one product</c:v>
                      </c:pt>
                      <c:pt idx="15">
                        <c:v>Easy to take on-the-go</c:v>
                      </c:pt>
                      <c:pt idx="16">
                        <c:v>Has a good texture</c:v>
                      </c:pt>
                      <c:pt idx="17">
                        <c:v>Has a good taste</c:v>
                      </c:pt>
                      <c:pt idx="18">
                        <c:v>Provides an enjoyable consumption experience</c:v>
                      </c:pt>
                      <c:pt idx="19">
                        <c:v>Is fast-acting</c:v>
                      </c:pt>
                      <c:pt idx="20">
                        <c:v>Made by a purpose-driven brand</c:v>
                      </c:pt>
                      <c:pt idx="21">
                        <c:v>Sustainably produced</c:v>
                      </c:pt>
                      <c:pt idx="22">
                        <c:v>Made by brand that has been around a long time</c:v>
                      </c:pt>
                      <c:pt idx="23">
                        <c:v>Recommended by friends or family</c:v>
                      </c:pt>
                      <c:pt idx="24">
                        <c:v>Recommended by a celebrity, athlete or influencer</c:v>
                      </c:pt>
                    </c:strCache>
                  </c:strRef>
                </c:cat>
                <c:val>
                  <c:numRef>
                    <c:extLst xmlns:c15="http://schemas.microsoft.com/office/drawing/2012/chart">
                      <c:ext xmlns:c15="http://schemas.microsoft.com/office/drawing/2012/chart" uri="{02D57815-91ED-43cb-92C2-25804820EDAC}">
                        <c15:formulaRef>
                          <c15:sqref>Sheet1!$D$2:$D$26</c15:sqref>
                        </c15:formulaRef>
                      </c:ext>
                    </c:extLst>
                    <c:numCache>
                      <c:formatCode>General</c:formatCode>
                      <c:ptCount val="25"/>
                      <c:pt idx="0">
                        <c:v>72</c:v>
                      </c:pt>
                      <c:pt idx="1">
                        <c:v>65</c:v>
                      </c:pt>
                      <c:pt idx="2">
                        <c:v>66</c:v>
                      </c:pt>
                      <c:pt idx="3">
                        <c:v>56</c:v>
                      </c:pt>
                      <c:pt idx="4">
                        <c:v>60</c:v>
                      </c:pt>
                      <c:pt idx="5">
                        <c:v>59</c:v>
                      </c:pt>
                      <c:pt idx="6">
                        <c:v>53</c:v>
                      </c:pt>
                      <c:pt idx="7">
                        <c:v>56</c:v>
                      </c:pt>
                      <c:pt idx="8">
                        <c:v>58</c:v>
                      </c:pt>
                      <c:pt idx="9">
                        <c:v>59</c:v>
                      </c:pt>
                      <c:pt idx="10">
                        <c:v>43</c:v>
                      </c:pt>
                      <c:pt idx="11">
                        <c:v>41</c:v>
                      </c:pt>
                      <c:pt idx="12">
                        <c:v>40</c:v>
                      </c:pt>
                      <c:pt idx="13">
                        <c:v>42</c:v>
                      </c:pt>
                      <c:pt idx="14">
                        <c:v>48</c:v>
                      </c:pt>
                      <c:pt idx="15">
                        <c:v>46</c:v>
                      </c:pt>
                      <c:pt idx="16">
                        <c:v>55</c:v>
                      </c:pt>
                      <c:pt idx="17">
                        <c:v>67</c:v>
                      </c:pt>
                      <c:pt idx="18">
                        <c:v>56</c:v>
                      </c:pt>
                      <c:pt idx="19">
                        <c:v>41</c:v>
                      </c:pt>
                      <c:pt idx="20">
                        <c:v>36</c:v>
                      </c:pt>
                      <c:pt idx="21">
                        <c:v>37</c:v>
                      </c:pt>
                      <c:pt idx="22">
                        <c:v>28</c:v>
                      </c:pt>
                      <c:pt idx="23">
                        <c:v>29</c:v>
                      </c:pt>
                      <c:pt idx="24">
                        <c:v>19</c:v>
                      </c:pt>
                    </c:numCache>
                  </c:numRef>
                </c:val>
                <c:extLst xmlns:c15="http://schemas.microsoft.com/office/drawing/2012/chart">
                  <c:ext xmlns:c16="http://schemas.microsoft.com/office/drawing/2014/chart" uri="{C3380CC4-5D6E-409C-BE32-E72D297353CC}">
                    <c16:uniqueId val="{00000002-F1CC-4A69-BFB1-5D2187751F2A}"/>
                  </c:ext>
                </c:extLst>
              </c15:ser>
            </c15:filteredBarSeries>
          </c:ext>
        </c:extLst>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General"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baseline="0" dirty="0"/>
              <a:t>Supplement Category Substitutes</a:t>
            </a:r>
          </a:p>
          <a:p>
            <a:pPr>
              <a:defRPr sz="1400" b="1"/>
            </a:pPr>
            <a:r>
              <a:rPr lang="en-US" sz="1400" b="0" i="1" baseline="0" dirty="0"/>
              <a:t>% of Once/Week+ Category Users</a:t>
            </a:r>
            <a:endParaRPr lang="en-US" sz="1400" b="0" i="1" dirty="0"/>
          </a:p>
        </c:rich>
      </c:tx>
      <c:layout>
        <c:manualLayout>
          <c:xMode val="edge"/>
          <c:yMode val="edge"/>
          <c:x val="0.4426298768359313"/>
          <c:y val="5.900241451950531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58431807057105911"/>
          <c:y val="0.18464512090305413"/>
          <c:w val="0.39987120541208893"/>
          <c:h val="0.70998338375573411"/>
        </c:manualLayout>
      </c:layout>
      <c:barChart>
        <c:barDir val="bar"/>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6"/>
                <c:pt idx="0">
                  <c:v>Foods with naturally occurring benefits</c:v>
                </c:pt>
                <c:pt idx="1">
                  <c:v>Functional foods</c:v>
                </c:pt>
                <c:pt idx="2">
                  <c:v>Functional beverages</c:v>
                </c:pt>
                <c:pt idx="3">
                  <c:v>Beverages with naturally occurring benefits</c:v>
                </c:pt>
                <c:pt idx="4">
                  <c:v>Over-the-counter medications</c:v>
                </c:pt>
                <c:pt idx="5">
                  <c:v>Prescription medications</c:v>
                </c:pt>
              </c:strCache>
              <c:extLst/>
            </c:strRef>
          </c:cat>
          <c:val>
            <c:numRef>
              <c:f>Sheet1!$B$2:$B$8</c:f>
              <c:numCache>
                <c:formatCode>0_ ;\-0_ ;\-_ </c:formatCode>
                <c:ptCount val="6"/>
                <c:pt idx="0">
                  <c:v>65.471923536439675</c:v>
                </c:pt>
                <c:pt idx="1">
                  <c:v>58.183990442054963</c:v>
                </c:pt>
                <c:pt idx="2">
                  <c:v>52.210274790919954</c:v>
                </c:pt>
                <c:pt idx="3">
                  <c:v>44.086021505376351</c:v>
                </c:pt>
                <c:pt idx="4">
                  <c:v>32.855436081242537</c:v>
                </c:pt>
                <c:pt idx="5">
                  <c:v>26.762246117084828</c:v>
                </c:pt>
              </c:numCache>
              <c:extLst/>
            </c:numRef>
          </c:val>
          <c:extLst>
            <c:ext xmlns:c16="http://schemas.microsoft.com/office/drawing/2014/chart" uri="{C3380CC4-5D6E-409C-BE32-E72D297353CC}">
              <c16:uniqueId val="{00000000-DE7A-46C9-A382-36B5D0ABC7A8}"/>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Sheet1!$A$2:$A$8</c15:sqref>
                        </c15:formulaRef>
                      </c:ext>
                    </c:extLst>
                    <c:strCache>
                      <c:ptCount val="6"/>
                      <c:pt idx="0">
                        <c:v>Foods with naturally occurring benefits</c:v>
                      </c:pt>
                      <c:pt idx="1">
                        <c:v>Functional foods</c:v>
                      </c:pt>
                      <c:pt idx="2">
                        <c:v>Functional beverages</c:v>
                      </c:pt>
                      <c:pt idx="3">
                        <c:v>Beverages with naturally occurring benefits</c:v>
                      </c:pt>
                      <c:pt idx="4">
                        <c:v>Over-the-counter medications</c:v>
                      </c:pt>
                      <c:pt idx="5">
                        <c:v>Prescription medications</c:v>
                      </c:pt>
                    </c:strCache>
                  </c:strRef>
                </c:cat>
                <c:val>
                  <c:numRef>
                    <c:extLst>
                      <c:ext uri="{02D57815-91ED-43cb-92C2-25804820EDAC}">
                        <c15:formulaRef>
                          <c15:sqref>Sheet1!$C$2:$C$8</c15:sqref>
                        </c15:formulaRef>
                      </c:ext>
                    </c:extLst>
                    <c:numCache>
                      <c:formatCode>0_ ;\-0_ ;\-_ </c:formatCode>
                      <c:ptCount val="6"/>
                      <c:pt idx="0">
                        <c:v>66.109785202863961</c:v>
                      </c:pt>
                      <c:pt idx="1">
                        <c:v>0</c:v>
                      </c:pt>
                      <c:pt idx="2">
                        <c:v>60.501193317422427</c:v>
                      </c:pt>
                      <c:pt idx="3">
                        <c:v>52.74463007159904</c:v>
                      </c:pt>
                      <c:pt idx="4">
                        <c:v>24.582338902147971</c:v>
                      </c:pt>
                      <c:pt idx="5">
                        <c:v>18.61575178997613</c:v>
                      </c:pt>
                    </c:numCache>
                  </c:numRef>
                </c:val>
                <c:extLst>
                  <c:ext xmlns:c16="http://schemas.microsoft.com/office/drawing/2014/chart" uri="{C3380CC4-5D6E-409C-BE32-E72D297353CC}">
                    <c16:uniqueId val="{00000001-DE7A-46C9-A382-36B5D0ABC7A8}"/>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Sheet1!$A$2:$A$8</c15:sqref>
                        </c15:formulaRef>
                      </c:ext>
                    </c:extLst>
                    <c:strCache>
                      <c:ptCount val="6"/>
                      <c:pt idx="0">
                        <c:v>Foods with naturally occurring benefits</c:v>
                      </c:pt>
                      <c:pt idx="1">
                        <c:v>Functional foods</c:v>
                      </c:pt>
                      <c:pt idx="2">
                        <c:v>Functional beverages</c:v>
                      </c:pt>
                      <c:pt idx="3">
                        <c:v>Beverages with naturally occurring benefits</c:v>
                      </c:pt>
                      <c:pt idx="4">
                        <c:v>Over-the-counter medications</c:v>
                      </c:pt>
                      <c:pt idx="5">
                        <c:v>Prescription medications</c:v>
                      </c:pt>
                    </c:strCache>
                  </c:strRef>
                </c:cat>
                <c:val>
                  <c:numRef>
                    <c:extLst xmlns:c15="http://schemas.microsoft.com/office/drawing/2012/chart">
                      <c:ext xmlns:c15="http://schemas.microsoft.com/office/drawing/2012/chart" uri="{02D57815-91ED-43cb-92C2-25804820EDAC}">
                        <c15:formulaRef>
                          <c15:sqref>Sheet1!$D$2:$D$8</c15:sqref>
                        </c15:formulaRef>
                      </c:ext>
                    </c:extLst>
                    <c:numCache>
                      <c:formatCode>0_ ;\-0_ ;\-_ </c:formatCode>
                      <c:ptCount val="6"/>
                      <c:pt idx="0">
                        <c:v>58.164481525625739</c:v>
                      </c:pt>
                      <c:pt idx="1">
                        <c:v>63.766388557806906</c:v>
                      </c:pt>
                      <c:pt idx="2">
                        <c:v>0</c:v>
                      </c:pt>
                      <c:pt idx="3">
                        <c:v>56.853396901072699</c:v>
                      </c:pt>
                      <c:pt idx="4">
                        <c:v>21.096543504171631</c:v>
                      </c:pt>
                      <c:pt idx="5">
                        <c:v>18.474374255065552</c:v>
                      </c:pt>
                    </c:numCache>
                  </c:numRef>
                </c:val>
                <c:extLst xmlns:c15="http://schemas.microsoft.com/office/drawing/2012/chart">
                  <c:ext xmlns:c16="http://schemas.microsoft.com/office/drawing/2014/chart" uri="{C3380CC4-5D6E-409C-BE32-E72D297353CC}">
                    <c16:uniqueId val="{00000002-DE7A-46C9-A382-36B5D0ABC7A8}"/>
                  </c:ext>
                </c:extLst>
              </c15:ser>
            </c15:filteredBarSeries>
          </c:ext>
        </c:extLst>
      </c:barChart>
      <c:catAx>
        <c:axId val="196050702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t"/>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baseline="0" dirty="0"/>
              <a:t>Supplement Category Barriers</a:t>
            </a:r>
          </a:p>
          <a:p>
            <a:pPr>
              <a:defRPr sz="1600" b="1"/>
            </a:pPr>
            <a:r>
              <a:rPr lang="en-US" sz="1400" b="0" i="1" baseline="0" dirty="0"/>
              <a:t>% of Once/Week+ Category Users</a:t>
            </a:r>
            <a:endParaRPr lang="en-US" sz="1400" b="0" i="1" dirty="0"/>
          </a:p>
        </c:rich>
      </c:tx>
      <c:layout>
        <c:manualLayout>
          <c:xMode val="edge"/>
          <c:yMode val="edge"/>
          <c:x val="0.37372840676575181"/>
          <c:y val="0.20308969726170401"/>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3672917320848904E-2"/>
          <c:y val="0.18891415723118932"/>
          <c:w val="0.93417223531819293"/>
          <c:h val="0.37137637517064159"/>
        </c:manualLayout>
      </c:layout>
      <c:barChart>
        <c:barDir val="col"/>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Sheet1!$A$2:$A$19</c:f>
              <c:strCache>
                <c:ptCount val="18"/>
                <c:pt idx="0">
                  <c:v>Products are too expensive</c:v>
                </c:pt>
                <c:pt idx="1">
                  <c:v>I can't see or feel the impact of the products</c:v>
                </c:pt>
                <c:pt idx="2">
                  <c:v>Negative side effects</c:v>
                </c:pt>
                <c:pt idx="3">
                  <c:v>Lack of science-backed claims</c:v>
                </c:pt>
                <c:pt idx="4">
                  <c:v>Too much conflicting information out there</c:v>
                </c:pt>
                <c:pt idx="5">
                  <c:v>Questions about ingredient quality/purity</c:v>
                </c:pt>
                <c:pt idx="6">
                  <c:v>I doubt the effectiveness of products in the category</c:v>
                </c:pt>
                <c:pt idx="7">
                  <c:v>The category is too complex/there are too many choices</c:v>
                </c:pt>
                <c:pt idx="8">
                  <c:v>Lack of regulation, third-party testing/certification, etc.</c:v>
                </c:pt>
                <c:pt idx="9">
                  <c:v>Lack of transparency from brands/manufacturers</c:v>
                </c:pt>
                <c:pt idx="10">
                  <c:v>Not enough information/education available</c:v>
                </c:pt>
                <c:pt idx="11">
                  <c:v>I forget to buy or use them</c:v>
                </c:pt>
                <c:pt idx="12">
                  <c:v>Products don't work quickly enough</c:v>
                </c:pt>
                <c:pt idx="13">
                  <c:v>I already have to use too many products to get the benefits I'm looking for</c:v>
                </c:pt>
                <c:pt idx="14">
                  <c:v>I don't like the taste/texture of most products in the category</c:v>
                </c:pt>
                <c:pt idx="15">
                  <c:v>The product formats are too difficult to consume</c:v>
                </c:pt>
                <c:pt idx="16">
                  <c:v>Products are too difficult to incorporate into my routine</c:v>
                </c:pt>
                <c:pt idx="17">
                  <c:v>None of the above</c:v>
                </c:pt>
              </c:strCache>
            </c:strRef>
          </c:cat>
          <c:val>
            <c:numRef>
              <c:f>Sheet1!$B$2:$B$19</c:f>
              <c:numCache>
                <c:formatCode>0_ ;\-0_ ;\-_ </c:formatCode>
                <c:ptCount val="18"/>
                <c:pt idx="0">
                  <c:v>38.112305854241342</c:v>
                </c:pt>
                <c:pt idx="1">
                  <c:v>22.461170848267624</c:v>
                </c:pt>
                <c:pt idx="2">
                  <c:v>21.983273596176826</c:v>
                </c:pt>
                <c:pt idx="3">
                  <c:v>20.669056152927123</c:v>
                </c:pt>
                <c:pt idx="4">
                  <c:v>19.593787335722823</c:v>
                </c:pt>
                <c:pt idx="5">
                  <c:v>19.23536439665472</c:v>
                </c:pt>
                <c:pt idx="6">
                  <c:v>17.443249701314219</c:v>
                </c:pt>
                <c:pt idx="7">
                  <c:v>16.965352449223417</c:v>
                </c:pt>
                <c:pt idx="8">
                  <c:v>16.965352449223417</c:v>
                </c:pt>
                <c:pt idx="9">
                  <c:v>15.770609318996417</c:v>
                </c:pt>
                <c:pt idx="10">
                  <c:v>15.651135005973718</c:v>
                </c:pt>
                <c:pt idx="11">
                  <c:v>12.903225806451614</c:v>
                </c:pt>
                <c:pt idx="12">
                  <c:v>12.903225806451614</c:v>
                </c:pt>
                <c:pt idx="13">
                  <c:v>10.872162485065711</c:v>
                </c:pt>
                <c:pt idx="14">
                  <c:v>9.3189964157706093</c:v>
                </c:pt>
                <c:pt idx="15">
                  <c:v>8.4826762246117084</c:v>
                </c:pt>
                <c:pt idx="16">
                  <c:v>8.0047789725209082</c:v>
                </c:pt>
                <c:pt idx="17">
                  <c:v>22.341696535244925</c:v>
                </c:pt>
              </c:numCache>
            </c:numRef>
          </c:val>
          <c:extLst>
            <c:ext xmlns:c16="http://schemas.microsoft.com/office/drawing/2014/chart" uri="{C3380CC4-5D6E-409C-BE32-E72D297353CC}">
              <c16:uniqueId val="{00000000-C8B0-414E-9CB5-19EE8DB716E0}"/>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Sheet1!$A$2:$A$19</c15:sqref>
                        </c15:formulaRef>
                      </c:ext>
                    </c:extLst>
                    <c:strCache>
                      <c:ptCount val="18"/>
                      <c:pt idx="0">
                        <c:v>Products are too expensive</c:v>
                      </c:pt>
                      <c:pt idx="1">
                        <c:v>I can't see or feel the impact of the products</c:v>
                      </c:pt>
                      <c:pt idx="2">
                        <c:v>Negative side effects</c:v>
                      </c:pt>
                      <c:pt idx="3">
                        <c:v>Lack of science-backed claims</c:v>
                      </c:pt>
                      <c:pt idx="4">
                        <c:v>Too much conflicting information out there</c:v>
                      </c:pt>
                      <c:pt idx="5">
                        <c:v>Questions about ingredient quality/purity</c:v>
                      </c:pt>
                      <c:pt idx="6">
                        <c:v>I doubt the effectiveness of products in the category</c:v>
                      </c:pt>
                      <c:pt idx="7">
                        <c:v>The category is too complex/there are too many choices</c:v>
                      </c:pt>
                      <c:pt idx="8">
                        <c:v>Lack of regulation, third-party testing/certification, etc.</c:v>
                      </c:pt>
                      <c:pt idx="9">
                        <c:v>Lack of transparency from brands/manufacturers</c:v>
                      </c:pt>
                      <c:pt idx="10">
                        <c:v>Not enough information/education available</c:v>
                      </c:pt>
                      <c:pt idx="11">
                        <c:v>I forget to buy or use them</c:v>
                      </c:pt>
                      <c:pt idx="12">
                        <c:v>Products don't work quickly enough</c:v>
                      </c:pt>
                      <c:pt idx="13">
                        <c:v>I already have to use too many products to get the benefits I'm looking for</c:v>
                      </c:pt>
                      <c:pt idx="14">
                        <c:v>I don't like the taste/texture of most products in the category</c:v>
                      </c:pt>
                      <c:pt idx="15">
                        <c:v>The product formats are too difficult to consume</c:v>
                      </c:pt>
                      <c:pt idx="16">
                        <c:v>Products are too difficult to incorporate into my routine</c:v>
                      </c:pt>
                      <c:pt idx="17">
                        <c:v>None of the above</c:v>
                      </c:pt>
                    </c:strCache>
                  </c:strRef>
                </c:cat>
                <c:val>
                  <c:numRef>
                    <c:extLst>
                      <c:ext uri="{02D57815-91ED-43cb-92C2-25804820EDAC}">
                        <c15:formulaRef>
                          <c15:sqref>Sheet1!$C$2:$C$19</c15:sqref>
                        </c15:formulaRef>
                      </c:ext>
                    </c:extLst>
                    <c:numCache>
                      <c:formatCode>0_ ;\-0_ ;\-_ </c:formatCode>
                      <c:ptCount val="18"/>
                      <c:pt idx="0">
                        <c:v>39.140811455847249</c:v>
                      </c:pt>
                      <c:pt idx="1">
                        <c:v>19.093078758949879</c:v>
                      </c:pt>
                      <c:pt idx="2">
                        <c:v>19.809069212410499</c:v>
                      </c:pt>
                      <c:pt idx="3">
                        <c:v>19.212410501193315</c:v>
                      </c:pt>
                      <c:pt idx="4">
                        <c:v>17.661097852028639</c:v>
                      </c:pt>
                      <c:pt idx="5">
                        <c:v>18.138424821002385</c:v>
                      </c:pt>
                      <c:pt idx="6">
                        <c:v>15.393794749403339</c:v>
                      </c:pt>
                      <c:pt idx="7">
                        <c:v>14.797136038186157</c:v>
                      </c:pt>
                      <c:pt idx="8">
                        <c:v>15.155131264916466</c:v>
                      </c:pt>
                      <c:pt idx="9">
                        <c:v>13.842482100238662</c:v>
                      </c:pt>
                      <c:pt idx="10">
                        <c:v>15.632458233890214</c:v>
                      </c:pt>
                      <c:pt idx="11">
                        <c:v>13.126491646778042</c:v>
                      </c:pt>
                      <c:pt idx="12">
                        <c:v>13.723150357995225</c:v>
                      </c:pt>
                      <c:pt idx="13">
                        <c:v>12.410501193317421</c:v>
                      </c:pt>
                      <c:pt idx="14">
                        <c:v>17.5417661097852</c:v>
                      </c:pt>
                      <c:pt idx="15">
                        <c:v>9.0692124105011924</c:v>
                      </c:pt>
                      <c:pt idx="16">
                        <c:v>10.143198090692124</c:v>
                      </c:pt>
                      <c:pt idx="17">
                        <c:v>20.644391408114558</c:v>
                      </c:pt>
                    </c:numCache>
                  </c:numRef>
                </c:val>
                <c:extLst>
                  <c:ext xmlns:c16="http://schemas.microsoft.com/office/drawing/2014/chart" uri="{C3380CC4-5D6E-409C-BE32-E72D297353CC}">
                    <c16:uniqueId val="{00000001-C8B0-414E-9CB5-19EE8DB716E0}"/>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Sheet1!$A$2:$A$19</c15:sqref>
                        </c15:formulaRef>
                      </c:ext>
                    </c:extLst>
                    <c:strCache>
                      <c:ptCount val="18"/>
                      <c:pt idx="0">
                        <c:v>Products are too expensive</c:v>
                      </c:pt>
                      <c:pt idx="1">
                        <c:v>I can't see or feel the impact of the products</c:v>
                      </c:pt>
                      <c:pt idx="2">
                        <c:v>Negative side effects</c:v>
                      </c:pt>
                      <c:pt idx="3">
                        <c:v>Lack of science-backed claims</c:v>
                      </c:pt>
                      <c:pt idx="4">
                        <c:v>Too much conflicting information out there</c:v>
                      </c:pt>
                      <c:pt idx="5">
                        <c:v>Questions about ingredient quality/purity</c:v>
                      </c:pt>
                      <c:pt idx="6">
                        <c:v>I doubt the effectiveness of products in the category</c:v>
                      </c:pt>
                      <c:pt idx="7">
                        <c:v>The category is too complex/there are too many choices</c:v>
                      </c:pt>
                      <c:pt idx="8">
                        <c:v>Lack of regulation, third-party testing/certification, etc.</c:v>
                      </c:pt>
                      <c:pt idx="9">
                        <c:v>Lack of transparency from brands/manufacturers</c:v>
                      </c:pt>
                      <c:pt idx="10">
                        <c:v>Not enough information/education available</c:v>
                      </c:pt>
                      <c:pt idx="11">
                        <c:v>I forget to buy or use them</c:v>
                      </c:pt>
                      <c:pt idx="12">
                        <c:v>Products don't work quickly enough</c:v>
                      </c:pt>
                      <c:pt idx="13">
                        <c:v>I already have to use too many products to get the benefits I'm looking for</c:v>
                      </c:pt>
                      <c:pt idx="14">
                        <c:v>I don't like the taste/texture of most products in the category</c:v>
                      </c:pt>
                      <c:pt idx="15">
                        <c:v>The product formats are too difficult to consume</c:v>
                      </c:pt>
                      <c:pt idx="16">
                        <c:v>Products are too difficult to incorporate into my routine</c:v>
                      </c:pt>
                      <c:pt idx="17">
                        <c:v>None of the above</c:v>
                      </c:pt>
                    </c:strCache>
                  </c:strRef>
                </c:cat>
                <c:val>
                  <c:numRef>
                    <c:extLst xmlns:c15="http://schemas.microsoft.com/office/drawing/2012/chart">
                      <c:ext xmlns:c15="http://schemas.microsoft.com/office/drawing/2012/chart" uri="{02D57815-91ED-43cb-92C2-25804820EDAC}">
                        <c15:formulaRef>
                          <c15:sqref>Sheet1!$D$2:$D$19</c15:sqref>
                        </c15:formulaRef>
                      </c:ext>
                    </c:extLst>
                    <c:numCache>
                      <c:formatCode>0_ ;\-0_ ;\-_ </c:formatCode>
                      <c:ptCount val="18"/>
                      <c:pt idx="0">
                        <c:v>38.379022646007151</c:v>
                      </c:pt>
                      <c:pt idx="1">
                        <c:v>17.759237187127532</c:v>
                      </c:pt>
                      <c:pt idx="2">
                        <c:v>17.282479141835516</c:v>
                      </c:pt>
                      <c:pt idx="3">
                        <c:v>18.235995232419548</c:v>
                      </c:pt>
                      <c:pt idx="4">
                        <c:v>18.474374255065552</c:v>
                      </c:pt>
                      <c:pt idx="5">
                        <c:v>17.640047675804528</c:v>
                      </c:pt>
                      <c:pt idx="6">
                        <c:v>15.017878426698449</c:v>
                      </c:pt>
                      <c:pt idx="7">
                        <c:v>15.852205005959474</c:v>
                      </c:pt>
                      <c:pt idx="8">
                        <c:v>14.183551847437425</c:v>
                      </c:pt>
                      <c:pt idx="9">
                        <c:v>15.017878426698449</c:v>
                      </c:pt>
                      <c:pt idx="10">
                        <c:v>15.256257449344456</c:v>
                      </c:pt>
                      <c:pt idx="11">
                        <c:v>13.468414779499403</c:v>
                      </c:pt>
                      <c:pt idx="12">
                        <c:v>13.706793802145411</c:v>
                      </c:pt>
                      <c:pt idx="13">
                        <c:v>10.965435041716328</c:v>
                      </c:pt>
                      <c:pt idx="14">
                        <c:v>18.474374255065552</c:v>
                      </c:pt>
                      <c:pt idx="15">
                        <c:v>7.0321811680572104</c:v>
                      </c:pt>
                      <c:pt idx="16">
                        <c:v>7.7473182359952322</c:v>
                      </c:pt>
                      <c:pt idx="17">
                        <c:v>22.050059594755659</c:v>
                      </c:pt>
                    </c:numCache>
                  </c:numRef>
                </c:val>
                <c:extLst xmlns:c15="http://schemas.microsoft.com/office/drawing/2012/chart">
                  <c:ext xmlns:c16="http://schemas.microsoft.com/office/drawing/2014/chart" uri="{C3380CC4-5D6E-409C-BE32-E72D297353CC}">
                    <c16:uniqueId val="{00000002-C8B0-414E-9CB5-19EE8DB716E0}"/>
                  </c:ext>
                </c:extLst>
              </c15:ser>
            </c15:filteredBarSeries>
          </c:ext>
        </c:extLst>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baseline="0" dirty="0"/>
              <a:t>Top Supplement Purchase Outlets</a:t>
            </a:r>
          </a:p>
          <a:p>
            <a:pPr>
              <a:defRPr sz="1600" b="1"/>
            </a:pPr>
            <a:r>
              <a:rPr lang="en-US" sz="1400" b="0" i="1" baseline="0" dirty="0"/>
              <a:t>% selecting as one of top 3 Purchase Outlets among Once/Week+ Category Users</a:t>
            </a:r>
            <a:endParaRPr lang="en-US" sz="1400" b="0" i="1" dirty="0"/>
          </a:p>
        </c:rich>
      </c:tx>
      <c:layout>
        <c:manualLayout>
          <c:xMode val="edge"/>
          <c:yMode val="edge"/>
          <c:x val="0.27710725926452973"/>
          <c:y val="0.12302421412485524"/>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128770962166964E-2"/>
          <c:y val="0.15656457456455894"/>
          <c:w val="0.93641048202130761"/>
          <c:h val="0.3567625478424104"/>
        </c:manualLayout>
      </c:layout>
      <c:barChart>
        <c:barDir val="col"/>
        <c:grouping val="clustered"/>
        <c:varyColors val="0"/>
        <c:ser>
          <c:idx val="0"/>
          <c:order val="0"/>
          <c:tx>
            <c:strRef>
              <c:f>Sheet1!$B$1</c:f>
              <c:strCache>
                <c:ptCount val="1"/>
                <c:pt idx="0">
                  <c:v>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Sheet1!$A$2:$A$17</c:f>
              <c:strCache>
                <c:ptCount val="16"/>
                <c:pt idx="0">
                  <c:v>Mass merchandiser</c:v>
                </c:pt>
                <c:pt idx="1">
                  <c:v>Online from an online retailer website</c:v>
                </c:pt>
                <c:pt idx="2">
                  <c:v>Drug Store</c:v>
                </c:pt>
                <c:pt idx="3">
                  <c:v>Traditional grocery store</c:v>
                </c:pt>
                <c:pt idx="4">
                  <c:v>Club Store</c:v>
                </c:pt>
                <c:pt idx="5">
                  <c:v>Specialty Health Store</c:v>
                </c:pt>
                <c:pt idx="6">
                  <c:v>Online from a brand/manufacturer website</c:v>
                </c:pt>
                <c:pt idx="7">
                  <c:v>Natural/Organic grocery store</c:v>
                </c:pt>
                <c:pt idx="8">
                  <c:v>Dollar Store</c:v>
                </c:pt>
                <c:pt idx="9">
                  <c:v>Online through a social media website</c:v>
                </c:pt>
                <c:pt idx="10">
                  <c:v>Online through an influencer/podcaster</c:v>
                </c:pt>
                <c:pt idx="11">
                  <c:v>Convenience store</c:v>
                </c:pt>
                <c:pt idx="12">
                  <c:v>Ordering from Mail, TV, or Radio Offers</c:v>
                </c:pt>
                <c:pt idx="13">
                  <c:v>From a restaurant/coffee shop/cafeteria</c:v>
                </c:pt>
                <c:pt idx="14">
                  <c:v>Multi-level or network marketing company</c:v>
                </c:pt>
                <c:pt idx="15">
                  <c:v>Vending machine</c:v>
                </c:pt>
              </c:strCache>
            </c:strRef>
          </c:cat>
          <c:val>
            <c:numRef>
              <c:f>Sheet1!$B$2:$B$17</c:f>
              <c:numCache>
                <c:formatCode>0_ ;\-0_ ;\-_ </c:formatCode>
                <c:ptCount val="16"/>
                <c:pt idx="0">
                  <c:v>59.020310633213867</c:v>
                </c:pt>
                <c:pt idx="1">
                  <c:v>50.537634408602152</c:v>
                </c:pt>
                <c:pt idx="2">
                  <c:v>43.488649940262846</c:v>
                </c:pt>
                <c:pt idx="3">
                  <c:v>32.138590203106332</c:v>
                </c:pt>
                <c:pt idx="4">
                  <c:v>31.302270011947435</c:v>
                </c:pt>
                <c:pt idx="5">
                  <c:v>20.071684587813621</c:v>
                </c:pt>
                <c:pt idx="6">
                  <c:v>17.562724014336919</c:v>
                </c:pt>
                <c:pt idx="7">
                  <c:v>12.425328554360814</c:v>
                </c:pt>
                <c:pt idx="8">
                  <c:v>8.3632019115890088</c:v>
                </c:pt>
                <c:pt idx="9">
                  <c:v>5.7347670250896066</c:v>
                </c:pt>
                <c:pt idx="10">
                  <c:v>4.540023894862605</c:v>
                </c:pt>
                <c:pt idx="11">
                  <c:v>3.2258064516129035</c:v>
                </c:pt>
                <c:pt idx="12">
                  <c:v>2.8673835125448033</c:v>
                </c:pt>
                <c:pt idx="13">
                  <c:v>2.2700119474313025</c:v>
                </c:pt>
                <c:pt idx="14">
                  <c:v>2.1505376344086025</c:v>
                </c:pt>
                <c:pt idx="15">
                  <c:v>2.0310633213859024</c:v>
                </c:pt>
              </c:numCache>
            </c:numRef>
          </c:val>
          <c:extLst>
            <c:ext xmlns:c16="http://schemas.microsoft.com/office/drawing/2014/chart" uri="{C3380CC4-5D6E-409C-BE32-E72D297353CC}">
              <c16:uniqueId val="{00000000-C661-49A7-A590-80AB35F93864}"/>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Sheet1!$A$2:$A$17</c15:sqref>
                        </c15:formulaRef>
                      </c:ext>
                    </c:extLst>
                    <c:strCache>
                      <c:ptCount val="16"/>
                      <c:pt idx="0">
                        <c:v>Mass merchandiser</c:v>
                      </c:pt>
                      <c:pt idx="1">
                        <c:v>Online from an online retailer website</c:v>
                      </c:pt>
                      <c:pt idx="2">
                        <c:v>Drug Store</c:v>
                      </c:pt>
                      <c:pt idx="3">
                        <c:v>Traditional grocery store</c:v>
                      </c:pt>
                      <c:pt idx="4">
                        <c:v>Club Store</c:v>
                      </c:pt>
                      <c:pt idx="5">
                        <c:v>Specialty Health Store</c:v>
                      </c:pt>
                      <c:pt idx="6">
                        <c:v>Online from a brand/manufacturer website</c:v>
                      </c:pt>
                      <c:pt idx="7">
                        <c:v>Natural/Organic grocery store</c:v>
                      </c:pt>
                      <c:pt idx="8">
                        <c:v>Dollar Store</c:v>
                      </c:pt>
                      <c:pt idx="9">
                        <c:v>Online through a social media website</c:v>
                      </c:pt>
                      <c:pt idx="10">
                        <c:v>Online through an influencer/podcaster</c:v>
                      </c:pt>
                      <c:pt idx="11">
                        <c:v>Convenience store</c:v>
                      </c:pt>
                      <c:pt idx="12">
                        <c:v>Ordering from Mail, TV, or Radio Offers</c:v>
                      </c:pt>
                      <c:pt idx="13">
                        <c:v>From a restaurant/coffee shop/cafeteria</c:v>
                      </c:pt>
                      <c:pt idx="14">
                        <c:v>Multi-level or network marketing company</c:v>
                      </c:pt>
                      <c:pt idx="15">
                        <c:v>Vending machine</c:v>
                      </c:pt>
                    </c:strCache>
                  </c:strRef>
                </c:cat>
                <c:val>
                  <c:numRef>
                    <c:extLst>
                      <c:ext uri="{02D57815-91ED-43cb-92C2-25804820EDAC}">
                        <c15:formulaRef>
                          <c15:sqref>Sheet1!$C$2:$C$17</c15:sqref>
                        </c15:formulaRef>
                      </c:ext>
                    </c:extLst>
                    <c:numCache>
                      <c:formatCode>0_ ;\-0_ ;\-_ </c:formatCode>
                      <c:ptCount val="16"/>
                      <c:pt idx="0">
                        <c:v>55.60859188544152</c:v>
                      </c:pt>
                      <c:pt idx="1">
                        <c:v>39.379474940334127</c:v>
                      </c:pt>
                      <c:pt idx="2">
                        <c:v>21.479713603818613</c:v>
                      </c:pt>
                      <c:pt idx="3">
                        <c:v>44.272076372315034</c:v>
                      </c:pt>
                      <c:pt idx="4">
                        <c:v>35.083532219570401</c:v>
                      </c:pt>
                      <c:pt idx="5">
                        <c:v>16.587112171837706</c:v>
                      </c:pt>
                      <c:pt idx="6">
                        <c:v>13.723150357995225</c:v>
                      </c:pt>
                      <c:pt idx="7">
                        <c:v>29.355608591885439</c:v>
                      </c:pt>
                      <c:pt idx="8">
                        <c:v>8.8305489260143197</c:v>
                      </c:pt>
                      <c:pt idx="9">
                        <c:v>7.7565632458233882</c:v>
                      </c:pt>
                      <c:pt idx="10">
                        <c:v>6.2052505966587104</c:v>
                      </c:pt>
                      <c:pt idx="11">
                        <c:v>6.9212410501193311</c:v>
                      </c:pt>
                      <c:pt idx="12">
                        <c:v>2.0286396181384245</c:v>
                      </c:pt>
                      <c:pt idx="13">
                        <c:v>4.1766109785202863</c:v>
                      </c:pt>
                      <c:pt idx="14">
                        <c:v>4.2959427207637226</c:v>
                      </c:pt>
                      <c:pt idx="15">
                        <c:v>3.5799522673031023</c:v>
                      </c:pt>
                    </c:numCache>
                  </c:numRef>
                </c:val>
                <c:extLst>
                  <c:ext xmlns:c16="http://schemas.microsoft.com/office/drawing/2014/chart" uri="{C3380CC4-5D6E-409C-BE32-E72D297353CC}">
                    <c16:uniqueId val="{00000001-C661-49A7-A590-80AB35F93864}"/>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Sheet1!$A$2:$A$17</c15:sqref>
                        </c15:formulaRef>
                      </c:ext>
                    </c:extLst>
                    <c:strCache>
                      <c:ptCount val="16"/>
                      <c:pt idx="0">
                        <c:v>Mass merchandiser</c:v>
                      </c:pt>
                      <c:pt idx="1">
                        <c:v>Online from an online retailer website</c:v>
                      </c:pt>
                      <c:pt idx="2">
                        <c:v>Drug Store</c:v>
                      </c:pt>
                      <c:pt idx="3">
                        <c:v>Traditional grocery store</c:v>
                      </c:pt>
                      <c:pt idx="4">
                        <c:v>Club Store</c:v>
                      </c:pt>
                      <c:pt idx="5">
                        <c:v>Specialty Health Store</c:v>
                      </c:pt>
                      <c:pt idx="6">
                        <c:v>Online from a brand/manufacturer website</c:v>
                      </c:pt>
                      <c:pt idx="7">
                        <c:v>Natural/Organic grocery store</c:v>
                      </c:pt>
                      <c:pt idx="8">
                        <c:v>Dollar Store</c:v>
                      </c:pt>
                      <c:pt idx="9">
                        <c:v>Online through a social media website</c:v>
                      </c:pt>
                      <c:pt idx="10">
                        <c:v>Online through an influencer/podcaster</c:v>
                      </c:pt>
                      <c:pt idx="11">
                        <c:v>Convenience store</c:v>
                      </c:pt>
                      <c:pt idx="12">
                        <c:v>Ordering from Mail, TV, or Radio Offers</c:v>
                      </c:pt>
                      <c:pt idx="13">
                        <c:v>From a restaurant/coffee shop/cafeteria</c:v>
                      </c:pt>
                      <c:pt idx="14">
                        <c:v>Multi-level or network marketing company</c:v>
                      </c:pt>
                      <c:pt idx="15">
                        <c:v>Vending machine</c:v>
                      </c:pt>
                    </c:strCache>
                  </c:strRef>
                </c:cat>
                <c:val>
                  <c:numRef>
                    <c:extLst xmlns:c15="http://schemas.microsoft.com/office/drawing/2012/chart">
                      <c:ext xmlns:c15="http://schemas.microsoft.com/office/drawing/2012/chart" uri="{02D57815-91ED-43cb-92C2-25804820EDAC}">
                        <c15:formulaRef>
                          <c15:sqref>Sheet1!$D$2:$D$17</c15:sqref>
                        </c15:formulaRef>
                      </c:ext>
                    </c:extLst>
                    <c:numCache>
                      <c:formatCode>0_ ;\-0_ ;\-_ </c:formatCode>
                      <c:ptCount val="16"/>
                      <c:pt idx="0">
                        <c:v>59.833134684147794</c:v>
                      </c:pt>
                      <c:pt idx="1">
                        <c:v>37.187127532777112</c:v>
                      </c:pt>
                      <c:pt idx="2">
                        <c:v>23.480333730631703</c:v>
                      </c:pt>
                      <c:pt idx="3">
                        <c:v>41.716328963051247</c:v>
                      </c:pt>
                      <c:pt idx="4">
                        <c:v>32.896305125148984</c:v>
                      </c:pt>
                      <c:pt idx="5">
                        <c:v>18.116805721096544</c:v>
                      </c:pt>
                      <c:pt idx="6">
                        <c:v>13.110846245530393</c:v>
                      </c:pt>
                      <c:pt idx="7">
                        <c:v>20.619785458879615</c:v>
                      </c:pt>
                      <c:pt idx="8">
                        <c:v>10.131108462455304</c:v>
                      </c:pt>
                      <c:pt idx="9">
                        <c:v>7.2705601907032174</c:v>
                      </c:pt>
                      <c:pt idx="10">
                        <c:v>5.3635280095351607</c:v>
                      </c:pt>
                      <c:pt idx="11">
                        <c:v>16.805721096543504</c:v>
                      </c:pt>
                      <c:pt idx="12">
                        <c:v>1.7878426698450536</c:v>
                      </c:pt>
                      <c:pt idx="13">
                        <c:v>5.0059594755661498</c:v>
                      </c:pt>
                      <c:pt idx="14">
                        <c:v>3.5756853396901072</c:v>
                      </c:pt>
                      <c:pt idx="15">
                        <c:v>2.8605482717520858</c:v>
                      </c:pt>
                    </c:numCache>
                  </c:numRef>
                </c:val>
                <c:extLst xmlns:c15="http://schemas.microsoft.com/office/drawing/2012/chart">
                  <c:ext xmlns:c16="http://schemas.microsoft.com/office/drawing/2014/chart" uri="{C3380CC4-5D6E-409C-BE32-E72D297353CC}">
                    <c16:uniqueId val="{00000002-C661-49A7-A590-80AB35F93864}"/>
                  </c:ext>
                </c:extLst>
              </c15:ser>
            </c15:filteredBarSeries>
          </c:ext>
        </c:extLst>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baseline="0" dirty="0"/>
              <a:t>Supplement Information Sources</a:t>
            </a:r>
          </a:p>
          <a:p>
            <a:pPr>
              <a:defRPr sz="1600" b="1"/>
            </a:pPr>
            <a:r>
              <a:rPr lang="en-US" sz="1400" b="0" i="1" baseline="0" dirty="0"/>
              <a:t>% selecting as one of top 3 Information Sources among Once/Week+ Category Users</a:t>
            </a:r>
            <a:endParaRPr lang="en-US" sz="1400" b="0" i="1" dirty="0"/>
          </a:p>
        </c:rich>
      </c:tx>
      <c:layout>
        <c:manualLayout>
          <c:xMode val="edge"/>
          <c:yMode val="edge"/>
          <c:x val="0.23902976097917572"/>
          <c:y val="0.15413763751706416"/>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7346994622649962E-2"/>
          <c:y val="0.18891415723118932"/>
          <c:w val="0.92278818463661849"/>
          <c:h val="0.36165550469766322"/>
        </c:manualLayout>
      </c:layout>
      <c:barChart>
        <c:barDir val="col"/>
        <c:grouping val="clustered"/>
        <c:varyColors val="0"/>
        <c:ser>
          <c:idx val="0"/>
          <c:order val="0"/>
          <c:tx>
            <c:strRef>
              <c:f>Sheet1!$B$1</c:f>
              <c:strCache>
                <c:ptCount val="1"/>
                <c:pt idx="0">
                  <c:v>Dietary Supplements</c:v>
                </c:pt>
              </c:strCache>
            </c:strRef>
          </c:tx>
          <c:spPr>
            <a:solidFill>
              <a:schemeClr val="accent2"/>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Sheet1!$A$2:$A$19</c:f>
              <c:strCache>
                <c:ptCount val="18"/>
                <c:pt idx="0">
                  <c:v>Doctor/Medical Professional</c:v>
                </c:pt>
                <c:pt idx="1">
                  <c:v>Online reviews</c:v>
                </c:pt>
                <c:pt idx="2">
                  <c:v>Friends and family</c:v>
                </c:pt>
                <c:pt idx="3">
                  <c:v>Health and wellness publications/websites</c:v>
                </c:pt>
                <c:pt idx="4">
                  <c:v>Product packaging</c:v>
                </c:pt>
                <c:pt idx="5">
                  <c:v>Health &amp; Wellness product manufacturers/brands</c:v>
                </c:pt>
                <c:pt idx="6">
                  <c:v>General interest publications/websites</c:v>
                </c:pt>
                <c:pt idx="7">
                  <c:v>Retailers</c:v>
                </c:pt>
                <c:pt idx="8">
                  <c:v>Government websites</c:v>
                </c:pt>
                <c:pt idx="9">
                  <c:v>Social media influencer/podcaster</c:v>
                </c:pt>
                <c:pt idx="10">
                  <c:v>Coach/Trainer/Physical Therapist</c:v>
                </c:pt>
                <c:pt idx="11">
                  <c:v>Third-party testers/certifiers</c:v>
                </c:pt>
                <c:pt idx="12">
                  <c:v>Other Wellness Professionals</c:v>
                </c:pt>
                <c:pt idx="13">
                  <c:v>Health technology companies/apps</c:v>
                </c:pt>
                <c:pt idx="14">
                  <c:v>Therapist/Counselor</c:v>
                </c:pt>
                <c:pt idx="15">
                  <c:v>Athlete influence/podcaster</c:v>
                </c:pt>
                <c:pt idx="16">
                  <c:v>Celebrity influencer/podcaster</c:v>
                </c:pt>
                <c:pt idx="17">
                  <c:v>I do not use any of these sources</c:v>
                </c:pt>
              </c:strCache>
            </c:strRef>
          </c:cat>
          <c:val>
            <c:numRef>
              <c:f>Sheet1!$B$2:$B$19</c:f>
              <c:numCache>
                <c:formatCode>0_ ;\-0_ ;\-_ </c:formatCode>
                <c:ptCount val="18"/>
                <c:pt idx="0">
                  <c:v>49.701314217443255</c:v>
                </c:pt>
                <c:pt idx="1">
                  <c:v>32.974910394265237</c:v>
                </c:pt>
                <c:pt idx="2">
                  <c:v>32.377538829151739</c:v>
                </c:pt>
                <c:pt idx="3">
                  <c:v>28.55436081242533</c:v>
                </c:pt>
                <c:pt idx="4">
                  <c:v>19.47431302270012</c:v>
                </c:pt>
                <c:pt idx="5">
                  <c:v>18.876941457586621</c:v>
                </c:pt>
                <c:pt idx="6">
                  <c:v>14.456391875746716</c:v>
                </c:pt>
                <c:pt idx="7">
                  <c:v>13.859020310633214</c:v>
                </c:pt>
                <c:pt idx="8">
                  <c:v>11.230585424133812</c:v>
                </c:pt>
                <c:pt idx="9">
                  <c:v>9.67741935483871</c:v>
                </c:pt>
                <c:pt idx="10">
                  <c:v>9.1995221027479097</c:v>
                </c:pt>
                <c:pt idx="11">
                  <c:v>8.9605734767025105</c:v>
                </c:pt>
                <c:pt idx="12">
                  <c:v>8.4826762246117084</c:v>
                </c:pt>
                <c:pt idx="13">
                  <c:v>7.8853046594982086</c:v>
                </c:pt>
                <c:pt idx="14">
                  <c:v>5.4958183990442064</c:v>
                </c:pt>
                <c:pt idx="15">
                  <c:v>5.0179211469534053</c:v>
                </c:pt>
                <c:pt idx="16">
                  <c:v>4.540023894862605</c:v>
                </c:pt>
                <c:pt idx="17">
                  <c:v>5.7347670250896066</c:v>
                </c:pt>
              </c:numCache>
            </c:numRef>
          </c:val>
          <c:extLst>
            <c:ext xmlns:c16="http://schemas.microsoft.com/office/drawing/2014/chart" uri="{C3380CC4-5D6E-409C-BE32-E72D297353CC}">
              <c16:uniqueId val="{00000000-DDA6-4054-B02C-C376655EF926}"/>
            </c:ext>
          </c:extLst>
        </c:ser>
        <c:dLbls>
          <c:showLegendKey val="0"/>
          <c:showVal val="0"/>
          <c:showCatName val="0"/>
          <c:showSerName val="0"/>
          <c:showPercent val="0"/>
          <c:showBubbleSize val="0"/>
        </c:dLbls>
        <c:gapWidth val="219"/>
        <c:axId val="1960507023"/>
        <c:axId val="1960497903"/>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Functional Foods</c:v>
                      </c:pt>
                    </c:strCache>
                  </c:strRef>
                </c:tx>
                <c:spPr>
                  <a:solidFill>
                    <a:schemeClr val="accent4"/>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Sheet1!$A$2:$A$19</c15:sqref>
                        </c15:formulaRef>
                      </c:ext>
                    </c:extLst>
                    <c:strCache>
                      <c:ptCount val="18"/>
                      <c:pt idx="0">
                        <c:v>Doctor/Medical Professional</c:v>
                      </c:pt>
                      <c:pt idx="1">
                        <c:v>Online reviews</c:v>
                      </c:pt>
                      <c:pt idx="2">
                        <c:v>Friends and family</c:v>
                      </c:pt>
                      <c:pt idx="3">
                        <c:v>Health and wellness publications/websites</c:v>
                      </c:pt>
                      <c:pt idx="4">
                        <c:v>Product packaging</c:v>
                      </c:pt>
                      <c:pt idx="5">
                        <c:v>Health &amp; Wellness product manufacturers/brands</c:v>
                      </c:pt>
                      <c:pt idx="6">
                        <c:v>General interest publications/websites</c:v>
                      </c:pt>
                      <c:pt idx="7">
                        <c:v>Retailers</c:v>
                      </c:pt>
                      <c:pt idx="8">
                        <c:v>Government websites</c:v>
                      </c:pt>
                      <c:pt idx="9">
                        <c:v>Social media influencer/podcaster</c:v>
                      </c:pt>
                      <c:pt idx="10">
                        <c:v>Coach/Trainer/Physical Therapist</c:v>
                      </c:pt>
                      <c:pt idx="11">
                        <c:v>Third-party testers/certifiers</c:v>
                      </c:pt>
                      <c:pt idx="12">
                        <c:v>Other Wellness Professionals</c:v>
                      </c:pt>
                      <c:pt idx="13">
                        <c:v>Health technology companies/apps</c:v>
                      </c:pt>
                      <c:pt idx="14">
                        <c:v>Therapist/Counselor</c:v>
                      </c:pt>
                      <c:pt idx="15">
                        <c:v>Athlete influence/podcaster</c:v>
                      </c:pt>
                      <c:pt idx="16">
                        <c:v>Celebrity influencer/podcaster</c:v>
                      </c:pt>
                      <c:pt idx="17">
                        <c:v>I do not use any of these sources</c:v>
                      </c:pt>
                    </c:strCache>
                  </c:strRef>
                </c:cat>
                <c:val>
                  <c:numRef>
                    <c:extLst>
                      <c:ext uri="{02D57815-91ED-43cb-92C2-25804820EDAC}">
                        <c15:formulaRef>
                          <c15:sqref>Sheet1!$C$2:$C$19</c15:sqref>
                        </c15:formulaRef>
                      </c:ext>
                    </c:extLst>
                    <c:numCache>
                      <c:formatCode>0_ ;\-0_ ;\-_ </c:formatCode>
                      <c:ptCount val="18"/>
                      <c:pt idx="0">
                        <c:v>40.334128878281618</c:v>
                      </c:pt>
                      <c:pt idx="1">
                        <c:v>33.174224343675412</c:v>
                      </c:pt>
                      <c:pt idx="2">
                        <c:v>28.878281622911693</c:v>
                      </c:pt>
                      <c:pt idx="3">
                        <c:v>29.713603818615749</c:v>
                      </c:pt>
                      <c:pt idx="4">
                        <c:v>18.377088305489259</c:v>
                      </c:pt>
                      <c:pt idx="5">
                        <c:v>19.570405727923625</c:v>
                      </c:pt>
                      <c:pt idx="6">
                        <c:v>16.587112171837706</c:v>
                      </c:pt>
                      <c:pt idx="7">
                        <c:v>17.422434367541765</c:v>
                      </c:pt>
                      <c:pt idx="8">
                        <c:v>10.620525059665869</c:v>
                      </c:pt>
                      <c:pt idx="9">
                        <c:v>13.126491646778042</c:v>
                      </c:pt>
                      <c:pt idx="10">
                        <c:v>9.3078758949880651</c:v>
                      </c:pt>
                      <c:pt idx="11">
                        <c:v>10.143198090692124</c:v>
                      </c:pt>
                      <c:pt idx="12">
                        <c:v>9.4272076372315023</c:v>
                      </c:pt>
                      <c:pt idx="13">
                        <c:v>9.0692124105011924</c:v>
                      </c:pt>
                      <c:pt idx="14">
                        <c:v>5.8472553699284004</c:v>
                      </c:pt>
                      <c:pt idx="15">
                        <c:v>8.2338902147971353</c:v>
                      </c:pt>
                      <c:pt idx="16">
                        <c:v>6.4439140811455839</c:v>
                      </c:pt>
                      <c:pt idx="17">
                        <c:v>4.4152744630071599</c:v>
                      </c:pt>
                    </c:numCache>
                  </c:numRef>
                </c:val>
                <c:extLst>
                  <c:ext xmlns:c16="http://schemas.microsoft.com/office/drawing/2014/chart" uri="{C3380CC4-5D6E-409C-BE32-E72D297353CC}">
                    <c16:uniqueId val="{00000001-DDA6-4054-B02C-C376655EF926}"/>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Functional Beverages</c:v>
                      </c:pt>
                    </c:strCache>
                  </c:strRef>
                </c:tx>
                <c:spPr>
                  <a:solidFill>
                    <a:schemeClr val="accent6"/>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Sheet1!$A$2:$A$19</c15:sqref>
                        </c15:formulaRef>
                      </c:ext>
                    </c:extLst>
                    <c:strCache>
                      <c:ptCount val="18"/>
                      <c:pt idx="0">
                        <c:v>Doctor/Medical Professional</c:v>
                      </c:pt>
                      <c:pt idx="1">
                        <c:v>Online reviews</c:v>
                      </c:pt>
                      <c:pt idx="2">
                        <c:v>Friends and family</c:v>
                      </c:pt>
                      <c:pt idx="3">
                        <c:v>Health and wellness publications/websites</c:v>
                      </c:pt>
                      <c:pt idx="4">
                        <c:v>Product packaging</c:v>
                      </c:pt>
                      <c:pt idx="5">
                        <c:v>Health &amp; Wellness product manufacturers/brands</c:v>
                      </c:pt>
                      <c:pt idx="6">
                        <c:v>General interest publications/websites</c:v>
                      </c:pt>
                      <c:pt idx="7">
                        <c:v>Retailers</c:v>
                      </c:pt>
                      <c:pt idx="8">
                        <c:v>Government websites</c:v>
                      </c:pt>
                      <c:pt idx="9">
                        <c:v>Social media influencer/podcaster</c:v>
                      </c:pt>
                      <c:pt idx="10">
                        <c:v>Coach/Trainer/Physical Therapist</c:v>
                      </c:pt>
                      <c:pt idx="11">
                        <c:v>Third-party testers/certifiers</c:v>
                      </c:pt>
                      <c:pt idx="12">
                        <c:v>Other Wellness Professionals</c:v>
                      </c:pt>
                      <c:pt idx="13">
                        <c:v>Health technology companies/apps</c:v>
                      </c:pt>
                      <c:pt idx="14">
                        <c:v>Therapist/Counselor</c:v>
                      </c:pt>
                      <c:pt idx="15">
                        <c:v>Athlete influence/podcaster</c:v>
                      </c:pt>
                      <c:pt idx="16">
                        <c:v>Celebrity influencer/podcaster</c:v>
                      </c:pt>
                      <c:pt idx="17">
                        <c:v>I do not use any of these sources</c:v>
                      </c:pt>
                    </c:strCache>
                  </c:strRef>
                </c:cat>
                <c:val>
                  <c:numRef>
                    <c:extLst xmlns:c15="http://schemas.microsoft.com/office/drawing/2012/chart">
                      <c:ext xmlns:c15="http://schemas.microsoft.com/office/drawing/2012/chart" uri="{02D57815-91ED-43cb-92C2-25804820EDAC}">
                        <c15:formulaRef>
                          <c15:sqref>Sheet1!$D$2:$D$19</c15:sqref>
                        </c15:formulaRef>
                      </c:ext>
                    </c:extLst>
                    <c:numCache>
                      <c:formatCode>0_ ;\-0_ ;\-_ </c:formatCode>
                      <c:ptCount val="18"/>
                      <c:pt idx="0">
                        <c:v>36.471990464839095</c:v>
                      </c:pt>
                      <c:pt idx="1">
                        <c:v>31.942789034564957</c:v>
                      </c:pt>
                      <c:pt idx="2">
                        <c:v>31.227651966626933</c:v>
                      </c:pt>
                      <c:pt idx="3">
                        <c:v>27.890345649582834</c:v>
                      </c:pt>
                      <c:pt idx="4">
                        <c:v>19.308700834326579</c:v>
                      </c:pt>
                      <c:pt idx="5">
                        <c:v>20.500595947556615</c:v>
                      </c:pt>
                      <c:pt idx="6">
                        <c:v>14.779499404052443</c:v>
                      </c:pt>
                      <c:pt idx="7">
                        <c:v>16.567342073897496</c:v>
                      </c:pt>
                      <c:pt idx="8">
                        <c:v>9.5351609058402857</c:v>
                      </c:pt>
                      <c:pt idx="9">
                        <c:v>12.753277711561381</c:v>
                      </c:pt>
                      <c:pt idx="10">
                        <c:v>11.442193087008343</c:v>
                      </c:pt>
                      <c:pt idx="11">
                        <c:v>8.9392133492252679</c:v>
                      </c:pt>
                      <c:pt idx="12">
                        <c:v>10.0119189511323</c:v>
                      </c:pt>
                      <c:pt idx="13">
                        <c:v>10.965435041716328</c:v>
                      </c:pt>
                      <c:pt idx="14">
                        <c:v>7.0321811680572104</c:v>
                      </c:pt>
                      <c:pt idx="15">
                        <c:v>9.8927294398092958</c:v>
                      </c:pt>
                      <c:pt idx="16">
                        <c:v>6.6746126340881995</c:v>
                      </c:pt>
                      <c:pt idx="17">
                        <c:v>4.410011918951132</c:v>
                      </c:pt>
                    </c:numCache>
                  </c:numRef>
                </c:val>
                <c:extLst xmlns:c15="http://schemas.microsoft.com/office/drawing/2012/chart">
                  <c:ext xmlns:c16="http://schemas.microsoft.com/office/drawing/2014/chart" uri="{C3380CC4-5D6E-409C-BE32-E72D297353CC}">
                    <c16:uniqueId val="{00000002-DDA6-4054-B02C-C376655EF926}"/>
                  </c:ext>
                </c:extLst>
              </c15:ser>
            </c15:filteredBarSeries>
          </c:ext>
        </c:extLst>
      </c:barChart>
      <c:catAx>
        <c:axId val="19605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960497903"/>
        <c:crosses val="autoZero"/>
        <c:auto val="1"/>
        <c:lblAlgn val="ctr"/>
        <c:lblOffset val="100"/>
        <c:noMultiLvlLbl val="0"/>
      </c:catAx>
      <c:valAx>
        <c:axId val="1960497903"/>
        <c:scaling>
          <c:orientation val="minMax"/>
        </c:scaling>
        <c:delete val="1"/>
        <c:axPos val="l"/>
        <c:numFmt formatCode="0_ ;\-0_ ;\-_ " sourceLinked="1"/>
        <c:majorTickMark val="none"/>
        <c:minorTickMark val="none"/>
        <c:tickLblPos val="nextTo"/>
        <c:crossAx val="1960507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00" dirty="0"/>
              <a:t>Functional Nutrition User Segments</a:t>
            </a:r>
          </a:p>
          <a:p>
            <a:pPr>
              <a:defRPr/>
            </a:pPr>
            <a:r>
              <a:rPr lang="en-US" sz="1400" i="1" dirty="0"/>
              <a:t>Base: Total Functional Nutrition Users*, N=1510</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554565866905811"/>
          <c:y val="0.26769487482710125"/>
          <c:w val="0.42748011424632815"/>
          <c:h val="0.66297140048458525"/>
        </c:manualLayout>
      </c:layout>
      <c:pieChart>
        <c:varyColors val="1"/>
        <c:ser>
          <c:idx val="0"/>
          <c:order val="0"/>
          <c:tx>
            <c:strRef>
              <c:f>Sheet1!$B$1</c:f>
              <c:strCache>
                <c:ptCount val="1"/>
                <c:pt idx="0">
                  <c:v>Column1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5-5FE4-40DE-B7C5-8A2CA47F9C9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6-5FE4-40DE-B7C5-8A2CA47F9C9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7-5FE4-40DE-B7C5-8A2CA47F9C9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8-5FE4-40DE-B7C5-8A2CA47F9C94}"/>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5FE4-40DE-B7C5-8A2CA47F9C94}"/>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A-5FE4-40DE-B7C5-8A2CA47F9C94}"/>
              </c:ext>
            </c:extLst>
          </c:dPt>
          <c:dLbls>
            <c:dLbl>
              <c:idx val="0"/>
              <c:layout>
                <c:manualLayout>
                  <c:x val="-3.5714280692592704E-3"/>
                  <c:y val="1.4881443985308673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FE4-40DE-B7C5-8A2CA47F9C94}"/>
                </c:ext>
              </c:extLst>
            </c:dLbl>
            <c:dLbl>
              <c:idx val="1"/>
              <c:layout>
                <c:manualLayout>
                  <c:x val="-2.1196566198458072E-3"/>
                  <c:y val="-3.3686691463353916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FE4-40DE-B7C5-8A2CA47F9C94}"/>
                </c:ext>
              </c:extLst>
            </c:dLbl>
            <c:dLbl>
              <c:idx val="2"/>
              <c:layout>
                <c:manualLayout>
                  <c:x val="5.1663378562517076E-3"/>
                  <c:y val="2.8936992652048243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FE4-40DE-B7C5-8A2CA47F9C94}"/>
                </c:ext>
              </c:extLst>
            </c:dLbl>
            <c:dLbl>
              <c:idx val="3"/>
              <c:layout>
                <c:manualLayout>
                  <c:x val="5.2140290499423239E-3"/>
                  <c:y val="2.2300513021546165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FE4-40DE-B7C5-8A2CA47F9C94}"/>
                </c:ext>
              </c:extLst>
            </c:dLbl>
            <c:dLbl>
              <c:idx val="4"/>
              <c:layout>
                <c:manualLayout>
                  <c:x val="5.3571421038889058E-3"/>
                  <c:y val="1.7433025837940579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FE4-40DE-B7C5-8A2CA47F9C94}"/>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2"/>
                    </a:solidFill>
                    <a:latin typeface="+mn-lt"/>
                    <a:ea typeface="+mn-ea"/>
                    <a:cs typeface="+mn-cs"/>
                  </a:defRPr>
                </a:pPr>
                <a:endParaRPr lang="en-US"/>
              </a:p>
            </c:txPr>
            <c:dLblPos val="outEnd"/>
            <c:showLegendKey val="0"/>
            <c:showVal val="1"/>
            <c:showCatName val="1"/>
            <c:showSerName val="0"/>
            <c:showPercent val="0"/>
            <c:showBubbleSize val="0"/>
            <c:showLeaderLines val="0"/>
            <c:extLst>
              <c:ext xmlns:c15="http://schemas.microsoft.com/office/drawing/2012/chart" uri="{CE6537A1-D6FC-4f65-9D91-7224C49458BB}"/>
            </c:extLst>
          </c:dLbls>
          <c:cat>
            <c:strRef>
              <c:f>Sheet1!$A$2:$A$7</c:f>
              <c:strCache>
                <c:ptCount val="6"/>
                <c:pt idx="0">
                  <c:v>Goal-Oriented Planners</c:v>
                </c:pt>
                <c:pt idx="1">
                  <c:v>Practical Minimalists</c:v>
                </c:pt>
                <c:pt idx="2">
                  <c:v>Impact Seekers</c:v>
                </c:pt>
                <c:pt idx="3">
                  <c:v>Set It and Forget It</c:v>
                </c:pt>
                <c:pt idx="4">
                  <c:v>Wellness Optimizers</c:v>
                </c:pt>
                <c:pt idx="5">
                  <c:v>Conflicted Experimenters</c:v>
                </c:pt>
              </c:strCache>
            </c:strRef>
          </c:cat>
          <c:val>
            <c:numRef>
              <c:f>Sheet1!$B$2:$B$7</c:f>
              <c:numCache>
                <c:formatCode>0%</c:formatCode>
                <c:ptCount val="6"/>
                <c:pt idx="0">
                  <c:v>0.20794701986754968</c:v>
                </c:pt>
                <c:pt idx="1">
                  <c:v>0.19801324503311257</c:v>
                </c:pt>
                <c:pt idx="2">
                  <c:v>0.18807947019867549</c:v>
                </c:pt>
                <c:pt idx="3">
                  <c:v>0.15894039735099338</c:v>
                </c:pt>
                <c:pt idx="4">
                  <c:v>0.13245033112582782</c:v>
                </c:pt>
                <c:pt idx="5">
                  <c:v>0.11456953642384106</c:v>
                </c:pt>
              </c:numCache>
            </c:numRef>
          </c:val>
          <c:extLst>
            <c:ext xmlns:c16="http://schemas.microsoft.com/office/drawing/2014/chart" uri="{C3380CC4-5D6E-409C-BE32-E72D297353CC}">
              <c16:uniqueId val="{00000000-5FE4-40DE-B7C5-8A2CA47F9C9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F3000458-C012-4151-8A23-710A27EC1D98}" type="datetimeFigureOut">
              <a:rPr lang="en-US" smtClean="0"/>
              <a:t>3/5/2026</a:t>
            </a:fld>
            <a:endParaRPr lang="en-US" dirty="0"/>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2C2515B6-CCAB-4AB6-909B-D349B9623342}" type="slidenum">
              <a:rPr lang="en-US" smtClean="0"/>
              <a:t>‹#›</a:t>
            </a:fld>
            <a:endParaRPr lang="en-US" dirty="0"/>
          </a:p>
        </p:txBody>
      </p:sp>
    </p:spTree>
    <p:extLst>
      <p:ext uri="{BB962C8B-B14F-4D97-AF65-F5344CB8AC3E}">
        <p14:creationId xmlns:p14="http://schemas.microsoft.com/office/powerpoint/2010/main" val="1380468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EFEC2F06-A26A-3B89-18B3-A0F4F4CFD5C2}"/>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C1387DE4-9CC3-8C57-B128-6DDAFCC202BA}"/>
              </a:ext>
            </a:extLst>
          </p:cNvPr>
          <p:cNvSpPr txBox="1">
            <a:spLocks noGrp="1"/>
          </p:cNvSpPr>
          <p:nvPr>
            <p:ph type="body" idx="1"/>
          </p:nvPr>
        </p:nvSpPr>
        <p:spPr>
          <a:xfrm>
            <a:off x="735237" y="4577209"/>
            <a:ext cx="5881902" cy="4336302"/>
          </a:xfrm>
          <a:prstGeom prst="rect">
            <a:avLst/>
          </a:prstGeom>
          <a:noFill/>
          <a:ln>
            <a:noFill/>
          </a:ln>
        </p:spPr>
        <p:txBody>
          <a:bodyPr spcFirstLastPara="1" wrap="square" lIns="96837" tIns="96837" rIns="96837" bIns="96837"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FCB06CB0-ED08-62FA-51F4-1037635A74D0}"/>
              </a:ext>
            </a:extLst>
          </p:cNvPr>
          <p:cNvSpPr>
            <a:spLocks noGrp="1" noRot="1" noChangeAspect="1"/>
          </p:cNvSpPr>
          <p:nvPr>
            <p:ph type="sldImg" idx="2"/>
          </p:nvPr>
        </p:nvSpPr>
        <p:spPr>
          <a:xfrm>
            <a:off x="463550" y="722313"/>
            <a:ext cx="6424613" cy="3613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2993954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1C9A58B5-59F1-50AD-3AE3-6CE64CD73E02}"/>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31C13553-DABA-2E3B-A32F-8D01FE73222C}"/>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6011A739-27BB-5485-A02C-4BB8C50536F2}"/>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334380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6C76BF8F-51E6-C26E-EA44-19849B854792}"/>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2A88C7C6-77C6-041F-A831-EE8877181D63}"/>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5ECF6B7A-3642-1D37-33C1-A72B41BF2DED}"/>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431552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F7527FBD-3926-890B-B364-DD0FF8F17A8E}"/>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1A710B35-18D6-8B20-0CBC-3447DCE28A31}"/>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1D319265-F14A-208D-CCAF-3AA08C54A33F}"/>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605738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EB028FF9-5815-C8E8-907F-BD1C2DE511C9}"/>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BBF2534D-493A-4EC4-A2E3-0E02CF312954}"/>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6BDBDECE-E606-7515-F480-EFCFB9FFD2FF}"/>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376647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4D0C300C-092F-C1DF-C387-BF142ACBAF19}"/>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999C42B8-74D0-F4E3-7E9A-12A0614FC6B8}"/>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4225CC03-F5A8-0378-F20D-01330206DBF6}"/>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976560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FFFEF9FE-3969-EDF0-77B7-EB790E8E1C9C}"/>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205CE591-DA95-E192-EF5F-7E83A5D9F824}"/>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95048602-3C8D-24A0-18A4-0E63FF1819D7}"/>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203260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C39FFD5B-D6CF-690A-D53C-07EE432484B3}"/>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D7168D2B-0580-BD7C-0797-FC06A7F82591}"/>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97D9C260-889C-DB25-40F6-EBA3FE898F21}"/>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4212881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A949BBC2-3946-7D35-826B-00C2B873861A}"/>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ECDC5851-6F0F-E65E-1BAE-483D23FDBC3A}"/>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3ED7C14B-6F09-08AD-67AB-871DB8426C8C}"/>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194544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77E3C4B5-9328-BCC2-149B-CEFAF56B14B1}"/>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E12413E0-4C4B-F546-721A-70FD0057893B}"/>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1D0EC724-7476-C116-263C-A63AFF262D5B}"/>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563993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B5BDB0BB-8EE8-CEF3-0EB1-C56A57F65649}"/>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2437B02D-AB0D-4A7F-2C35-0CFB088B6DE8}"/>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7FD2A7E6-D3CC-9236-2744-5043CEB75C14}"/>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948656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8FE9F5AC-A723-35AE-A310-08B1D3D59B8C}"/>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2A823103-EFF8-E01F-CE28-4509B3E3D273}"/>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928397CE-B4DC-5FEA-7D57-F9C3A250AC93}"/>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956184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FDA6EDFB-E500-8727-1B29-E611F89DA3FF}"/>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48A21EF9-506A-2295-CBA7-DE121C9C7FF3}"/>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411795B0-B5D5-0C71-6E58-CCADE9B63FD4}"/>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920291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F63DE397-3312-5BA0-EA37-2303F844C306}"/>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BA0C55B9-5240-5624-B81E-38A940F1B921}"/>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A9BB9686-3851-A3DF-1159-396FA7E5DB79}"/>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685231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7754DDD6-2B3B-E22C-37E9-220ACDFB00EA}"/>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C7065C81-6538-0A49-48C3-6DB6923D2B38}"/>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C6E140AF-2CBB-24FD-E43D-E22E958A31F6}"/>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2239564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0B960D2B-E10C-C334-129B-4D40BC0E7237}"/>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60555C97-51B9-BA5C-E15E-22383BB70CF3}"/>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BA31B1E2-4B1C-93E6-E9F7-AE957E6D77F7}"/>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640970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975425DD-3C4A-F965-D2B3-6A7328220D94}"/>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3836FB34-F6A2-8365-11C0-3672221CD8A4}"/>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517F2810-3C7A-07A8-F605-B41B39EC4939}"/>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618611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27ADBC60-93D9-BEA7-286C-7EE7598A8C72}"/>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6ADA100C-17F0-F9D6-3D9A-BFDA28219285}"/>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EA8B9EC6-9DBD-6C7A-82BA-663EE8DBBADA}"/>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2586521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6FAB1867-3169-CF6E-0C01-39DE8E282516}"/>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B0900858-48FF-DA8C-4E58-83AA1B65CCBE}"/>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02ABEBEA-77C9-49FB-60A6-71112342A4EC}"/>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537727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C1ADFB17-AE63-0684-2214-5C879C1EE73B}"/>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775D9EA1-DC89-9F93-E9A6-CF130F72A6EA}"/>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44D86CCE-1CA6-11E2-36B2-0624FB962BE8}"/>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8027469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F3717B46-1021-C257-E60A-0D542B963213}"/>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BFB959BD-0CC0-78C6-D857-7BEA582D4665}"/>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CB844AB2-29F5-8955-9948-FE27DF60D4A9}"/>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020399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D0E22D7E-3BF6-3938-71D2-E4BEE6D24ED9}"/>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100F7F6C-5D65-0B38-FE68-B2F3FE45FF0B}"/>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163CDC57-160E-C2E0-563B-F03FC5D6E32B}"/>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26330785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F1FD3574-35AB-A049-416B-2E52F2D1A4E0}"/>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28027A75-A5ED-2858-7431-E88DE86B09E5}"/>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C09747AF-B986-3B17-FD3B-D650D21F942C}"/>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2671216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E7CC1B76-EB64-BE10-7139-9F50006DAE5D}"/>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5556ECAA-1377-C1B1-5EA3-3BAE75F85BC2}"/>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45A7BCDC-44AC-50B1-4B55-C79B1B4B9EB2}"/>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4012097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CC5A0A0C-DC63-A539-9FD7-4D719864D1FE}"/>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2689E277-9945-958B-1D03-F61E8DFB2C8A}"/>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BC3177A9-07D3-B3C4-A04F-DBFAFA2BDCD5}"/>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322432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D0741997-16F2-292E-6D90-953D3F05BD3C}"/>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554DB9A3-03D8-0DFC-34DA-934CF74E1382}"/>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78CD6A25-94FC-3DCE-849F-8337D1941192}"/>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9764438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F44A7EAE-895D-8FDA-607B-92A68E69F186}"/>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FEA16654-4A17-29C0-74FE-25AB7CDC5158}"/>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F8CE6D67-AE75-9F38-981C-9999864A2D55}"/>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95766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512155F4-C611-F67D-DAEB-EA68AEB5CC1E}"/>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867691C3-E1D1-4AC7-8D1A-89C118C03A99}"/>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0ACCBF47-E1D8-CD60-FDF9-0E63F5BB52C8}"/>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099592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CDC9FE35-A87D-3804-6304-3C58485C3608}"/>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F62CF396-EAA3-D721-0E73-686D207305FB}"/>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B3F39462-E73C-0D33-5B75-778B82952DB2}"/>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2889689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692FE80F-0A4C-5420-D302-24C207D7A935}"/>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F27A2684-2188-12AF-87FD-C8950BA1BAAA}"/>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2004CDD9-3476-0CC5-464D-20AE1FEE445A}"/>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31369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87636DB0-C98E-179A-3D2A-A23854F0BE53}"/>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F5885410-20FD-38F1-A371-9FE8B9284D2D}"/>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A9E3C2F6-A161-7F50-34E2-68F07D52045E}"/>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299384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DFE906A9-B951-5835-E108-95D9177969A3}"/>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5894BE04-2001-DCA4-3EB3-F356FC274DC8}"/>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A6D1B7D3-06FA-7461-3054-58B311F98A27}"/>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22873011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27449-2164-9451-DA1D-858ECFEB0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6BB64-DFAC-D7E0-A1E4-3953D93A544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D2ECD3D-3416-6030-B935-C29B1DBE779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25426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C2515B6-CCAB-4AB6-909B-D349B96233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83972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20712585-235F-1CE8-70DF-655472180E1F}"/>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4CFEA8ED-ED9F-EE92-BEC7-725B06CFC6E0}"/>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4BC8C713-E08A-FDC5-32E4-45D4AE761C11}"/>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42407519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a:extLst>
            <a:ext uri="{FF2B5EF4-FFF2-40B4-BE49-F238E27FC236}">
              <a16:creationId xmlns:a16="http://schemas.microsoft.com/office/drawing/2014/main" id="{D377D530-419B-92CA-F626-9E38D715B9AF}"/>
            </a:ext>
          </a:extLst>
        </p:cNvPr>
        <p:cNvGrpSpPr/>
        <p:nvPr/>
      </p:nvGrpSpPr>
      <p:grpSpPr>
        <a:xfrm>
          <a:off x="0" y="0"/>
          <a:ext cx="0" cy="0"/>
          <a:chOff x="0" y="0"/>
          <a:chExt cx="0" cy="0"/>
        </a:xfrm>
      </p:grpSpPr>
      <p:sp>
        <p:nvSpPr>
          <p:cNvPr id="1086" name="Google Shape;1086;g2105d9229d2_2_46:notes">
            <a:extLst>
              <a:ext uri="{FF2B5EF4-FFF2-40B4-BE49-F238E27FC236}">
                <a16:creationId xmlns:a16="http://schemas.microsoft.com/office/drawing/2014/main" id="{F86A6B30-F696-A08A-1F0B-38EDDF0F0BB2}"/>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87" name="Google Shape;1087;g2105d9229d2_2_46:notes">
            <a:extLst>
              <a:ext uri="{FF2B5EF4-FFF2-40B4-BE49-F238E27FC236}">
                <a16:creationId xmlns:a16="http://schemas.microsoft.com/office/drawing/2014/main" id="{AE223643-E075-D1AB-4302-05365EFCE45B}"/>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26640166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065913CE-99A4-4F74-977D-FC3C25775072}"/>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90F3705D-B801-1291-1148-1C6A14C4C4F6}"/>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34229484-4668-120C-FE2F-AA408661FB79}"/>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4090930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2D4FCA23-643D-4302-BC90-3C706036150F}"/>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215F89B8-7A27-49D4-B571-317D971DE171}"/>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6B7848C4-FEA7-694E-6884-3CAA48A4A845}"/>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2726489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0533B097-411C-E8F6-4AE9-1D1029DC4842}"/>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5F1EA268-7207-BF90-5E87-6A632016B2DB}"/>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9577F5A9-5E81-73B1-C1FD-13DB0AE39636}"/>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19058734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E9C7CA3A-8847-8295-C98F-4926BC44AC79}"/>
            </a:ext>
          </a:extLst>
        </p:cNvPr>
        <p:cNvGrpSpPr/>
        <p:nvPr/>
      </p:nvGrpSpPr>
      <p:grpSpPr>
        <a:xfrm>
          <a:off x="0" y="0"/>
          <a:ext cx="0" cy="0"/>
          <a:chOff x="0" y="0"/>
          <a:chExt cx="0" cy="0"/>
        </a:xfrm>
      </p:grpSpPr>
      <p:sp>
        <p:nvSpPr>
          <p:cNvPr id="1041" name="Google Shape;1041;g2105d9229d2_2_6:notes">
            <a:extLst>
              <a:ext uri="{FF2B5EF4-FFF2-40B4-BE49-F238E27FC236}">
                <a16:creationId xmlns:a16="http://schemas.microsoft.com/office/drawing/2014/main" id="{64C2923F-2319-6EA5-0A4C-E9227088A1C9}"/>
              </a:ext>
            </a:extLst>
          </p:cNvPr>
          <p:cNvSpPr txBox="1">
            <a:spLocks noGrp="1"/>
          </p:cNvSpPr>
          <p:nvPr>
            <p:ph type="body" idx="1"/>
          </p:nvPr>
        </p:nvSpPr>
        <p:spPr>
          <a:xfrm>
            <a:off x="709930" y="4458018"/>
            <a:ext cx="5679440" cy="4223385"/>
          </a:xfrm>
          <a:prstGeom prst="rect">
            <a:avLst/>
          </a:prstGeom>
          <a:noFill/>
          <a:ln>
            <a:noFill/>
          </a:ln>
        </p:spPr>
        <p:txBody>
          <a:bodyPr spcFirstLastPara="1" wrap="square" lIns="93971" tIns="93971" rIns="93971" bIns="93971" anchor="t" anchorCtr="0">
            <a:noAutofit/>
          </a:bodyPr>
          <a:lstStyle/>
          <a:p>
            <a:pPr>
              <a:buSzPts val="1100"/>
            </a:pPr>
            <a:endParaRPr sz="1400" dirty="0"/>
          </a:p>
        </p:txBody>
      </p:sp>
      <p:sp>
        <p:nvSpPr>
          <p:cNvPr id="1042" name="Google Shape;1042;g2105d9229d2_2_6:notes">
            <a:extLst>
              <a:ext uri="{FF2B5EF4-FFF2-40B4-BE49-F238E27FC236}">
                <a16:creationId xmlns:a16="http://schemas.microsoft.com/office/drawing/2014/main" id="{12AECF70-831C-85F9-F401-8B34A14AF6EE}"/>
              </a:ext>
            </a:extLst>
          </p:cNvPr>
          <p:cNvSpPr>
            <a:spLocks noGrp="1" noRot="1" noChangeAspect="1"/>
          </p:cNvSpPr>
          <p:nvPr>
            <p:ph type="sldImg" idx="2"/>
          </p:nvPr>
        </p:nvSpPr>
        <p:spPr>
          <a:xfrm>
            <a:off x="420688" y="703263"/>
            <a:ext cx="6257925" cy="3519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Tree>
    <p:extLst>
      <p:ext uri="{BB962C8B-B14F-4D97-AF65-F5344CB8AC3E}">
        <p14:creationId xmlns:p14="http://schemas.microsoft.com/office/powerpoint/2010/main" val="3654817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AA834903-4A1D-46AF-86D0-46520923DBB7}"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212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5FCC0B3C-BD87-4957-970F-539DD343A614}"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1420455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98FED618-4743-470E-A59B-22732CC5664D}"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837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B9BE385E-33C0-4103-8510-C66E4F610FA9}" type="datetime1">
              <a:rPr lang="en-US" smtClean="0"/>
              <a:pPr/>
              <a:t>3/5/2026</a:t>
            </a:fld>
            <a:endParaRPr lang="en-US" dirty="0"/>
          </a:p>
        </p:txBody>
      </p:sp>
      <p:sp>
        <p:nvSpPr>
          <p:cNvPr id="6" name="Footer Placeholder 5"/>
          <p:cNvSpPr>
            <a:spLocks noGrp="1"/>
          </p:cNvSpPr>
          <p:nvPr>
            <p:ph type="ftr" sz="quarter" idx="11"/>
          </p:nvPr>
        </p:nvSpPr>
        <p:spPr/>
        <p:txBody>
          <a:bodyPr/>
          <a:lstStyle/>
          <a:p>
            <a:r>
              <a:rPr lang="en-US" dirty="0"/>
              <a:t>Sbk insights &amp; strategy</a:t>
            </a:r>
          </a:p>
        </p:txBody>
      </p:sp>
      <p:sp>
        <p:nvSpPr>
          <p:cNvPr id="7" name="Slide Number Placeholder 6"/>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2906811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fld id="{9627CAAF-A415-438A-9E7B-D83013CC76AA}" type="datetime1">
              <a:rPr lang="en-US" smtClean="0"/>
              <a:pPr/>
              <a:t>3/5/2026</a:t>
            </a:fld>
            <a:endParaRPr lang="en-US" dirty="0"/>
          </a:p>
        </p:txBody>
      </p:sp>
      <p:sp>
        <p:nvSpPr>
          <p:cNvPr id="8" name="Footer Placeholder 7"/>
          <p:cNvSpPr>
            <a:spLocks noGrp="1"/>
          </p:cNvSpPr>
          <p:nvPr>
            <p:ph type="ftr" sz="quarter" idx="11"/>
          </p:nvPr>
        </p:nvSpPr>
        <p:spPr/>
        <p:txBody>
          <a:bodyPr/>
          <a:lstStyle/>
          <a:p>
            <a:r>
              <a:rPr lang="en-US" dirty="0"/>
              <a:t>Sbk insights &amp; strategy</a:t>
            </a:r>
          </a:p>
        </p:txBody>
      </p:sp>
      <p:sp>
        <p:nvSpPr>
          <p:cNvPr id="9" name="Slide Number Placeholder 8"/>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932398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fld id="{5633C9AC-5E00-4A82-81FB-AE5261495C62}" type="datetime1">
              <a:rPr lang="en-US" smtClean="0"/>
              <a:pPr/>
              <a:t>3/5/2026</a:t>
            </a:fld>
            <a:endParaRPr lang="en-US" dirty="0"/>
          </a:p>
        </p:txBody>
      </p:sp>
      <p:sp>
        <p:nvSpPr>
          <p:cNvPr id="4" name="Footer Placeholder 3"/>
          <p:cNvSpPr>
            <a:spLocks noGrp="1"/>
          </p:cNvSpPr>
          <p:nvPr>
            <p:ph type="ftr" sz="quarter" idx="11"/>
          </p:nvPr>
        </p:nvSpPr>
        <p:spPr/>
        <p:txBody>
          <a:bodyPr/>
          <a:lstStyle/>
          <a:p>
            <a:r>
              <a:rPr lang="en-US" dirty="0"/>
              <a:t>Sbk insights &amp; strategy</a:t>
            </a:r>
          </a:p>
        </p:txBody>
      </p:sp>
      <p:sp>
        <p:nvSpPr>
          <p:cNvPr id="5" name="Slide Number Placeholder 4"/>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4231574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pic>
        <p:nvPicPr>
          <p:cNvPr id="2" name="Picture 1">
            <a:extLst>
              <a:ext uri="{FF2B5EF4-FFF2-40B4-BE49-F238E27FC236}">
                <a16:creationId xmlns:a16="http://schemas.microsoft.com/office/drawing/2014/main" id="{F2B901CD-7F04-AB0C-D580-368AC5127234}"/>
              </a:ext>
            </a:extLst>
          </p:cNvPr>
          <p:cNvPicPr>
            <a:picLocks noChangeAspect="1"/>
          </p:cNvPicPr>
          <p:nvPr userDrawn="1"/>
        </p:nvPicPr>
        <p:blipFill>
          <a:blip r:embed="rId2"/>
          <a:stretch>
            <a:fillRect/>
          </a:stretch>
        </p:blipFill>
        <p:spPr>
          <a:xfrm>
            <a:off x="11008311" y="192907"/>
            <a:ext cx="915570" cy="915570"/>
          </a:xfrm>
          <a:prstGeom prst="rect">
            <a:avLst/>
          </a:prstGeom>
        </p:spPr>
      </p:pic>
      <p:cxnSp>
        <p:nvCxnSpPr>
          <p:cNvPr id="3" name="Straight Connector 2">
            <a:extLst>
              <a:ext uri="{FF2B5EF4-FFF2-40B4-BE49-F238E27FC236}">
                <a16:creationId xmlns:a16="http://schemas.microsoft.com/office/drawing/2014/main" id="{A18D2D9F-B801-B695-D35C-B8F61CEB1A72}"/>
              </a:ext>
            </a:extLst>
          </p:cNvPr>
          <p:cNvCxnSpPr>
            <a:cxnSpLocks/>
          </p:cNvCxnSpPr>
          <p:nvPr userDrawn="1"/>
        </p:nvCxnSpPr>
        <p:spPr>
          <a:xfrm>
            <a:off x="594804" y="1258560"/>
            <a:ext cx="11008311"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4A4B075B-ABEF-5812-5D1E-61CC450ECAD8}"/>
              </a:ext>
            </a:extLst>
          </p:cNvPr>
          <p:cNvSpPr>
            <a:spLocks noGrp="1"/>
          </p:cNvSpPr>
          <p:nvPr>
            <p:ph type="dt" sz="half" idx="10"/>
          </p:nvPr>
        </p:nvSpPr>
        <p:spPr/>
        <p:txBody>
          <a:bodyPr/>
          <a:lstStyle>
            <a:lvl1pPr>
              <a:defRPr/>
            </a:lvl1pPr>
          </a:lstStyle>
          <a:p>
            <a:fld id="{6D509A81-B6DF-43D5-AF02-9D2CF3C2471E}" type="datetime1">
              <a:rPr lang="en-US" smtClean="0"/>
              <a:pPr/>
              <a:t>3/5/2026</a:t>
            </a:fld>
            <a:endParaRPr lang="en-US" dirty="0"/>
          </a:p>
        </p:txBody>
      </p:sp>
      <p:sp>
        <p:nvSpPr>
          <p:cNvPr id="13" name="Footer Placeholder 12">
            <a:extLst>
              <a:ext uri="{FF2B5EF4-FFF2-40B4-BE49-F238E27FC236}">
                <a16:creationId xmlns:a16="http://schemas.microsoft.com/office/drawing/2014/main" id="{079DD231-18F2-B77A-63DD-C44DE0C2E3DF}"/>
              </a:ext>
            </a:extLst>
          </p:cNvPr>
          <p:cNvSpPr>
            <a:spLocks noGrp="1"/>
          </p:cNvSpPr>
          <p:nvPr>
            <p:ph type="ftr" sz="quarter" idx="11"/>
          </p:nvPr>
        </p:nvSpPr>
        <p:spPr/>
        <p:txBody>
          <a:bodyPr/>
          <a:lstStyle/>
          <a:p>
            <a:r>
              <a:rPr lang="en-US" dirty="0"/>
              <a:t>Sbk insights &amp; strategy</a:t>
            </a:r>
          </a:p>
        </p:txBody>
      </p:sp>
      <p:sp>
        <p:nvSpPr>
          <p:cNvPr id="14" name="Slide Number Placeholder 13">
            <a:extLst>
              <a:ext uri="{FF2B5EF4-FFF2-40B4-BE49-F238E27FC236}">
                <a16:creationId xmlns:a16="http://schemas.microsoft.com/office/drawing/2014/main" id="{1CE46DE4-7760-4537-8BC1-B4E5582275B5}"/>
              </a:ext>
            </a:extLst>
          </p:cNvPr>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2205395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D288AEE-40EA-4354-8D1C-D44FDEA20B28}" type="datetime1">
              <a:rPr lang="en-US" smtClean="0"/>
              <a:pPr/>
              <a:t>3/5/2026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Sbk insights &amp; strategy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6B4C109-23AB-4C56-97AA-0E1D785C36F7}" type="slidenum">
              <a:rPr lang="en-US" smtClean="0"/>
              <a:t>‹#›</a:t>
            </a:fld>
            <a:endParaRPr lang="en-US" dirty="0"/>
          </a:p>
        </p:txBody>
      </p:sp>
    </p:spTree>
    <p:extLst>
      <p:ext uri="{BB962C8B-B14F-4D97-AF65-F5344CB8AC3E}">
        <p14:creationId xmlns:p14="http://schemas.microsoft.com/office/powerpoint/2010/main" val="3927614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65157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6E774365-84FC-425D-B137-3C2D8ECDAA45}"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1724882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6EB60674-BB5C-4926-BC15-6D5A13C3B374}"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3528710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amp; Subtitle">
  <p:cSld name="Title &amp; Subtitle">
    <p:spTree>
      <p:nvGrpSpPr>
        <p:cNvPr id="1" name="Shape 344"/>
        <p:cNvGrpSpPr/>
        <p:nvPr/>
      </p:nvGrpSpPr>
      <p:grpSpPr>
        <a:xfrm>
          <a:off x="0" y="0"/>
          <a:ext cx="0" cy="0"/>
          <a:chOff x="0" y="0"/>
          <a:chExt cx="0" cy="0"/>
        </a:xfrm>
      </p:grpSpPr>
      <p:sp>
        <p:nvSpPr>
          <p:cNvPr id="345" name="Google Shape;345;g21057e7621e_3_6"/>
          <p:cNvSpPr txBox="1">
            <a:spLocks noGrp="1"/>
          </p:cNvSpPr>
          <p:nvPr>
            <p:ph type="sldNum" idx="12"/>
          </p:nvPr>
        </p:nvSpPr>
        <p:spPr>
          <a:xfrm>
            <a:off x="11866847" y="7589583"/>
            <a:ext cx="1022400" cy="219099"/>
          </a:xfrm>
          <a:prstGeom prst="rect">
            <a:avLst/>
          </a:prstGeom>
          <a:noFill/>
          <a:ln>
            <a:noFill/>
          </a:ln>
        </p:spPr>
        <p:txBody>
          <a:bodyPr spcFirstLastPara="1" wrap="square" lIns="19050" tIns="19050" rIns="19050" bIns="19050" anchor="ctr" anchorCtr="0">
            <a:spAutoFit/>
          </a:bodyPr>
          <a:lstStyle>
            <a:lvl1pPr marL="0" marR="0" lvl="0"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1pPr>
            <a:lvl2pPr marL="0" marR="0" lvl="1"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2pPr>
            <a:lvl3pPr marL="0" marR="0" lvl="2"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3pPr>
            <a:lvl4pPr marL="0" marR="0" lvl="3"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4pPr>
            <a:lvl5pPr marL="0" marR="0" lvl="4"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5pPr>
            <a:lvl6pPr marL="0" marR="0" lvl="5"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6pPr>
            <a:lvl7pPr marL="0" marR="0" lvl="6"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7pPr>
            <a:lvl8pPr marL="0" marR="0" lvl="7"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8pPr>
            <a:lvl9pPr marL="0" marR="0" lvl="8"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9pPr>
          </a:lstStyle>
          <a:p>
            <a:fld id="{00000000-1234-1234-1234-123412341234}" type="slidenum">
              <a:rPr lang="en-US" smtClean="0"/>
              <a:pPr/>
              <a:t>‹#›</a:t>
            </a:fld>
            <a:endParaRPr lang="en-US" dirty="0"/>
          </a:p>
        </p:txBody>
      </p:sp>
      <p:sp>
        <p:nvSpPr>
          <p:cNvPr id="2" name="TextBox 1">
            <a:extLst>
              <a:ext uri="{FF2B5EF4-FFF2-40B4-BE49-F238E27FC236}">
                <a16:creationId xmlns:a16="http://schemas.microsoft.com/office/drawing/2014/main" id="{35A8063A-D45C-111D-A71E-06BBEC12E5FA}"/>
              </a:ext>
            </a:extLst>
          </p:cNvPr>
          <p:cNvSpPr txBox="1"/>
          <p:nvPr userDrawn="1"/>
        </p:nvSpPr>
        <p:spPr>
          <a:xfrm>
            <a:off x="71021" y="6611779"/>
            <a:ext cx="4882719" cy="246221"/>
          </a:xfrm>
          <a:prstGeom prst="rect">
            <a:avLst/>
          </a:prstGeom>
          <a:noFill/>
        </p:spPr>
        <p:txBody>
          <a:bodyPr wrap="square" rtlCol="0">
            <a:spAutoFit/>
          </a:bodyPr>
          <a:lstStyle/>
          <a:p>
            <a:r>
              <a:rPr lang="en-US" sz="1000" i="0" dirty="0">
                <a:latin typeface="Corbel" panose="020B0503020204020204" pitchFamily="34" charset="0"/>
              </a:rPr>
              <a:t>SBK Insights &amp; Strategy, </a:t>
            </a:r>
            <a:fld id="{4A85A906-421D-48D6-B540-D8AE54FF6F24}" type="datetime1">
              <a:rPr lang="en-US" sz="1000" i="0" smtClean="0">
                <a:latin typeface="Corbel" panose="020B0503020204020204" pitchFamily="34" charset="0"/>
              </a:rPr>
              <a:t>3/5/2026</a:t>
            </a:fld>
            <a:endParaRPr lang="en-US" sz="1000" i="0" dirty="0">
              <a:latin typeface="Corbel" panose="020B0503020204020204" pitchFamily="34" charset="0"/>
            </a:endParaRPr>
          </a:p>
        </p:txBody>
      </p:sp>
      <p:sp>
        <p:nvSpPr>
          <p:cNvPr id="3" name="Google Shape;350;g21057e7621e_3_9">
            <a:extLst>
              <a:ext uri="{FF2B5EF4-FFF2-40B4-BE49-F238E27FC236}">
                <a16:creationId xmlns:a16="http://schemas.microsoft.com/office/drawing/2014/main" id="{E78E8DE0-F9A9-09A6-5CEC-49672BDA048A}"/>
              </a:ext>
            </a:extLst>
          </p:cNvPr>
          <p:cNvSpPr txBox="1">
            <a:spLocks/>
          </p:cNvSpPr>
          <p:nvPr userDrawn="1"/>
        </p:nvSpPr>
        <p:spPr>
          <a:xfrm>
            <a:off x="11296611" y="6217623"/>
            <a:ext cx="731600" cy="524800"/>
          </a:xfrm>
          <a:prstGeom prst="rect">
            <a:avLst/>
          </a:prstGeom>
          <a:noFill/>
          <a:ln>
            <a:noFill/>
          </a:ln>
        </p:spPr>
        <p:txBody>
          <a:bodyPr spcFirstLastPara="1" wrap="square" lIns="91425" tIns="91425" rIns="91425" bIns="91425" anchor="ctr" anchorCtr="0">
            <a:normAutofit/>
          </a:bodyPr>
          <a:lstStyle>
            <a:defPPr>
              <a:defRPr lang="en-US"/>
            </a:defPPr>
            <a:lvl1pPr marL="0" marR="0" lvl="0"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1pPr>
            <a:lvl2pPr marL="0" marR="0" lvl="1"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2pPr>
            <a:lvl3pPr marL="0" marR="0" lvl="2"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3pPr>
            <a:lvl4pPr marL="0" marR="0" lvl="3"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4pPr>
            <a:lvl5pPr marL="0" marR="0" lvl="4"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5pPr>
            <a:lvl6pPr marL="0" marR="0" lvl="5"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6pPr>
            <a:lvl7pPr marL="0" marR="0" lvl="6"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7pPr>
            <a:lvl8pPr marL="0" marR="0" lvl="7"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8pPr>
            <a:lvl9pPr marL="0" marR="0" lvl="8"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9pPr>
          </a:lstStyle>
          <a:p>
            <a:fld id="{00000000-1234-1234-1234-123412341234}" type="slidenum">
              <a:rPr lang="en-US" sz="1200" smtClean="0">
                <a:latin typeface="Corbel" panose="020B0503020204020204" pitchFamily="34" charset="0"/>
              </a:rPr>
              <a:pPr/>
              <a:t>‹#›</a:t>
            </a:fld>
            <a:endParaRPr lang="en-US" dirty="0">
              <a:latin typeface="Corbel" panose="020B0503020204020204" pitchFamily="34" charset="0"/>
            </a:endParaRPr>
          </a:p>
        </p:txBody>
      </p:sp>
      <p:pic>
        <p:nvPicPr>
          <p:cNvPr id="4" name="Picture 3">
            <a:extLst>
              <a:ext uri="{FF2B5EF4-FFF2-40B4-BE49-F238E27FC236}">
                <a16:creationId xmlns:a16="http://schemas.microsoft.com/office/drawing/2014/main" id="{673A1B6E-8776-A9AB-3481-4BD2A764C503}"/>
              </a:ext>
            </a:extLst>
          </p:cNvPr>
          <p:cNvPicPr>
            <a:picLocks noChangeAspect="1"/>
          </p:cNvPicPr>
          <p:nvPr userDrawn="1"/>
        </p:nvPicPr>
        <p:blipFill>
          <a:blip r:embed="rId2"/>
          <a:stretch>
            <a:fillRect/>
          </a:stretch>
        </p:blipFill>
        <p:spPr>
          <a:xfrm>
            <a:off x="11008311" y="192907"/>
            <a:ext cx="915570" cy="915570"/>
          </a:xfrm>
          <a:prstGeom prst="rect">
            <a:avLst/>
          </a:prstGeom>
        </p:spPr>
      </p:pic>
    </p:spTree>
    <p:extLst>
      <p:ext uri="{BB962C8B-B14F-4D97-AF65-F5344CB8AC3E}">
        <p14:creationId xmlns:p14="http://schemas.microsoft.com/office/powerpoint/2010/main" val="780212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26C33FF8-B0DD-4095-AD81-58945BE05A7E}"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3347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7D19F241-FF63-4135-AFFA-10575B4F4E28}"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27833406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74DC6B77-BB85-445E-ADC8-AF02181A3DA3}"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784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16787661-04C5-4A9B-A66D-9FB7F74F4BBF}" type="datetime1">
              <a:rPr lang="en-US" smtClean="0"/>
              <a:pPr/>
              <a:t>3/5/2026</a:t>
            </a:fld>
            <a:endParaRPr lang="en-US" dirty="0"/>
          </a:p>
        </p:txBody>
      </p:sp>
      <p:sp>
        <p:nvSpPr>
          <p:cNvPr id="6" name="Footer Placeholder 5"/>
          <p:cNvSpPr>
            <a:spLocks noGrp="1"/>
          </p:cNvSpPr>
          <p:nvPr>
            <p:ph type="ftr" sz="quarter" idx="11"/>
          </p:nvPr>
        </p:nvSpPr>
        <p:spPr/>
        <p:txBody>
          <a:bodyPr/>
          <a:lstStyle/>
          <a:p>
            <a:r>
              <a:rPr lang="en-US" dirty="0"/>
              <a:t>Sbk insights &amp; strategy</a:t>
            </a:r>
          </a:p>
        </p:txBody>
      </p:sp>
      <p:sp>
        <p:nvSpPr>
          <p:cNvPr id="7" name="Slide Number Placeholder 6"/>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33181621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fld id="{A6CF1D30-9D69-4A6D-9951-4659A6175A01}" type="datetime1">
              <a:rPr lang="en-US" smtClean="0"/>
              <a:pPr/>
              <a:t>3/5/2026</a:t>
            </a:fld>
            <a:endParaRPr lang="en-US" dirty="0"/>
          </a:p>
        </p:txBody>
      </p:sp>
      <p:sp>
        <p:nvSpPr>
          <p:cNvPr id="8" name="Footer Placeholder 7"/>
          <p:cNvSpPr>
            <a:spLocks noGrp="1"/>
          </p:cNvSpPr>
          <p:nvPr>
            <p:ph type="ftr" sz="quarter" idx="11"/>
          </p:nvPr>
        </p:nvSpPr>
        <p:spPr/>
        <p:txBody>
          <a:bodyPr/>
          <a:lstStyle/>
          <a:p>
            <a:r>
              <a:rPr lang="en-US" dirty="0"/>
              <a:t>Sbk insights &amp; strategy</a:t>
            </a:r>
          </a:p>
        </p:txBody>
      </p:sp>
      <p:sp>
        <p:nvSpPr>
          <p:cNvPr id="9" name="Slide Number Placeholder 8"/>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3475656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fld id="{560EBB03-8787-477E-9F60-F87FA07F8E3E}" type="datetime1">
              <a:rPr lang="en-US" smtClean="0"/>
              <a:pPr/>
              <a:t>3/5/2026</a:t>
            </a:fld>
            <a:endParaRPr lang="en-US" dirty="0"/>
          </a:p>
        </p:txBody>
      </p:sp>
      <p:sp>
        <p:nvSpPr>
          <p:cNvPr id="4" name="Footer Placeholder 3"/>
          <p:cNvSpPr>
            <a:spLocks noGrp="1"/>
          </p:cNvSpPr>
          <p:nvPr>
            <p:ph type="ftr" sz="quarter" idx="11"/>
          </p:nvPr>
        </p:nvSpPr>
        <p:spPr/>
        <p:txBody>
          <a:bodyPr/>
          <a:lstStyle/>
          <a:p>
            <a:r>
              <a:rPr lang="en-US" dirty="0"/>
              <a:t>Sbk insights &amp; strategy</a:t>
            </a:r>
          </a:p>
        </p:txBody>
      </p:sp>
      <p:sp>
        <p:nvSpPr>
          <p:cNvPr id="5" name="Slide Number Placeholder 4"/>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2315321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pic>
        <p:nvPicPr>
          <p:cNvPr id="2" name="Picture 1">
            <a:extLst>
              <a:ext uri="{FF2B5EF4-FFF2-40B4-BE49-F238E27FC236}">
                <a16:creationId xmlns:a16="http://schemas.microsoft.com/office/drawing/2014/main" id="{F2B901CD-7F04-AB0C-D580-368AC5127234}"/>
              </a:ext>
            </a:extLst>
          </p:cNvPr>
          <p:cNvPicPr>
            <a:picLocks noChangeAspect="1"/>
          </p:cNvPicPr>
          <p:nvPr userDrawn="1"/>
        </p:nvPicPr>
        <p:blipFill>
          <a:blip r:embed="rId2"/>
          <a:stretch>
            <a:fillRect/>
          </a:stretch>
        </p:blipFill>
        <p:spPr>
          <a:xfrm>
            <a:off x="11008311" y="192907"/>
            <a:ext cx="915570" cy="915570"/>
          </a:xfrm>
          <a:prstGeom prst="rect">
            <a:avLst/>
          </a:prstGeom>
        </p:spPr>
      </p:pic>
      <p:cxnSp>
        <p:nvCxnSpPr>
          <p:cNvPr id="3" name="Straight Connector 2">
            <a:extLst>
              <a:ext uri="{FF2B5EF4-FFF2-40B4-BE49-F238E27FC236}">
                <a16:creationId xmlns:a16="http://schemas.microsoft.com/office/drawing/2014/main" id="{A18D2D9F-B801-B695-D35C-B8F61CEB1A72}"/>
              </a:ext>
            </a:extLst>
          </p:cNvPr>
          <p:cNvCxnSpPr>
            <a:cxnSpLocks/>
          </p:cNvCxnSpPr>
          <p:nvPr userDrawn="1"/>
        </p:nvCxnSpPr>
        <p:spPr>
          <a:xfrm>
            <a:off x="594804" y="1258560"/>
            <a:ext cx="11008311"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4A4B075B-ABEF-5812-5D1E-61CC450ECAD8}"/>
              </a:ext>
            </a:extLst>
          </p:cNvPr>
          <p:cNvSpPr>
            <a:spLocks noGrp="1"/>
          </p:cNvSpPr>
          <p:nvPr>
            <p:ph type="dt" sz="half" idx="10"/>
          </p:nvPr>
        </p:nvSpPr>
        <p:spPr/>
        <p:txBody>
          <a:bodyPr/>
          <a:lstStyle>
            <a:lvl1pPr>
              <a:defRPr/>
            </a:lvl1pPr>
          </a:lstStyle>
          <a:p>
            <a:fld id="{CE3B9138-D076-42E3-B7B1-966CB7420DAB}" type="datetime1">
              <a:rPr lang="en-US" smtClean="0"/>
              <a:pPr/>
              <a:t>3/5/2026</a:t>
            </a:fld>
            <a:endParaRPr lang="en-US" dirty="0"/>
          </a:p>
        </p:txBody>
      </p:sp>
      <p:sp>
        <p:nvSpPr>
          <p:cNvPr id="13" name="Footer Placeholder 12">
            <a:extLst>
              <a:ext uri="{FF2B5EF4-FFF2-40B4-BE49-F238E27FC236}">
                <a16:creationId xmlns:a16="http://schemas.microsoft.com/office/drawing/2014/main" id="{079DD231-18F2-B77A-63DD-C44DE0C2E3DF}"/>
              </a:ext>
            </a:extLst>
          </p:cNvPr>
          <p:cNvSpPr>
            <a:spLocks noGrp="1"/>
          </p:cNvSpPr>
          <p:nvPr>
            <p:ph type="ftr" sz="quarter" idx="11"/>
          </p:nvPr>
        </p:nvSpPr>
        <p:spPr/>
        <p:txBody>
          <a:bodyPr/>
          <a:lstStyle/>
          <a:p>
            <a:r>
              <a:rPr lang="en-US" dirty="0"/>
              <a:t>Sbk insights &amp; strategy</a:t>
            </a:r>
          </a:p>
        </p:txBody>
      </p:sp>
      <p:sp>
        <p:nvSpPr>
          <p:cNvPr id="14" name="Slide Number Placeholder 13">
            <a:extLst>
              <a:ext uri="{FF2B5EF4-FFF2-40B4-BE49-F238E27FC236}">
                <a16:creationId xmlns:a16="http://schemas.microsoft.com/office/drawing/2014/main" id="{1CE46DE4-7760-4537-8BC1-B4E5582275B5}"/>
              </a:ext>
            </a:extLst>
          </p:cNvPr>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34773702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38E4C21-99F0-4977-81BB-C8A9E0F324EA}" type="datetime1">
              <a:rPr lang="en-US" smtClean="0"/>
              <a:pPr/>
              <a:t>3/5/2026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Sbk insights &amp; strategy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6B4C109-23AB-4C56-97AA-0E1D785C36F7}" type="slidenum">
              <a:rPr lang="en-US" smtClean="0"/>
              <a:t>‹#›</a:t>
            </a:fld>
            <a:endParaRPr lang="en-US" dirty="0"/>
          </a:p>
        </p:txBody>
      </p:sp>
    </p:spTree>
    <p:extLst>
      <p:ext uri="{BB962C8B-B14F-4D97-AF65-F5344CB8AC3E}">
        <p14:creationId xmlns:p14="http://schemas.microsoft.com/office/powerpoint/2010/main" val="42219388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2792048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3B5E8BB3-5276-44C4-8CE2-9D5DC71DE137}"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15687425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9D37097C-F2E9-43BE-B649-2A62CD3C83E0}" type="datetime1">
              <a:rPr lang="en-US" smtClean="0"/>
              <a:pPr/>
              <a:t>3/5/2026</a:t>
            </a:fld>
            <a:endParaRPr lang="en-US" dirty="0"/>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15720944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Title &amp; Subtitle">
  <p:cSld name="Title &amp; Subtitle">
    <p:spTree>
      <p:nvGrpSpPr>
        <p:cNvPr id="1" name="Shape 344"/>
        <p:cNvGrpSpPr/>
        <p:nvPr/>
      </p:nvGrpSpPr>
      <p:grpSpPr>
        <a:xfrm>
          <a:off x="0" y="0"/>
          <a:ext cx="0" cy="0"/>
          <a:chOff x="0" y="0"/>
          <a:chExt cx="0" cy="0"/>
        </a:xfrm>
      </p:grpSpPr>
      <p:sp>
        <p:nvSpPr>
          <p:cNvPr id="345" name="Google Shape;345;g21057e7621e_3_6"/>
          <p:cNvSpPr txBox="1">
            <a:spLocks noGrp="1"/>
          </p:cNvSpPr>
          <p:nvPr>
            <p:ph type="sldNum" idx="12"/>
          </p:nvPr>
        </p:nvSpPr>
        <p:spPr>
          <a:xfrm>
            <a:off x="11866847" y="7589583"/>
            <a:ext cx="1022400" cy="219099"/>
          </a:xfrm>
          <a:prstGeom prst="rect">
            <a:avLst/>
          </a:prstGeom>
          <a:noFill/>
          <a:ln>
            <a:noFill/>
          </a:ln>
        </p:spPr>
        <p:txBody>
          <a:bodyPr spcFirstLastPara="1" wrap="square" lIns="19050" tIns="19050" rIns="19050" bIns="19050" anchor="ctr" anchorCtr="0">
            <a:spAutoFit/>
          </a:bodyPr>
          <a:lstStyle>
            <a:lvl1pPr marL="0" marR="0" lvl="0"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1pPr>
            <a:lvl2pPr marL="0" marR="0" lvl="1"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2pPr>
            <a:lvl3pPr marL="0" marR="0" lvl="2"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3pPr>
            <a:lvl4pPr marL="0" marR="0" lvl="3"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4pPr>
            <a:lvl5pPr marL="0" marR="0" lvl="4"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5pPr>
            <a:lvl6pPr marL="0" marR="0" lvl="5"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6pPr>
            <a:lvl7pPr marL="0" marR="0" lvl="6"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7pPr>
            <a:lvl8pPr marL="0" marR="0" lvl="7"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8pPr>
            <a:lvl9pPr marL="0" marR="0" lvl="8"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9pPr>
          </a:lstStyle>
          <a:p>
            <a:fld id="{00000000-1234-1234-1234-123412341234}" type="slidenum">
              <a:rPr lang="en-US" smtClean="0"/>
              <a:pPr/>
              <a:t>‹#›</a:t>
            </a:fld>
            <a:endParaRPr lang="en-US" dirty="0"/>
          </a:p>
        </p:txBody>
      </p:sp>
      <p:sp>
        <p:nvSpPr>
          <p:cNvPr id="2" name="TextBox 1">
            <a:extLst>
              <a:ext uri="{FF2B5EF4-FFF2-40B4-BE49-F238E27FC236}">
                <a16:creationId xmlns:a16="http://schemas.microsoft.com/office/drawing/2014/main" id="{35A8063A-D45C-111D-A71E-06BBEC12E5FA}"/>
              </a:ext>
            </a:extLst>
          </p:cNvPr>
          <p:cNvSpPr txBox="1"/>
          <p:nvPr userDrawn="1"/>
        </p:nvSpPr>
        <p:spPr>
          <a:xfrm>
            <a:off x="71021" y="6611779"/>
            <a:ext cx="4882719" cy="246221"/>
          </a:xfrm>
          <a:prstGeom prst="rect">
            <a:avLst/>
          </a:prstGeom>
          <a:noFill/>
        </p:spPr>
        <p:txBody>
          <a:bodyPr wrap="square" rtlCol="0">
            <a:spAutoFit/>
          </a:bodyPr>
          <a:lstStyle/>
          <a:p>
            <a:r>
              <a:rPr lang="en-US" sz="1000" i="0" dirty="0">
                <a:latin typeface="Corbel" panose="020B0503020204020204" pitchFamily="34" charset="0"/>
              </a:rPr>
              <a:t>SBK Insights &amp; Strategy, </a:t>
            </a:r>
            <a:fld id="{975D5653-F556-48F7-9AE2-A2280CBA7F72}" type="datetime1">
              <a:rPr lang="en-US" sz="1000" i="0" smtClean="0">
                <a:latin typeface="Corbel" panose="020B0503020204020204" pitchFamily="34" charset="0"/>
              </a:rPr>
              <a:t>3/5/2026</a:t>
            </a:fld>
            <a:endParaRPr lang="en-US" sz="1000" i="0" dirty="0">
              <a:latin typeface="Corbel" panose="020B0503020204020204" pitchFamily="34" charset="0"/>
            </a:endParaRPr>
          </a:p>
        </p:txBody>
      </p:sp>
      <p:sp>
        <p:nvSpPr>
          <p:cNvPr id="3" name="Google Shape;350;g21057e7621e_3_9">
            <a:extLst>
              <a:ext uri="{FF2B5EF4-FFF2-40B4-BE49-F238E27FC236}">
                <a16:creationId xmlns:a16="http://schemas.microsoft.com/office/drawing/2014/main" id="{E78E8DE0-F9A9-09A6-5CEC-49672BDA048A}"/>
              </a:ext>
            </a:extLst>
          </p:cNvPr>
          <p:cNvSpPr txBox="1">
            <a:spLocks/>
          </p:cNvSpPr>
          <p:nvPr userDrawn="1"/>
        </p:nvSpPr>
        <p:spPr>
          <a:xfrm>
            <a:off x="11296611" y="6217623"/>
            <a:ext cx="731600" cy="524800"/>
          </a:xfrm>
          <a:prstGeom prst="rect">
            <a:avLst/>
          </a:prstGeom>
          <a:noFill/>
          <a:ln>
            <a:noFill/>
          </a:ln>
        </p:spPr>
        <p:txBody>
          <a:bodyPr spcFirstLastPara="1" wrap="square" lIns="91425" tIns="91425" rIns="91425" bIns="91425" anchor="ctr" anchorCtr="0">
            <a:normAutofit/>
          </a:bodyPr>
          <a:lstStyle>
            <a:defPPr>
              <a:defRPr lang="en-US"/>
            </a:defPPr>
            <a:lvl1pPr marL="0" marR="0" lvl="0"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1pPr>
            <a:lvl2pPr marL="0" marR="0" lvl="1"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2pPr>
            <a:lvl3pPr marL="0" marR="0" lvl="2"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3pPr>
            <a:lvl4pPr marL="0" marR="0" lvl="3"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4pPr>
            <a:lvl5pPr marL="0" marR="0" lvl="4"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5pPr>
            <a:lvl6pPr marL="0" marR="0" lvl="5"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6pPr>
            <a:lvl7pPr marL="0" marR="0" lvl="6"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7pPr>
            <a:lvl8pPr marL="0" marR="0" lvl="7"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8pPr>
            <a:lvl9pPr marL="0" marR="0" lvl="8"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9pPr>
          </a:lstStyle>
          <a:p>
            <a:fld id="{00000000-1234-1234-1234-123412341234}" type="slidenum">
              <a:rPr lang="en-US" sz="1200" smtClean="0">
                <a:latin typeface="Corbel" panose="020B0503020204020204" pitchFamily="34" charset="0"/>
              </a:rPr>
              <a:pPr/>
              <a:t>‹#›</a:t>
            </a:fld>
            <a:endParaRPr lang="en-US" dirty="0">
              <a:latin typeface="Corbel" panose="020B0503020204020204" pitchFamily="34" charset="0"/>
            </a:endParaRPr>
          </a:p>
        </p:txBody>
      </p:sp>
      <p:pic>
        <p:nvPicPr>
          <p:cNvPr id="4" name="Picture 3">
            <a:extLst>
              <a:ext uri="{FF2B5EF4-FFF2-40B4-BE49-F238E27FC236}">
                <a16:creationId xmlns:a16="http://schemas.microsoft.com/office/drawing/2014/main" id="{673A1B6E-8776-A9AB-3481-4BD2A764C503}"/>
              </a:ext>
            </a:extLst>
          </p:cNvPr>
          <p:cNvPicPr>
            <a:picLocks noChangeAspect="1"/>
          </p:cNvPicPr>
          <p:nvPr userDrawn="1"/>
        </p:nvPicPr>
        <p:blipFill>
          <a:blip r:embed="rId2"/>
          <a:stretch>
            <a:fillRect/>
          </a:stretch>
        </p:blipFill>
        <p:spPr>
          <a:xfrm>
            <a:off x="11008311" y="192907"/>
            <a:ext cx="915570" cy="915570"/>
          </a:xfrm>
          <a:prstGeom prst="rect">
            <a:avLst/>
          </a:prstGeom>
        </p:spPr>
      </p:pic>
    </p:spTree>
    <p:extLst>
      <p:ext uri="{BB962C8B-B14F-4D97-AF65-F5344CB8AC3E}">
        <p14:creationId xmlns:p14="http://schemas.microsoft.com/office/powerpoint/2010/main" val="39080118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r>
              <a:rPr lang="en-US" dirty="0"/>
              <a:t>Xx/xx/2026</a:t>
            </a:r>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5865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12/30/2025</a:t>
            </a:r>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3042492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12/30/2025</a:t>
            </a:r>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2205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12/30/2025</a:t>
            </a:r>
          </a:p>
        </p:txBody>
      </p:sp>
      <p:sp>
        <p:nvSpPr>
          <p:cNvPr id="6" name="Footer Placeholder 5"/>
          <p:cNvSpPr>
            <a:spLocks noGrp="1"/>
          </p:cNvSpPr>
          <p:nvPr>
            <p:ph type="ftr" sz="quarter" idx="11"/>
          </p:nvPr>
        </p:nvSpPr>
        <p:spPr/>
        <p:txBody>
          <a:bodyPr/>
          <a:lstStyle/>
          <a:p>
            <a:r>
              <a:rPr lang="en-US" dirty="0"/>
              <a:t>Sbk insights &amp; strategy</a:t>
            </a:r>
          </a:p>
        </p:txBody>
      </p:sp>
      <p:sp>
        <p:nvSpPr>
          <p:cNvPr id="7" name="Slide Number Placeholder 6"/>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19034650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12/30/2025</a:t>
            </a:r>
          </a:p>
        </p:txBody>
      </p:sp>
      <p:sp>
        <p:nvSpPr>
          <p:cNvPr id="8" name="Footer Placeholder 7"/>
          <p:cNvSpPr>
            <a:spLocks noGrp="1"/>
          </p:cNvSpPr>
          <p:nvPr>
            <p:ph type="ftr" sz="quarter" idx="11"/>
          </p:nvPr>
        </p:nvSpPr>
        <p:spPr/>
        <p:txBody>
          <a:bodyPr/>
          <a:lstStyle/>
          <a:p>
            <a:r>
              <a:rPr lang="en-US" dirty="0"/>
              <a:t>Sbk insights &amp; strategy</a:t>
            </a:r>
          </a:p>
        </p:txBody>
      </p:sp>
      <p:sp>
        <p:nvSpPr>
          <p:cNvPr id="9" name="Slide Number Placeholder 8"/>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5310629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dirty="0"/>
              <a:t>12/30/2025</a:t>
            </a:r>
          </a:p>
        </p:txBody>
      </p:sp>
      <p:sp>
        <p:nvSpPr>
          <p:cNvPr id="4" name="Footer Placeholder 3"/>
          <p:cNvSpPr>
            <a:spLocks noGrp="1"/>
          </p:cNvSpPr>
          <p:nvPr>
            <p:ph type="ftr" sz="quarter" idx="11"/>
          </p:nvPr>
        </p:nvSpPr>
        <p:spPr/>
        <p:txBody>
          <a:bodyPr/>
          <a:lstStyle/>
          <a:p>
            <a:r>
              <a:rPr lang="en-US" dirty="0"/>
              <a:t>Sbk insights &amp; strategy</a:t>
            </a:r>
          </a:p>
        </p:txBody>
      </p:sp>
      <p:sp>
        <p:nvSpPr>
          <p:cNvPr id="5" name="Slide Number Placeholder 4"/>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39131857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pic>
        <p:nvPicPr>
          <p:cNvPr id="2" name="Picture 1">
            <a:extLst>
              <a:ext uri="{FF2B5EF4-FFF2-40B4-BE49-F238E27FC236}">
                <a16:creationId xmlns:a16="http://schemas.microsoft.com/office/drawing/2014/main" id="{F2B901CD-7F04-AB0C-D580-368AC5127234}"/>
              </a:ext>
            </a:extLst>
          </p:cNvPr>
          <p:cNvPicPr>
            <a:picLocks noChangeAspect="1"/>
          </p:cNvPicPr>
          <p:nvPr userDrawn="1"/>
        </p:nvPicPr>
        <p:blipFill>
          <a:blip r:embed="rId2"/>
          <a:stretch>
            <a:fillRect/>
          </a:stretch>
        </p:blipFill>
        <p:spPr>
          <a:xfrm>
            <a:off x="11008311" y="192907"/>
            <a:ext cx="915570" cy="915570"/>
          </a:xfrm>
          <a:prstGeom prst="rect">
            <a:avLst/>
          </a:prstGeom>
        </p:spPr>
      </p:pic>
      <p:cxnSp>
        <p:nvCxnSpPr>
          <p:cNvPr id="3" name="Straight Connector 2">
            <a:extLst>
              <a:ext uri="{FF2B5EF4-FFF2-40B4-BE49-F238E27FC236}">
                <a16:creationId xmlns:a16="http://schemas.microsoft.com/office/drawing/2014/main" id="{A18D2D9F-B801-B695-D35C-B8F61CEB1A72}"/>
              </a:ext>
            </a:extLst>
          </p:cNvPr>
          <p:cNvCxnSpPr>
            <a:cxnSpLocks/>
          </p:cNvCxnSpPr>
          <p:nvPr userDrawn="1"/>
        </p:nvCxnSpPr>
        <p:spPr>
          <a:xfrm>
            <a:off x="594804" y="1258560"/>
            <a:ext cx="11008311"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4A4B075B-ABEF-5812-5D1E-61CC450ECAD8}"/>
              </a:ext>
            </a:extLst>
          </p:cNvPr>
          <p:cNvSpPr>
            <a:spLocks noGrp="1"/>
          </p:cNvSpPr>
          <p:nvPr>
            <p:ph type="dt" sz="half" idx="10"/>
          </p:nvPr>
        </p:nvSpPr>
        <p:spPr/>
        <p:txBody>
          <a:bodyPr/>
          <a:lstStyle/>
          <a:p>
            <a:r>
              <a:rPr lang="en-US" dirty="0"/>
              <a:t>12/30/2025</a:t>
            </a:r>
          </a:p>
        </p:txBody>
      </p:sp>
      <p:sp>
        <p:nvSpPr>
          <p:cNvPr id="13" name="Footer Placeholder 12">
            <a:extLst>
              <a:ext uri="{FF2B5EF4-FFF2-40B4-BE49-F238E27FC236}">
                <a16:creationId xmlns:a16="http://schemas.microsoft.com/office/drawing/2014/main" id="{079DD231-18F2-B77A-63DD-C44DE0C2E3DF}"/>
              </a:ext>
            </a:extLst>
          </p:cNvPr>
          <p:cNvSpPr>
            <a:spLocks noGrp="1"/>
          </p:cNvSpPr>
          <p:nvPr>
            <p:ph type="ftr" sz="quarter" idx="11"/>
          </p:nvPr>
        </p:nvSpPr>
        <p:spPr/>
        <p:txBody>
          <a:bodyPr/>
          <a:lstStyle/>
          <a:p>
            <a:r>
              <a:rPr lang="en-US" dirty="0"/>
              <a:t>Sbk insights &amp; strategy</a:t>
            </a:r>
          </a:p>
        </p:txBody>
      </p:sp>
      <p:sp>
        <p:nvSpPr>
          <p:cNvPr id="14" name="Slide Number Placeholder 13">
            <a:extLst>
              <a:ext uri="{FF2B5EF4-FFF2-40B4-BE49-F238E27FC236}">
                <a16:creationId xmlns:a16="http://schemas.microsoft.com/office/drawing/2014/main" id="{1CE46DE4-7760-4537-8BC1-B4E5582275B5}"/>
              </a:ext>
            </a:extLst>
          </p:cNvPr>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25883070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dirty="0"/>
              <a:t>12/30/2025</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Sbk insights &amp; strategy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6B4C109-23AB-4C56-97AA-0E1D785C36F7}" type="slidenum">
              <a:rPr lang="en-US" smtClean="0"/>
              <a:t>‹#›</a:t>
            </a:fld>
            <a:endParaRPr lang="en-US" dirty="0"/>
          </a:p>
        </p:txBody>
      </p:sp>
    </p:spTree>
    <p:extLst>
      <p:ext uri="{BB962C8B-B14F-4D97-AF65-F5344CB8AC3E}">
        <p14:creationId xmlns:p14="http://schemas.microsoft.com/office/powerpoint/2010/main" val="32887805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40024233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12/30/2025</a:t>
            </a:r>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24321673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12/30/2025</a:t>
            </a:r>
          </a:p>
        </p:txBody>
      </p:sp>
      <p:sp>
        <p:nvSpPr>
          <p:cNvPr id="5" name="Footer Placeholder 4"/>
          <p:cNvSpPr>
            <a:spLocks noGrp="1"/>
          </p:cNvSpPr>
          <p:nvPr>
            <p:ph type="ftr" sz="quarter" idx="11"/>
          </p:nvPr>
        </p:nvSpPr>
        <p:spPr/>
        <p:txBody>
          <a:bodyPr/>
          <a:lstStyle/>
          <a:p>
            <a:r>
              <a:rPr lang="en-US" dirty="0"/>
              <a:t>Sbk insights &amp; strategy</a:t>
            </a:r>
          </a:p>
        </p:txBody>
      </p:sp>
      <p:sp>
        <p:nvSpPr>
          <p:cNvPr id="6" name="Slide Number Placeholder 5"/>
          <p:cNvSpPr>
            <a:spLocks noGrp="1"/>
          </p:cNvSpPr>
          <p:nvPr>
            <p:ph type="sldNum" sz="quarter" idx="12"/>
          </p:nvPr>
        </p:nvSpPr>
        <p:spPr/>
        <p:txBody>
          <a:bodyPr/>
          <a:lstStyle/>
          <a:p>
            <a:fld id="{56B4C109-23AB-4C56-97AA-0E1D785C36F7}" type="slidenum">
              <a:rPr lang="en-US" smtClean="0"/>
              <a:t>‹#›</a:t>
            </a:fld>
            <a:endParaRPr lang="en-US" dirty="0"/>
          </a:p>
        </p:txBody>
      </p:sp>
    </p:spTree>
    <p:extLst>
      <p:ext uri="{BB962C8B-B14F-4D97-AF65-F5344CB8AC3E}">
        <p14:creationId xmlns:p14="http://schemas.microsoft.com/office/powerpoint/2010/main" val="25425605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Title &amp; Subtitle">
  <p:cSld name="Title &amp; Subtitle">
    <p:spTree>
      <p:nvGrpSpPr>
        <p:cNvPr id="1" name="Shape 344"/>
        <p:cNvGrpSpPr/>
        <p:nvPr/>
      </p:nvGrpSpPr>
      <p:grpSpPr>
        <a:xfrm>
          <a:off x="0" y="0"/>
          <a:ext cx="0" cy="0"/>
          <a:chOff x="0" y="0"/>
          <a:chExt cx="0" cy="0"/>
        </a:xfrm>
      </p:grpSpPr>
      <p:sp>
        <p:nvSpPr>
          <p:cNvPr id="345" name="Google Shape;345;g21057e7621e_3_6"/>
          <p:cNvSpPr txBox="1">
            <a:spLocks noGrp="1"/>
          </p:cNvSpPr>
          <p:nvPr>
            <p:ph type="sldNum" idx="12"/>
          </p:nvPr>
        </p:nvSpPr>
        <p:spPr>
          <a:xfrm>
            <a:off x="11866847" y="7589583"/>
            <a:ext cx="1022400" cy="219099"/>
          </a:xfrm>
          <a:prstGeom prst="rect">
            <a:avLst/>
          </a:prstGeom>
          <a:noFill/>
          <a:ln>
            <a:noFill/>
          </a:ln>
        </p:spPr>
        <p:txBody>
          <a:bodyPr spcFirstLastPara="1" wrap="square" lIns="19050" tIns="19050" rIns="19050" bIns="19050" anchor="ctr" anchorCtr="0">
            <a:spAutoFit/>
          </a:bodyPr>
          <a:lstStyle>
            <a:lvl1pPr marL="0" marR="0" lvl="0"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1pPr>
            <a:lvl2pPr marL="0" marR="0" lvl="1"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2pPr>
            <a:lvl3pPr marL="0" marR="0" lvl="2"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3pPr>
            <a:lvl4pPr marL="0" marR="0" lvl="3"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4pPr>
            <a:lvl5pPr marL="0" marR="0" lvl="4"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5pPr>
            <a:lvl6pPr marL="0" marR="0" lvl="5"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6pPr>
            <a:lvl7pPr marL="0" marR="0" lvl="6"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7pPr>
            <a:lvl8pPr marL="0" marR="0" lvl="7"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8pPr>
            <a:lvl9pPr marL="0" marR="0" lvl="8" indent="0" algn="l">
              <a:lnSpc>
                <a:spcPct val="110000"/>
              </a:lnSpc>
              <a:spcBef>
                <a:spcPts val="0"/>
              </a:spcBef>
              <a:spcAft>
                <a:spcPts val="0"/>
              </a:spcAft>
              <a:buClr>
                <a:srgbClr val="4D6D5F"/>
              </a:buClr>
              <a:buSzPts val="1200"/>
              <a:buFont typeface="Helvetica Neue"/>
              <a:buNone/>
              <a:defRPr sz="1067" b="0" i="0" u="none" strike="noStrike" cap="none">
                <a:solidFill>
                  <a:srgbClr val="4D6D5F"/>
                </a:solidFill>
                <a:latin typeface="Georgia"/>
                <a:ea typeface="Georgia"/>
                <a:cs typeface="Georgia"/>
                <a:sym typeface="Georgia"/>
              </a:defRPr>
            </a:lvl9pPr>
          </a:lstStyle>
          <a:p>
            <a:fld id="{00000000-1234-1234-1234-123412341234}" type="slidenum">
              <a:rPr lang="en-US" smtClean="0"/>
              <a:pPr/>
              <a:t>‹#›</a:t>
            </a:fld>
            <a:endParaRPr lang="en-US" dirty="0"/>
          </a:p>
        </p:txBody>
      </p:sp>
      <p:sp>
        <p:nvSpPr>
          <p:cNvPr id="2" name="TextBox 1">
            <a:extLst>
              <a:ext uri="{FF2B5EF4-FFF2-40B4-BE49-F238E27FC236}">
                <a16:creationId xmlns:a16="http://schemas.microsoft.com/office/drawing/2014/main" id="{35A8063A-D45C-111D-A71E-06BBEC12E5FA}"/>
              </a:ext>
            </a:extLst>
          </p:cNvPr>
          <p:cNvSpPr txBox="1"/>
          <p:nvPr userDrawn="1"/>
        </p:nvSpPr>
        <p:spPr>
          <a:xfrm>
            <a:off x="71021" y="6611779"/>
            <a:ext cx="4882719" cy="246221"/>
          </a:xfrm>
          <a:prstGeom prst="rect">
            <a:avLst/>
          </a:prstGeom>
          <a:noFill/>
        </p:spPr>
        <p:txBody>
          <a:bodyPr wrap="square" rtlCol="0">
            <a:spAutoFit/>
          </a:bodyPr>
          <a:lstStyle/>
          <a:p>
            <a:r>
              <a:rPr lang="en-US" sz="1000" i="0" dirty="0">
                <a:latin typeface="Corbel" panose="020B0503020204020204" pitchFamily="34" charset="0"/>
              </a:rPr>
              <a:t>SBK Insights &amp; Strategy, February 2025</a:t>
            </a:r>
          </a:p>
        </p:txBody>
      </p:sp>
      <p:sp>
        <p:nvSpPr>
          <p:cNvPr id="3" name="Google Shape;350;g21057e7621e_3_9">
            <a:extLst>
              <a:ext uri="{FF2B5EF4-FFF2-40B4-BE49-F238E27FC236}">
                <a16:creationId xmlns:a16="http://schemas.microsoft.com/office/drawing/2014/main" id="{E78E8DE0-F9A9-09A6-5CEC-49672BDA048A}"/>
              </a:ext>
            </a:extLst>
          </p:cNvPr>
          <p:cNvSpPr txBox="1">
            <a:spLocks/>
          </p:cNvSpPr>
          <p:nvPr userDrawn="1"/>
        </p:nvSpPr>
        <p:spPr>
          <a:xfrm>
            <a:off x="11296611" y="6217623"/>
            <a:ext cx="731600" cy="524800"/>
          </a:xfrm>
          <a:prstGeom prst="rect">
            <a:avLst/>
          </a:prstGeom>
          <a:noFill/>
          <a:ln>
            <a:noFill/>
          </a:ln>
        </p:spPr>
        <p:txBody>
          <a:bodyPr spcFirstLastPara="1" wrap="square" lIns="91425" tIns="91425" rIns="91425" bIns="91425" anchor="ctr" anchorCtr="0">
            <a:normAutofit/>
          </a:bodyPr>
          <a:lstStyle>
            <a:defPPr>
              <a:defRPr lang="en-US"/>
            </a:defPPr>
            <a:lvl1pPr marL="0" marR="0" lvl="0"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1pPr>
            <a:lvl2pPr marL="0" marR="0" lvl="1"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2pPr>
            <a:lvl3pPr marL="0" marR="0" lvl="2"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3pPr>
            <a:lvl4pPr marL="0" marR="0" lvl="3"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4pPr>
            <a:lvl5pPr marL="0" marR="0" lvl="4"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5pPr>
            <a:lvl6pPr marL="0" marR="0" lvl="5"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6pPr>
            <a:lvl7pPr marL="0" marR="0" lvl="6"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7pPr>
            <a:lvl8pPr marL="0" marR="0" lvl="7"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8pPr>
            <a:lvl9pPr marL="0" marR="0" lvl="8" indent="0" algn="r" defTabSz="914400" rtl="0" eaLnBrk="1" latinLnBrk="0" hangingPunct="1">
              <a:lnSpc>
                <a:spcPct val="100000"/>
              </a:lnSpc>
              <a:spcBef>
                <a:spcPts val="0"/>
              </a:spcBef>
              <a:spcAft>
                <a:spcPts val="0"/>
              </a:spcAft>
              <a:buClr>
                <a:srgbClr val="000000"/>
              </a:buClr>
              <a:buSzPts val="1000"/>
              <a:buFont typeface="Arial"/>
              <a:buNone/>
              <a:defRPr sz="1333" b="0" i="0" u="none" strike="noStrike" kern="1200" cap="none">
                <a:solidFill>
                  <a:schemeClr val="dk2"/>
                </a:solidFill>
                <a:latin typeface="Arial"/>
                <a:ea typeface="Arial"/>
                <a:cs typeface="Arial"/>
                <a:sym typeface="Arial"/>
              </a:defRPr>
            </a:lvl9pPr>
          </a:lstStyle>
          <a:p>
            <a:fld id="{00000000-1234-1234-1234-123412341234}" type="slidenum">
              <a:rPr lang="en-US" sz="1200" smtClean="0">
                <a:latin typeface="Corbel" panose="020B0503020204020204" pitchFamily="34" charset="0"/>
              </a:rPr>
              <a:pPr/>
              <a:t>‹#›</a:t>
            </a:fld>
            <a:endParaRPr lang="en-US" dirty="0">
              <a:latin typeface="Corbel" panose="020B0503020204020204" pitchFamily="34" charset="0"/>
            </a:endParaRPr>
          </a:p>
        </p:txBody>
      </p:sp>
      <p:pic>
        <p:nvPicPr>
          <p:cNvPr id="4" name="Picture 3">
            <a:extLst>
              <a:ext uri="{FF2B5EF4-FFF2-40B4-BE49-F238E27FC236}">
                <a16:creationId xmlns:a16="http://schemas.microsoft.com/office/drawing/2014/main" id="{673A1B6E-8776-A9AB-3481-4BD2A764C503}"/>
              </a:ext>
            </a:extLst>
          </p:cNvPr>
          <p:cNvPicPr>
            <a:picLocks noChangeAspect="1"/>
          </p:cNvPicPr>
          <p:nvPr userDrawn="1"/>
        </p:nvPicPr>
        <p:blipFill>
          <a:blip r:embed="rId2"/>
          <a:stretch>
            <a:fillRect/>
          </a:stretch>
        </p:blipFill>
        <p:spPr>
          <a:xfrm>
            <a:off x="11008311" y="192907"/>
            <a:ext cx="915570" cy="915570"/>
          </a:xfrm>
          <a:prstGeom prst="rect">
            <a:avLst/>
          </a:prstGeom>
        </p:spPr>
      </p:pic>
    </p:spTree>
    <p:extLst>
      <p:ext uri="{BB962C8B-B14F-4D97-AF65-F5344CB8AC3E}">
        <p14:creationId xmlns:p14="http://schemas.microsoft.com/office/powerpoint/2010/main" val="494729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60B3E60-E73B-4801-8950-70F464A2716F}" type="datetime1">
              <a:rPr lang="en-US" smtClean="0"/>
              <a:pPr/>
              <a:t>3/5/2026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Sbk insights &amp; strategy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6B4C109-23AB-4C56-97AA-0E1D785C36F7}"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09175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E5FD131-DE8C-4140-B31C-104AD7DA8AE9}" type="datetime1">
              <a:rPr lang="en-US" smtClean="0"/>
              <a:pPr/>
              <a:t>3/5/2026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Sbk insights &amp; strategy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6B4C109-23AB-4C56-97AA-0E1D785C36F7}"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578638"/>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dirty="0"/>
              <a:t>12/30/2025</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Sbk insights &amp; strategy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6B4C109-23AB-4C56-97AA-0E1D785C36F7}"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4294758"/>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dfreephotos.com/other-photos/medicine-pills-on-a-spoon.jpg.php" TargetMode="External"/><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goodfreephotos.com/other-photos/medicine-pills-on-a-spoon.jpg.php" TargetMode="External"/><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chart" Target="../charts/chart9.xml"/></Relationships>
</file>

<file path=ppt/slides/_rels/slide2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11.xml"/></Relationships>
</file>

<file path=ppt/slides/_rels/slide22.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43.xml.rels><?xml version="1.0" encoding="UTF-8" standalone="yes"?>
<Relationships xmlns="http://schemas.openxmlformats.org/package/2006/relationships"><Relationship Id="rId3" Type="http://schemas.openxmlformats.org/officeDocument/2006/relationships/hyperlink" Target="https://www.goodfreephotos.com/other-photos/medicine-pills-on-a-spoon.jpg.php" TargetMode="External"/><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B1836F0-F9E0-4D93-9BDD-7EEC6EA05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02FDE59-B4E5-F1AD-8140-D367D8733F97}"/>
              </a:ext>
            </a:extLst>
          </p:cNvPr>
          <p:cNvSpPr>
            <a:spLocks noGrp="1"/>
          </p:cNvSpPr>
          <p:nvPr>
            <p:ph type="ctrTitle"/>
          </p:nvPr>
        </p:nvSpPr>
        <p:spPr>
          <a:xfrm>
            <a:off x="5289754" y="639097"/>
            <a:ext cx="6617994" cy="3686015"/>
          </a:xfrm>
        </p:spPr>
        <p:txBody>
          <a:bodyPr>
            <a:noAutofit/>
          </a:bodyPr>
          <a:lstStyle/>
          <a:p>
            <a:r>
              <a:rPr lang="en-US" sz="4800" b="1" dirty="0"/>
              <a:t>Functional Nutrition Consumer Segmentation</a:t>
            </a:r>
            <a:endParaRPr lang="en-US" sz="5400" b="1" dirty="0">
              <a:highlight>
                <a:srgbClr val="FFFF00"/>
              </a:highlight>
            </a:endParaRPr>
          </a:p>
        </p:txBody>
      </p:sp>
      <p:sp>
        <p:nvSpPr>
          <p:cNvPr id="3" name="Subtitle 2">
            <a:extLst>
              <a:ext uri="{FF2B5EF4-FFF2-40B4-BE49-F238E27FC236}">
                <a16:creationId xmlns:a16="http://schemas.microsoft.com/office/drawing/2014/main" id="{DC681CB7-F174-1035-5C1B-75D04FDCEE67}"/>
              </a:ext>
            </a:extLst>
          </p:cNvPr>
          <p:cNvSpPr>
            <a:spLocks noGrp="1"/>
          </p:cNvSpPr>
          <p:nvPr>
            <p:ph type="subTitle" idx="1"/>
          </p:nvPr>
        </p:nvSpPr>
        <p:spPr>
          <a:xfrm>
            <a:off x="5289753" y="4455621"/>
            <a:ext cx="6269347" cy="1238616"/>
          </a:xfrm>
        </p:spPr>
        <p:txBody>
          <a:bodyPr>
            <a:normAutofit/>
          </a:bodyPr>
          <a:lstStyle/>
          <a:p>
            <a:r>
              <a:rPr lang="en-US" dirty="0">
                <a:solidFill>
                  <a:schemeClr val="tx1">
                    <a:lumMod val="85000"/>
                    <a:lumOff val="15000"/>
                  </a:schemeClr>
                </a:solidFill>
              </a:rPr>
              <a:t>Work Session 1 – 3/6/26</a:t>
            </a:r>
          </a:p>
        </p:txBody>
      </p:sp>
      <p:pic>
        <p:nvPicPr>
          <p:cNvPr id="4" name="Picture 3">
            <a:extLst>
              <a:ext uri="{FF2B5EF4-FFF2-40B4-BE49-F238E27FC236}">
                <a16:creationId xmlns:a16="http://schemas.microsoft.com/office/drawing/2014/main" id="{80C5F2EA-C4FE-B1D0-3835-E5B7EB0E1A29}"/>
              </a:ext>
            </a:extLst>
          </p:cNvPr>
          <p:cNvPicPr>
            <a:picLocks noChangeAspect="1"/>
          </p:cNvPicPr>
          <p:nvPr/>
        </p:nvPicPr>
        <p:blipFill>
          <a:blip r:embed="rId2"/>
          <a:stretch>
            <a:fillRect/>
          </a:stretch>
        </p:blipFill>
        <p:spPr>
          <a:xfrm>
            <a:off x="633999" y="1163529"/>
            <a:ext cx="4001315" cy="4001315"/>
          </a:xfrm>
          <a:prstGeom prst="rect">
            <a:avLst/>
          </a:prstGeom>
        </p:spPr>
      </p:pic>
      <p:cxnSp>
        <p:nvCxnSpPr>
          <p:cNvPr id="11" name="Straight Connector 10">
            <a:extLst>
              <a:ext uri="{FF2B5EF4-FFF2-40B4-BE49-F238E27FC236}">
                <a16:creationId xmlns:a16="http://schemas.microsoft.com/office/drawing/2014/main" id="{7A49EFD3-A806-4D59-99F1-AA9AFAE4EF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D2F28D1-82F9-40FE-935C-85ECF7660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 name="Rectangle 14">
            <a:extLst>
              <a:ext uri="{FF2B5EF4-FFF2-40B4-BE49-F238E27FC236}">
                <a16:creationId xmlns:a16="http://schemas.microsoft.com/office/drawing/2014/main" id="{4B670E93-2F53-48FC-AB6C-E99E22D17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 name="Footer Placeholder 5">
            <a:extLst>
              <a:ext uri="{FF2B5EF4-FFF2-40B4-BE49-F238E27FC236}">
                <a16:creationId xmlns:a16="http://schemas.microsoft.com/office/drawing/2014/main" id="{EC0C4E0B-6076-D5DD-8B36-6356E742EAFB}"/>
              </a:ext>
            </a:extLst>
          </p:cNvPr>
          <p:cNvSpPr>
            <a:spLocks noGrp="1"/>
          </p:cNvSpPr>
          <p:nvPr>
            <p:ph type="ftr" sz="quarter" idx="11"/>
          </p:nvPr>
        </p:nvSpPr>
        <p:spPr/>
        <p:txBody>
          <a:bodyPr/>
          <a:lstStyle/>
          <a:p>
            <a:r>
              <a:rPr lang="en-US" dirty="0"/>
              <a:t>Sbk insights &amp; strategy</a:t>
            </a:r>
          </a:p>
        </p:txBody>
      </p:sp>
      <p:sp>
        <p:nvSpPr>
          <p:cNvPr id="7" name="Slide Number Placeholder 6">
            <a:extLst>
              <a:ext uri="{FF2B5EF4-FFF2-40B4-BE49-F238E27FC236}">
                <a16:creationId xmlns:a16="http://schemas.microsoft.com/office/drawing/2014/main" id="{01909DA3-51CB-AE47-714D-90D125FA9C5E}"/>
              </a:ext>
            </a:extLst>
          </p:cNvPr>
          <p:cNvSpPr>
            <a:spLocks noGrp="1"/>
          </p:cNvSpPr>
          <p:nvPr>
            <p:ph type="sldNum" sz="quarter" idx="12"/>
          </p:nvPr>
        </p:nvSpPr>
        <p:spPr/>
        <p:txBody>
          <a:bodyPr/>
          <a:lstStyle/>
          <a:p>
            <a:fld id="{56B4C109-23AB-4C56-97AA-0E1D785C36F7}" type="slidenum">
              <a:rPr lang="en-US" smtClean="0"/>
              <a:t>1</a:t>
            </a:fld>
            <a:endParaRPr lang="en-US" dirty="0"/>
          </a:p>
        </p:txBody>
      </p:sp>
      <p:sp>
        <p:nvSpPr>
          <p:cNvPr id="10" name="Date Placeholder 4">
            <a:extLst>
              <a:ext uri="{FF2B5EF4-FFF2-40B4-BE49-F238E27FC236}">
                <a16:creationId xmlns:a16="http://schemas.microsoft.com/office/drawing/2014/main" id="{B357A124-4A1D-5EC8-0772-5411642C2325}"/>
              </a:ext>
            </a:extLst>
          </p:cNvPr>
          <p:cNvSpPr>
            <a:spLocks noGrp="1"/>
          </p:cNvSpPr>
          <p:nvPr>
            <p:ph type="dt" sz="half" idx="10"/>
          </p:nvPr>
        </p:nvSpPr>
        <p:spPr>
          <a:xfrm>
            <a:off x="1097280" y="6459785"/>
            <a:ext cx="2472271" cy="365125"/>
          </a:xfrm>
        </p:spPr>
        <p:txBody>
          <a:bodyPr/>
          <a:lstStyle/>
          <a:p>
            <a:r>
              <a:rPr lang="en-US" dirty="0"/>
              <a:t>MARCH 2026</a:t>
            </a:r>
          </a:p>
        </p:txBody>
      </p:sp>
    </p:spTree>
    <p:extLst>
      <p:ext uri="{BB962C8B-B14F-4D97-AF65-F5344CB8AC3E}">
        <p14:creationId xmlns:p14="http://schemas.microsoft.com/office/powerpoint/2010/main" val="1101096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E927735D-0D10-38E0-C510-BC110398873E}"/>
            </a:ext>
          </a:extLst>
        </p:cNvPr>
        <p:cNvGrpSpPr/>
        <p:nvPr/>
      </p:nvGrpSpPr>
      <p:grpSpPr>
        <a:xfrm>
          <a:off x="0" y="0"/>
          <a:ext cx="0" cy="0"/>
          <a:chOff x="0" y="0"/>
          <a:chExt cx="0" cy="0"/>
        </a:xfrm>
      </p:grpSpPr>
      <p:sp>
        <p:nvSpPr>
          <p:cNvPr id="1044" name="Google Shape;1044;g2105d9229d2_2_6">
            <a:extLst>
              <a:ext uri="{FF2B5EF4-FFF2-40B4-BE49-F238E27FC236}">
                <a16:creationId xmlns:a16="http://schemas.microsoft.com/office/drawing/2014/main" id="{16928FB2-EB4C-4806-FA43-97860DA8BCC0}"/>
              </a:ext>
            </a:extLst>
          </p:cNvPr>
          <p:cNvSpPr txBox="1"/>
          <p:nvPr/>
        </p:nvSpPr>
        <p:spPr>
          <a:xfrm>
            <a:off x="539161" y="1524435"/>
            <a:ext cx="10772686" cy="4356781"/>
          </a:xfrm>
          <a:prstGeom prst="rect">
            <a:avLst/>
          </a:prstGeom>
          <a:noFill/>
          <a:ln>
            <a:noFill/>
          </a:ln>
        </p:spPr>
        <p:txBody>
          <a:bodyPr spcFirstLastPara="1" wrap="square" lIns="121900" tIns="60933" rIns="121900" bIns="60933" anchor="t" anchorCtr="0">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Ate Days Wellness is looking to disrupt the supplements category with a new format that is faster-acting and more efficacious than the competition. To date, multiple products have been developed, with formulations in various stages of finalization. In preparation for launch, the team needs to build a brand that is consumer-connected, distinctive, and breakthrough to maximize the revenue opportunity in a highly competitive category.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lumMod val="65000"/>
                  <a:lumOff val="35000"/>
                </a:srgbClr>
              </a:solidFill>
              <a:effectLst/>
              <a:highlight>
                <a:srgbClr val="FFFF00"/>
              </a:highlight>
              <a:uLnTx/>
              <a:uFillTx/>
              <a:latin typeface="Calibri Light" panose="020F03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Overall objectives of the brand-building initiative include:</a:t>
            </a:r>
          </a:p>
          <a:p>
            <a:pPr marL="285750" marR="0" lvl="0" indent="-285750" algn="l" defTabSz="457200" rtl="0" eaLnBrk="1" fontAlgn="auto" latinLnBrk="0" hangingPunct="1">
              <a:lnSpc>
                <a:spcPct val="10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Elevating understanding of the market, the frame of reference, and the consumer</a:t>
            </a:r>
          </a:p>
          <a:p>
            <a:pPr marL="285750" marR="0" lvl="0" indent="-285750" algn="l" defTabSz="457200" rtl="0" eaLnBrk="1" fontAlgn="auto" latinLnBrk="0" hangingPunct="1">
              <a:lnSpc>
                <a:spcPct val="10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Identifying where to play (which demand spaces with which consumers) and how to win (positioning, differentiating benefits, channel strategy, pricing, etc.) grounded in the key benefits that Ate Days Wellness wants to bring to market (fast-acting, impact-obvious, convenient format)</a:t>
            </a:r>
          </a:p>
          <a:p>
            <a:pPr marL="285750" marR="0" lvl="0" indent="-285750" algn="l" defTabSz="457200" rtl="0" eaLnBrk="1" fontAlgn="auto" latinLnBrk="0" hangingPunct="1">
              <a:lnSpc>
                <a:spcPct val="10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Building the brand positioning and strategy</a:t>
            </a:r>
          </a:p>
          <a:p>
            <a:pPr marL="285750" marR="0" lvl="0" indent="-285750" algn="l" defTabSz="457200" rtl="0" eaLnBrk="1" fontAlgn="auto" latinLnBrk="0" hangingPunct="1">
              <a:lnSpc>
                <a:spcPct val="10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Validating product performance and the full brand bundle to ensure a successful launch</a:t>
            </a:r>
          </a:p>
          <a:p>
            <a:pPr marL="228600" marR="0" lvl="0" indent="-228600" algn="l" defTabSz="457200" rtl="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endParaRPr kumimoji="0" lang="en-US" sz="1400" b="0" i="0" u="none" strike="noStrike" kern="0" cap="none" spc="0" normalizeH="0" baseline="0" noProof="0" dirty="0">
              <a:ln>
                <a:noFill/>
              </a:ln>
              <a:solidFill>
                <a:srgbClr val="000000">
                  <a:lumMod val="65000"/>
                  <a:lumOff val="35000"/>
                </a:srgbClr>
              </a:solidFill>
              <a:effectLst/>
              <a:uLnTx/>
              <a:uFillTx/>
              <a:latin typeface="Calibri Light" panose="020F0302020204030204"/>
              <a:ea typeface="+mn-ea"/>
              <a:cs typeface="Arial"/>
              <a:sym typeface="Arial"/>
            </a:endParaRPr>
          </a:p>
          <a:p>
            <a:pPr marL="0" marR="0" lvl="0" indent="0" algn="l" defTabSz="457200" rtl="0" eaLnBrk="1" fontAlgn="auto" latinLnBrk="0" hangingPunct="1">
              <a:lnSpc>
                <a:spcPct val="100000"/>
              </a:lnSpc>
              <a:spcBef>
                <a:spcPts val="0"/>
              </a:spcBef>
              <a:spcAft>
                <a:spcPts val="0"/>
              </a:spcAft>
              <a:buClr>
                <a:srgbClr val="00B0F0"/>
              </a:buClr>
              <a:buSzTx/>
              <a:buFontTx/>
              <a:buNone/>
              <a:tabLst/>
              <a:defRPr/>
            </a:pPr>
            <a:r>
              <a:rPr kumimoji="0" lang="en-US" sz="1600" b="0" i="0" u="none" strike="noStrike" kern="0" cap="none" spc="0" normalizeH="0" baseline="0" noProof="0" dirty="0">
                <a:ln>
                  <a:noFill/>
                </a:ln>
                <a:solidFill>
                  <a:srgbClr val="000000">
                    <a:lumMod val="65000"/>
                    <a:lumOff val="35000"/>
                  </a:srgbClr>
                </a:solidFill>
                <a:effectLst/>
                <a:uLnTx/>
                <a:uFillTx/>
                <a:latin typeface="Calibri Light" panose="020F0302020204030204"/>
                <a:ea typeface="+mn-ea"/>
                <a:cs typeface="Arial"/>
                <a:sym typeface="Arial"/>
              </a:rPr>
              <a:t>Phase 1 of the work addresses elevating understanding of the market, frame of reference, and the consumer, including identifying where to play and how to win.</a:t>
            </a:r>
          </a:p>
          <a:p>
            <a:pPr marL="285750" marR="0" lvl="0" indent="-285750" algn="l" defTabSz="457200" rtl="0" eaLnBrk="1" fontAlgn="auto" latinLnBrk="0" hangingPunct="1">
              <a:lnSpc>
                <a:spcPct val="10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lumMod val="65000"/>
                    <a:lumOff val="35000"/>
                  </a:srgbClr>
                </a:solidFill>
                <a:effectLst/>
                <a:uLnTx/>
                <a:uFillTx/>
                <a:latin typeface="Calibri Light" panose="020F0302020204030204"/>
                <a:ea typeface="+mn-ea"/>
                <a:cs typeface="Arial"/>
                <a:sym typeface="Arial"/>
              </a:rPr>
              <a:t>Phase 1A: Market and Consumer Exploratory (final report shared 12/30/25)</a:t>
            </a:r>
          </a:p>
          <a:p>
            <a:pPr marL="285750" marR="0" lvl="0" indent="-285750" algn="l" defTabSz="457200" rtl="0" eaLnBrk="1" fontAlgn="auto" latinLnBrk="0" hangingPunct="1">
              <a:lnSpc>
                <a:spcPct val="10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lumMod val="65000"/>
                    <a:lumOff val="35000"/>
                  </a:srgbClr>
                </a:solidFill>
                <a:effectLst/>
                <a:uLnTx/>
                <a:uFillTx/>
                <a:latin typeface="Calibri Light" panose="020F0302020204030204"/>
                <a:ea typeface="+mn-ea"/>
                <a:cs typeface="Arial"/>
                <a:sym typeface="Arial"/>
              </a:rPr>
              <a:t>Phase 2B: Consumer Segmentation (the focus of today’s discussion)</a:t>
            </a:r>
            <a:endParaRPr kumimoji="0" sz="1400" b="0" i="0" u="none" strike="noStrike" kern="0" cap="none" spc="0" normalizeH="0" baseline="0" noProof="0" dirty="0">
              <a:ln>
                <a:noFill/>
              </a:ln>
              <a:solidFill>
                <a:srgbClr val="000000">
                  <a:lumMod val="65000"/>
                  <a:lumOff val="35000"/>
                </a:srgbClr>
              </a:solidFill>
              <a:effectLst/>
              <a:uLnTx/>
              <a:uFillTx/>
              <a:latin typeface="Calibri Light" panose="020F0302020204030204"/>
              <a:ea typeface="+mn-ea"/>
              <a:cs typeface="Arial"/>
              <a:sym typeface="Arial"/>
            </a:endParaRPr>
          </a:p>
        </p:txBody>
      </p:sp>
      <p:sp>
        <p:nvSpPr>
          <p:cNvPr id="2" name="Title 4">
            <a:extLst>
              <a:ext uri="{FF2B5EF4-FFF2-40B4-BE49-F238E27FC236}">
                <a16:creationId xmlns:a16="http://schemas.microsoft.com/office/drawing/2014/main" id="{6ADE77A5-2422-E0D9-AD37-767C8868B99F}"/>
              </a:ext>
            </a:extLst>
          </p:cNvPr>
          <p:cNvSpPr txBox="1">
            <a:spLocks/>
          </p:cNvSpPr>
          <p:nvPr/>
        </p:nvSpPr>
        <p:spPr>
          <a:xfrm>
            <a:off x="539161" y="686397"/>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Project Background</a:t>
            </a:r>
          </a:p>
        </p:txBody>
      </p:sp>
      <p:sp>
        <p:nvSpPr>
          <p:cNvPr id="4" name="Footer Placeholder 2">
            <a:extLst>
              <a:ext uri="{FF2B5EF4-FFF2-40B4-BE49-F238E27FC236}">
                <a16:creationId xmlns:a16="http://schemas.microsoft.com/office/drawing/2014/main" id="{CC94B5E2-BEA0-895C-4DCA-1518D103E988}"/>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5" name="Slide Number Placeholder 3">
            <a:extLst>
              <a:ext uri="{FF2B5EF4-FFF2-40B4-BE49-F238E27FC236}">
                <a16:creationId xmlns:a16="http://schemas.microsoft.com/office/drawing/2014/main" id="{88CE05CA-B26E-846C-C4DA-138A7EE4FE09}"/>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2951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D8F36C-EA39-C817-95CD-D1CA5F498A7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4" name="Slide Number Placeholder 3">
            <a:extLst>
              <a:ext uri="{FF2B5EF4-FFF2-40B4-BE49-F238E27FC236}">
                <a16:creationId xmlns:a16="http://schemas.microsoft.com/office/drawing/2014/main" id="{BD5C0685-4B5C-1A79-C3B2-09089E3D93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 name="Title 4">
            <a:extLst>
              <a:ext uri="{FF2B5EF4-FFF2-40B4-BE49-F238E27FC236}">
                <a16:creationId xmlns:a16="http://schemas.microsoft.com/office/drawing/2014/main" id="{652C05D9-F405-8626-43EF-2DD6CEFF4319}"/>
              </a:ext>
            </a:extLst>
          </p:cNvPr>
          <p:cNvSpPr txBox="1">
            <a:spLocks/>
          </p:cNvSpPr>
          <p:nvPr/>
        </p:nvSpPr>
        <p:spPr>
          <a:xfrm>
            <a:off x="539161" y="686397"/>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Consumer Segmentation Approach</a:t>
            </a:r>
          </a:p>
        </p:txBody>
      </p:sp>
      <p:sp>
        <p:nvSpPr>
          <p:cNvPr id="7" name="Google Shape;1044;g2105d9229d2_2_6">
            <a:extLst>
              <a:ext uri="{FF2B5EF4-FFF2-40B4-BE49-F238E27FC236}">
                <a16:creationId xmlns:a16="http://schemas.microsoft.com/office/drawing/2014/main" id="{AEBDDF8C-440E-D43E-49A5-2446D84AB7EA}"/>
              </a:ext>
            </a:extLst>
          </p:cNvPr>
          <p:cNvSpPr txBox="1"/>
          <p:nvPr/>
        </p:nvSpPr>
        <p:spPr>
          <a:xfrm>
            <a:off x="709657" y="1356931"/>
            <a:ext cx="10772686" cy="4722205"/>
          </a:xfrm>
          <a:prstGeom prst="rect">
            <a:avLst/>
          </a:prstGeom>
          <a:noFill/>
          <a:ln>
            <a:noFill/>
          </a:ln>
        </p:spPr>
        <p:txBody>
          <a:bodyPr spcFirstLastPara="1" wrap="square" lIns="121900" tIns="60933" rIns="121900" bIns="60933" anchor="t" anchorCtr="0">
            <a:noAutofit/>
          </a:bodyPr>
          <a:lstStyle/>
          <a:p>
            <a:pPr marL="0" marR="0" lvl="0" indent="0" algn="l" defTabSz="914400" rtl="0" eaLnBrk="1" fontAlgn="auto" latinLnBrk="0" hangingPunct="1">
              <a:lnSpc>
                <a:spcPct val="110000"/>
              </a:lnSpc>
              <a:spcBef>
                <a:spcPts val="0"/>
              </a:spcBef>
              <a:spcAft>
                <a:spcPts val="600"/>
              </a:spcAft>
              <a:buClr>
                <a:srgbClr val="C2BC80"/>
              </a:buClr>
              <a:buSzPts val="1200"/>
              <a:buFontTx/>
              <a:buNone/>
              <a:tabLst/>
              <a:defRPr/>
            </a:pPr>
            <a:r>
              <a:rPr kumimoji="0" lang="en-US" sz="16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An online study was conducted to build foundational understanding of and quantify </a:t>
            </a:r>
            <a:r>
              <a:rPr kumimoji="0" lang="en-US" sz="16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sym typeface="Corbel"/>
              </a:rPr>
              <a:t>attitudes, behaviors, needs, and tensions as related to health and wellness overall, as well as to functional nutrition categories (dietary supplements, functional foods, and functional beverages). </a:t>
            </a:r>
            <a:endPar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endParaRPr>
          </a:p>
          <a:p>
            <a:pPr marL="0" marR="0" lvl="0" indent="0" algn="l" defTabSz="914400" rtl="0" eaLnBrk="1" fontAlgn="auto" latinLnBrk="0" hangingPunct="1">
              <a:lnSpc>
                <a:spcPct val="110000"/>
              </a:lnSpc>
              <a:spcBef>
                <a:spcPts val="0"/>
              </a:spcBef>
              <a:spcAft>
                <a:spcPts val="0"/>
              </a:spcAft>
              <a:buClr>
                <a:srgbClr val="BD582C"/>
              </a:buClr>
              <a:buSzTx/>
              <a:buFontTx/>
              <a:buNone/>
              <a:tabLst/>
              <a:defRPr/>
            </a:pPr>
            <a:r>
              <a:rPr kumimoji="0" lang="en-US" sz="16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N=1500 interviews with Past 3-Month Functional Nutrition Buyers/Users</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Past 3-month purchasers of Dietary Supplements, Functional Foods, </a:t>
            </a:r>
            <a:r>
              <a:rPr kumimoji="0" lang="en-US" sz="1400" b="1"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or </a:t>
            </a: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Functional Beverages</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Use at least one of the categories above once/week or more often</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Ages 18-74</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Key demographics balanced to U.S. Census</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endParaRPr>
          </a:p>
          <a:p>
            <a:pPr marL="0" marR="0" lvl="0" indent="0" algn="l" defTabSz="914400" rtl="0" eaLnBrk="1" fontAlgn="auto" latinLnBrk="0" hangingPunct="1">
              <a:lnSpc>
                <a:spcPct val="110000"/>
              </a:lnSpc>
              <a:spcBef>
                <a:spcPts val="0"/>
              </a:spcBef>
              <a:spcAft>
                <a:spcPts val="0"/>
              </a:spcAft>
              <a:buClr>
                <a:srgbClr val="BD582C"/>
              </a:buClr>
              <a:buSzTx/>
              <a:buFontTx/>
              <a:buNone/>
              <a:tabLst/>
              <a:defRPr/>
            </a:pPr>
            <a:r>
              <a:rPr kumimoji="0" lang="en-US" sz="16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Key areas of focus within the questionnaire included:</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Overall approach to health and wellness, including health and wellness goals, solutions, attitudes, and behaviors</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Attitudes and behaviors related to functional nutrition overall</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Category deep dives on dietary supplements, functional foods, and functional beverages focused on sub-category usage, goals for use, drivers of purchase, barriers to usage, information sources, and purchase channels</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endParaRPr>
          </a:p>
          <a:p>
            <a:pPr marL="0" marR="0" lvl="0" indent="0" algn="l" defTabSz="914400" rtl="0" eaLnBrk="1" fontAlgn="auto" latinLnBrk="0" hangingPunct="1">
              <a:lnSpc>
                <a:spcPct val="110000"/>
              </a:lnSpc>
              <a:spcBef>
                <a:spcPts val="0"/>
              </a:spcBef>
              <a:spcAft>
                <a:spcPts val="0"/>
              </a:spcAft>
              <a:buClr>
                <a:srgbClr val="BD582C"/>
              </a:buClr>
              <a:buSzTx/>
              <a:buFontTx/>
              <a:buNone/>
              <a:tabLst/>
              <a:defRPr/>
            </a:pPr>
            <a:r>
              <a:rPr kumimoji="0" lang="en-US" sz="16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Cluster analysis grounded in health and wellness and functional nutrition attitudes was used to segment the sample. 3, 4, 5, and 6 segment solutions were created for review and discussion, and the 6-segment solution was chosen as the most useful for brand-building.</a:t>
            </a:r>
          </a:p>
          <a:p>
            <a:pPr marL="0" marR="0" lvl="0" indent="0" algn="l" defTabSz="914400" rtl="0" eaLnBrk="1" fontAlgn="auto" latinLnBrk="0" hangingPunct="1">
              <a:lnSpc>
                <a:spcPct val="110000"/>
              </a:lnSpc>
              <a:spcBef>
                <a:spcPts val="0"/>
              </a:spcBef>
              <a:spcAft>
                <a:spcPts val="0"/>
              </a:spcAft>
              <a:buClr>
                <a:srgbClr val="BD582C"/>
              </a:buClr>
              <a:buSzTx/>
              <a:buFontTx/>
              <a:buNone/>
              <a:tabLst/>
              <a:defRPr/>
            </a:pPr>
            <a:endParaRPr kumimoji="0" lang="en-US" sz="1400" b="0" i="0" u="none" strike="noStrike" kern="0" cap="none" spc="0" normalizeH="0" baseline="0" noProof="0" dirty="0">
              <a:ln>
                <a:noFill/>
              </a:ln>
              <a:solidFill>
                <a:srgbClr val="000000">
                  <a:lumMod val="65000"/>
                  <a:lumOff val="35000"/>
                </a:srgbClr>
              </a:solidFill>
              <a:effectLst/>
              <a:uLnTx/>
              <a:uFillTx/>
              <a:latin typeface="Calibri Light" panose="020F0302020204030204"/>
              <a:ea typeface="+mn-ea"/>
              <a:cs typeface="Arial"/>
              <a:sym typeface="Arial"/>
            </a:endParaRPr>
          </a:p>
        </p:txBody>
      </p:sp>
    </p:spTree>
    <p:extLst>
      <p:ext uri="{BB962C8B-B14F-4D97-AF65-F5344CB8AC3E}">
        <p14:creationId xmlns:p14="http://schemas.microsoft.com/office/powerpoint/2010/main" val="3667363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3B89-6F9D-46E9-680D-D5471EC837C5}"/>
            </a:ext>
          </a:extLst>
        </p:cNvPr>
        <p:cNvGrpSpPr/>
        <p:nvPr/>
      </p:nvGrpSpPr>
      <p:grpSpPr>
        <a:xfrm>
          <a:off x="0" y="0"/>
          <a:ext cx="0" cy="0"/>
          <a:chOff x="0" y="0"/>
          <a:chExt cx="0" cy="0"/>
        </a:xfrm>
      </p:grpSpPr>
      <p:sp>
        <p:nvSpPr>
          <p:cNvPr id="7" name="Google Shape;1044;g2105d9229d2_2_6">
            <a:extLst>
              <a:ext uri="{FF2B5EF4-FFF2-40B4-BE49-F238E27FC236}">
                <a16:creationId xmlns:a16="http://schemas.microsoft.com/office/drawing/2014/main" id="{3ED268EC-4AAE-99C3-BDA0-2097A4321511}"/>
              </a:ext>
            </a:extLst>
          </p:cNvPr>
          <p:cNvSpPr txBox="1"/>
          <p:nvPr/>
        </p:nvSpPr>
        <p:spPr>
          <a:xfrm>
            <a:off x="709657" y="1356931"/>
            <a:ext cx="10772686" cy="4722205"/>
          </a:xfrm>
          <a:prstGeom prst="rect">
            <a:avLst/>
          </a:prstGeom>
          <a:noFill/>
          <a:ln>
            <a:noFill/>
          </a:ln>
        </p:spPr>
        <p:txBody>
          <a:bodyPr spcFirstLastPara="1" wrap="square" lIns="121900" tIns="60933" rIns="121900" bIns="60933" anchor="t" anchorCtr="0">
            <a:noAutofit/>
          </a:bodyPr>
          <a:lstStyle/>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Review the following:</a:t>
            </a:r>
          </a:p>
          <a:p>
            <a:pPr marL="742950" lvl="1" indent="-285750" defTabSz="914400">
              <a:lnSpc>
                <a:spcPct val="110000"/>
              </a:lnSpc>
              <a:buClr>
                <a:srgbClr val="BD582C"/>
              </a:buClr>
              <a:buFont typeface="Arial" panose="020B0604020202020204" pitchFamily="34" charset="0"/>
              <a:buChar char="•"/>
              <a:defRPr/>
            </a:pPr>
            <a:r>
              <a:rPr kumimoji="0" lang="en-US"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Health and </a:t>
            </a:r>
            <a:r>
              <a:rPr lang="en-US" dirty="0">
                <a:solidFill>
                  <a:srgbClr val="000000">
                    <a:lumMod val="65000"/>
                    <a:lumOff val="35000"/>
                  </a:srgbClr>
                </a:solidFill>
                <a:latin typeface="Calibri Light" panose="020F0302020204030204"/>
              </a:rPr>
              <a:t>wellness attitudes and behaviors among Functional Nutrition Users</a:t>
            </a:r>
          </a:p>
          <a:p>
            <a:pPr marL="742950" lvl="1" indent="-285750" defTabSz="914400">
              <a:lnSpc>
                <a:spcPct val="110000"/>
              </a:lnSpc>
              <a:buClr>
                <a:srgbClr val="BD582C"/>
              </a:buClr>
              <a:buFont typeface="Arial" panose="020B0604020202020204" pitchFamily="34" charset="0"/>
              <a:buChar char="•"/>
              <a:defRPr/>
            </a:pPr>
            <a:r>
              <a:rPr lang="en-US" dirty="0">
                <a:solidFill>
                  <a:srgbClr val="000000">
                    <a:lumMod val="65000"/>
                    <a:lumOff val="35000"/>
                  </a:srgbClr>
                </a:solidFill>
                <a:latin typeface="Calibri Light" panose="020F0302020204030204"/>
              </a:rPr>
              <a:t>Dietary Supplement, Functional Food, and Functional Beverage category usage and attitudes</a:t>
            </a:r>
          </a:p>
          <a:p>
            <a:pPr marL="742950" lvl="1" indent="-285750" defTabSz="914400">
              <a:lnSpc>
                <a:spcPct val="110000"/>
              </a:lnSpc>
              <a:buClr>
                <a:srgbClr val="BD582C"/>
              </a:buClr>
              <a:buFont typeface="Arial" panose="020B0604020202020204" pitchFamily="34" charset="0"/>
              <a:buChar char="•"/>
              <a:defRPr/>
            </a:pPr>
            <a:r>
              <a:rPr kumimoji="0" lang="en-US"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Additional profiling of the 6 Functional Nutrition User consumer segment</a:t>
            </a: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200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Discuss implications for the business </a:t>
            </a:r>
          </a:p>
          <a:p>
            <a:pPr marR="0" lvl="0" algn="l" defTabSz="914400" rtl="0" eaLnBrk="1" fontAlgn="auto" latinLnBrk="0" hangingPunct="1">
              <a:lnSpc>
                <a:spcPct val="110000"/>
              </a:lnSpc>
              <a:spcBef>
                <a:spcPts val="0"/>
              </a:spcBef>
              <a:spcAft>
                <a:spcPts val="0"/>
              </a:spcAft>
              <a:buClr>
                <a:srgbClr val="BD582C"/>
              </a:buClr>
              <a:buSzTx/>
              <a:tabLst/>
              <a:defRPr/>
            </a:pPr>
            <a:endParaRPr kumimoji="0" lang="en-US" sz="20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rPr>
              <a:t>Align on next steps for next week’s work session</a:t>
            </a:r>
          </a:p>
          <a:p>
            <a:pPr marL="0" marR="0" lvl="0" indent="0" algn="l" defTabSz="914400" rtl="0" eaLnBrk="1" fontAlgn="auto" latinLnBrk="0" hangingPunct="1">
              <a:lnSpc>
                <a:spcPct val="110000"/>
              </a:lnSpc>
              <a:spcBef>
                <a:spcPts val="0"/>
              </a:spcBef>
              <a:spcAft>
                <a:spcPts val="0"/>
              </a:spcAft>
              <a:buClr>
                <a:srgbClr val="BD582C"/>
              </a:buClr>
              <a:buSzTx/>
              <a:buFontTx/>
              <a:buNone/>
              <a:tabLst/>
              <a:defRPr/>
            </a:pPr>
            <a:endParaRPr kumimoji="0" lang="en-US" sz="14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10000"/>
              </a:lnSpc>
              <a:spcBef>
                <a:spcPts val="0"/>
              </a:spcBef>
              <a:spcAft>
                <a:spcPts val="0"/>
              </a:spcAft>
              <a:buClr>
                <a:srgbClr val="BD582C"/>
              </a:buClr>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lumMod val="65000"/>
                  <a:lumOff val="35000"/>
                </a:srgbClr>
              </a:solidFill>
              <a:effectLst/>
              <a:uLnTx/>
              <a:uFillTx/>
              <a:latin typeface="Calibri Light" panose="020F0302020204030204"/>
              <a:ea typeface="+mn-ea"/>
              <a:cs typeface="+mn-cs"/>
            </a:endParaRPr>
          </a:p>
          <a:p>
            <a:pPr marL="0" marR="0" lvl="0" indent="0" algn="l" defTabSz="914400" rtl="0" eaLnBrk="1" fontAlgn="auto" latinLnBrk="0" hangingPunct="1">
              <a:lnSpc>
                <a:spcPct val="110000"/>
              </a:lnSpc>
              <a:spcBef>
                <a:spcPts val="0"/>
              </a:spcBef>
              <a:spcAft>
                <a:spcPts val="0"/>
              </a:spcAft>
              <a:buClr>
                <a:srgbClr val="BD582C"/>
              </a:buClr>
              <a:buSzTx/>
              <a:buFontTx/>
              <a:buNone/>
              <a:tabLst/>
              <a:defRPr/>
            </a:pPr>
            <a:endParaRPr kumimoji="0" lang="en-US" sz="1200" b="0" i="0" u="none" strike="noStrike" kern="0" cap="none" spc="0" normalizeH="0" baseline="0" noProof="0" dirty="0">
              <a:ln>
                <a:noFill/>
              </a:ln>
              <a:solidFill>
                <a:srgbClr val="000000">
                  <a:lumMod val="65000"/>
                  <a:lumOff val="35000"/>
                </a:srgbClr>
              </a:solidFill>
              <a:effectLst/>
              <a:uLnTx/>
              <a:uFillTx/>
              <a:latin typeface="Calibri Light" panose="020F0302020204030204"/>
              <a:ea typeface="+mn-ea"/>
              <a:cs typeface="Arial"/>
              <a:sym typeface="Arial"/>
            </a:endParaRPr>
          </a:p>
        </p:txBody>
      </p:sp>
      <p:sp>
        <p:nvSpPr>
          <p:cNvPr id="3" name="Footer Placeholder 2">
            <a:extLst>
              <a:ext uri="{FF2B5EF4-FFF2-40B4-BE49-F238E27FC236}">
                <a16:creationId xmlns:a16="http://schemas.microsoft.com/office/drawing/2014/main" id="{1C7B1BE2-F3D8-29AC-E131-D80762B7982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4" name="Slide Number Placeholder 3">
            <a:extLst>
              <a:ext uri="{FF2B5EF4-FFF2-40B4-BE49-F238E27FC236}">
                <a16:creationId xmlns:a16="http://schemas.microsoft.com/office/drawing/2014/main" id="{290C13A0-D7DB-62F9-D48B-7C9BBF1BC1A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 name="Title 4">
            <a:extLst>
              <a:ext uri="{FF2B5EF4-FFF2-40B4-BE49-F238E27FC236}">
                <a16:creationId xmlns:a16="http://schemas.microsoft.com/office/drawing/2014/main" id="{79CDA72D-6676-79F8-0266-BC5DE2B615EC}"/>
              </a:ext>
            </a:extLst>
          </p:cNvPr>
          <p:cNvSpPr txBox="1">
            <a:spLocks/>
          </p:cNvSpPr>
          <p:nvPr/>
        </p:nvSpPr>
        <p:spPr>
          <a:xfrm>
            <a:off x="539161" y="686397"/>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Today’s Objectives</a:t>
            </a:r>
          </a:p>
        </p:txBody>
      </p:sp>
      <p:sp>
        <p:nvSpPr>
          <p:cNvPr id="8" name="Date Placeholder 4">
            <a:extLst>
              <a:ext uri="{FF2B5EF4-FFF2-40B4-BE49-F238E27FC236}">
                <a16:creationId xmlns:a16="http://schemas.microsoft.com/office/drawing/2014/main" id="{025D4660-627C-E7AC-FC37-EFEC733903D6}"/>
              </a:ext>
            </a:extLst>
          </p:cNvPr>
          <p:cNvSpPr>
            <a:spLocks noGrp="1"/>
          </p:cNvSpPr>
          <p:nvPr>
            <p:ph type="dt" sz="half" idx="10"/>
          </p:nvPr>
        </p:nvSpPr>
        <p:spPr>
          <a:xfrm>
            <a:off x="1097280" y="6459785"/>
            <a:ext cx="2472271" cy="365125"/>
          </a:xfrm>
        </p:spPr>
        <p:txBody>
          <a:bodyPr/>
          <a:lstStyle/>
          <a:p>
            <a:r>
              <a:rPr lang="en-US" dirty="0"/>
              <a:t>MARCH 2026</a:t>
            </a:r>
          </a:p>
        </p:txBody>
      </p:sp>
    </p:spTree>
    <p:extLst>
      <p:ext uri="{BB962C8B-B14F-4D97-AF65-F5344CB8AC3E}">
        <p14:creationId xmlns:p14="http://schemas.microsoft.com/office/powerpoint/2010/main" val="3573372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7A3E531D-17F1-7EFF-6C3A-D8BE8E0D4A17}"/>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AECE551A-91B4-4C6E-7535-C3F4E7BE2703}"/>
              </a:ext>
            </a:extLst>
          </p:cNvPr>
          <p:cNvSpPr txBox="1">
            <a:spLocks/>
          </p:cNvSpPr>
          <p:nvPr/>
        </p:nvSpPr>
        <p:spPr>
          <a:xfrm>
            <a:off x="539161" y="704974"/>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Initial Insights/Implications: Health and Wellness</a:t>
            </a:r>
          </a:p>
        </p:txBody>
      </p:sp>
      <p:sp>
        <p:nvSpPr>
          <p:cNvPr id="5" name="Footer Placeholder 2">
            <a:extLst>
              <a:ext uri="{FF2B5EF4-FFF2-40B4-BE49-F238E27FC236}">
                <a16:creationId xmlns:a16="http://schemas.microsoft.com/office/drawing/2014/main" id="{73ED399B-0EEE-1060-127F-1725865C5637}"/>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9EC4AECE-0BF7-BA84-8C3E-199A1049C7BA}"/>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BD38B67F-194B-CD07-CFED-0AC542CF2585}"/>
              </a:ext>
            </a:extLst>
          </p:cNvPr>
          <p:cNvGraphicFramePr>
            <a:graphicFrameLocks noGrp="1"/>
          </p:cNvGraphicFramePr>
          <p:nvPr>
            <p:extLst>
              <p:ext uri="{D42A27DB-BD31-4B8C-83A1-F6EECF244321}">
                <p14:modId xmlns:p14="http://schemas.microsoft.com/office/powerpoint/2010/main" val="3961351763"/>
              </p:ext>
            </p:extLst>
          </p:nvPr>
        </p:nvGraphicFramePr>
        <p:xfrm>
          <a:off x="539161" y="1654616"/>
          <a:ext cx="10972800" cy="3388360"/>
        </p:xfrm>
        <a:graphic>
          <a:graphicData uri="http://schemas.openxmlformats.org/drawingml/2006/table">
            <a:tbl>
              <a:tblPr firstRow="1" bandRow="1">
                <a:tableStyleId>{3B4B98B0-60AC-42C2-AFA5-B58CD77FA1E5}</a:tableStyleId>
              </a:tblPr>
              <a:tblGrid>
                <a:gridCol w="5486400">
                  <a:extLst>
                    <a:ext uri="{9D8B030D-6E8A-4147-A177-3AD203B41FA5}">
                      <a16:colId xmlns:a16="http://schemas.microsoft.com/office/drawing/2014/main" val="947346890"/>
                    </a:ext>
                  </a:extLst>
                </a:gridCol>
                <a:gridCol w="5486400">
                  <a:extLst>
                    <a:ext uri="{9D8B030D-6E8A-4147-A177-3AD203B41FA5}">
                      <a16:colId xmlns:a16="http://schemas.microsoft.com/office/drawing/2014/main" val="2809056034"/>
                    </a:ext>
                  </a:extLst>
                </a:gridCol>
              </a:tblGrid>
              <a:tr h="370840">
                <a:tc>
                  <a:txBody>
                    <a:bodyPr/>
                    <a:lstStyle/>
                    <a:p>
                      <a:pPr algn="ctr"/>
                      <a:r>
                        <a:rPr lang="en-US" u="none" dirty="0">
                          <a:solidFill>
                            <a:schemeClr val="accent2"/>
                          </a:solidFill>
                        </a:rPr>
                        <a:t>Insights</a:t>
                      </a:r>
                    </a:p>
                  </a:txBody>
                  <a:tcPr/>
                </a:tc>
                <a:tc>
                  <a:txBody>
                    <a:bodyPr/>
                    <a:lstStyle/>
                    <a:p>
                      <a:pPr algn="ctr"/>
                      <a:r>
                        <a:rPr lang="en-US" u="none" dirty="0">
                          <a:solidFill>
                            <a:schemeClr val="accent2"/>
                          </a:solidFill>
                        </a:rPr>
                        <a:t>Implications</a:t>
                      </a:r>
                    </a:p>
                  </a:txBody>
                  <a:tcPr/>
                </a:tc>
                <a:extLst>
                  <a:ext uri="{0D108BD9-81ED-4DB2-BD59-A6C34878D82A}">
                    <a16:rowId xmlns:a16="http://schemas.microsoft.com/office/drawing/2014/main" val="3160701365"/>
                  </a:ext>
                </a:extLst>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rPr>
                        <a:t>Functional Nutrition Users are pursing 10 health and wellness goals on average, with more than 40% pursuing each of the top 10 goals</a:t>
                      </a:r>
                      <a:endParaRPr lang="en-US" sz="1400" kern="1200" dirty="0">
                        <a:solidFill>
                          <a:schemeClr val="tx1"/>
                        </a:solidFill>
                        <a:latin typeface="+mn-lt"/>
                        <a:ea typeface="+mn-ea"/>
                        <a:cs typeface="+mn-cs"/>
                      </a:endParaRPr>
                    </a:p>
                  </a:txBody>
                  <a:tcPr anchor="ctr"/>
                </a:tc>
                <a:tc>
                  <a:txBody>
                    <a:bodyPr/>
                    <a:lstStyle/>
                    <a:p>
                      <a:r>
                        <a:rPr lang="en-US" sz="1400" dirty="0">
                          <a:solidFill>
                            <a:schemeClr val="tx1"/>
                          </a:solidFill>
                        </a:rPr>
                        <a:t>There are many sizeable opportunities to address; the key next step will be to assess the competitive landscape within need states to determine where Ate Days can provide the most impactful, differentiated solution</a:t>
                      </a:r>
                    </a:p>
                  </a:txBody>
                  <a:tcPr anchor="ctr"/>
                </a:tc>
                <a:extLst>
                  <a:ext uri="{0D108BD9-81ED-4DB2-BD59-A6C34878D82A}">
                    <a16:rowId xmlns:a16="http://schemas.microsoft.com/office/drawing/2014/main" val="1786660381"/>
                  </a:ext>
                </a:extLst>
              </a:tr>
              <a:tr h="914400">
                <a:tc>
                  <a:txBody>
                    <a:bodyPr/>
                    <a:lstStyle/>
                    <a:p>
                      <a:pPr marL="285750" indent="-285750">
                        <a:buFont typeface="Arial" panose="020B0604020202020204" pitchFamily="34" charset="0"/>
                        <a:buChar char="•"/>
                      </a:pPr>
                      <a:r>
                        <a:rPr lang="en-US" sz="1400" dirty="0">
                          <a:solidFill>
                            <a:schemeClr val="tx1"/>
                          </a:solidFill>
                        </a:rPr>
                        <a:t>An overall lack of trust is the biggest challenge to health and wellness for Functional Nutrition Users, followed by conflicting/too much information and sticking to a routine</a:t>
                      </a:r>
                    </a:p>
                    <a:p>
                      <a:pPr marL="285750" indent="-285750">
                        <a:buFont typeface="Arial" panose="020B0604020202020204" pitchFamily="34" charset="0"/>
                        <a:buChar char="•"/>
                      </a:pPr>
                      <a:r>
                        <a:rPr lang="en-US" sz="1400" dirty="0">
                          <a:solidFill>
                            <a:schemeClr val="tx1"/>
                          </a:solidFill>
                        </a:rPr>
                        <a:t>The Supplements Category is seen as overly complex by nearly half of category users</a:t>
                      </a:r>
                    </a:p>
                  </a:txBody>
                  <a:tcPr anchor="ctr"/>
                </a:tc>
                <a:tc>
                  <a:txBody>
                    <a:bodyPr/>
                    <a:lstStyle/>
                    <a:p>
                      <a:r>
                        <a:rPr lang="en-US" sz="1400" dirty="0">
                          <a:solidFill>
                            <a:schemeClr val="tx1"/>
                          </a:solidFill>
                        </a:rPr>
                        <a:t>There is opportunity to help simplify health and wellness – and the category – for consumers, easing decision-making and helping them stick to a routine that works </a:t>
                      </a:r>
                    </a:p>
                  </a:txBody>
                  <a:tcPr anchor="ctr"/>
                </a:tc>
                <a:extLst>
                  <a:ext uri="{0D108BD9-81ED-4DB2-BD59-A6C34878D82A}">
                    <a16:rowId xmlns:a16="http://schemas.microsoft.com/office/drawing/2014/main" val="1504775355"/>
                  </a:ext>
                </a:extLst>
              </a:tr>
              <a:tr h="914400">
                <a:tc>
                  <a:txBody>
                    <a:bodyPr/>
                    <a:lstStyle/>
                    <a:p>
                      <a:r>
                        <a:rPr lang="en-US" sz="1400" dirty="0">
                          <a:solidFill>
                            <a:schemeClr val="tx1"/>
                          </a:solidFill>
                        </a:rPr>
                        <a:t>Functional Nutrition Users are most likely to seek information from health and wellness professionals, health and wellness publications, friends and family, and online reviews</a:t>
                      </a:r>
                    </a:p>
                  </a:txBody>
                  <a:tcPr anchor="ctr"/>
                </a:tc>
                <a:tc>
                  <a:txBody>
                    <a:bodyPr/>
                    <a:lstStyle/>
                    <a:p>
                      <a:pPr marL="285750" indent="-285750">
                        <a:buFont typeface="Arial" panose="020B0604020202020204" pitchFamily="34" charset="0"/>
                        <a:buChar char="•"/>
                      </a:pPr>
                      <a:r>
                        <a:rPr lang="en-US" sz="1400" dirty="0">
                          <a:solidFill>
                            <a:schemeClr val="tx1"/>
                          </a:solidFill>
                        </a:rPr>
                        <a:t>Building trust through reputable data and data sources is imperative</a:t>
                      </a:r>
                    </a:p>
                    <a:p>
                      <a:pPr marL="285750" indent="-285750">
                        <a:buFont typeface="Arial" panose="020B0604020202020204" pitchFamily="34" charset="0"/>
                        <a:buChar char="•"/>
                      </a:pPr>
                      <a:r>
                        <a:rPr lang="en-US" sz="1400" dirty="0">
                          <a:solidFill>
                            <a:schemeClr val="tx1"/>
                          </a:solidFill>
                        </a:rPr>
                        <a:t>There is more to learn on the role that influencers play in behavior and product adoption (especially differences by segment), especially given the need to build trust and education</a:t>
                      </a:r>
                    </a:p>
                  </a:txBody>
                  <a:tcPr anchor="ctr"/>
                </a:tc>
                <a:extLst>
                  <a:ext uri="{0D108BD9-81ED-4DB2-BD59-A6C34878D82A}">
                    <a16:rowId xmlns:a16="http://schemas.microsoft.com/office/drawing/2014/main" val="3154502762"/>
                  </a:ext>
                </a:extLst>
              </a:tr>
            </a:tbl>
          </a:graphicData>
        </a:graphic>
      </p:graphicFrame>
      <p:sp>
        <p:nvSpPr>
          <p:cNvPr id="6" name="TextBox 5">
            <a:extLst>
              <a:ext uri="{FF2B5EF4-FFF2-40B4-BE49-F238E27FC236}">
                <a16:creationId xmlns:a16="http://schemas.microsoft.com/office/drawing/2014/main" id="{6C9144C4-E677-25D2-5897-AF6E81D5926C}"/>
              </a:ext>
            </a:extLst>
          </p:cNvPr>
          <p:cNvSpPr txBox="1"/>
          <p:nvPr/>
        </p:nvSpPr>
        <p:spPr>
          <a:xfrm>
            <a:off x="10835811" y="106378"/>
            <a:ext cx="1356189" cy="646331"/>
          </a:xfrm>
          <a:prstGeom prst="rect">
            <a:avLst/>
          </a:prstGeom>
          <a:solidFill>
            <a:srgbClr val="FFFF00"/>
          </a:solidFill>
        </p:spPr>
        <p:txBody>
          <a:bodyPr wrap="square" rtlCol="0">
            <a:spAutoFit/>
          </a:bodyPr>
          <a:lstStyle/>
          <a:p>
            <a:r>
              <a:rPr lang="en-US" dirty="0"/>
              <a:t>Work in Progress</a:t>
            </a:r>
          </a:p>
        </p:txBody>
      </p:sp>
    </p:spTree>
    <p:extLst>
      <p:ext uri="{BB962C8B-B14F-4D97-AF65-F5344CB8AC3E}">
        <p14:creationId xmlns:p14="http://schemas.microsoft.com/office/powerpoint/2010/main" val="2577653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A84276ED-621D-A825-0A66-3374A3D53EB6}"/>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09DC2516-7884-A5FE-D87D-E61708D7563F}"/>
              </a:ext>
            </a:extLst>
          </p:cNvPr>
          <p:cNvSpPr txBox="1">
            <a:spLocks/>
          </p:cNvSpPr>
          <p:nvPr/>
        </p:nvSpPr>
        <p:spPr>
          <a:xfrm>
            <a:off x="539161" y="704974"/>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32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Initial Insights/Implications: Functional Nutrition Categories</a:t>
            </a:r>
          </a:p>
        </p:txBody>
      </p:sp>
      <p:sp>
        <p:nvSpPr>
          <p:cNvPr id="5" name="Footer Placeholder 2">
            <a:extLst>
              <a:ext uri="{FF2B5EF4-FFF2-40B4-BE49-F238E27FC236}">
                <a16:creationId xmlns:a16="http://schemas.microsoft.com/office/drawing/2014/main" id="{A5AA5C60-7DA4-510E-88A8-ED71E174681E}"/>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6B8E4636-8E11-821C-C9EC-51C259783E4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4DBACBE8-F904-C35D-8074-DB11A182F879}"/>
              </a:ext>
            </a:extLst>
          </p:cNvPr>
          <p:cNvGraphicFramePr>
            <a:graphicFrameLocks noGrp="1"/>
          </p:cNvGraphicFramePr>
          <p:nvPr>
            <p:extLst>
              <p:ext uri="{D42A27DB-BD31-4B8C-83A1-F6EECF244321}">
                <p14:modId xmlns:p14="http://schemas.microsoft.com/office/powerpoint/2010/main" val="4242984912"/>
              </p:ext>
            </p:extLst>
          </p:nvPr>
        </p:nvGraphicFramePr>
        <p:xfrm>
          <a:off x="609600" y="1479955"/>
          <a:ext cx="10972800" cy="3967480"/>
        </p:xfrm>
        <a:graphic>
          <a:graphicData uri="http://schemas.openxmlformats.org/drawingml/2006/table">
            <a:tbl>
              <a:tblPr firstRow="1" bandRow="1">
                <a:tableStyleId>{3B4B98B0-60AC-42C2-AFA5-B58CD77FA1E5}</a:tableStyleId>
              </a:tblPr>
              <a:tblGrid>
                <a:gridCol w="5486400">
                  <a:extLst>
                    <a:ext uri="{9D8B030D-6E8A-4147-A177-3AD203B41FA5}">
                      <a16:colId xmlns:a16="http://schemas.microsoft.com/office/drawing/2014/main" val="947346890"/>
                    </a:ext>
                  </a:extLst>
                </a:gridCol>
                <a:gridCol w="5486400">
                  <a:extLst>
                    <a:ext uri="{9D8B030D-6E8A-4147-A177-3AD203B41FA5}">
                      <a16:colId xmlns:a16="http://schemas.microsoft.com/office/drawing/2014/main" val="2809056034"/>
                    </a:ext>
                  </a:extLst>
                </a:gridCol>
              </a:tblGrid>
              <a:tr h="370840">
                <a:tc>
                  <a:txBody>
                    <a:bodyPr/>
                    <a:lstStyle/>
                    <a:p>
                      <a:pPr algn="ctr"/>
                      <a:r>
                        <a:rPr lang="en-US" u="none" dirty="0">
                          <a:solidFill>
                            <a:schemeClr val="accent2"/>
                          </a:solidFill>
                        </a:rPr>
                        <a:t>Insights</a:t>
                      </a:r>
                    </a:p>
                  </a:txBody>
                  <a:tcPr/>
                </a:tc>
                <a:tc>
                  <a:txBody>
                    <a:bodyPr/>
                    <a:lstStyle/>
                    <a:p>
                      <a:pPr algn="ctr"/>
                      <a:r>
                        <a:rPr lang="en-US" u="none" dirty="0">
                          <a:solidFill>
                            <a:schemeClr val="accent2"/>
                          </a:solidFill>
                        </a:rPr>
                        <a:t>Implications</a:t>
                      </a:r>
                    </a:p>
                  </a:txBody>
                  <a:tcPr/>
                </a:tc>
                <a:extLst>
                  <a:ext uri="{0D108BD9-81ED-4DB2-BD59-A6C34878D82A}">
                    <a16:rowId xmlns:a16="http://schemas.microsoft.com/office/drawing/2014/main" val="3160701365"/>
                  </a:ext>
                </a:extLst>
              </a:tr>
              <a:tr h="91440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rPr>
                        <a:t>As expected, there is a lot of overlap across the three categories in terms of participation, needs met, drivers, and barriers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chemeClr val="tx1"/>
                          </a:solidFill>
                        </a:rPr>
                        <a:t>Supplements have a slight advantage when it comes to addressing sleep needs; Functional Foods and Beverages have a slight edge when it come to some other areas of interest to Ate Days (e.g., focus/mental energy, gut health)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chemeClr val="tx1"/>
                          </a:solidFill>
                        </a:rPr>
                        <a:t>Supplements are more likely to be seen as part of the “daily routine” and are used more frequently, but Functional Nutrition Users spend more on Functional Foods and Beverages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chemeClr val="tx1"/>
                          </a:solidFill>
                        </a:rPr>
                        <a:t>As expected, the overall consumption experience is more important for Functional Foods and Beverages vs. Supplements</a:t>
                      </a:r>
                    </a:p>
                  </a:txBody>
                  <a:tcPr anchor="ctr"/>
                </a:tc>
                <a:tc>
                  <a:txBody>
                    <a:bodyPr/>
                    <a:lstStyle/>
                    <a:p>
                      <a:pPr marL="285750" indent="-285750">
                        <a:buFont typeface="Arial" panose="020B0604020202020204" pitchFamily="34" charset="0"/>
                        <a:buChar char="•"/>
                      </a:pPr>
                      <a:r>
                        <a:rPr lang="en-US" sz="1400" dirty="0">
                          <a:solidFill>
                            <a:schemeClr val="tx1"/>
                          </a:solidFill>
                        </a:rPr>
                        <a:t>“Crashing” the categories may be the best way to broaden appeal from a consumer perspective (the frame of reference will impact how consumers align the product with their needs and expectations)</a:t>
                      </a:r>
                    </a:p>
                    <a:p>
                      <a:pPr marL="285750" indent="-285750">
                        <a:buFont typeface="Arial" panose="020B0604020202020204" pitchFamily="34" charset="0"/>
                        <a:buChar char="•"/>
                      </a:pPr>
                      <a:r>
                        <a:rPr lang="en-US" sz="1400" dirty="0">
                          <a:solidFill>
                            <a:schemeClr val="tx1"/>
                          </a:solidFill>
                        </a:rPr>
                        <a:t>There is a need to learn more about the role of the consumption experience within different need states; when are consumers looking for enjoyment vs. simply a functional solution?</a:t>
                      </a:r>
                    </a:p>
                  </a:txBody>
                  <a:tcPr anchor="ctr"/>
                </a:tc>
                <a:extLst>
                  <a:ext uri="{0D108BD9-81ED-4DB2-BD59-A6C34878D82A}">
                    <a16:rowId xmlns:a16="http://schemas.microsoft.com/office/drawing/2014/main" val="1786660381"/>
                  </a:ext>
                </a:extLst>
              </a:tr>
              <a:tr h="914400">
                <a:tc>
                  <a:txBody>
                    <a:bodyPr/>
                    <a:lstStyle/>
                    <a:p>
                      <a:pPr marL="285750" indent="-285750">
                        <a:buFont typeface="Arial" panose="020B0604020202020204" pitchFamily="34" charset="0"/>
                        <a:buChar char="•"/>
                      </a:pPr>
                      <a:r>
                        <a:rPr lang="en-US" sz="1400" dirty="0">
                          <a:solidFill>
                            <a:schemeClr val="tx1"/>
                          </a:solidFill>
                        </a:rPr>
                        <a:t>Delivery on claimed benefits with high quality ingredients is very important drivers for all three categories, while science-backed claims are particularly important for Supplements </a:t>
                      </a:r>
                    </a:p>
                    <a:p>
                      <a:pPr marL="285750" indent="-285750">
                        <a:buFont typeface="Arial" panose="020B0604020202020204" pitchFamily="34" charset="0"/>
                        <a:buChar char="•"/>
                      </a:pPr>
                      <a:r>
                        <a:rPr lang="en-US" sz="1400" dirty="0">
                          <a:solidFill>
                            <a:schemeClr val="tx1"/>
                          </a:solidFill>
                        </a:rPr>
                        <a:t>Providing an impact you can “see or feel” is important to 57% of Supplements Users; fast-acting is important to 33%</a:t>
                      </a:r>
                    </a:p>
                  </a:txBody>
                  <a:tcPr anchor="ctr"/>
                </a:tc>
                <a:tc>
                  <a:txBody>
                    <a:bodyPr/>
                    <a:lstStyle/>
                    <a:p>
                      <a:r>
                        <a:rPr lang="en-US" sz="1400" dirty="0">
                          <a:solidFill>
                            <a:schemeClr val="tx1"/>
                          </a:solidFill>
                        </a:rPr>
                        <a:t>Are clinical trials still in play? How will you provide potential consumers with confidence in the efficacy of the products?</a:t>
                      </a:r>
                    </a:p>
                  </a:txBody>
                  <a:tcPr anchor="ctr"/>
                </a:tc>
                <a:extLst>
                  <a:ext uri="{0D108BD9-81ED-4DB2-BD59-A6C34878D82A}">
                    <a16:rowId xmlns:a16="http://schemas.microsoft.com/office/drawing/2014/main" val="980590912"/>
                  </a:ext>
                </a:extLst>
              </a:tr>
            </a:tbl>
          </a:graphicData>
        </a:graphic>
      </p:graphicFrame>
      <p:sp>
        <p:nvSpPr>
          <p:cNvPr id="3" name="TextBox 2">
            <a:extLst>
              <a:ext uri="{FF2B5EF4-FFF2-40B4-BE49-F238E27FC236}">
                <a16:creationId xmlns:a16="http://schemas.microsoft.com/office/drawing/2014/main" id="{8517EC2C-3AC4-18BF-5B1F-4E6625F73CD9}"/>
              </a:ext>
            </a:extLst>
          </p:cNvPr>
          <p:cNvSpPr txBox="1"/>
          <p:nvPr/>
        </p:nvSpPr>
        <p:spPr>
          <a:xfrm>
            <a:off x="10835811" y="106378"/>
            <a:ext cx="1356189" cy="646331"/>
          </a:xfrm>
          <a:prstGeom prst="rect">
            <a:avLst/>
          </a:prstGeom>
          <a:solidFill>
            <a:srgbClr val="FFFF00"/>
          </a:solidFill>
        </p:spPr>
        <p:txBody>
          <a:bodyPr wrap="square" rtlCol="0">
            <a:spAutoFit/>
          </a:bodyPr>
          <a:lstStyle/>
          <a:p>
            <a:r>
              <a:rPr lang="en-US" dirty="0"/>
              <a:t>Work in Progress</a:t>
            </a:r>
          </a:p>
        </p:txBody>
      </p:sp>
    </p:spTree>
    <p:extLst>
      <p:ext uri="{BB962C8B-B14F-4D97-AF65-F5344CB8AC3E}">
        <p14:creationId xmlns:p14="http://schemas.microsoft.com/office/powerpoint/2010/main" val="912192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DC4AE-AFDB-F326-79F8-AF2E0FF880FA}"/>
            </a:ext>
          </a:extLst>
        </p:cNvPr>
        <p:cNvGrpSpPr/>
        <p:nvPr/>
      </p:nvGrpSpPr>
      <p:grpSpPr>
        <a:xfrm>
          <a:off x="0" y="0"/>
          <a:ext cx="0" cy="0"/>
          <a:chOff x="0" y="0"/>
          <a:chExt cx="0" cy="0"/>
        </a:xfrm>
      </p:grpSpPr>
      <p:pic>
        <p:nvPicPr>
          <p:cNvPr id="8" name="Picture 7" descr="A close-up of pills&#10;&#10;AI-generated content may be incorrect.">
            <a:extLst>
              <a:ext uri="{FF2B5EF4-FFF2-40B4-BE49-F238E27FC236}">
                <a16:creationId xmlns:a16="http://schemas.microsoft.com/office/drawing/2014/main" id="{0E77588C-C010-5305-783F-40A34267C17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0"/>
            <a:ext cx="13001624" cy="6858000"/>
          </a:xfrm>
          <a:prstGeom prst="rect">
            <a:avLst/>
          </a:prstGeom>
          <a:solidFill>
            <a:srgbClr val="FFFF00"/>
          </a:solidFill>
        </p:spPr>
      </p:pic>
      <p:sp>
        <p:nvSpPr>
          <p:cNvPr id="2" name="Title 1">
            <a:extLst>
              <a:ext uri="{FF2B5EF4-FFF2-40B4-BE49-F238E27FC236}">
                <a16:creationId xmlns:a16="http://schemas.microsoft.com/office/drawing/2014/main" id="{C0749770-4982-D6A6-2575-D79E13FB91D8}"/>
              </a:ext>
            </a:extLst>
          </p:cNvPr>
          <p:cNvSpPr>
            <a:spLocks noGrp="1"/>
          </p:cNvSpPr>
          <p:nvPr>
            <p:ph type="title"/>
          </p:nvPr>
        </p:nvSpPr>
        <p:spPr>
          <a:xfrm>
            <a:off x="265073" y="5691370"/>
            <a:ext cx="10113264" cy="822960"/>
          </a:xfrm>
        </p:spPr>
        <p:txBody>
          <a:bodyPr/>
          <a:lstStyle/>
          <a:p>
            <a:r>
              <a:rPr lang="en-US" sz="6000" b="1" dirty="0">
                <a:solidFill>
                  <a:schemeClr val="accent2">
                    <a:lumMod val="75000"/>
                  </a:schemeClr>
                </a:solidFill>
              </a:rPr>
              <a:t>Approach to Health and Wellness</a:t>
            </a:r>
          </a:p>
        </p:txBody>
      </p:sp>
    </p:spTree>
    <p:extLst>
      <p:ext uri="{BB962C8B-B14F-4D97-AF65-F5344CB8AC3E}">
        <p14:creationId xmlns:p14="http://schemas.microsoft.com/office/powerpoint/2010/main" val="1178428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0BCF138E-1027-84B2-D334-D22F03ADF979}"/>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237DFF31-97F4-122C-052D-C7BB4F8A5F44}"/>
              </a:ext>
            </a:extLst>
          </p:cNvPr>
          <p:cNvSpPr txBox="1">
            <a:spLocks/>
          </p:cNvSpPr>
          <p:nvPr/>
        </p:nvSpPr>
        <p:spPr>
          <a:xfrm>
            <a:off x="528886" y="407534"/>
            <a:ext cx="10351446" cy="444499"/>
          </a:xfrm>
          <a:prstGeom prst="rect">
            <a:avLst/>
          </a:prstGeom>
          <a:noFill/>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Functional Nutrition Users see health and wellness as very important, with varying degrees of lifestyle integration</a:t>
            </a:r>
          </a:p>
        </p:txBody>
      </p:sp>
      <p:sp>
        <p:nvSpPr>
          <p:cNvPr id="73" name="TextBox 72">
            <a:extLst>
              <a:ext uri="{FF2B5EF4-FFF2-40B4-BE49-F238E27FC236}">
                <a16:creationId xmlns:a16="http://schemas.microsoft.com/office/drawing/2014/main" id="{72AD5FE1-12B8-DB68-9EDE-9B56C9131314}"/>
              </a:ext>
            </a:extLst>
          </p:cNvPr>
          <p:cNvSpPr txBox="1"/>
          <p:nvPr/>
        </p:nvSpPr>
        <p:spPr>
          <a:xfrm>
            <a:off x="0" y="6102071"/>
            <a:ext cx="98077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000000"/>
                </a:solidFill>
                <a:effectLst/>
                <a:uLnTx/>
                <a:uFillTx/>
                <a:latin typeface="Calibri" panose="020F0502020204030204"/>
                <a:ea typeface="+mn-ea"/>
                <a:cs typeface="+mn-cs"/>
              </a:rPr>
              <a:t>H1. Which </a:t>
            </a:r>
            <a:r>
              <a:rPr kumimoji="0" lang="en-US" sz="1050" b="1" i="1" u="none" strike="noStrike" kern="1200" cap="none" spc="0" normalizeH="0" baseline="0" noProof="0" dirty="0">
                <a:ln>
                  <a:noFill/>
                </a:ln>
                <a:solidFill>
                  <a:srgbClr val="000000"/>
                </a:solidFill>
                <a:effectLst/>
                <a:uLnTx/>
                <a:uFillTx/>
                <a:latin typeface="Calibri" panose="020F0502020204030204"/>
                <a:ea typeface="+mn-ea"/>
                <a:cs typeface="+mn-cs"/>
              </a:rPr>
              <a:t>one </a:t>
            </a:r>
            <a:r>
              <a:rPr kumimoji="0" lang="en-US" sz="1050" b="0" i="1" u="none" strike="noStrike" kern="1200" cap="none" spc="0" normalizeH="0" baseline="0" noProof="0" dirty="0">
                <a:ln>
                  <a:noFill/>
                </a:ln>
                <a:solidFill>
                  <a:srgbClr val="000000"/>
                </a:solidFill>
                <a:effectLst/>
                <a:uLnTx/>
                <a:uFillTx/>
                <a:latin typeface="Calibri" panose="020F0502020204030204"/>
                <a:ea typeface="+mn-ea"/>
                <a:cs typeface="+mn-cs"/>
              </a:rPr>
              <a:t>of the following </a:t>
            </a:r>
            <a:r>
              <a:rPr kumimoji="0" lang="en-US" sz="1050" b="1" i="1" u="none" strike="noStrike" kern="1200" cap="none" spc="0" normalizeH="0" baseline="0" noProof="0" dirty="0">
                <a:ln>
                  <a:noFill/>
                </a:ln>
                <a:solidFill>
                  <a:srgbClr val="000000"/>
                </a:solidFill>
                <a:effectLst/>
                <a:uLnTx/>
                <a:uFillTx/>
                <a:latin typeface="Calibri" panose="020F0502020204030204"/>
                <a:ea typeface="+mn-ea"/>
                <a:cs typeface="+mn-cs"/>
              </a:rPr>
              <a:t>best</a:t>
            </a:r>
            <a:r>
              <a:rPr kumimoji="0" lang="en-US" sz="1050" b="0" i="1" u="none" strike="noStrike" kern="1200" cap="none" spc="0" normalizeH="0" baseline="0" noProof="0" dirty="0">
                <a:ln>
                  <a:noFill/>
                </a:ln>
                <a:solidFill>
                  <a:srgbClr val="000000"/>
                </a:solidFill>
                <a:effectLst/>
                <a:uLnTx/>
                <a:uFillTx/>
                <a:latin typeface="Calibri" panose="020F0502020204030204"/>
                <a:ea typeface="+mn-ea"/>
                <a:cs typeface="+mn-cs"/>
              </a:rPr>
              <a:t> describes how you think about health and wellness overall?</a:t>
            </a:r>
            <a:endParaRPr kumimoji="0" lang="en-US" sz="5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7934F231-AE01-C69B-30B6-0DCEBB772661}"/>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2CFC52C6-D25E-EDAA-A8B3-8BC3A9763375}"/>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11" name="Chart 10">
            <a:extLst>
              <a:ext uri="{FF2B5EF4-FFF2-40B4-BE49-F238E27FC236}">
                <a16:creationId xmlns:a16="http://schemas.microsoft.com/office/drawing/2014/main" id="{643319D6-D18B-DD75-FEB5-857E9869B202}"/>
              </a:ext>
            </a:extLst>
          </p:cNvPr>
          <p:cNvGraphicFramePr/>
          <p:nvPr>
            <p:extLst>
              <p:ext uri="{D42A27DB-BD31-4B8C-83A1-F6EECF244321}">
                <p14:modId xmlns:p14="http://schemas.microsoft.com/office/powerpoint/2010/main" val="2539511760"/>
              </p:ext>
            </p:extLst>
          </p:nvPr>
        </p:nvGraphicFramePr>
        <p:xfrm>
          <a:off x="3686185" y="1568006"/>
          <a:ext cx="7894769" cy="4257441"/>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798C2FA7-535F-5217-E626-47B5882A1E2C}"/>
              </a:ext>
            </a:extLst>
          </p:cNvPr>
          <p:cNvSpPr txBox="1"/>
          <p:nvPr/>
        </p:nvSpPr>
        <p:spPr>
          <a:xfrm>
            <a:off x="516341" y="1982742"/>
            <a:ext cx="3169844" cy="3293209"/>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rPr>
              <a:t>Just over a quarter see health and wellness as essential to how they live their lives</a:t>
            </a:r>
          </a:p>
          <a:p>
            <a:pPr marL="742950" lvl="1" indent="-285750">
              <a:buFont typeface="Arial" panose="020B0604020202020204" pitchFamily="34" charset="0"/>
              <a:buChar char="•"/>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Younger consumers are more likely to see health and wellness as “essential”</a:t>
            </a:r>
            <a:b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rPr>
              <a:t>The rest prioritize it “most of the time” or see it as important but take a moderated approach</a:t>
            </a:r>
          </a:p>
        </p:txBody>
      </p:sp>
      <p:sp>
        <p:nvSpPr>
          <p:cNvPr id="8" name="Google Shape;1708;p28">
            <a:extLst>
              <a:ext uri="{FF2B5EF4-FFF2-40B4-BE49-F238E27FC236}">
                <a16:creationId xmlns:a16="http://schemas.microsoft.com/office/drawing/2014/main" id="{4C97D28B-B285-ACBF-DB42-EFBFB194AEB4}"/>
              </a:ext>
            </a:extLst>
          </p:cNvPr>
          <p:cNvSpPr/>
          <p:nvPr/>
        </p:nvSpPr>
        <p:spPr>
          <a:xfrm>
            <a:off x="4107076" y="2552401"/>
            <a:ext cx="924142" cy="366979"/>
          </a:xfrm>
          <a:prstGeom prst="wedgeRoundRectCallout">
            <a:avLst>
              <a:gd name="adj1" fmla="val -8342"/>
              <a:gd name="adj2" fmla="val -44624"/>
              <a:gd name="adj3" fmla="val 16667"/>
            </a:avLst>
          </a:prstGeom>
          <a:solidFill>
            <a:schemeClr val="accent1">
              <a:lumMod val="20000"/>
              <a:lumOff val="80000"/>
            </a:schemeClr>
          </a:solidFill>
          <a:ln>
            <a:noFill/>
          </a:ln>
        </p:spPr>
        <p:txBody>
          <a:bodyPr spcFirstLastPara="1" wrap="square" lIns="27425" tIns="27425" rIns="27425" bIns="27425" anchor="ctr" anchorCtr="0">
            <a:noAutofit/>
          </a:bodyPr>
          <a:lstStyle/>
          <a:p>
            <a:pPr marR="0" lvl="0" algn="ctr" rtl="0">
              <a:spcBef>
                <a:spcPts val="0"/>
              </a:spcBef>
              <a:spcAft>
                <a:spcPts val="0"/>
              </a:spcAft>
              <a:buClr>
                <a:schemeClr val="dk1"/>
              </a:buClr>
              <a:buSzPts val="900"/>
            </a:pPr>
            <a:r>
              <a:rPr lang="en-US" sz="900" b="1" dirty="0">
                <a:solidFill>
                  <a:schemeClr val="dk1"/>
                </a:solidFill>
                <a:latin typeface="Lato"/>
                <a:ea typeface="Lato"/>
                <a:cs typeface="Lato"/>
                <a:sym typeface="Lato"/>
              </a:rPr>
              <a:t>18-34 = 34% </a:t>
            </a:r>
            <a:r>
              <a:rPr lang="en-US" sz="900" b="1" dirty="0">
                <a:solidFill>
                  <a:srgbClr val="33896C"/>
                </a:solidFill>
                <a:latin typeface="Lato"/>
                <a:ea typeface="Lato"/>
                <a:cs typeface="Lato"/>
                <a:sym typeface="Lato"/>
              </a:rPr>
              <a:t>(123)</a:t>
            </a:r>
            <a:endParaRPr sz="900" dirty="0">
              <a:solidFill>
                <a:srgbClr val="33896C"/>
              </a:solidFill>
              <a:latin typeface="Lato"/>
              <a:ea typeface="Lato"/>
              <a:cs typeface="Lato"/>
              <a:sym typeface="Lato"/>
            </a:endParaRPr>
          </a:p>
        </p:txBody>
      </p:sp>
      <p:sp>
        <p:nvSpPr>
          <p:cNvPr id="10" name="Google Shape;1708;p28">
            <a:extLst>
              <a:ext uri="{FF2B5EF4-FFF2-40B4-BE49-F238E27FC236}">
                <a16:creationId xmlns:a16="http://schemas.microsoft.com/office/drawing/2014/main" id="{431E702F-FDB4-D939-7549-1D1FA8DCFD29}"/>
              </a:ext>
            </a:extLst>
          </p:cNvPr>
          <p:cNvSpPr/>
          <p:nvPr/>
        </p:nvSpPr>
        <p:spPr>
          <a:xfrm>
            <a:off x="7195184" y="2478769"/>
            <a:ext cx="924142" cy="366979"/>
          </a:xfrm>
          <a:prstGeom prst="wedgeRoundRectCallout">
            <a:avLst>
              <a:gd name="adj1" fmla="val -8342"/>
              <a:gd name="adj2" fmla="val -44624"/>
              <a:gd name="adj3" fmla="val 16667"/>
            </a:avLst>
          </a:prstGeom>
          <a:solidFill>
            <a:schemeClr val="accent1">
              <a:lumMod val="20000"/>
              <a:lumOff val="80000"/>
            </a:schemeClr>
          </a:solidFill>
          <a:ln>
            <a:noFill/>
          </a:ln>
        </p:spPr>
        <p:txBody>
          <a:bodyPr spcFirstLastPara="1" wrap="square" lIns="27425" tIns="27425" rIns="27425" bIns="27425" anchor="ctr" anchorCtr="0">
            <a:noAutofit/>
          </a:bodyPr>
          <a:lstStyle/>
          <a:p>
            <a:pPr marR="0" lvl="0" algn="ctr" rtl="0">
              <a:spcBef>
                <a:spcPts val="0"/>
              </a:spcBef>
              <a:spcAft>
                <a:spcPts val="0"/>
              </a:spcAft>
              <a:buClr>
                <a:schemeClr val="dk1"/>
              </a:buClr>
              <a:buSzPts val="900"/>
            </a:pPr>
            <a:r>
              <a:rPr lang="en-US" sz="900" b="1" dirty="0">
                <a:solidFill>
                  <a:schemeClr val="dk1"/>
                </a:solidFill>
                <a:latin typeface="Lato"/>
                <a:ea typeface="Lato"/>
                <a:cs typeface="Lato"/>
                <a:sym typeface="Lato"/>
              </a:rPr>
              <a:t>55+ = 38% </a:t>
            </a:r>
            <a:r>
              <a:rPr lang="en-US" sz="900" b="1" dirty="0">
                <a:solidFill>
                  <a:srgbClr val="33896C"/>
                </a:solidFill>
                <a:latin typeface="Lato"/>
                <a:ea typeface="Lato"/>
                <a:cs typeface="Lato"/>
                <a:sym typeface="Lato"/>
              </a:rPr>
              <a:t>(130)</a:t>
            </a:r>
            <a:endParaRPr sz="900" dirty="0">
              <a:solidFill>
                <a:srgbClr val="33896C"/>
              </a:solidFill>
              <a:latin typeface="Lato"/>
              <a:ea typeface="Lato"/>
              <a:cs typeface="Lato"/>
              <a:sym typeface="Lato"/>
            </a:endParaRPr>
          </a:p>
        </p:txBody>
      </p:sp>
      <p:sp>
        <p:nvSpPr>
          <p:cNvPr id="4" name="Google Shape;1708;p28">
            <a:extLst>
              <a:ext uri="{FF2B5EF4-FFF2-40B4-BE49-F238E27FC236}">
                <a16:creationId xmlns:a16="http://schemas.microsoft.com/office/drawing/2014/main" id="{8781A704-2DDC-6D9F-6ACC-4637C56A3EB9}"/>
              </a:ext>
            </a:extLst>
          </p:cNvPr>
          <p:cNvSpPr/>
          <p:nvPr/>
        </p:nvSpPr>
        <p:spPr>
          <a:xfrm>
            <a:off x="8662676" y="3956536"/>
            <a:ext cx="924142" cy="366979"/>
          </a:xfrm>
          <a:prstGeom prst="wedgeRoundRectCallout">
            <a:avLst>
              <a:gd name="adj1" fmla="val -8342"/>
              <a:gd name="adj2" fmla="val -44624"/>
              <a:gd name="adj3" fmla="val 16667"/>
            </a:avLst>
          </a:prstGeom>
          <a:solidFill>
            <a:schemeClr val="accent1">
              <a:lumMod val="20000"/>
              <a:lumOff val="80000"/>
            </a:schemeClr>
          </a:solidFill>
          <a:ln>
            <a:noFill/>
          </a:ln>
        </p:spPr>
        <p:txBody>
          <a:bodyPr spcFirstLastPara="1" wrap="square" lIns="27425" tIns="27425" rIns="27425" bIns="27425" anchor="ctr" anchorCtr="0">
            <a:noAutofit/>
          </a:bodyPr>
          <a:lstStyle/>
          <a:p>
            <a:pPr marR="0" lvl="0" algn="ctr" rtl="0">
              <a:spcBef>
                <a:spcPts val="0"/>
              </a:spcBef>
              <a:spcAft>
                <a:spcPts val="0"/>
              </a:spcAft>
              <a:buClr>
                <a:schemeClr val="dk1"/>
              </a:buClr>
              <a:buSzPts val="900"/>
            </a:pPr>
            <a:r>
              <a:rPr lang="en-US" sz="900" b="1" dirty="0">
                <a:solidFill>
                  <a:schemeClr val="dk1"/>
                </a:solidFill>
                <a:latin typeface="Lato"/>
                <a:ea typeface="Lato"/>
                <a:cs typeface="Lato"/>
                <a:sym typeface="Lato"/>
              </a:rPr>
              <a:t>55+ = 3% </a:t>
            </a:r>
            <a:br>
              <a:rPr lang="en-US" sz="900" b="1" dirty="0">
                <a:solidFill>
                  <a:schemeClr val="dk1"/>
                </a:solidFill>
                <a:latin typeface="Lato"/>
                <a:ea typeface="Lato"/>
                <a:cs typeface="Lato"/>
                <a:sym typeface="Lato"/>
              </a:rPr>
            </a:br>
            <a:r>
              <a:rPr lang="en-US" sz="900" b="1" dirty="0">
                <a:solidFill>
                  <a:srgbClr val="33896C"/>
                </a:solidFill>
                <a:latin typeface="Lato"/>
                <a:ea typeface="Lato"/>
                <a:cs typeface="Lato"/>
                <a:sym typeface="Lato"/>
              </a:rPr>
              <a:t>(132)</a:t>
            </a:r>
            <a:endParaRPr sz="900" dirty="0">
              <a:solidFill>
                <a:srgbClr val="33896C"/>
              </a:solidFill>
              <a:latin typeface="Lato"/>
              <a:ea typeface="Lato"/>
              <a:cs typeface="Lato"/>
              <a:sym typeface="Lato"/>
            </a:endParaRPr>
          </a:p>
        </p:txBody>
      </p:sp>
    </p:spTree>
    <p:extLst>
      <p:ext uri="{BB962C8B-B14F-4D97-AF65-F5344CB8AC3E}">
        <p14:creationId xmlns:p14="http://schemas.microsoft.com/office/powerpoint/2010/main" val="2435911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B434F23E-69E0-0BEB-E853-0F83CD2892A6}"/>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5794A51B-C5E5-572F-69C4-CE3E9FC3C128}"/>
              </a:ext>
            </a:extLst>
          </p:cNvPr>
          <p:cNvSpPr txBox="1">
            <a:spLocks/>
          </p:cNvSpPr>
          <p:nvPr/>
        </p:nvSpPr>
        <p:spPr>
          <a:xfrm>
            <a:off x="528886" y="407534"/>
            <a:ext cx="10351446" cy="444499"/>
          </a:xfrm>
          <a:prstGeom prst="rect">
            <a:avLst/>
          </a:prstGeom>
          <a:noFill/>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Dietary Supplement users are slightly more likely to take an “everything in moderation” approach vs. </a:t>
            </a:r>
            <a:r>
              <a:rPr lang="en-US" dirty="0"/>
              <a:t>Functional Foods and Beverage Users</a:t>
            </a:r>
            <a:endPar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6" name="Footer Placeholder 2">
            <a:extLst>
              <a:ext uri="{FF2B5EF4-FFF2-40B4-BE49-F238E27FC236}">
                <a16:creationId xmlns:a16="http://schemas.microsoft.com/office/drawing/2014/main" id="{4C751A47-B22E-BA37-3257-58EBE89BD81B}"/>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7F8B5419-C144-1FC5-47D7-C4E46900EB91}"/>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11" name="Chart 10">
            <a:extLst>
              <a:ext uri="{FF2B5EF4-FFF2-40B4-BE49-F238E27FC236}">
                <a16:creationId xmlns:a16="http://schemas.microsoft.com/office/drawing/2014/main" id="{E7AFFC3C-6EBE-0256-6C29-F81EB6A075F2}"/>
              </a:ext>
            </a:extLst>
          </p:cNvPr>
          <p:cNvGraphicFramePr/>
          <p:nvPr>
            <p:extLst>
              <p:ext uri="{D42A27DB-BD31-4B8C-83A1-F6EECF244321}">
                <p14:modId xmlns:p14="http://schemas.microsoft.com/office/powerpoint/2010/main" val="280180161"/>
              </p:ext>
            </p:extLst>
          </p:nvPr>
        </p:nvGraphicFramePr>
        <p:xfrm>
          <a:off x="1903651" y="1372797"/>
          <a:ext cx="8652819" cy="452015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36C8FBB2-7CFB-C113-17C8-DF5F0FEA7776}"/>
              </a:ext>
            </a:extLst>
          </p:cNvPr>
          <p:cNvSpPr txBox="1"/>
          <p:nvPr/>
        </p:nvSpPr>
        <p:spPr>
          <a:xfrm>
            <a:off x="0" y="6102071"/>
            <a:ext cx="98077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000000"/>
                </a:solidFill>
                <a:effectLst/>
                <a:uLnTx/>
                <a:uFillTx/>
                <a:latin typeface="Calibri" panose="020F0502020204030204"/>
                <a:ea typeface="+mn-ea"/>
                <a:cs typeface="+mn-cs"/>
              </a:rPr>
              <a:t>H1. Which </a:t>
            </a:r>
            <a:r>
              <a:rPr lang="en-US" sz="1050" b="1" i="1" dirty="0">
                <a:solidFill>
                  <a:srgbClr val="000000"/>
                </a:solidFill>
                <a:latin typeface="Calibri" panose="020F0502020204030204"/>
              </a:rPr>
              <a:t>one </a:t>
            </a:r>
            <a:r>
              <a:rPr lang="en-US" sz="1050" i="1" dirty="0">
                <a:solidFill>
                  <a:srgbClr val="000000"/>
                </a:solidFill>
                <a:latin typeface="Calibri" panose="020F0502020204030204"/>
              </a:rPr>
              <a:t>of the following </a:t>
            </a:r>
            <a:r>
              <a:rPr lang="en-US" sz="1050" b="1" i="1" dirty="0">
                <a:solidFill>
                  <a:srgbClr val="000000"/>
                </a:solidFill>
                <a:latin typeface="Calibri" panose="020F0502020204030204"/>
              </a:rPr>
              <a:t>best</a:t>
            </a:r>
            <a:r>
              <a:rPr lang="en-US" sz="1050" i="1" dirty="0">
                <a:solidFill>
                  <a:srgbClr val="000000"/>
                </a:solidFill>
                <a:latin typeface="Calibri" panose="020F0502020204030204"/>
              </a:rPr>
              <a:t> describes how you think about health and wellness overall?</a:t>
            </a:r>
            <a:endParaRPr kumimoji="0" lang="en-US" sz="5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6339E150-37E0-79EB-ADE4-3EF67AEE35EB}"/>
              </a:ext>
            </a:extLst>
          </p:cNvPr>
          <p:cNvSpPr/>
          <p:nvPr/>
        </p:nvSpPr>
        <p:spPr>
          <a:xfrm>
            <a:off x="5654211" y="2815119"/>
            <a:ext cx="493160" cy="51370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99328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534248BD-B7A0-7213-9C44-0D1EC2E1BF54}"/>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F2CDE9E8-4607-662C-81BA-71A0B67F64DC}"/>
              </a:ext>
            </a:extLst>
          </p:cNvPr>
          <p:cNvSpPr txBox="1">
            <a:spLocks/>
          </p:cNvSpPr>
          <p:nvPr/>
        </p:nvSpPr>
        <p:spPr>
          <a:xfrm>
            <a:off x="528886" y="439686"/>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Not surprisingly, the largest proportion of Functional Nutrition Users are focused on high-level goals, like improving overall health, healthy aging, and improving fitness</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3" name="TextBox 2">
            <a:extLst>
              <a:ext uri="{FF2B5EF4-FFF2-40B4-BE49-F238E27FC236}">
                <a16:creationId xmlns:a16="http://schemas.microsoft.com/office/drawing/2014/main" id="{EA97AB3A-E510-B533-5F7E-B7610067F9F1}"/>
              </a:ext>
            </a:extLst>
          </p:cNvPr>
          <p:cNvSpPr txBox="1"/>
          <p:nvPr/>
        </p:nvSpPr>
        <p:spPr>
          <a:xfrm>
            <a:off x="528886" y="1407256"/>
            <a:ext cx="11050089" cy="338554"/>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The top more targeted goals are reducing stress/anxiety, managing weight, improving physical energy, and improving sleep</a:t>
            </a: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73" name="TextBox 72">
            <a:extLst>
              <a:ext uri="{FF2B5EF4-FFF2-40B4-BE49-F238E27FC236}">
                <a16:creationId xmlns:a16="http://schemas.microsoft.com/office/drawing/2014/main" id="{A6547211-A5F1-7490-DEFC-CE6277C1FAFE}"/>
              </a:ext>
            </a:extLst>
          </p:cNvPr>
          <p:cNvSpPr txBox="1"/>
          <p:nvPr/>
        </p:nvSpPr>
        <p:spPr>
          <a:xfrm>
            <a:off x="0" y="6102071"/>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H2. Which of the following health and wellness goals are you currently pursuing?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699386B9-5440-F91A-F1C0-CB080517B096}"/>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E38EBB38-C876-8732-02E6-B90D4A1EBF87}"/>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2A8C450D-4AAB-65F2-EA05-AD8A32EB128D}"/>
              </a:ext>
            </a:extLst>
          </p:cNvPr>
          <p:cNvGraphicFramePr/>
          <p:nvPr>
            <p:extLst>
              <p:ext uri="{D42A27DB-BD31-4B8C-83A1-F6EECF244321}">
                <p14:modId xmlns:p14="http://schemas.microsoft.com/office/powerpoint/2010/main" val="1305495356"/>
              </p:ext>
            </p:extLst>
          </p:nvPr>
        </p:nvGraphicFramePr>
        <p:xfrm>
          <a:off x="792624" y="1857303"/>
          <a:ext cx="10598026" cy="4189021"/>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Connector 9">
            <a:extLst>
              <a:ext uri="{FF2B5EF4-FFF2-40B4-BE49-F238E27FC236}">
                <a16:creationId xmlns:a16="http://schemas.microsoft.com/office/drawing/2014/main" id="{95413802-1786-1A06-14D2-06282AA37EE0}"/>
              </a:ext>
            </a:extLst>
          </p:cNvPr>
          <p:cNvCxnSpPr/>
          <p:nvPr/>
        </p:nvCxnSpPr>
        <p:spPr>
          <a:xfrm>
            <a:off x="5393933" y="2558267"/>
            <a:ext cx="0" cy="1674687"/>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5F162BA-EA4F-1997-0042-BA9EF1FAB755}"/>
              </a:ext>
            </a:extLst>
          </p:cNvPr>
          <p:cNvSpPr txBox="1"/>
          <p:nvPr/>
        </p:nvSpPr>
        <p:spPr>
          <a:xfrm>
            <a:off x="2938406" y="2424702"/>
            <a:ext cx="1756881" cy="276999"/>
          </a:xfrm>
          <a:prstGeom prst="rect">
            <a:avLst/>
          </a:prstGeom>
          <a:noFill/>
        </p:spPr>
        <p:txBody>
          <a:bodyPr wrap="square" rtlCol="0">
            <a:spAutoFit/>
          </a:bodyPr>
          <a:lstStyle/>
          <a:p>
            <a:pPr algn="ctr"/>
            <a:r>
              <a:rPr lang="en-US" sz="1200" b="1" dirty="0">
                <a:solidFill>
                  <a:schemeClr val="accent2"/>
                </a:solidFill>
              </a:rPr>
              <a:t>Top 10 Goals</a:t>
            </a:r>
          </a:p>
        </p:txBody>
      </p:sp>
      <p:sp>
        <p:nvSpPr>
          <p:cNvPr id="13" name="TextBox 12">
            <a:extLst>
              <a:ext uri="{FF2B5EF4-FFF2-40B4-BE49-F238E27FC236}">
                <a16:creationId xmlns:a16="http://schemas.microsoft.com/office/drawing/2014/main" id="{2AB19763-572E-5F90-9DCC-34E28F61E8F6}"/>
              </a:ext>
            </a:extLst>
          </p:cNvPr>
          <p:cNvSpPr txBox="1"/>
          <p:nvPr/>
        </p:nvSpPr>
        <p:spPr>
          <a:xfrm>
            <a:off x="8980716" y="2268881"/>
            <a:ext cx="1950986" cy="954107"/>
          </a:xfrm>
          <a:prstGeom prst="rect">
            <a:avLst/>
          </a:prstGeom>
          <a:noFill/>
          <a:ln>
            <a:solidFill>
              <a:schemeClr val="accent6"/>
            </a:solidFill>
          </a:ln>
        </p:spPr>
        <p:txBody>
          <a:bodyPr wrap="square" rtlCol="0">
            <a:spAutoFit/>
          </a:bodyPr>
          <a:lstStyle/>
          <a:p>
            <a:r>
              <a:rPr lang="en-US" sz="1400" i="1" dirty="0">
                <a:solidFill>
                  <a:schemeClr val="accent2"/>
                </a:solidFill>
              </a:rPr>
              <a:t>Functional Nutrition User are </a:t>
            </a:r>
            <a:r>
              <a:rPr lang="en-US" sz="1400" b="1" i="1" dirty="0">
                <a:solidFill>
                  <a:schemeClr val="accent2"/>
                </a:solidFill>
              </a:rPr>
              <a:t>pursuing 10 health and wellness goals </a:t>
            </a:r>
            <a:r>
              <a:rPr lang="en-US" sz="1400" i="1" dirty="0">
                <a:solidFill>
                  <a:schemeClr val="accent2"/>
                </a:solidFill>
              </a:rPr>
              <a:t>on average</a:t>
            </a:r>
          </a:p>
        </p:txBody>
      </p:sp>
    </p:spTree>
    <p:extLst>
      <p:ext uri="{BB962C8B-B14F-4D97-AF65-F5344CB8AC3E}">
        <p14:creationId xmlns:p14="http://schemas.microsoft.com/office/powerpoint/2010/main" val="1761141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CA6F22-1600-2150-4A2A-AED6E0304C4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C6B5C9-5448-F9FB-7E1C-1048B1AE80BB}"/>
              </a:ext>
            </a:extLst>
          </p:cNvPr>
          <p:cNvSpPr>
            <a:spLocks noGrp="1"/>
          </p:cNvSpPr>
          <p:nvPr>
            <p:ph type="sldNum" idx="12"/>
          </p:nvPr>
        </p:nvSpPr>
        <p:spPr/>
        <p:txBody>
          <a:bodyPr/>
          <a:lstStyle/>
          <a:p>
            <a:pPr marL="0" marR="0" lvl="0" indent="0" algn="l" defTabSz="457200" rtl="0" eaLnBrk="1" fontAlgn="auto" latinLnBrk="0" hangingPunct="1">
              <a:lnSpc>
                <a:spcPct val="110000"/>
              </a:lnSpc>
              <a:spcBef>
                <a:spcPts val="0"/>
              </a:spcBef>
              <a:spcAft>
                <a:spcPts val="0"/>
              </a:spcAft>
              <a:buClr>
                <a:srgbClr val="4D6D5F"/>
              </a:buClr>
              <a:buSzPts val="1200"/>
              <a:buFont typeface="Helvetica Neue"/>
              <a:buNone/>
              <a:tabLst/>
              <a:defRPr/>
            </a:pPr>
            <a:fld id="{56B4C109-23AB-4C56-97AA-0E1D785C36F7}" type="slidenum">
              <a:rPr kumimoji="0" lang="en-US" sz="1067" b="0" i="0" u="none" strike="noStrike" kern="1200" cap="none" spc="0" normalizeH="0" baseline="0" noProof="0" smtClean="0">
                <a:ln>
                  <a:noFill/>
                </a:ln>
                <a:solidFill>
                  <a:srgbClr val="4D6D5F"/>
                </a:solidFill>
                <a:effectLst/>
                <a:uLnTx/>
                <a:uFillTx/>
                <a:latin typeface="Georgia"/>
                <a:sym typeface="Georgia"/>
              </a:rPr>
              <a:pPr marL="0" marR="0" lvl="0" indent="0" algn="l" defTabSz="457200" rtl="0" eaLnBrk="1" fontAlgn="auto" latinLnBrk="0" hangingPunct="1">
                <a:lnSpc>
                  <a:spcPct val="110000"/>
                </a:lnSpc>
                <a:spcBef>
                  <a:spcPts val="0"/>
                </a:spcBef>
                <a:spcAft>
                  <a:spcPts val="0"/>
                </a:spcAft>
                <a:buClr>
                  <a:srgbClr val="4D6D5F"/>
                </a:buClr>
                <a:buSzPts val="1200"/>
                <a:buFont typeface="Helvetica Neue"/>
                <a:buNone/>
                <a:tabLst/>
                <a:defRPr/>
              </a:pPr>
              <a:t>11</a:t>
            </a:fld>
            <a:endParaRPr kumimoji="0" lang="en-US" sz="1067" b="0" i="0" u="none" strike="noStrike" kern="1200" cap="none" spc="0" normalizeH="0" baseline="0" noProof="0" dirty="0">
              <a:ln>
                <a:noFill/>
              </a:ln>
              <a:solidFill>
                <a:srgbClr val="4D6D5F"/>
              </a:solidFill>
              <a:effectLst/>
              <a:uLnTx/>
              <a:uFillTx/>
              <a:latin typeface="Georgia"/>
              <a:sym typeface="Georgia"/>
            </a:endParaRPr>
          </a:p>
        </p:txBody>
      </p:sp>
      <p:graphicFrame>
        <p:nvGraphicFramePr>
          <p:cNvPr id="9" name="Table 8">
            <a:extLst>
              <a:ext uri="{FF2B5EF4-FFF2-40B4-BE49-F238E27FC236}">
                <a16:creationId xmlns:a16="http://schemas.microsoft.com/office/drawing/2014/main" id="{2822E797-E163-3FA7-F64A-F3B9A1F0E94E}"/>
              </a:ext>
            </a:extLst>
          </p:cNvPr>
          <p:cNvGraphicFramePr>
            <a:graphicFrameLocks noGrp="1"/>
          </p:cNvGraphicFramePr>
          <p:nvPr>
            <p:extLst>
              <p:ext uri="{D42A27DB-BD31-4B8C-83A1-F6EECF244321}">
                <p14:modId xmlns:p14="http://schemas.microsoft.com/office/powerpoint/2010/main" val="787089405"/>
              </p:ext>
            </p:extLst>
          </p:nvPr>
        </p:nvGraphicFramePr>
        <p:xfrm>
          <a:off x="810801" y="1129082"/>
          <a:ext cx="10298430" cy="5454216"/>
        </p:xfrm>
        <a:graphic>
          <a:graphicData uri="http://schemas.openxmlformats.org/drawingml/2006/table">
            <a:tbl>
              <a:tblPr>
                <a:tableStyleId>{3B4B98B0-60AC-42C2-AFA5-B58CD77FA1E5}</a:tableStyleId>
              </a:tblPr>
              <a:tblGrid>
                <a:gridCol w="3383280">
                  <a:extLst>
                    <a:ext uri="{9D8B030D-6E8A-4147-A177-3AD203B41FA5}">
                      <a16:colId xmlns:a16="http://schemas.microsoft.com/office/drawing/2014/main" val="4107426551"/>
                    </a:ext>
                  </a:extLst>
                </a:gridCol>
                <a:gridCol w="628650">
                  <a:extLst>
                    <a:ext uri="{9D8B030D-6E8A-4147-A177-3AD203B41FA5}">
                      <a16:colId xmlns:a16="http://schemas.microsoft.com/office/drawing/2014/main" val="1023070692"/>
                    </a:ext>
                  </a:extLst>
                </a:gridCol>
                <a:gridCol w="628650">
                  <a:extLst>
                    <a:ext uri="{9D8B030D-6E8A-4147-A177-3AD203B41FA5}">
                      <a16:colId xmlns:a16="http://schemas.microsoft.com/office/drawing/2014/main" val="871605687"/>
                    </a:ext>
                  </a:extLst>
                </a:gridCol>
                <a:gridCol w="628650">
                  <a:extLst>
                    <a:ext uri="{9D8B030D-6E8A-4147-A177-3AD203B41FA5}">
                      <a16:colId xmlns:a16="http://schemas.microsoft.com/office/drawing/2014/main" val="1799647169"/>
                    </a:ext>
                  </a:extLst>
                </a:gridCol>
                <a:gridCol w="628650">
                  <a:extLst>
                    <a:ext uri="{9D8B030D-6E8A-4147-A177-3AD203B41FA5}">
                      <a16:colId xmlns:a16="http://schemas.microsoft.com/office/drawing/2014/main" val="1381748258"/>
                    </a:ext>
                  </a:extLst>
                </a:gridCol>
                <a:gridCol w="628650">
                  <a:extLst>
                    <a:ext uri="{9D8B030D-6E8A-4147-A177-3AD203B41FA5}">
                      <a16:colId xmlns:a16="http://schemas.microsoft.com/office/drawing/2014/main" val="3956343915"/>
                    </a:ext>
                  </a:extLst>
                </a:gridCol>
                <a:gridCol w="628650">
                  <a:extLst>
                    <a:ext uri="{9D8B030D-6E8A-4147-A177-3AD203B41FA5}">
                      <a16:colId xmlns:a16="http://schemas.microsoft.com/office/drawing/2014/main" val="2197625001"/>
                    </a:ext>
                  </a:extLst>
                </a:gridCol>
                <a:gridCol w="628650">
                  <a:extLst>
                    <a:ext uri="{9D8B030D-6E8A-4147-A177-3AD203B41FA5}">
                      <a16:colId xmlns:a16="http://schemas.microsoft.com/office/drawing/2014/main" val="2797358484"/>
                    </a:ext>
                  </a:extLst>
                </a:gridCol>
                <a:gridCol w="628650">
                  <a:extLst>
                    <a:ext uri="{9D8B030D-6E8A-4147-A177-3AD203B41FA5}">
                      <a16:colId xmlns:a16="http://schemas.microsoft.com/office/drawing/2014/main" val="2867094755"/>
                    </a:ext>
                  </a:extLst>
                </a:gridCol>
                <a:gridCol w="628650">
                  <a:extLst>
                    <a:ext uri="{9D8B030D-6E8A-4147-A177-3AD203B41FA5}">
                      <a16:colId xmlns:a16="http://schemas.microsoft.com/office/drawing/2014/main" val="703738329"/>
                    </a:ext>
                  </a:extLst>
                </a:gridCol>
                <a:gridCol w="628650">
                  <a:extLst>
                    <a:ext uri="{9D8B030D-6E8A-4147-A177-3AD203B41FA5}">
                      <a16:colId xmlns:a16="http://schemas.microsoft.com/office/drawing/2014/main" val="3655167997"/>
                    </a:ext>
                  </a:extLst>
                </a:gridCol>
                <a:gridCol w="628650">
                  <a:extLst>
                    <a:ext uri="{9D8B030D-6E8A-4147-A177-3AD203B41FA5}">
                      <a16:colId xmlns:a16="http://schemas.microsoft.com/office/drawing/2014/main" val="2545100148"/>
                    </a:ext>
                  </a:extLst>
                </a:gridCol>
              </a:tblGrid>
              <a:tr h="0">
                <a:tc gridSpan="12">
                  <a:txBody>
                    <a:bodyPr/>
                    <a:lstStyle/>
                    <a:p>
                      <a:pPr algn="ctr" fontAlgn="b">
                        <a:buNone/>
                      </a:pPr>
                      <a:r>
                        <a:rPr lang="en-US" sz="1200" b="1" i="0" u="none" strike="noStrike" dirty="0">
                          <a:solidFill>
                            <a:schemeClr val="bg1"/>
                          </a:solidFill>
                          <a:effectLst/>
                          <a:latin typeface="Arial" panose="020B0604020202020204" pitchFamily="34" charset="0"/>
                        </a:rPr>
                        <a:t>Current Health and Wellness Goals</a:t>
                      </a:r>
                    </a:p>
                    <a:p>
                      <a:pPr algn="ctr" fontAlgn="b">
                        <a:buNone/>
                      </a:pPr>
                      <a:r>
                        <a:rPr lang="en-US" sz="1200" b="0" i="0" u="none" strike="noStrike" dirty="0">
                          <a:solidFill>
                            <a:schemeClr val="bg1"/>
                          </a:solidFill>
                          <a:effectLst/>
                          <a:latin typeface="Arial" panose="020B0604020202020204" pitchFamily="34" charset="0"/>
                        </a:rPr>
                        <a:t>(% of P3M Functional Nutrition Users)</a:t>
                      </a: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200" b="1" u="none" strike="noStrike" kern="1200" dirty="0">
                        <a:solidFill>
                          <a:schemeClr val="tx1"/>
                        </a:solidFill>
                        <a:effectLst/>
                        <a:latin typeface="+mn-lt"/>
                        <a:ea typeface="+mn-ea"/>
                        <a:cs typeface="+mn-cs"/>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Total</a:t>
                      </a: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Males</a:t>
                      </a:r>
                      <a:endParaRPr lang="en-US" sz="120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Females</a:t>
                      </a:r>
                      <a:endParaRPr lang="en-US" sz="1200" b="1"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18-34</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35-54</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p>
                      <a:pPr algn="ctr" fontAlgn="b">
                        <a:buNone/>
                      </a:pPr>
                      <a:endParaRPr lang="en-US" sz="1200" b="1" u="none" strike="noStrike" kern="1200" dirty="0">
                        <a:solidFill>
                          <a:schemeClr val="tx1"/>
                        </a:solidFill>
                        <a:effectLst/>
                        <a:latin typeface="+mn-lt"/>
                        <a:ea typeface="+mn-ea"/>
                        <a:cs typeface="+mn-cs"/>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55+</a:t>
                      </a:r>
                    </a:p>
                  </a:txBody>
                  <a:tcPr marL="2958" marR="2958" marT="2958"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0">
                <a:tc>
                  <a:txBody>
                    <a:bodyPr/>
                    <a:lstStyle/>
                    <a:p>
                      <a:pPr algn="l" fontAlgn="b">
                        <a:buNone/>
                      </a:pPr>
                      <a:r>
                        <a:rPr lang="en-US" sz="1000" b="0" i="0" u="none" strike="noStrike" dirty="0">
                          <a:effectLst/>
                          <a:latin typeface="Arial" panose="020B0604020202020204" pitchFamily="34" charset="0"/>
                        </a:rPr>
                        <a:t>Improving overall/general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69</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106</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0">
                <a:tc>
                  <a:txBody>
                    <a:bodyPr/>
                    <a:lstStyle/>
                    <a:p>
                      <a:pPr algn="l" fontAlgn="b">
                        <a:buNone/>
                      </a:pPr>
                      <a:r>
                        <a:rPr lang="en-US" sz="1000" b="0" i="0" u="none" strike="noStrike" dirty="0">
                          <a:effectLst/>
                          <a:latin typeface="Arial" panose="020B0604020202020204" pitchFamily="34" charset="0"/>
                        </a:rPr>
                        <a:t>Healthy aging/longevity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60</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123</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101062753"/>
                  </a:ext>
                </a:extLst>
              </a:tr>
              <a:tr h="0">
                <a:tc>
                  <a:txBody>
                    <a:bodyPr/>
                    <a:lstStyle/>
                    <a:p>
                      <a:pPr algn="l" fontAlgn="b">
                        <a:buNone/>
                      </a:pPr>
                      <a:r>
                        <a:rPr lang="en-US" sz="1000" b="0" i="0" u="none" strike="noStrike" dirty="0">
                          <a:effectLst/>
                          <a:latin typeface="Arial" panose="020B0604020202020204" pitchFamily="34" charset="0"/>
                        </a:rPr>
                        <a:t>Improving overall fitness level</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58</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101</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71366024"/>
                  </a:ext>
                </a:extLst>
              </a:tr>
              <a:tr h="0">
                <a:tc>
                  <a:txBody>
                    <a:bodyPr/>
                    <a:lstStyle/>
                    <a:p>
                      <a:pPr algn="l" fontAlgn="b">
                        <a:buNone/>
                      </a:pPr>
                      <a:r>
                        <a:rPr lang="en-US" sz="1000" b="0" i="0" u="none" strike="noStrike" dirty="0">
                          <a:effectLst/>
                          <a:latin typeface="Arial" panose="020B0604020202020204" pitchFamily="34" charset="0"/>
                        </a:rPr>
                        <a:t>Reducing stress/anxiety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56</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78</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3341855026"/>
                  </a:ext>
                </a:extLst>
              </a:tr>
              <a:tr h="0">
                <a:tc>
                  <a:txBody>
                    <a:bodyPr/>
                    <a:lstStyle/>
                    <a:p>
                      <a:pPr algn="l" fontAlgn="b">
                        <a:buNone/>
                      </a:pPr>
                      <a:r>
                        <a:rPr lang="en-US" sz="1000" b="0" i="0" u="none" strike="noStrike" dirty="0">
                          <a:effectLst/>
                          <a:latin typeface="Arial" panose="020B0604020202020204" pitchFamily="34" charset="0"/>
                        </a:rPr>
                        <a:t>Managing weight</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54</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113</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906900625"/>
                  </a:ext>
                </a:extLst>
              </a:tr>
              <a:tr h="0">
                <a:tc>
                  <a:txBody>
                    <a:bodyPr/>
                    <a:lstStyle/>
                    <a:p>
                      <a:pPr algn="l" fontAlgn="b">
                        <a:buNone/>
                      </a:pPr>
                      <a:r>
                        <a:rPr lang="en-US" sz="1000" b="0" i="0" u="none" strike="noStrike" dirty="0">
                          <a:effectLst/>
                          <a:latin typeface="Arial" panose="020B0604020202020204" pitchFamily="34" charset="0"/>
                        </a:rPr>
                        <a:t>Improving physical energy levels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54</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86</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109677723"/>
                  </a:ext>
                </a:extLst>
              </a:tr>
              <a:tr h="0">
                <a:tc>
                  <a:txBody>
                    <a:bodyPr/>
                    <a:lstStyle/>
                    <a:p>
                      <a:pPr algn="l" fontAlgn="b">
                        <a:buNone/>
                      </a:pPr>
                      <a:r>
                        <a:rPr lang="en-US" sz="1000" b="0" i="0" u="none" strike="noStrike" dirty="0">
                          <a:effectLst/>
                          <a:latin typeface="Arial" panose="020B0604020202020204" pitchFamily="34" charset="0"/>
                        </a:rPr>
                        <a:t>Improving sleep</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52</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90</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758094890"/>
                  </a:ext>
                </a:extLst>
              </a:tr>
              <a:tr h="0">
                <a:tc>
                  <a:txBody>
                    <a:bodyPr/>
                    <a:lstStyle/>
                    <a:p>
                      <a:pPr algn="l" fontAlgn="b">
                        <a:buNone/>
                      </a:pPr>
                      <a:r>
                        <a:rPr lang="en-US" sz="1000" b="0" i="0" u="none" strike="noStrike" dirty="0">
                          <a:effectLst/>
                          <a:latin typeface="Arial" panose="020B0604020202020204" pitchFamily="34" charset="0"/>
                        </a:rPr>
                        <a:t>Improving overall mental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48</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66</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266673457"/>
                  </a:ext>
                </a:extLst>
              </a:tr>
              <a:tr h="0">
                <a:tc>
                  <a:txBody>
                    <a:bodyPr/>
                    <a:lstStyle/>
                    <a:p>
                      <a:pPr algn="l" fontAlgn="b">
                        <a:buNone/>
                      </a:pPr>
                      <a:r>
                        <a:rPr lang="en-US" sz="1000" b="0" i="0" u="none" strike="noStrike" dirty="0">
                          <a:effectLst/>
                          <a:latin typeface="Arial" panose="020B0604020202020204" pitchFamily="34" charset="0"/>
                        </a:rPr>
                        <a:t>Building muscle/strength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47</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89</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767924894"/>
                  </a:ext>
                </a:extLst>
              </a:tr>
              <a:tr h="0">
                <a:tc>
                  <a:txBody>
                    <a:bodyPr/>
                    <a:lstStyle/>
                    <a:p>
                      <a:pPr algn="l" fontAlgn="b">
                        <a:buNone/>
                      </a:pPr>
                      <a:r>
                        <a:rPr lang="en-US" sz="1000" b="0" i="0" u="none" strike="noStrike" dirty="0">
                          <a:effectLst/>
                          <a:latin typeface="Arial" panose="020B0604020202020204" pitchFamily="34" charset="0"/>
                        </a:rPr>
                        <a:t>Improving mood/emotional well-being</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43</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71</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4140967528"/>
                  </a:ext>
                </a:extLst>
              </a:tr>
              <a:tr h="0">
                <a:tc>
                  <a:txBody>
                    <a:bodyPr/>
                    <a:lstStyle/>
                    <a:p>
                      <a:pPr algn="l" fontAlgn="b">
                        <a:buNone/>
                      </a:pPr>
                      <a:r>
                        <a:rPr lang="en-US" sz="1000" b="0" i="0" u="none" strike="noStrike" dirty="0">
                          <a:effectLst/>
                          <a:latin typeface="Arial" panose="020B0604020202020204" pitchFamily="34" charset="0"/>
                        </a:rPr>
                        <a:t>Improving cognition/mental energy (alertness, focus, etc.)</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39</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85</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647775027"/>
                  </a:ext>
                </a:extLst>
              </a:tr>
              <a:tr h="0">
                <a:tc>
                  <a:txBody>
                    <a:bodyPr/>
                    <a:lstStyle/>
                    <a:p>
                      <a:pPr algn="l" fontAlgn="b">
                        <a:buNone/>
                      </a:pPr>
                      <a:r>
                        <a:rPr lang="en-US" sz="1000" b="0" i="0" u="none" strike="noStrike" dirty="0">
                          <a:effectLst/>
                          <a:latin typeface="Arial" panose="020B0604020202020204" pitchFamily="34" charset="0"/>
                        </a:rPr>
                        <a:t>Improving appearance (e.g., hair, skin, nails, etc.)</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37</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88</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282646749"/>
                  </a:ext>
                </a:extLst>
              </a:tr>
              <a:tr h="0">
                <a:tc>
                  <a:txBody>
                    <a:bodyPr/>
                    <a:lstStyle/>
                    <a:p>
                      <a:pPr algn="l" fontAlgn="b">
                        <a:buNone/>
                      </a:pPr>
                      <a:r>
                        <a:rPr lang="en-US" sz="1000" b="0" i="0" u="none" strike="noStrike" dirty="0">
                          <a:effectLst/>
                          <a:latin typeface="Arial" panose="020B0604020202020204" pitchFamily="34" charset="0"/>
                        </a:rPr>
                        <a:t>Boosting immunity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36</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94</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407044804"/>
                  </a:ext>
                </a:extLst>
              </a:tr>
              <a:tr h="0">
                <a:tc>
                  <a:txBody>
                    <a:bodyPr/>
                    <a:lstStyle/>
                    <a:p>
                      <a:pPr algn="l" fontAlgn="b">
                        <a:buNone/>
                      </a:pPr>
                      <a:r>
                        <a:rPr lang="en-US" sz="1000" b="0" i="0" u="none" strike="noStrike" dirty="0">
                          <a:effectLst/>
                          <a:latin typeface="Arial" panose="020B0604020202020204" pitchFamily="34" charset="0"/>
                        </a:rPr>
                        <a:t>Improving my heart/cardiovascular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33</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124</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567738296"/>
                  </a:ext>
                </a:extLst>
              </a:tr>
              <a:tr h="0">
                <a:tc>
                  <a:txBody>
                    <a:bodyPr/>
                    <a:lstStyle/>
                    <a:p>
                      <a:pPr algn="l" fontAlgn="b">
                        <a:buNone/>
                      </a:pPr>
                      <a:r>
                        <a:rPr lang="en-US" sz="1000" b="0" i="0" u="none" strike="noStrike" dirty="0">
                          <a:effectLst/>
                          <a:latin typeface="Arial" panose="020B0604020202020204" pitchFamily="34" charset="0"/>
                        </a:rPr>
                        <a:t>Improving gut/gastrointestinal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32</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105</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228522008"/>
                  </a:ext>
                </a:extLst>
              </a:tr>
              <a:tr h="0">
                <a:tc>
                  <a:txBody>
                    <a:bodyPr/>
                    <a:lstStyle/>
                    <a:p>
                      <a:pPr algn="l" fontAlgn="b">
                        <a:buNone/>
                      </a:pPr>
                      <a:r>
                        <a:rPr lang="en-US" sz="1000" b="0" i="0" u="none" strike="noStrike" dirty="0">
                          <a:effectLst/>
                          <a:latin typeface="Arial" panose="020B0604020202020204" pitchFamily="34" charset="0"/>
                        </a:rPr>
                        <a:t>Improving brain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32</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88</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749723606"/>
                  </a:ext>
                </a:extLst>
              </a:tr>
              <a:tr h="0">
                <a:tc>
                  <a:txBody>
                    <a:bodyPr/>
                    <a:lstStyle/>
                    <a:p>
                      <a:pPr algn="l" fontAlgn="b">
                        <a:buNone/>
                      </a:pPr>
                      <a:r>
                        <a:rPr lang="en-US" sz="1000" b="0" i="0" u="none" strike="noStrike" dirty="0">
                          <a:effectLst/>
                          <a:latin typeface="Arial" panose="020B0604020202020204" pitchFamily="34" charset="0"/>
                        </a:rPr>
                        <a:t>Improving bone or joint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30</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132</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165266163"/>
                  </a:ext>
                </a:extLst>
              </a:tr>
              <a:tr h="0">
                <a:tc>
                  <a:txBody>
                    <a:bodyPr/>
                    <a:lstStyle/>
                    <a:p>
                      <a:pPr algn="l" fontAlgn="b">
                        <a:buNone/>
                      </a:pPr>
                      <a:r>
                        <a:rPr lang="en-US" sz="1000" b="0" i="0" u="none" strike="noStrike" dirty="0">
                          <a:effectLst/>
                          <a:latin typeface="Arial" panose="020B0604020202020204" pitchFamily="34" charset="0"/>
                        </a:rPr>
                        <a:t>Reducing inflammation</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27</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115</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961438058"/>
                  </a:ext>
                </a:extLst>
              </a:tr>
              <a:tr h="0">
                <a:tc>
                  <a:txBody>
                    <a:bodyPr/>
                    <a:lstStyle/>
                    <a:p>
                      <a:pPr algn="l" fontAlgn="b">
                        <a:buNone/>
                      </a:pPr>
                      <a:r>
                        <a:rPr lang="en-US" sz="1000" b="0" i="0" u="none" strike="noStrike" dirty="0">
                          <a:effectLst/>
                          <a:latin typeface="Arial" panose="020B0604020202020204" pitchFamily="34" charset="0"/>
                        </a:rPr>
                        <a:t>Managing blood sugar</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23</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115</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696936762"/>
                  </a:ext>
                </a:extLst>
              </a:tr>
              <a:tr h="0">
                <a:tc>
                  <a:txBody>
                    <a:bodyPr/>
                    <a:lstStyle/>
                    <a:p>
                      <a:pPr algn="l" fontAlgn="b">
                        <a:buNone/>
                      </a:pPr>
                      <a:r>
                        <a:rPr lang="en-US" sz="1000" b="0" i="0" u="none" strike="noStrike" dirty="0">
                          <a:effectLst/>
                          <a:latin typeface="Arial" panose="020B0604020202020204" pitchFamily="34" charset="0"/>
                        </a:rPr>
                        <a:t>Improving eye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22</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100</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017881332"/>
                  </a:ext>
                </a:extLst>
              </a:tr>
              <a:tr h="0">
                <a:tc>
                  <a:txBody>
                    <a:bodyPr/>
                    <a:lstStyle/>
                    <a:p>
                      <a:pPr algn="l" fontAlgn="b">
                        <a:buNone/>
                      </a:pPr>
                      <a:r>
                        <a:rPr lang="en-US" sz="1000" b="0" i="0" u="none" strike="noStrike" dirty="0">
                          <a:effectLst/>
                          <a:latin typeface="Arial" panose="020B0604020202020204" pitchFamily="34" charset="0"/>
                        </a:rPr>
                        <a:t>Managing a diagnosed medical condition</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21</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146</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518678636"/>
                  </a:ext>
                </a:extLst>
              </a:tr>
              <a:tr h="0">
                <a:tc>
                  <a:txBody>
                    <a:bodyPr/>
                    <a:lstStyle/>
                    <a:p>
                      <a:pPr algn="l" fontAlgn="b">
                        <a:buNone/>
                      </a:pPr>
                      <a:r>
                        <a:rPr lang="en-US" sz="1000" b="0" i="0" u="none" strike="noStrike" dirty="0">
                          <a:effectLst/>
                          <a:latin typeface="Arial" panose="020B0604020202020204" pitchFamily="34" charset="0"/>
                        </a:rPr>
                        <a:t>Improving sexual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19</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57</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672546233"/>
                  </a:ext>
                </a:extLst>
              </a:tr>
              <a:tr h="0">
                <a:tc>
                  <a:txBody>
                    <a:bodyPr/>
                    <a:lstStyle/>
                    <a:p>
                      <a:pPr algn="l" fontAlgn="b">
                        <a:buNone/>
                      </a:pPr>
                      <a:r>
                        <a:rPr lang="en-US" sz="1000" b="0" i="0" u="none" strike="noStrike" dirty="0">
                          <a:effectLst/>
                          <a:latin typeface="Arial" panose="020B0604020202020204" pitchFamily="34" charset="0"/>
                        </a:rPr>
                        <a:t>Cleansing/detox</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19</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41</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144702894"/>
                  </a:ext>
                </a:extLst>
              </a:tr>
              <a:tr h="0">
                <a:tc>
                  <a:txBody>
                    <a:bodyPr/>
                    <a:lstStyle/>
                    <a:p>
                      <a:pPr algn="l" fontAlgn="b">
                        <a:buNone/>
                      </a:pPr>
                      <a:r>
                        <a:rPr lang="en-US" sz="1000" b="0" i="0" u="none" strike="noStrike" dirty="0">
                          <a:effectLst/>
                          <a:latin typeface="Arial" panose="020B0604020202020204" pitchFamily="34" charset="0"/>
                        </a:rPr>
                        <a:t>Addressing a nutrient gap/deficiency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18</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72</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163455558"/>
                  </a:ext>
                </a:extLst>
              </a:tr>
              <a:tr h="0">
                <a:tc>
                  <a:txBody>
                    <a:bodyPr/>
                    <a:lstStyle/>
                    <a:p>
                      <a:pPr algn="l" fontAlgn="b">
                        <a:buNone/>
                      </a:pPr>
                      <a:r>
                        <a:rPr lang="en-US" sz="1000" b="0" i="0" u="none" strike="noStrike" dirty="0">
                          <a:effectLst/>
                          <a:latin typeface="Arial" panose="020B0604020202020204" pitchFamily="34" charset="0"/>
                        </a:rPr>
                        <a:t>Hormonal/metabolism support</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17</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52</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807090806"/>
                  </a:ext>
                </a:extLst>
              </a:tr>
              <a:tr h="0">
                <a:tc>
                  <a:txBody>
                    <a:bodyPr/>
                    <a:lstStyle/>
                    <a:p>
                      <a:pPr algn="l" fontAlgn="b">
                        <a:buNone/>
                      </a:pPr>
                      <a:r>
                        <a:rPr lang="en-US" sz="1000" b="0" i="0" u="none" strike="noStrike" dirty="0">
                          <a:effectLst/>
                          <a:latin typeface="Arial" panose="020B0604020202020204" pitchFamily="34" charset="0"/>
                        </a:rPr>
                        <a:t>Improving liver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16</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77</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2050239563"/>
                  </a:ext>
                </a:extLst>
              </a:tr>
              <a:tr h="0">
                <a:tc>
                  <a:txBody>
                    <a:bodyPr/>
                    <a:lstStyle/>
                    <a:p>
                      <a:pPr algn="l" fontAlgn="b">
                        <a:buNone/>
                      </a:pPr>
                      <a:r>
                        <a:rPr lang="en-US" sz="1000" b="0" i="0" u="none" strike="noStrike" dirty="0">
                          <a:effectLst/>
                          <a:latin typeface="Arial" panose="020B0604020202020204" pitchFamily="34" charset="0"/>
                        </a:rPr>
                        <a:t>Managing perimenopause/menopause</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13</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35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155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85</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777060894"/>
                  </a:ext>
                </a:extLst>
              </a:tr>
              <a:tr h="0">
                <a:tc>
                  <a:txBody>
                    <a:bodyPr/>
                    <a:lstStyle/>
                    <a:p>
                      <a:pPr algn="l" fontAlgn="b">
                        <a:buNone/>
                      </a:pPr>
                      <a:r>
                        <a:rPr lang="en-US" sz="1000" b="0" i="0" u="none" strike="noStrike" dirty="0">
                          <a:effectLst/>
                          <a:latin typeface="Arial" panose="020B0604020202020204" pitchFamily="34" charset="0"/>
                        </a:rPr>
                        <a:t>Mean # of goals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9.8</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9.5</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chemeClr val="tx1"/>
                          </a:solidFill>
                          <a:effectLst/>
                          <a:latin typeface="Arial" panose="020B0604020202020204" pitchFamily="34" charset="0"/>
                        </a:rPr>
                        <a:t>97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chemeClr val="tx1"/>
                          </a:solidFill>
                          <a:effectLst/>
                          <a:latin typeface="Arial" panose="020B0604020202020204" pitchFamily="34" charset="0"/>
                        </a:rPr>
                        <a:t>103</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9.6</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chemeClr val="tx1"/>
                          </a:solidFill>
                          <a:effectLst/>
                          <a:latin typeface="Arial" panose="020B0604020202020204" pitchFamily="34" charset="0"/>
                        </a:rPr>
                        <a:t>98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chemeClr val="tx1"/>
                          </a:solidFill>
                          <a:effectLst/>
                          <a:latin typeface="Arial" panose="020B0604020202020204" pitchFamily="34" charset="0"/>
                        </a:rPr>
                        <a:t>106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9.2</a:t>
                      </a:r>
                    </a:p>
                  </a:txBody>
                  <a:tcPr marL="9525" marR="9525" marT="9525" marB="0" anchor="ctr">
                    <a:lnL w="12700" cap="flat" cmpd="sng" algn="ctr">
                      <a:no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95</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907433976"/>
                  </a:ext>
                </a:extLst>
              </a:tr>
            </a:tbl>
          </a:graphicData>
        </a:graphic>
      </p:graphicFrame>
      <p:sp>
        <p:nvSpPr>
          <p:cNvPr id="6" name="Title 4">
            <a:extLst>
              <a:ext uri="{FF2B5EF4-FFF2-40B4-BE49-F238E27FC236}">
                <a16:creationId xmlns:a16="http://schemas.microsoft.com/office/drawing/2014/main" id="{AE1C88C2-6992-79F3-92D0-0DD91B85ACB1}"/>
              </a:ext>
            </a:extLst>
          </p:cNvPr>
          <p:cNvSpPr txBox="1">
            <a:spLocks/>
          </p:cNvSpPr>
          <p:nvPr/>
        </p:nvSpPr>
        <p:spPr>
          <a:xfrm>
            <a:off x="614947" y="352834"/>
            <a:ext cx="10351446" cy="444499"/>
          </a:xfrm>
          <a:prstGeom prst="rect">
            <a:avLst/>
          </a:prstGeom>
          <a:noFill/>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Health &amp; Wellness Goals: Gender and Age Breaks</a:t>
            </a:r>
          </a:p>
        </p:txBody>
      </p:sp>
      <p:sp>
        <p:nvSpPr>
          <p:cNvPr id="2" name="TextBox 1">
            <a:extLst>
              <a:ext uri="{FF2B5EF4-FFF2-40B4-BE49-F238E27FC236}">
                <a16:creationId xmlns:a16="http://schemas.microsoft.com/office/drawing/2014/main" id="{116F7E45-2A5C-611A-D646-D52414EF1028}"/>
              </a:ext>
            </a:extLst>
          </p:cNvPr>
          <p:cNvSpPr txBox="1"/>
          <p:nvPr/>
        </p:nvSpPr>
        <p:spPr>
          <a:xfrm>
            <a:off x="614947" y="759750"/>
            <a:ext cx="11050089" cy="338554"/>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There are few highly meaningful differences across gender or age groups </a:t>
            </a: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016653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E8273CB2-5682-006E-9AED-CF3CF3166E05}"/>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7A5A53BF-604F-4139-AB9D-996EBC456D9D}"/>
              </a:ext>
            </a:extLst>
          </p:cNvPr>
          <p:cNvSpPr txBox="1">
            <a:spLocks/>
          </p:cNvSpPr>
          <p:nvPr/>
        </p:nvSpPr>
        <p:spPr>
          <a:xfrm>
            <a:off x="528886" y="509708"/>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Eating a healthy diet, exercising, and prioritizing sleep are most likely to be identified as </a:t>
            </a:r>
            <a:r>
              <a:rPr kumimoji="0" lang="en-US" sz="2400" b="1"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core </a:t>
            </a:r>
            <a:r>
              <a:rPr kumimoji="0" lang="en-US" sz="240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health and wellness behaviors among </a:t>
            </a: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Functional Nutrition Users </a:t>
            </a:r>
          </a:p>
        </p:txBody>
      </p:sp>
      <p:sp>
        <p:nvSpPr>
          <p:cNvPr id="73" name="TextBox 72">
            <a:extLst>
              <a:ext uri="{FF2B5EF4-FFF2-40B4-BE49-F238E27FC236}">
                <a16:creationId xmlns:a16="http://schemas.microsoft.com/office/drawing/2014/main" id="{EBCB32B2-9CB4-E6B2-5ADC-A7E1CB62087B}"/>
              </a:ext>
            </a:extLst>
          </p:cNvPr>
          <p:cNvSpPr txBox="1"/>
          <p:nvPr/>
        </p:nvSpPr>
        <p:spPr>
          <a:xfrm>
            <a:off x="0" y="6102071"/>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H3. Which of the following, if any, do you consider to be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core</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to your overall health and wellness routine?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A0A618B9-32FC-AFD9-7F45-E7653506369D}"/>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5056995D-B557-07FD-D5A4-CDDC096E97CA}"/>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632BB825-DA01-0DF6-24E5-31357A326FB4}"/>
              </a:ext>
            </a:extLst>
          </p:cNvPr>
          <p:cNvGraphicFramePr/>
          <p:nvPr>
            <p:extLst>
              <p:ext uri="{D42A27DB-BD31-4B8C-83A1-F6EECF244321}">
                <p14:modId xmlns:p14="http://schemas.microsoft.com/office/powerpoint/2010/main" val="425774311"/>
              </p:ext>
            </p:extLst>
          </p:nvPr>
        </p:nvGraphicFramePr>
        <p:xfrm>
          <a:off x="4175887" y="1288364"/>
          <a:ext cx="7487227" cy="4865893"/>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5333F97B-021E-DC36-FF3F-4FEC443F5FB6}"/>
              </a:ext>
            </a:extLst>
          </p:cNvPr>
          <p:cNvSpPr txBox="1"/>
          <p:nvPr/>
        </p:nvSpPr>
        <p:spPr>
          <a:xfrm>
            <a:off x="528886" y="2151651"/>
            <a:ext cx="3607614" cy="3139321"/>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rPr>
              <a:t>More than half say taking supplements and spending time in nature are core to their routine</a:t>
            </a:r>
            <a:br>
              <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BD582C"/>
                </a:solidFill>
                <a:latin typeface="Calibri Light" panose="020F0302020204030204"/>
              </a:rPr>
              <a:t>Consuming functional foods is core to 42%, while consuming functional beverages is core to 37%</a:t>
            </a:r>
            <a:br>
              <a:rPr lang="en-US" dirty="0">
                <a:solidFill>
                  <a:srgbClr val="BD582C"/>
                </a:solidFill>
                <a:latin typeface="Calibri Light" panose="020F0302020204030204"/>
              </a:rPr>
            </a:br>
            <a:endParaRPr lang="en-US" dirty="0">
              <a:solidFill>
                <a:srgbClr val="BD582C"/>
              </a:solidFill>
              <a:latin typeface="Calibri Light" panose="020F03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rPr>
              <a:t>About a </a:t>
            </a:r>
            <a:r>
              <a:rPr lang="en-US" dirty="0">
                <a:solidFill>
                  <a:srgbClr val="BD582C"/>
                </a:solidFill>
                <a:latin typeface="Calibri Light" panose="020F0302020204030204"/>
              </a:rPr>
              <a:t>third are using health technology (apps, wearables, etc.)</a:t>
            </a: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3" name="TextBox 2">
            <a:extLst>
              <a:ext uri="{FF2B5EF4-FFF2-40B4-BE49-F238E27FC236}">
                <a16:creationId xmlns:a16="http://schemas.microsoft.com/office/drawing/2014/main" id="{D22697F0-293F-24E5-F8BA-913450217308}"/>
              </a:ext>
            </a:extLst>
          </p:cNvPr>
          <p:cNvSpPr txBox="1"/>
          <p:nvPr/>
        </p:nvSpPr>
        <p:spPr>
          <a:xfrm>
            <a:off x="10028681" y="4188661"/>
            <a:ext cx="1950986" cy="954107"/>
          </a:xfrm>
          <a:prstGeom prst="rect">
            <a:avLst/>
          </a:prstGeom>
          <a:noFill/>
          <a:ln>
            <a:solidFill>
              <a:schemeClr val="accent6"/>
            </a:solidFill>
          </a:ln>
        </p:spPr>
        <p:txBody>
          <a:bodyPr wrap="square" rtlCol="0">
            <a:spAutoFit/>
          </a:bodyPr>
          <a:lstStyle/>
          <a:p>
            <a:r>
              <a:rPr lang="en-US" sz="1400" i="1" dirty="0">
                <a:solidFill>
                  <a:schemeClr val="accent2"/>
                </a:solidFill>
              </a:rPr>
              <a:t>Functional Nutrition Users </a:t>
            </a:r>
            <a:r>
              <a:rPr lang="en-US" sz="1400" b="1" i="1" dirty="0">
                <a:solidFill>
                  <a:schemeClr val="accent2"/>
                </a:solidFill>
              </a:rPr>
              <a:t>engage in 6 health and wellness behaviors </a:t>
            </a:r>
            <a:r>
              <a:rPr lang="en-US" sz="1400" i="1" dirty="0">
                <a:solidFill>
                  <a:schemeClr val="accent2"/>
                </a:solidFill>
              </a:rPr>
              <a:t>on average</a:t>
            </a:r>
          </a:p>
        </p:txBody>
      </p:sp>
    </p:spTree>
    <p:extLst>
      <p:ext uri="{BB962C8B-B14F-4D97-AF65-F5344CB8AC3E}">
        <p14:creationId xmlns:p14="http://schemas.microsoft.com/office/powerpoint/2010/main" val="855138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B9AEC93-BF30-4AF0-8A45-A624E4741C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030FDD-7651-ADB9-E5EF-0A08BEAC2AB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201FACF8-2864-9428-8598-4CD1B484F037}"/>
              </a:ext>
            </a:extLst>
          </p:cNvPr>
          <p:cNvGraphicFramePr>
            <a:graphicFrameLocks noGrp="1"/>
          </p:cNvGraphicFramePr>
          <p:nvPr>
            <p:extLst>
              <p:ext uri="{D42A27DB-BD31-4B8C-83A1-F6EECF244321}">
                <p14:modId xmlns:p14="http://schemas.microsoft.com/office/powerpoint/2010/main" val="727381711"/>
              </p:ext>
            </p:extLst>
          </p:nvPr>
        </p:nvGraphicFramePr>
        <p:xfrm>
          <a:off x="562577" y="1483097"/>
          <a:ext cx="11304270" cy="5309436"/>
        </p:xfrm>
        <a:graphic>
          <a:graphicData uri="http://schemas.openxmlformats.org/drawingml/2006/table">
            <a:tbl>
              <a:tblPr>
                <a:tableStyleId>{3B4B98B0-60AC-42C2-AFA5-B58CD77FA1E5}</a:tableStyleId>
              </a:tblPr>
              <a:tblGrid>
                <a:gridCol w="4389120">
                  <a:extLst>
                    <a:ext uri="{9D8B030D-6E8A-4147-A177-3AD203B41FA5}">
                      <a16:colId xmlns:a16="http://schemas.microsoft.com/office/drawing/2014/main" val="4107426551"/>
                    </a:ext>
                  </a:extLst>
                </a:gridCol>
                <a:gridCol w="628650">
                  <a:extLst>
                    <a:ext uri="{9D8B030D-6E8A-4147-A177-3AD203B41FA5}">
                      <a16:colId xmlns:a16="http://schemas.microsoft.com/office/drawing/2014/main" val="1023070692"/>
                    </a:ext>
                  </a:extLst>
                </a:gridCol>
                <a:gridCol w="628650">
                  <a:extLst>
                    <a:ext uri="{9D8B030D-6E8A-4147-A177-3AD203B41FA5}">
                      <a16:colId xmlns:a16="http://schemas.microsoft.com/office/drawing/2014/main" val="871605687"/>
                    </a:ext>
                  </a:extLst>
                </a:gridCol>
                <a:gridCol w="628650">
                  <a:extLst>
                    <a:ext uri="{9D8B030D-6E8A-4147-A177-3AD203B41FA5}">
                      <a16:colId xmlns:a16="http://schemas.microsoft.com/office/drawing/2014/main" val="1799647169"/>
                    </a:ext>
                  </a:extLst>
                </a:gridCol>
                <a:gridCol w="628650">
                  <a:extLst>
                    <a:ext uri="{9D8B030D-6E8A-4147-A177-3AD203B41FA5}">
                      <a16:colId xmlns:a16="http://schemas.microsoft.com/office/drawing/2014/main" val="1381748258"/>
                    </a:ext>
                  </a:extLst>
                </a:gridCol>
                <a:gridCol w="628650">
                  <a:extLst>
                    <a:ext uri="{9D8B030D-6E8A-4147-A177-3AD203B41FA5}">
                      <a16:colId xmlns:a16="http://schemas.microsoft.com/office/drawing/2014/main" val="3956343915"/>
                    </a:ext>
                  </a:extLst>
                </a:gridCol>
                <a:gridCol w="628650">
                  <a:extLst>
                    <a:ext uri="{9D8B030D-6E8A-4147-A177-3AD203B41FA5}">
                      <a16:colId xmlns:a16="http://schemas.microsoft.com/office/drawing/2014/main" val="2197625001"/>
                    </a:ext>
                  </a:extLst>
                </a:gridCol>
                <a:gridCol w="628650">
                  <a:extLst>
                    <a:ext uri="{9D8B030D-6E8A-4147-A177-3AD203B41FA5}">
                      <a16:colId xmlns:a16="http://schemas.microsoft.com/office/drawing/2014/main" val="2797358484"/>
                    </a:ext>
                  </a:extLst>
                </a:gridCol>
                <a:gridCol w="628650">
                  <a:extLst>
                    <a:ext uri="{9D8B030D-6E8A-4147-A177-3AD203B41FA5}">
                      <a16:colId xmlns:a16="http://schemas.microsoft.com/office/drawing/2014/main" val="2867094755"/>
                    </a:ext>
                  </a:extLst>
                </a:gridCol>
                <a:gridCol w="628650">
                  <a:extLst>
                    <a:ext uri="{9D8B030D-6E8A-4147-A177-3AD203B41FA5}">
                      <a16:colId xmlns:a16="http://schemas.microsoft.com/office/drawing/2014/main" val="703738329"/>
                    </a:ext>
                  </a:extLst>
                </a:gridCol>
                <a:gridCol w="628650">
                  <a:extLst>
                    <a:ext uri="{9D8B030D-6E8A-4147-A177-3AD203B41FA5}">
                      <a16:colId xmlns:a16="http://schemas.microsoft.com/office/drawing/2014/main" val="3655167997"/>
                    </a:ext>
                  </a:extLst>
                </a:gridCol>
                <a:gridCol w="628650">
                  <a:extLst>
                    <a:ext uri="{9D8B030D-6E8A-4147-A177-3AD203B41FA5}">
                      <a16:colId xmlns:a16="http://schemas.microsoft.com/office/drawing/2014/main" val="2545100148"/>
                    </a:ext>
                  </a:extLst>
                </a:gridCol>
              </a:tblGrid>
              <a:tr h="0">
                <a:tc gridSpan="12">
                  <a:txBody>
                    <a:bodyPr/>
                    <a:lstStyle/>
                    <a:p>
                      <a:pPr algn="ctr" fontAlgn="b">
                        <a:buNone/>
                      </a:pPr>
                      <a:r>
                        <a:rPr lang="en-US" sz="1200" b="1" i="0" u="none" strike="noStrike" dirty="0">
                          <a:solidFill>
                            <a:schemeClr val="bg1"/>
                          </a:solidFill>
                          <a:effectLst/>
                          <a:latin typeface="Arial" panose="020B0604020202020204" pitchFamily="34" charset="0"/>
                        </a:rPr>
                        <a:t>Core Health and Wellness Behaviors</a:t>
                      </a:r>
                    </a:p>
                    <a:p>
                      <a:pPr algn="ctr" fontAlgn="b">
                        <a:buNone/>
                      </a:pPr>
                      <a:r>
                        <a:rPr lang="en-US" sz="1200" b="0" i="0" u="none" strike="noStrike" dirty="0">
                          <a:solidFill>
                            <a:schemeClr val="bg1"/>
                          </a:solidFill>
                          <a:effectLst/>
                          <a:latin typeface="Arial" panose="020B0604020202020204" pitchFamily="34" charset="0"/>
                        </a:rPr>
                        <a:t>(% of P3M Functional Nutrition Users)</a:t>
                      </a: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200" b="1" u="none" strike="noStrike" kern="1200" dirty="0">
                        <a:solidFill>
                          <a:schemeClr val="tx1"/>
                        </a:solidFill>
                        <a:effectLst/>
                        <a:latin typeface="+mn-lt"/>
                        <a:ea typeface="+mn-ea"/>
                        <a:cs typeface="+mn-cs"/>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Total</a:t>
                      </a: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Males</a:t>
                      </a:r>
                      <a:endParaRPr lang="en-US" sz="120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Females</a:t>
                      </a:r>
                      <a:endParaRPr lang="en-US" sz="1200" b="1"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18-34</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35-54</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p>
                      <a:pPr algn="ctr" fontAlgn="b">
                        <a:buNone/>
                      </a:pPr>
                      <a:endParaRPr lang="en-US" sz="1200" b="1" u="none" strike="noStrike" kern="1200" dirty="0">
                        <a:solidFill>
                          <a:schemeClr val="tx1"/>
                        </a:solidFill>
                        <a:effectLst/>
                        <a:latin typeface="+mn-lt"/>
                        <a:ea typeface="+mn-ea"/>
                        <a:cs typeface="+mn-cs"/>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55+</a:t>
                      </a:r>
                    </a:p>
                  </a:txBody>
                  <a:tcPr marL="2958" marR="2958" marT="2958"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74320">
                <a:tc>
                  <a:txBody>
                    <a:bodyPr/>
                    <a:lstStyle/>
                    <a:p>
                      <a:pPr algn="l" fontAlgn="b">
                        <a:buNone/>
                      </a:pPr>
                      <a:r>
                        <a:rPr lang="en-US" sz="1000" b="0" i="0" u="none" strike="noStrike" dirty="0">
                          <a:effectLst/>
                          <a:latin typeface="Arial" panose="020B0604020202020204" pitchFamily="34" charset="0"/>
                        </a:rPr>
                        <a:t>Eating a healthy diet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76 </a:t>
                      </a:r>
                    </a:p>
                  </a:txBody>
                  <a:tcPr marL="9525" marR="9525" marT="9525" marB="0" anchor="ctr">
                    <a:lnL w="12700" cap="flat" cmpd="sng" algn="ctr">
                      <a:no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112</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274320">
                <a:tc>
                  <a:txBody>
                    <a:bodyPr/>
                    <a:lstStyle/>
                    <a:p>
                      <a:pPr algn="l" fontAlgn="b">
                        <a:buNone/>
                      </a:pPr>
                      <a:r>
                        <a:rPr lang="en-US" sz="1000" b="0" i="0" u="none" strike="noStrike" dirty="0">
                          <a:effectLst/>
                          <a:latin typeface="Arial" panose="020B0604020202020204" pitchFamily="34" charset="0"/>
                        </a:rPr>
                        <a:t>Prioritizing exercise/physical fitness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108</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101062753"/>
                  </a:ext>
                </a:extLst>
              </a:tr>
              <a:tr h="274320">
                <a:tc>
                  <a:txBody>
                    <a:bodyPr/>
                    <a:lstStyle/>
                    <a:p>
                      <a:pPr algn="l" fontAlgn="b">
                        <a:buNone/>
                      </a:pPr>
                      <a:r>
                        <a:rPr lang="en-US" sz="1000" b="0" i="0" u="none" strike="noStrike" dirty="0">
                          <a:effectLst/>
                          <a:latin typeface="Arial" panose="020B0604020202020204" pitchFamily="34" charset="0"/>
                        </a:rPr>
                        <a:t>Prioritizing sleep</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99</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71366024"/>
                  </a:ext>
                </a:extLst>
              </a:tr>
              <a:tr h="274320">
                <a:tc>
                  <a:txBody>
                    <a:bodyPr/>
                    <a:lstStyle/>
                    <a:p>
                      <a:pPr algn="l" fontAlgn="b">
                        <a:buNone/>
                      </a:pPr>
                      <a:r>
                        <a:rPr lang="en-US" sz="1000" b="0" i="0" u="none" strike="noStrike" dirty="0">
                          <a:effectLst/>
                          <a:latin typeface="Arial" panose="020B0604020202020204" pitchFamily="34" charset="0"/>
                        </a:rPr>
                        <a:t>Taking dietary supplements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115</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341855026"/>
                  </a:ext>
                </a:extLst>
              </a:tr>
              <a:tr h="274320">
                <a:tc>
                  <a:txBody>
                    <a:bodyPr/>
                    <a:lstStyle/>
                    <a:p>
                      <a:pPr algn="l" fontAlgn="b">
                        <a:buNone/>
                      </a:pPr>
                      <a:r>
                        <a:rPr lang="en-US" sz="1000" b="0" i="0" u="none" strike="noStrike" dirty="0">
                          <a:effectLst/>
                          <a:latin typeface="Arial" panose="020B0604020202020204" pitchFamily="34" charset="0"/>
                        </a:rPr>
                        <a:t>Spending time outdoors/in nature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110</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906900625"/>
                  </a:ext>
                </a:extLst>
              </a:tr>
              <a:tr h="274320">
                <a:tc>
                  <a:txBody>
                    <a:bodyPr/>
                    <a:lstStyle/>
                    <a:p>
                      <a:pPr algn="l" fontAlgn="b">
                        <a:buNone/>
                      </a:pPr>
                      <a:r>
                        <a:rPr lang="en-US" sz="1000" b="0" i="0" u="none" strike="noStrike" dirty="0">
                          <a:effectLst/>
                          <a:latin typeface="Arial" panose="020B0604020202020204" pitchFamily="34" charset="0"/>
                        </a:rPr>
                        <a:t>Consuming functional foods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85</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109677723"/>
                  </a:ext>
                </a:extLst>
              </a:tr>
              <a:tr h="274320">
                <a:tc>
                  <a:txBody>
                    <a:bodyPr/>
                    <a:lstStyle/>
                    <a:p>
                      <a:pPr algn="l" fontAlgn="b">
                        <a:buNone/>
                      </a:pPr>
                      <a:r>
                        <a:rPr lang="en-US" sz="1000" b="0" i="0" u="none" strike="noStrike" dirty="0">
                          <a:effectLst/>
                          <a:latin typeface="Arial" panose="020B0604020202020204" pitchFamily="34" charset="0"/>
                        </a:rPr>
                        <a:t>Consuming functional beverages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75</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2758094890"/>
                  </a:ext>
                </a:extLst>
              </a:tr>
              <a:tr h="274320">
                <a:tc>
                  <a:txBody>
                    <a:bodyPr/>
                    <a:lstStyle/>
                    <a:p>
                      <a:pPr algn="l" fontAlgn="b">
                        <a:buNone/>
                      </a:pPr>
                      <a:r>
                        <a:rPr lang="en-US" sz="1000" b="0" i="0" u="none" strike="noStrike" dirty="0">
                          <a:effectLst/>
                          <a:latin typeface="Arial" panose="020B0604020202020204" pitchFamily="34" charset="0"/>
                        </a:rPr>
                        <a:t>Emotional well-being/mindfulness practices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69</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266673457"/>
                  </a:ext>
                </a:extLst>
              </a:tr>
              <a:tr h="274320">
                <a:tc>
                  <a:txBody>
                    <a:bodyPr/>
                    <a:lstStyle/>
                    <a:p>
                      <a:pPr algn="l" fontAlgn="b">
                        <a:buNone/>
                      </a:pPr>
                      <a:r>
                        <a:rPr lang="en-US" sz="1000" b="0" i="0" u="none" strike="noStrike" dirty="0">
                          <a:effectLst/>
                          <a:latin typeface="Arial" panose="020B0604020202020204" pitchFamily="34" charset="0"/>
                        </a:rPr>
                        <a:t>Researching/learning about health and wellness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85</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767924894"/>
                  </a:ext>
                </a:extLst>
              </a:tr>
              <a:tr h="274320">
                <a:tc>
                  <a:txBody>
                    <a:bodyPr/>
                    <a:lstStyle/>
                    <a:p>
                      <a:pPr algn="l" fontAlgn="b">
                        <a:buNone/>
                      </a:pPr>
                      <a:r>
                        <a:rPr lang="en-US" sz="1000" b="0" i="0" u="none" strike="noStrike" dirty="0">
                          <a:effectLst/>
                          <a:latin typeface="Arial" panose="020B0604020202020204" pitchFamily="34" charset="0"/>
                        </a:rPr>
                        <a:t>Engaging in creative outlets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77</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4140967528"/>
                  </a:ext>
                </a:extLst>
              </a:tr>
              <a:tr h="274320">
                <a:tc>
                  <a:txBody>
                    <a:bodyPr/>
                    <a:lstStyle/>
                    <a:p>
                      <a:pPr algn="l" fontAlgn="b">
                        <a:buNone/>
                      </a:pPr>
                      <a:r>
                        <a:rPr lang="en-US" sz="1000" b="0" i="0" u="none" strike="noStrike" dirty="0">
                          <a:effectLst/>
                          <a:latin typeface="Arial" panose="020B0604020202020204" pitchFamily="34" charset="0"/>
                        </a:rPr>
                        <a:t>Using health and wellness apps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66</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647775027"/>
                  </a:ext>
                </a:extLst>
              </a:tr>
              <a:tr h="274320">
                <a:tc>
                  <a:txBody>
                    <a:bodyPr/>
                    <a:lstStyle/>
                    <a:p>
                      <a:pPr algn="l" fontAlgn="b">
                        <a:buNone/>
                      </a:pPr>
                      <a:r>
                        <a:rPr lang="en-US" sz="1000" b="0" i="0" u="none" strike="noStrike" dirty="0">
                          <a:effectLst/>
                          <a:latin typeface="Arial" panose="020B0604020202020204" pitchFamily="34" charset="0"/>
                        </a:rPr>
                        <a:t>Using wearable health technology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84</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282646749"/>
                  </a:ext>
                </a:extLst>
              </a:tr>
              <a:tr h="274320">
                <a:tc>
                  <a:txBody>
                    <a:bodyPr/>
                    <a:lstStyle/>
                    <a:p>
                      <a:pPr algn="l" fontAlgn="b">
                        <a:buNone/>
                      </a:pPr>
                      <a:r>
                        <a:rPr lang="en-US" sz="1000" b="0" i="0" u="none" strike="noStrike" dirty="0">
                          <a:effectLst/>
                          <a:latin typeface="Arial" panose="020B0604020202020204" pitchFamily="34" charset="0"/>
                        </a:rPr>
                        <a:t>Limiting screen time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75</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407044804"/>
                  </a:ext>
                </a:extLst>
              </a:tr>
              <a:tr h="274320">
                <a:tc>
                  <a:txBody>
                    <a:bodyPr/>
                    <a:lstStyle/>
                    <a:p>
                      <a:pPr algn="l" fontAlgn="b">
                        <a:buNone/>
                      </a:pPr>
                      <a:r>
                        <a:rPr lang="en-US" sz="1000" b="0" i="0" u="none" strike="noStrike" dirty="0">
                          <a:effectLst/>
                          <a:latin typeface="Arial" panose="020B0604020202020204" pitchFamily="34" charset="0"/>
                        </a:rPr>
                        <a:t>Using personalized health technology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41</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3567738296"/>
                  </a:ext>
                </a:extLst>
              </a:tr>
              <a:tr h="274320">
                <a:tc>
                  <a:txBody>
                    <a:bodyPr/>
                    <a:lstStyle/>
                    <a:p>
                      <a:pPr algn="l" fontAlgn="b">
                        <a:buNone/>
                      </a:pPr>
                      <a:r>
                        <a:rPr lang="en-US" sz="1000" b="0" i="0" u="none" strike="noStrike" dirty="0">
                          <a:effectLst/>
                          <a:latin typeface="Arial" panose="020B0604020202020204" pitchFamily="34" charset="0"/>
                        </a:rPr>
                        <a:t>Following a special diet/lifestyle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76</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228522008"/>
                  </a:ext>
                </a:extLst>
              </a:tr>
              <a:tr h="274320">
                <a:tc>
                  <a:txBody>
                    <a:bodyPr/>
                    <a:lstStyle/>
                    <a:p>
                      <a:pPr algn="l" fontAlgn="b">
                        <a:buNone/>
                      </a:pPr>
                      <a:r>
                        <a:rPr lang="en-US" sz="1000" b="0" i="0" u="none" strike="noStrike" dirty="0">
                          <a:effectLst/>
                          <a:latin typeface="Arial" panose="020B0604020202020204" pitchFamily="34" charset="0"/>
                        </a:rPr>
                        <a:t>Mean # of Behaviors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6.0</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5.9</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102</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6.2</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chemeClr val="tx1"/>
                          </a:solidFill>
                          <a:effectLst/>
                          <a:latin typeface="Arial" panose="020B0604020202020204" pitchFamily="34" charset="0"/>
                        </a:rPr>
                        <a:t>104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5.5</a:t>
                      </a:r>
                    </a:p>
                  </a:txBody>
                  <a:tcPr marL="9525" marR="9525" marT="9525" marB="0" anchor="ctr">
                    <a:lnL w="12700" cap="flat" cmpd="sng" algn="ctr">
                      <a:no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chemeClr val="tx1"/>
                          </a:solidFill>
                          <a:effectLst/>
                          <a:latin typeface="Arial" panose="020B0604020202020204" pitchFamily="34" charset="0"/>
                        </a:rPr>
                        <a:t>92</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34368205"/>
                  </a:ext>
                </a:extLst>
              </a:tr>
            </a:tbl>
          </a:graphicData>
        </a:graphic>
      </p:graphicFrame>
      <p:sp>
        <p:nvSpPr>
          <p:cNvPr id="5" name="Title 4">
            <a:extLst>
              <a:ext uri="{FF2B5EF4-FFF2-40B4-BE49-F238E27FC236}">
                <a16:creationId xmlns:a16="http://schemas.microsoft.com/office/drawing/2014/main" id="{17F48109-E971-BFDA-EEB6-6CF7C1D3E981}"/>
              </a:ext>
            </a:extLst>
          </p:cNvPr>
          <p:cNvSpPr txBox="1">
            <a:spLocks/>
          </p:cNvSpPr>
          <p:nvPr/>
        </p:nvSpPr>
        <p:spPr>
          <a:xfrm>
            <a:off x="562577" y="440688"/>
            <a:ext cx="10351446" cy="444499"/>
          </a:xfrm>
          <a:prstGeom prst="rect">
            <a:avLst/>
          </a:prstGeom>
          <a:noFill/>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Health &amp; Wellness Behaviors: Gender and Age Breaks</a:t>
            </a:r>
          </a:p>
        </p:txBody>
      </p:sp>
      <p:sp>
        <p:nvSpPr>
          <p:cNvPr id="2" name="TextBox 1">
            <a:extLst>
              <a:ext uri="{FF2B5EF4-FFF2-40B4-BE49-F238E27FC236}">
                <a16:creationId xmlns:a16="http://schemas.microsoft.com/office/drawing/2014/main" id="{18033BA8-DA3D-7B01-F208-CDAEC17EA8AE}"/>
              </a:ext>
            </a:extLst>
          </p:cNvPr>
          <p:cNvSpPr txBox="1"/>
          <p:nvPr/>
        </p:nvSpPr>
        <p:spPr>
          <a:xfrm>
            <a:off x="636430" y="855974"/>
            <a:ext cx="10183192" cy="5847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Younger consumers are more likely to be using health technology and to engage in creative outlets as a core component of their health and wellness routines</a:t>
            </a: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800268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3684644C-D135-9293-8DF3-139B346FD178}"/>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4443955-3384-037D-6D45-7410C217BC11}"/>
              </a:ext>
            </a:extLst>
          </p:cNvPr>
          <p:cNvSpPr txBox="1">
            <a:spLocks/>
          </p:cNvSpPr>
          <p:nvPr/>
        </p:nvSpPr>
        <p:spPr>
          <a:xfrm>
            <a:off x="528887" y="244391"/>
            <a:ext cx="1030007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Functional Nutrition Users most often mention medical </a:t>
            </a:r>
            <a:r>
              <a:rPr lang="en-US" sz="2400" dirty="0"/>
              <a:t>professionals as one of their</a:t>
            </a: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top 3 sources of health and wellness information, followed by health and wellness publications/websites, and friends and family</a:t>
            </a:r>
          </a:p>
        </p:txBody>
      </p:sp>
      <p:sp>
        <p:nvSpPr>
          <p:cNvPr id="3" name="TextBox 2">
            <a:extLst>
              <a:ext uri="{FF2B5EF4-FFF2-40B4-BE49-F238E27FC236}">
                <a16:creationId xmlns:a16="http://schemas.microsoft.com/office/drawing/2014/main" id="{4F10A559-970B-F593-2C71-9D856FF7BF07}"/>
              </a:ext>
            </a:extLst>
          </p:cNvPr>
          <p:cNvSpPr txBox="1"/>
          <p:nvPr/>
        </p:nvSpPr>
        <p:spPr>
          <a:xfrm>
            <a:off x="410014" y="1908805"/>
            <a:ext cx="3601325" cy="3539430"/>
          </a:xfrm>
          <a:prstGeom prst="rect">
            <a:avLst/>
          </a:prstGeom>
          <a:noFill/>
        </p:spPr>
        <p:txBody>
          <a:bodyPr wrap="square" rtlCol="0">
            <a:spAutoFit/>
          </a:bodyPr>
          <a:lstStyle/>
          <a:p>
            <a:pPr marL="285750" lvl="0" indent="-285750">
              <a:buFont typeface="Arial" panose="020B0604020202020204" pitchFamily="34" charset="0"/>
              <a:buChar char="•"/>
              <a:defRPr/>
            </a:pPr>
            <a:endParaRPr lang="en-US" sz="1600" dirty="0">
              <a:solidFill>
                <a:srgbClr val="BD582C"/>
              </a:solidFill>
              <a:latin typeface="Calibri Light" panose="020F0302020204030204"/>
            </a:endParaRPr>
          </a:p>
          <a:p>
            <a:pPr marL="285750" lvl="0" indent="-285750">
              <a:buFont typeface="Arial" panose="020B0604020202020204" pitchFamily="34" charset="0"/>
              <a:buChar char="•"/>
              <a:defRPr/>
            </a:pPr>
            <a:r>
              <a:rPr lang="en-US" sz="1600" dirty="0">
                <a:solidFill>
                  <a:srgbClr val="BD582C"/>
                </a:solidFill>
                <a:latin typeface="Calibri Light" panose="020F0302020204030204"/>
              </a:rPr>
              <a:t>About a quarter rely on online reviews as a top source of information</a:t>
            </a:r>
            <a:br>
              <a:rPr lang="en-US" sz="1600" dirty="0">
                <a:solidFill>
                  <a:srgbClr val="BD582C"/>
                </a:solidFill>
                <a:latin typeface="Calibri Light" panose="020F0302020204030204"/>
              </a:rPr>
            </a:br>
            <a:endParaRPr lang="en-US" sz="1600" dirty="0">
              <a:solidFill>
                <a:srgbClr val="BD582C"/>
              </a:solidFill>
              <a:latin typeface="Calibri Light" panose="020F03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Brands are more often mentioned among the top 3 information sources than influencers, government websites, or other wellness professionals</a:t>
            </a:r>
            <a:b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General social media influencers</a:t>
            </a:r>
            <a:r>
              <a:rPr lang="en-US" sz="1600" dirty="0">
                <a:solidFill>
                  <a:srgbClr val="BD582C"/>
                </a:solidFill>
                <a:latin typeface="Calibri Light" panose="020F0302020204030204"/>
              </a:rPr>
              <a:t> appear to have slightly greater impact than athletes or celebrities</a:t>
            </a:r>
            <a:br>
              <a:rPr lang="en-US" sz="1600" dirty="0">
                <a:solidFill>
                  <a:srgbClr val="BD582C"/>
                </a:solidFill>
                <a:latin typeface="Calibri Light" panose="020F0302020204030204"/>
              </a:rPr>
            </a:br>
            <a:endParaRPr lang="en-US" sz="1600" dirty="0">
              <a:solidFill>
                <a:srgbClr val="BD582C"/>
              </a:solidFill>
              <a:latin typeface="Calibri Light" panose="020F0302020204030204"/>
            </a:endParaRPr>
          </a:p>
        </p:txBody>
      </p:sp>
      <p:sp>
        <p:nvSpPr>
          <p:cNvPr id="73" name="TextBox 72">
            <a:extLst>
              <a:ext uri="{FF2B5EF4-FFF2-40B4-BE49-F238E27FC236}">
                <a16:creationId xmlns:a16="http://schemas.microsoft.com/office/drawing/2014/main" id="{BCBC3B54-8513-3989-8FF4-9F378CD6E66A}"/>
              </a:ext>
            </a:extLst>
          </p:cNvPr>
          <p:cNvSpPr txBox="1"/>
          <p:nvPr/>
        </p:nvSpPr>
        <p:spPr>
          <a:xfrm>
            <a:off x="0" y="6083333"/>
            <a:ext cx="9154274" cy="246221"/>
          </a:xfrm>
          <a:prstGeom prst="rect">
            <a:avLst/>
          </a:prstGeom>
          <a:noFill/>
        </p:spPr>
        <p:txBody>
          <a:bodyPr wrap="square" rtlCol="0">
            <a:spAutoFit/>
          </a:bodyPr>
          <a:lstStyle/>
          <a:p>
            <a:pPr lvl="0"/>
            <a:r>
              <a:rPr lang="en-US" sz="1000" i="1" dirty="0"/>
              <a:t>H5. Which of the following sources do you </a:t>
            </a:r>
            <a:r>
              <a:rPr lang="en-US" sz="1000" b="1" i="1" dirty="0"/>
              <a:t>most often</a:t>
            </a:r>
            <a:r>
              <a:rPr lang="en-US" sz="1000" i="1" dirty="0"/>
              <a:t> turn to for information and advice about health and wellness topics? Please select your </a:t>
            </a:r>
            <a:r>
              <a:rPr lang="en-US" sz="1000" b="1" i="1" dirty="0"/>
              <a:t>top 3</a:t>
            </a:r>
            <a:r>
              <a:rPr lang="en-US" sz="1000" i="1" dirty="0"/>
              <a:t> sources.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E64508F3-6427-6B4F-21B0-291F9269035B}"/>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01FE3F4E-A9B4-2C31-C3CD-E43B0BE008D1}"/>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DA515162-10A5-841A-1AC7-875A45933EC3}"/>
              </a:ext>
            </a:extLst>
          </p:cNvPr>
          <p:cNvGraphicFramePr/>
          <p:nvPr>
            <p:extLst>
              <p:ext uri="{D42A27DB-BD31-4B8C-83A1-F6EECF244321}">
                <p14:modId xmlns:p14="http://schemas.microsoft.com/office/powerpoint/2010/main" val="2597977219"/>
              </p:ext>
            </p:extLst>
          </p:nvPr>
        </p:nvGraphicFramePr>
        <p:xfrm>
          <a:off x="4011339" y="1366463"/>
          <a:ext cx="7898387" cy="462411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7B59C357-8A2E-35E4-E5B4-A0AAA13564FE}"/>
              </a:ext>
            </a:extLst>
          </p:cNvPr>
          <p:cNvSpPr txBox="1"/>
          <p:nvPr/>
        </p:nvSpPr>
        <p:spPr>
          <a:xfrm>
            <a:off x="10828963" y="466640"/>
            <a:ext cx="1222625" cy="369332"/>
          </a:xfrm>
          <a:prstGeom prst="rect">
            <a:avLst/>
          </a:prstGeom>
          <a:solidFill>
            <a:srgbClr val="FFFF00"/>
          </a:solidFill>
        </p:spPr>
        <p:txBody>
          <a:bodyPr wrap="square" rtlCol="0">
            <a:spAutoFit/>
          </a:bodyPr>
          <a:lstStyle/>
          <a:p>
            <a:r>
              <a:rPr lang="en-US" dirty="0"/>
              <a:t>Add nets</a:t>
            </a:r>
          </a:p>
        </p:txBody>
      </p:sp>
    </p:spTree>
    <p:extLst>
      <p:ext uri="{BB962C8B-B14F-4D97-AF65-F5344CB8AC3E}">
        <p14:creationId xmlns:p14="http://schemas.microsoft.com/office/powerpoint/2010/main" val="3247736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BF8469-7BEC-1B8D-940B-0B901F098B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496E89-7CC3-9EAE-44AD-6465FA4C769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5B232825-FE67-809C-2786-ED9A393EA40E}"/>
              </a:ext>
            </a:extLst>
          </p:cNvPr>
          <p:cNvSpPr>
            <a:spLocks noGrp="1"/>
          </p:cNvSpPr>
          <p:nvPr>
            <p:ph type="ftr" sz="quarter" idx="4294967295"/>
          </p:nvPr>
        </p:nvSpPr>
        <p:spPr>
          <a:xfrm>
            <a:off x="7369175" y="6459538"/>
            <a:ext cx="4822825"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9" name="Table 8">
            <a:extLst>
              <a:ext uri="{FF2B5EF4-FFF2-40B4-BE49-F238E27FC236}">
                <a16:creationId xmlns:a16="http://schemas.microsoft.com/office/drawing/2014/main" id="{D41B2371-1720-943E-7107-110EB424D327}"/>
              </a:ext>
            </a:extLst>
          </p:cNvPr>
          <p:cNvGraphicFramePr>
            <a:graphicFrameLocks noGrp="1"/>
          </p:cNvGraphicFramePr>
          <p:nvPr>
            <p:extLst>
              <p:ext uri="{D42A27DB-BD31-4B8C-83A1-F6EECF244321}">
                <p14:modId xmlns:p14="http://schemas.microsoft.com/office/powerpoint/2010/main" val="3532737739"/>
              </p:ext>
            </p:extLst>
          </p:nvPr>
        </p:nvGraphicFramePr>
        <p:xfrm>
          <a:off x="368561" y="1163003"/>
          <a:ext cx="11304270" cy="5583756"/>
        </p:xfrm>
        <a:graphic>
          <a:graphicData uri="http://schemas.openxmlformats.org/drawingml/2006/table">
            <a:tbl>
              <a:tblPr>
                <a:tableStyleId>{3B4B98B0-60AC-42C2-AFA5-B58CD77FA1E5}</a:tableStyleId>
              </a:tblPr>
              <a:tblGrid>
                <a:gridCol w="4389120">
                  <a:extLst>
                    <a:ext uri="{9D8B030D-6E8A-4147-A177-3AD203B41FA5}">
                      <a16:colId xmlns:a16="http://schemas.microsoft.com/office/drawing/2014/main" val="4107426551"/>
                    </a:ext>
                  </a:extLst>
                </a:gridCol>
                <a:gridCol w="628650">
                  <a:extLst>
                    <a:ext uri="{9D8B030D-6E8A-4147-A177-3AD203B41FA5}">
                      <a16:colId xmlns:a16="http://schemas.microsoft.com/office/drawing/2014/main" val="1023070692"/>
                    </a:ext>
                  </a:extLst>
                </a:gridCol>
                <a:gridCol w="628650">
                  <a:extLst>
                    <a:ext uri="{9D8B030D-6E8A-4147-A177-3AD203B41FA5}">
                      <a16:colId xmlns:a16="http://schemas.microsoft.com/office/drawing/2014/main" val="871605687"/>
                    </a:ext>
                  </a:extLst>
                </a:gridCol>
                <a:gridCol w="628650">
                  <a:extLst>
                    <a:ext uri="{9D8B030D-6E8A-4147-A177-3AD203B41FA5}">
                      <a16:colId xmlns:a16="http://schemas.microsoft.com/office/drawing/2014/main" val="1799647169"/>
                    </a:ext>
                  </a:extLst>
                </a:gridCol>
                <a:gridCol w="628650">
                  <a:extLst>
                    <a:ext uri="{9D8B030D-6E8A-4147-A177-3AD203B41FA5}">
                      <a16:colId xmlns:a16="http://schemas.microsoft.com/office/drawing/2014/main" val="1381748258"/>
                    </a:ext>
                  </a:extLst>
                </a:gridCol>
                <a:gridCol w="628650">
                  <a:extLst>
                    <a:ext uri="{9D8B030D-6E8A-4147-A177-3AD203B41FA5}">
                      <a16:colId xmlns:a16="http://schemas.microsoft.com/office/drawing/2014/main" val="3956343915"/>
                    </a:ext>
                  </a:extLst>
                </a:gridCol>
                <a:gridCol w="628650">
                  <a:extLst>
                    <a:ext uri="{9D8B030D-6E8A-4147-A177-3AD203B41FA5}">
                      <a16:colId xmlns:a16="http://schemas.microsoft.com/office/drawing/2014/main" val="2197625001"/>
                    </a:ext>
                  </a:extLst>
                </a:gridCol>
                <a:gridCol w="628650">
                  <a:extLst>
                    <a:ext uri="{9D8B030D-6E8A-4147-A177-3AD203B41FA5}">
                      <a16:colId xmlns:a16="http://schemas.microsoft.com/office/drawing/2014/main" val="2797358484"/>
                    </a:ext>
                  </a:extLst>
                </a:gridCol>
                <a:gridCol w="628650">
                  <a:extLst>
                    <a:ext uri="{9D8B030D-6E8A-4147-A177-3AD203B41FA5}">
                      <a16:colId xmlns:a16="http://schemas.microsoft.com/office/drawing/2014/main" val="2867094755"/>
                    </a:ext>
                  </a:extLst>
                </a:gridCol>
                <a:gridCol w="628650">
                  <a:extLst>
                    <a:ext uri="{9D8B030D-6E8A-4147-A177-3AD203B41FA5}">
                      <a16:colId xmlns:a16="http://schemas.microsoft.com/office/drawing/2014/main" val="703738329"/>
                    </a:ext>
                  </a:extLst>
                </a:gridCol>
                <a:gridCol w="628650">
                  <a:extLst>
                    <a:ext uri="{9D8B030D-6E8A-4147-A177-3AD203B41FA5}">
                      <a16:colId xmlns:a16="http://schemas.microsoft.com/office/drawing/2014/main" val="3655167997"/>
                    </a:ext>
                  </a:extLst>
                </a:gridCol>
                <a:gridCol w="628650">
                  <a:extLst>
                    <a:ext uri="{9D8B030D-6E8A-4147-A177-3AD203B41FA5}">
                      <a16:colId xmlns:a16="http://schemas.microsoft.com/office/drawing/2014/main" val="2545100148"/>
                    </a:ext>
                  </a:extLst>
                </a:gridCol>
              </a:tblGrid>
              <a:tr h="0">
                <a:tc gridSpan="12">
                  <a:txBody>
                    <a:bodyPr/>
                    <a:lstStyle/>
                    <a:p>
                      <a:pPr algn="ctr" fontAlgn="b">
                        <a:buNone/>
                      </a:pPr>
                      <a:r>
                        <a:rPr lang="en-US" sz="1200" b="1" i="0" u="none" strike="noStrike" dirty="0">
                          <a:solidFill>
                            <a:schemeClr val="bg1"/>
                          </a:solidFill>
                          <a:effectLst/>
                          <a:latin typeface="Arial" panose="020B0604020202020204" pitchFamily="34" charset="0"/>
                        </a:rPr>
                        <a:t>Health and Wellness Information Sources</a:t>
                      </a:r>
                    </a:p>
                    <a:p>
                      <a:pPr algn="ctr" fontAlgn="b">
                        <a:buNone/>
                      </a:pPr>
                      <a:r>
                        <a:rPr lang="en-US" sz="1200" b="0" i="0" u="none" strike="noStrike" dirty="0">
                          <a:solidFill>
                            <a:schemeClr val="bg1"/>
                          </a:solidFill>
                          <a:effectLst/>
                          <a:latin typeface="Arial" panose="020B0604020202020204" pitchFamily="34" charset="0"/>
                        </a:rPr>
                        <a:t>(% of P3M Functional Nutrition Users Selecting as one of Top 3 Information Sources)</a:t>
                      </a: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200" b="1" u="none" strike="noStrike" kern="1200" dirty="0">
                        <a:solidFill>
                          <a:schemeClr val="tx1"/>
                        </a:solidFill>
                        <a:effectLst/>
                        <a:latin typeface="+mn-lt"/>
                        <a:ea typeface="+mn-ea"/>
                        <a:cs typeface="+mn-cs"/>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Total</a:t>
                      </a: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Males</a:t>
                      </a:r>
                      <a:endParaRPr lang="en-US" sz="120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Females</a:t>
                      </a:r>
                      <a:endParaRPr lang="en-US" sz="1200" b="1"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18-34</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35-54</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p>
                      <a:pPr algn="ctr" fontAlgn="b">
                        <a:buNone/>
                      </a:pPr>
                      <a:endParaRPr lang="en-US" sz="1200" b="1" u="none" strike="noStrike" kern="1200" dirty="0">
                        <a:solidFill>
                          <a:schemeClr val="tx1"/>
                        </a:solidFill>
                        <a:effectLst/>
                        <a:latin typeface="+mn-lt"/>
                        <a:ea typeface="+mn-ea"/>
                        <a:cs typeface="+mn-cs"/>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55+</a:t>
                      </a:r>
                    </a:p>
                  </a:txBody>
                  <a:tcPr marL="2958" marR="2958" marT="2958"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74320">
                <a:tc>
                  <a:txBody>
                    <a:bodyPr/>
                    <a:lstStyle/>
                    <a:p>
                      <a:pPr algn="l" fontAlgn="b">
                        <a:buNone/>
                      </a:pPr>
                      <a:r>
                        <a:rPr lang="en-US" sz="1000" b="0" i="0" u="none" strike="noStrike" dirty="0">
                          <a:effectLst/>
                          <a:latin typeface="Arial" panose="020B0604020202020204" pitchFamily="34" charset="0"/>
                        </a:rPr>
                        <a:t>Doctor/medical professional</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28676805"/>
                  </a:ext>
                </a:extLst>
              </a:tr>
              <a:tr h="274320">
                <a:tc>
                  <a:txBody>
                    <a:bodyPr/>
                    <a:lstStyle/>
                    <a:p>
                      <a:pPr algn="l" fontAlgn="b">
                        <a:buNone/>
                      </a:pPr>
                      <a:r>
                        <a:rPr lang="en-US" sz="1000" b="0" i="0" u="none" strike="noStrike" dirty="0">
                          <a:effectLst/>
                          <a:latin typeface="Arial" panose="020B0604020202020204" pitchFamily="34" charset="0"/>
                        </a:rPr>
                        <a:t>Health and wellness publications/websites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822989877"/>
                  </a:ext>
                </a:extLst>
              </a:tr>
              <a:tr h="274320">
                <a:tc>
                  <a:txBody>
                    <a:bodyPr/>
                    <a:lstStyle/>
                    <a:p>
                      <a:pPr algn="l" fontAlgn="b">
                        <a:buNone/>
                      </a:pPr>
                      <a:r>
                        <a:rPr lang="en-US" sz="1000" b="0" i="0" u="none" strike="noStrike" dirty="0">
                          <a:effectLst/>
                          <a:latin typeface="Arial" panose="020B0604020202020204" pitchFamily="34" charset="0"/>
                        </a:rPr>
                        <a:t>Friends and family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470474196"/>
                  </a:ext>
                </a:extLst>
              </a:tr>
              <a:tr h="274320">
                <a:tc>
                  <a:txBody>
                    <a:bodyPr/>
                    <a:lstStyle/>
                    <a:p>
                      <a:pPr algn="l" fontAlgn="b">
                        <a:buNone/>
                      </a:pPr>
                      <a:r>
                        <a:rPr lang="en-US" sz="1000" b="0" i="0" u="none" strike="noStrike" dirty="0">
                          <a:effectLst/>
                          <a:latin typeface="Arial" panose="020B0604020202020204" pitchFamily="34" charset="0"/>
                        </a:rPr>
                        <a:t>Online reviews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101062753"/>
                  </a:ext>
                </a:extLst>
              </a:tr>
              <a:tr h="274320">
                <a:tc>
                  <a:txBody>
                    <a:bodyPr/>
                    <a:lstStyle/>
                    <a:p>
                      <a:pPr algn="l" fontAlgn="b">
                        <a:buNone/>
                      </a:pPr>
                      <a:r>
                        <a:rPr lang="en-US" sz="1000" b="0" i="0" u="none" strike="noStrike" dirty="0">
                          <a:effectLst/>
                          <a:latin typeface="Arial" panose="020B0604020202020204" pitchFamily="34" charset="0"/>
                        </a:rPr>
                        <a:t>Health &amp; wellness product manufacturers/brands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71366024"/>
                  </a:ext>
                </a:extLst>
              </a:tr>
              <a:tr h="274320">
                <a:tc>
                  <a:txBody>
                    <a:bodyPr/>
                    <a:lstStyle/>
                    <a:p>
                      <a:pPr algn="l" fontAlgn="b">
                        <a:buNone/>
                      </a:pPr>
                      <a:r>
                        <a:rPr lang="en-US" sz="1000" b="0" i="0" u="none" strike="noStrike" dirty="0">
                          <a:effectLst/>
                          <a:latin typeface="Arial" panose="020B0604020202020204" pitchFamily="34" charset="0"/>
                        </a:rPr>
                        <a:t>General interest publications/websites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123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341855026"/>
                  </a:ext>
                </a:extLst>
              </a:tr>
              <a:tr h="274320">
                <a:tc>
                  <a:txBody>
                    <a:bodyPr/>
                    <a:lstStyle/>
                    <a:p>
                      <a:pPr algn="l" fontAlgn="b">
                        <a:buNone/>
                      </a:pPr>
                      <a:r>
                        <a:rPr lang="en-US" sz="1000" b="0" i="0" u="none" strike="noStrike" dirty="0">
                          <a:effectLst/>
                          <a:latin typeface="Arial" panose="020B0604020202020204" pitchFamily="34" charset="0"/>
                        </a:rPr>
                        <a:t>Product packaging</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906900625"/>
                  </a:ext>
                </a:extLst>
              </a:tr>
              <a:tr h="274320">
                <a:tc>
                  <a:txBody>
                    <a:bodyPr/>
                    <a:lstStyle/>
                    <a:p>
                      <a:pPr algn="l" fontAlgn="b">
                        <a:buNone/>
                      </a:pPr>
                      <a:r>
                        <a:rPr lang="en-US" sz="1000" b="0" i="0" u="none" strike="noStrike" dirty="0">
                          <a:effectLst/>
                          <a:latin typeface="Arial" panose="020B0604020202020204" pitchFamily="34" charset="0"/>
                        </a:rPr>
                        <a:t>Social media influencer/podcaster</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170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2109677723"/>
                  </a:ext>
                </a:extLst>
              </a:tr>
              <a:tr h="274320">
                <a:tc>
                  <a:txBody>
                    <a:bodyPr/>
                    <a:lstStyle/>
                    <a:p>
                      <a:pPr algn="l" fontAlgn="b">
                        <a:buNone/>
                      </a:pPr>
                      <a:r>
                        <a:rPr lang="en-US" sz="1000" b="0" i="0" u="none" strike="noStrike" dirty="0">
                          <a:effectLst/>
                          <a:latin typeface="Arial" panose="020B0604020202020204" pitchFamily="34" charset="0"/>
                        </a:rPr>
                        <a:t>Coach/trainer/Physical therapist</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758094890"/>
                  </a:ext>
                </a:extLst>
              </a:tr>
              <a:tr h="274320">
                <a:tc>
                  <a:txBody>
                    <a:bodyPr/>
                    <a:lstStyle/>
                    <a:p>
                      <a:pPr algn="l" fontAlgn="b">
                        <a:buNone/>
                      </a:pPr>
                      <a:r>
                        <a:rPr lang="en-US" sz="1000" b="0" i="0" u="none" strike="noStrike" dirty="0">
                          <a:effectLst/>
                          <a:latin typeface="Arial" panose="020B0604020202020204" pitchFamily="34" charset="0"/>
                        </a:rPr>
                        <a:t>Government websites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130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266673457"/>
                  </a:ext>
                </a:extLst>
              </a:tr>
              <a:tr h="274320">
                <a:tc>
                  <a:txBody>
                    <a:bodyPr/>
                    <a:lstStyle/>
                    <a:p>
                      <a:pPr algn="l" fontAlgn="b">
                        <a:buNone/>
                      </a:pPr>
                      <a:r>
                        <a:rPr lang="en-US" sz="1000" b="0" i="0" u="none" strike="noStrike" dirty="0">
                          <a:effectLst/>
                          <a:latin typeface="Arial" panose="020B0604020202020204" pitchFamily="34" charset="0"/>
                        </a:rPr>
                        <a:t>Health technology companies/apps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767924894"/>
                  </a:ext>
                </a:extLst>
              </a:tr>
              <a:tr h="274320">
                <a:tc>
                  <a:txBody>
                    <a:bodyPr/>
                    <a:lstStyle/>
                    <a:p>
                      <a:pPr algn="l" fontAlgn="b">
                        <a:buNone/>
                      </a:pPr>
                      <a:r>
                        <a:rPr lang="en-US" sz="1000" b="0" i="0" u="none" strike="noStrike" dirty="0">
                          <a:effectLst/>
                          <a:latin typeface="Arial" panose="020B0604020202020204" pitchFamily="34" charset="0"/>
                        </a:rPr>
                        <a:t>Other wellness professionals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140967528"/>
                  </a:ext>
                </a:extLst>
              </a:tr>
              <a:tr h="274320">
                <a:tc>
                  <a:txBody>
                    <a:bodyPr/>
                    <a:lstStyle/>
                    <a:p>
                      <a:pPr algn="l" fontAlgn="b">
                        <a:buNone/>
                      </a:pPr>
                      <a:r>
                        <a:rPr lang="en-US" sz="1000" b="0" i="0" u="none" strike="noStrike" dirty="0">
                          <a:effectLst/>
                          <a:latin typeface="Arial" panose="020B0604020202020204" pitchFamily="34" charset="0"/>
                        </a:rPr>
                        <a:t>Therapist/counselor</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57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647775027"/>
                  </a:ext>
                </a:extLst>
              </a:tr>
              <a:tr h="274320">
                <a:tc>
                  <a:txBody>
                    <a:bodyPr/>
                    <a:lstStyle/>
                    <a:p>
                      <a:pPr algn="l" fontAlgn="b">
                        <a:buNone/>
                      </a:pPr>
                      <a:r>
                        <a:rPr lang="en-US" sz="1000" b="0" i="0" u="none" strike="noStrike" dirty="0">
                          <a:effectLst/>
                          <a:latin typeface="Arial" panose="020B0604020202020204" pitchFamily="34" charset="0"/>
                        </a:rPr>
                        <a:t>Retailers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282646749"/>
                  </a:ext>
                </a:extLst>
              </a:tr>
              <a:tr h="274320">
                <a:tc>
                  <a:txBody>
                    <a:bodyPr/>
                    <a:lstStyle/>
                    <a:p>
                      <a:pPr algn="l" fontAlgn="b">
                        <a:buNone/>
                      </a:pPr>
                      <a:r>
                        <a:rPr lang="en-US" sz="1000" b="0" i="0" u="none" strike="noStrike" dirty="0">
                          <a:effectLst/>
                          <a:latin typeface="Arial" panose="020B0604020202020204" pitchFamily="34" charset="0"/>
                        </a:rPr>
                        <a:t>Athlete influence/podcaster</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185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407044804"/>
                  </a:ext>
                </a:extLst>
              </a:tr>
              <a:tr h="274320">
                <a:tc>
                  <a:txBody>
                    <a:bodyPr/>
                    <a:lstStyle/>
                    <a:p>
                      <a:pPr algn="l" fontAlgn="b">
                        <a:buNone/>
                      </a:pPr>
                      <a:r>
                        <a:rPr lang="en-US" sz="1000" b="0" i="0" u="none" strike="noStrike" dirty="0">
                          <a:effectLst/>
                          <a:latin typeface="Arial" panose="020B0604020202020204" pitchFamily="34" charset="0"/>
                        </a:rPr>
                        <a:t>Third-party testers/certifiers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567738296"/>
                  </a:ext>
                </a:extLst>
              </a:tr>
              <a:tr h="274320">
                <a:tc>
                  <a:txBody>
                    <a:bodyPr/>
                    <a:lstStyle/>
                    <a:p>
                      <a:pPr algn="l" fontAlgn="b">
                        <a:buNone/>
                      </a:pPr>
                      <a:r>
                        <a:rPr lang="en-US" sz="1000" b="0" i="0" u="none" strike="noStrike" dirty="0">
                          <a:effectLst/>
                          <a:latin typeface="Arial" panose="020B0604020202020204" pitchFamily="34" charset="0"/>
                        </a:rPr>
                        <a:t>Celebrity influencer/podcaster</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26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4228522008"/>
                  </a:ext>
                </a:extLst>
              </a:tr>
            </a:tbl>
          </a:graphicData>
        </a:graphic>
      </p:graphicFrame>
      <p:sp>
        <p:nvSpPr>
          <p:cNvPr id="5" name="Title 4">
            <a:extLst>
              <a:ext uri="{FF2B5EF4-FFF2-40B4-BE49-F238E27FC236}">
                <a16:creationId xmlns:a16="http://schemas.microsoft.com/office/drawing/2014/main" id="{7D734037-2AA8-2A14-26EF-46106A2A74B9}"/>
              </a:ext>
            </a:extLst>
          </p:cNvPr>
          <p:cNvSpPr txBox="1">
            <a:spLocks/>
          </p:cNvSpPr>
          <p:nvPr/>
        </p:nvSpPr>
        <p:spPr>
          <a:xfrm>
            <a:off x="368561" y="277890"/>
            <a:ext cx="10351446" cy="444499"/>
          </a:xfrm>
          <a:prstGeom prst="rect">
            <a:avLst/>
          </a:prstGeom>
          <a:noFill/>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Health &amp; Wellness Information Sources: Gender and Age Breaks</a:t>
            </a:r>
          </a:p>
        </p:txBody>
      </p:sp>
      <p:sp>
        <p:nvSpPr>
          <p:cNvPr id="2" name="TextBox 1">
            <a:extLst>
              <a:ext uri="{FF2B5EF4-FFF2-40B4-BE49-F238E27FC236}">
                <a16:creationId xmlns:a16="http://schemas.microsoft.com/office/drawing/2014/main" id="{DEE09DF3-B4C1-0D32-3FDD-C173213EE583}"/>
              </a:ext>
            </a:extLst>
          </p:cNvPr>
          <p:cNvSpPr txBox="1"/>
          <p:nvPr/>
        </p:nvSpPr>
        <p:spPr>
          <a:xfrm>
            <a:off x="536815" y="722389"/>
            <a:ext cx="10183192" cy="338554"/>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Men and younger consumers are more likely to turn to influencers for health and wellness information</a:t>
            </a: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896392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52320678-3B6D-43E1-64C2-0923931BF6B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AD7948C8-22EB-E185-804D-FD18886D73E8}"/>
              </a:ext>
            </a:extLst>
          </p:cNvPr>
          <p:cNvSpPr txBox="1">
            <a:spLocks/>
          </p:cNvSpPr>
          <p:nvPr/>
        </p:nvSpPr>
        <p:spPr>
          <a:xfrm>
            <a:off x="528886" y="528446"/>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Over a third of Functional Nutrition Users cite too much/conflicting information and difficulty staying motivated as health and wellness challenges</a:t>
            </a:r>
          </a:p>
        </p:txBody>
      </p:sp>
      <p:sp>
        <p:nvSpPr>
          <p:cNvPr id="73" name="TextBox 72">
            <a:extLst>
              <a:ext uri="{FF2B5EF4-FFF2-40B4-BE49-F238E27FC236}">
                <a16:creationId xmlns:a16="http://schemas.microsoft.com/office/drawing/2014/main" id="{F0DDDC1E-C3EA-306E-5342-43E8EEE9D93D}"/>
              </a:ext>
            </a:extLst>
          </p:cNvPr>
          <p:cNvSpPr txBox="1"/>
          <p:nvPr/>
        </p:nvSpPr>
        <p:spPr>
          <a:xfrm>
            <a:off x="0" y="6083333"/>
            <a:ext cx="9154274"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H6. What challenges, if any, do you face when trying to maintain or improve your health and well-being?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703B3B68-BD4A-B7E6-C614-F81CF0CC6C09}"/>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B3228FDE-9209-8BAA-4A1B-340AC277E18A}"/>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DC773105-A22D-E00B-E133-9A6B5B705614}"/>
              </a:ext>
            </a:extLst>
          </p:cNvPr>
          <p:cNvGraphicFramePr/>
          <p:nvPr>
            <p:extLst>
              <p:ext uri="{D42A27DB-BD31-4B8C-83A1-F6EECF244321}">
                <p14:modId xmlns:p14="http://schemas.microsoft.com/office/powerpoint/2010/main" val="3031258769"/>
              </p:ext>
            </p:extLst>
          </p:nvPr>
        </p:nvGraphicFramePr>
        <p:xfrm>
          <a:off x="875738" y="1582328"/>
          <a:ext cx="10440523" cy="462411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E7F13061-2FDF-8C3F-8783-C287EE92B075}"/>
              </a:ext>
            </a:extLst>
          </p:cNvPr>
          <p:cNvSpPr txBox="1"/>
          <p:nvPr/>
        </p:nvSpPr>
        <p:spPr>
          <a:xfrm>
            <a:off x="528886" y="1289940"/>
            <a:ext cx="11050089" cy="5847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Just over a quarter express concerns about expense and lack of trust in the information provided by influencers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Just under a quarter </a:t>
            </a:r>
            <a:r>
              <a:rPr lang="en-US" sz="1600" dirty="0">
                <a:solidFill>
                  <a:srgbClr val="BD582C"/>
                </a:solidFill>
                <a:latin typeface="Calibri Light" panose="020F0302020204030204"/>
              </a:rPr>
              <a:t>claim not to experience any of these challenges</a:t>
            </a: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cxnSp>
        <p:nvCxnSpPr>
          <p:cNvPr id="9" name="Straight Connector 8">
            <a:extLst>
              <a:ext uri="{FF2B5EF4-FFF2-40B4-BE49-F238E27FC236}">
                <a16:creationId xmlns:a16="http://schemas.microsoft.com/office/drawing/2014/main" id="{496D5E10-82C6-1DC0-ADA6-A89741E04A62}"/>
              </a:ext>
            </a:extLst>
          </p:cNvPr>
          <p:cNvCxnSpPr>
            <a:cxnSpLocks/>
          </p:cNvCxnSpPr>
          <p:nvPr/>
        </p:nvCxnSpPr>
        <p:spPr>
          <a:xfrm>
            <a:off x="9760450" y="2517169"/>
            <a:ext cx="0" cy="2928136"/>
          </a:xfrm>
          <a:prstGeom prst="line">
            <a:avLst/>
          </a:prstGeom>
        </p:spPr>
        <p:style>
          <a:lnRef idx="2">
            <a:schemeClr val="accent1"/>
          </a:lnRef>
          <a:fillRef idx="0">
            <a:schemeClr val="accent1"/>
          </a:fillRef>
          <a:effectRef idx="1">
            <a:schemeClr val="accent1"/>
          </a:effectRef>
          <a:fontRef idx="minor">
            <a:schemeClr val="tx1"/>
          </a:fontRef>
        </p:style>
      </p:cxnSp>
      <p:sp>
        <p:nvSpPr>
          <p:cNvPr id="12" name="Google Shape;1708;p28">
            <a:extLst>
              <a:ext uri="{FF2B5EF4-FFF2-40B4-BE49-F238E27FC236}">
                <a16:creationId xmlns:a16="http://schemas.microsoft.com/office/drawing/2014/main" id="{412EE160-3C24-5597-1662-51D1681E710B}"/>
              </a:ext>
            </a:extLst>
          </p:cNvPr>
          <p:cNvSpPr/>
          <p:nvPr/>
        </p:nvSpPr>
        <p:spPr>
          <a:xfrm>
            <a:off x="8836308" y="3740645"/>
            <a:ext cx="831673" cy="584775"/>
          </a:xfrm>
          <a:prstGeom prst="wedgeRoundRectCallout">
            <a:avLst>
              <a:gd name="adj1" fmla="val -8342"/>
              <a:gd name="adj2" fmla="val -44624"/>
              <a:gd name="adj3" fmla="val 16667"/>
            </a:avLst>
          </a:prstGeom>
          <a:solidFill>
            <a:schemeClr val="accent1">
              <a:lumMod val="20000"/>
              <a:lumOff val="80000"/>
            </a:schemeClr>
          </a:solidFill>
          <a:ln>
            <a:noFill/>
          </a:ln>
        </p:spPr>
        <p:txBody>
          <a:bodyPr spcFirstLastPara="1" wrap="square" lIns="27425" tIns="27425" rIns="27425" bIns="27425" anchor="ctr" anchorCtr="0">
            <a:noAutofit/>
          </a:bodyPr>
          <a:lstStyle/>
          <a:p>
            <a:pPr marR="0" lvl="0" algn="ctr" rtl="0">
              <a:spcBef>
                <a:spcPts val="0"/>
              </a:spcBef>
              <a:spcAft>
                <a:spcPts val="0"/>
              </a:spcAft>
              <a:buClr>
                <a:schemeClr val="dk1"/>
              </a:buClr>
              <a:buSzPts val="900"/>
            </a:pPr>
            <a:r>
              <a:rPr lang="en-US" sz="900" b="1" dirty="0">
                <a:solidFill>
                  <a:schemeClr val="dk1"/>
                </a:solidFill>
                <a:latin typeface="Lato"/>
                <a:ea typeface="Lato"/>
                <a:cs typeface="Lato"/>
                <a:sym typeface="Lato"/>
              </a:rPr>
              <a:t>18-24 = 21% </a:t>
            </a:r>
            <a:r>
              <a:rPr lang="en-US" sz="900" b="1" dirty="0">
                <a:solidFill>
                  <a:srgbClr val="33896C"/>
                </a:solidFill>
                <a:latin typeface="Lato"/>
                <a:ea typeface="Lato"/>
                <a:cs typeface="Lato"/>
                <a:sym typeface="Lato"/>
              </a:rPr>
              <a:t>(193)</a:t>
            </a:r>
          </a:p>
          <a:p>
            <a:pPr marR="0" lvl="0" algn="ctr" rtl="0">
              <a:spcBef>
                <a:spcPts val="0"/>
              </a:spcBef>
              <a:spcAft>
                <a:spcPts val="0"/>
              </a:spcAft>
              <a:buClr>
                <a:schemeClr val="dk1"/>
              </a:buClr>
              <a:buSzPts val="900"/>
            </a:pPr>
            <a:r>
              <a:rPr lang="en-US" sz="900" b="1" dirty="0">
                <a:solidFill>
                  <a:schemeClr val="dk1"/>
                </a:solidFill>
                <a:latin typeface="Lato"/>
                <a:ea typeface="Lato"/>
                <a:cs typeface="Lato"/>
                <a:sym typeface="Lato"/>
              </a:rPr>
              <a:t>25-34 = 15% </a:t>
            </a:r>
            <a:r>
              <a:rPr lang="en-US" sz="900" b="1" dirty="0">
                <a:solidFill>
                  <a:srgbClr val="33896C"/>
                </a:solidFill>
                <a:latin typeface="Lato"/>
                <a:ea typeface="Lato"/>
                <a:cs typeface="Lato"/>
                <a:sym typeface="Lato"/>
              </a:rPr>
              <a:t>(138)</a:t>
            </a:r>
            <a:endParaRPr sz="900" dirty="0">
              <a:solidFill>
                <a:srgbClr val="33896C"/>
              </a:solidFill>
              <a:latin typeface="Lato"/>
              <a:ea typeface="Lato"/>
              <a:cs typeface="Lato"/>
              <a:sym typeface="Lato"/>
            </a:endParaRPr>
          </a:p>
        </p:txBody>
      </p:sp>
      <p:sp>
        <p:nvSpPr>
          <p:cNvPr id="13" name="Google Shape;1708;p28">
            <a:extLst>
              <a:ext uri="{FF2B5EF4-FFF2-40B4-BE49-F238E27FC236}">
                <a16:creationId xmlns:a16="http://schemas.microsoft.com/office/drawing/2014/main" id="{606BC521-9A08-FC5E-0D2A-25AE9B8428FD}"/>
              </a:ext>
            </a:extLst>
          </p:cNvPr>
          <p:cNvSpPr/>
          <p:nvPr/>
        </p:nvSpPr>
        <p:spPr>
          <a:xfrm>
            <a:off x="7912166" y="3383710"/>
            <a:ext cx="831673" cy="396876"/>
          </a:xfrm>
          <a:prstGeom prst="wedgeRoundRectCallout">
            <a:avLst>
              <a:gd name="adj1" fmla="val -8342"/>
              <a:gd name="adj2" fmla="val -44624"/>
              <a:gd name="adj3" fmla="val 16667"/>
            </a:avLst>
          </a:prstGeom>
          <a:solidFill>
            <a:schemeClr val="accent1">
              <a:lumMod val="20000"/>
              <a:lumOff val="80000"/>
            </a:schemeClr>
          </a:solidFill>
          <a:ln>
            <a:noFill/>
          </a:ln>
        </p:spPr>
        <p:txBody>
          <a:bodyPr spcFirstLastPara="1" wrap="square" lIns="27425" tIns="27425" rIns="27425" bIns="27425" anchor="ctr" anchorCtr="0">
            <a:noAutofit/>
          </a:bodyPr>
          <a:lstStyle/>
          <a:p>
            <a:pPr marR="0" lvl="0" algn="ctr" rtl="0">
              <a:spcBef>
                <a:spcPts val="0"/>
              </a:spcBef>
              <a:spcAft>
                <a:spcPts val="0"/>
              </a:spcAft>
              <a:buClr>
                <a:schemeClr val="dk1"/>
              </a:buClr>
              <a:buSzPts val="900"/>
            </a:pPr>
            <a:r>
              <a:rPr lang="en-US" sz="900" b="1" dirty="0">
                <a:solidFill>
                  <a:schemeClr val="dk1"/>
                </a:solidFill>
                <a:latin typeface="Lato"/>
                <a:ea typeface="Lato"/>
                <a:cs typeface="Lato"/>
                <a:sym typeface="Lato"/>
              </a:rPr>
              <a:t>25-34 = 23% </a:t>
            </a:r>
            <a:r>
              <a:rPr lang="en-US" sz="900" b="1" dirty="0">
                <a:solidFill>
                  <a:srgbClr val="33896C"/>
                </a:solidFill>
                <a:latin typeface="Lato"/>
                <a:ea typeface="Lato"/>
                <a:cs typeface="Lato"/>
                <a:sym typeface="Lato"/>
              </a:rPr>
              <a:t>(124)</a:t>
            </a:r>
            <a:endParaRPr sz="900" dirty="0">
              <a:solidFill>
                <a:srgbClr val="33896C"/>
              </a:solidFill>
              <a:latin typeface="Lato"/>
              <a:ea typeface="Lato"/>
              <a:cs typeface="Lato"/>
              <a:sym typeface="Lato"/>
            </a:endParaRPr>
          </a:p>
        </p:txBody>
      </p:sp>
      <p:sp>
        <p:nvSpPr>
          <p:cNvPr id="14" name="Google Shape;1708;p28">
            <a:extLst>
              <a:ext uri="{FF2B5EF4-FFF2-40B4-BE49-F238E27FC236}">
                <a16:creationId xmlns:a16="http://schemas.microsoft.com/office/drawing/2014/main" id="{245E2D2E-5877-66A2-0B12-45B9CB6B1226}"/>
              </a:ext>
            </a:extLst>
          </p:cNvPr>
          <p:cNvSpPr/>
          <p:nvPr/>
        </p:nvSpPr>
        <p:spPr>
          <a:xfrm>
            <a:off x="6053930" y="3185272"/>
            <a:ext cx="831673" cy="396876"/>
          </a:xfrm>
          <a:prstGeom prst="wedgeRoundRectCallout">
            <a:avLst>
              <a:gd name="adj1" fmla="val -8342"/>
              <a:gd name="adj2" fmla="val -44624"/>
              <a:gd name="adj3" fmla="val 16667"/>
            </a:avLst>
          </a:prstGeom>
          <a:solidFill>
            <a:schemeClr val="accent1">
              <a:lumMod val="20000"/>
              <a:lumOff val="80000"/>
            </a:schemeClr>
          </a:solidFill>
          <a:ln>
            <a:noFill/>
          </a:ln>
        </p:spPr>
        <p:txBody>
          <a:bodyPr spcFirstLastPara="1" wrap="square" lIns="27425" tIns="27425" rIns="27425" bIns="27425" anchor="ctr" anchorCtr="0">
            <a:noAutofit/>
          </a:bodyPr>
          <a:lstStyle/>
          <a:p>
            <a:pPr marR="0" lvl="0" algn="ctr" rtl="0">
              <a:spcBef>
                <a:spcPts val="0"/>
              </a:spcBef>
              <a:spcAft>
                <a:spcPts val="0"/>
              </a:spcAft>
              <a:buClr>
                <a:schemeClr val="dk1"/>
              </a:buClr>
              <a:buSzPts val="900"/>
            </a:pPr>
            <a:r>
              <a:rPr lang="en-US" sz="900" b="1" dirty="0">
                <a:solidFill>
                  <a:schemeClr val="dk1"/>
                </a:solidFill>
                <a:latin typeface="Lato"/>
                <a:ea typeface="Lato"/>
                <a:cs typeface="Lato"/>
                <a:sym typeface="Lato"/>
              </a:rPr>
              <a:t>18-24 = 29% </a:t>
            </a:r>
            <a:r>
              <a:rPr lang="en-US" sz="900" b="1" dirty="0">
                <a:solidFill>
                  <a:srgbClr val="33896C"/>
                </a:solidFill>
                <a:latin typeface="Lato"/>
                <a:ea typeface="Lato"/>
                <a:cs typeface="Lato"/>
                <a:sym typeface="Lato"/>
              </a:rPr>
              <a:t>(132)</a:t>
            </a:r>
            <a:endParaRPr sz="900" dirty="0">
              <a:solidFill>
                <a:srgbClr val="33896C"/>
              </a:solidFill>
              <a:latin typeface="Lato"/>
              <a:ea typeface="Lato"/>
              <a:cs typeface="Lato"/>
              <a:sym typeface="Lato"/>
            </a:endParaRPr>
          </a:p>
        </p:txBody>
      </p:sp>
      <p:sp>
        <p:nvSpPr>
          <p:cNvPr id="3" name="TextBox 2">
            <a:extLst>
              <a:ext uri="{FF2B5EF4-FFF2-40B4-BE49-F238E27FC236}">
                <a16:creationId xmlns:a16="http://schemas.microsoft.com/office/drawing/2014/main" id="{E324D3E9-E1B7-306E-ACD0-CAEDBF17070A}"/>
              </a:ext>
            </a:extLst>
          </p:cNvPr>
          <p:cNvSpPr txBox="1"/>
          <p:nvPr/>
        </p:nvSpPr>
        <p:spPr>
          <a:xfrm>
            <a:off x="10143180" y="2338590"/>
            <a:ext cx="1950986" cy="738664"/>
          </a:xfrm>
          <a:prstGeom prst="rect">
            <a:avLst/>
          </a:prstGeom>
          <a:noFill/>
          <a:ln>
            <a:solidFill>
              <a:schemeClr val="accent6"/>
            </a:solidFill>
          </a:ln>
        </p:spPr>
        <p:txBody>
          <a:bodyPr wrap="square" rtlCol="0">
            <a:spAutoFit/>
          </a:bodyPr>
          <a:lstStyle/>
          <a:p>
            <a:r>
              <a:rPr lang="en-US" sz="1400" b="1" i="1" dirty="0">
                <a:solidFill>
                  <a:schemeClr val="accent2"/>
                </a:solidFill>
              </a:rPr>
              <a:t>41% </a:t>
            </a:r>
            <a:r>
              <a:rPr lang="en-US" sz="1400" i="1" dirty="0">
                <a:solidFill>
                  <a:schemeClr val="accent2"/>
                </a:solidFill>
              </a:rPr>
              <a:t>report a lack of trust in information sources as a challenge</a:t>
            </a:r>
          </a:p>
        </p:txBody>
      </p:sp>
    </p:spTree>
    <p:extLst>
      <p:ext uri="{BB962C8B-B14F-4D97-AF65-F5344CB8AC3E}">
        <p14:creationId xmlns:p14="http://schemas.microsoft.com/office/powerpoint/2010/main" val="2749771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323FC-0226-D4EC-D57B-6CAD23219FB0}"/>
            </a:ext>
          </a:extLst>
        </p:cNvPr>
        <p:cNvGrpSpPr/>
        <p:nvPr/>
      </p:nvGrpSpPr>
      <p:grpSpPr>
        <a:xfrm>
          <a:off x="0" y="0"/>
          <a:ext cx="0" cy="0"/>
          <a:chOff x="0" y="0"/>
          <a:chExt cx="0" cy="0"/>
        </a:xfrm>
      </p:grpSpPr>
      <p:pic>
        <p:nvPicPr>
          <p:cNvPr id="8" name="Picture 7" descr="A close-up of pills&#10;&#10;AI-generated content may be incorrect.">
            <a:extLst>
              <a:ext uri="{FF2B5EF4-FFF2-40B4-BE49-F238E27FC236}">
                <a16:creationId xmlns:a16="http://schemas.microsoft.com/office/drawing/2014/main" id="{67EF1467-4222-F972-589B-85BB5BF6C16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0"/>
            <a:ext cx="13001624" cy="6858000"/>
          </a:xfrm>
          <a:prstGeom prst="rect">
            <a:avLst/>
          </a:prstGeom>
          <a:solidFill>
            <a:srgbClr val="FFFF00"/>
          </a:solidFill>
        </p:spPr>
      </p:pic>
      <p:sp>
        <p:nvSpPr>
          <p:cNvPr id="2" name="Title 1">
            <a:extLst>
              <a:ext uri="{FF2B5EF4-FFF2-40B4-BE49-F238E27FC236}">
                <a16:creationId xmlns:a16="http://schemas.microsoft.com/office/drawing/2014/main" id="{8AFA0416-B934-5354-BE14-545C04761237}"/>
              </a:ext>
            </a:extLst>
          </p:cNvPr>
          <p:cNvSpPr>
            <a:spLocks noGrp="1"/>
          </p:cNvSpPr>
          <p:nvPr>
            <p:ph type="title"/>
          </p:nvPr>
        </p:nvSpPr>
        <p:spPr>
          <a:xfrm>
            <a:off x="265073" y="5691370"/>
            <a:ext cx="10113264" cy="822960"/>
          </a:xfrm>
        </p:spPr>
        <p:txBody>
          <a:bodyPr/>
          <a:lstStyle/>
          <a:p>
            <a:r>
              <a:rPr lang="en-US" sz="6000" b="1" dirty="0">
                <a:solidFill>
                  <a:schemeClr val="accent2">
                    <a:lumMod val="75000"/>
                  </a:schemeClr>
                </a:solidFill>
              </a:rPr>
              <a:t>Functional Nutrition Categories</a:t>
            </a:r>
          </a:p>
        </p:txBody>
      </p:sp>
    </p:spTree>
    <p:extLst>
      <p:ext uri="{BB962C8B-B14F-4D97-AF65-F5344CB8AC3E}">
        <p14:creationId xmlns:p14="http://schemas.microsoft.com/office/powerpoint/2010/main" val="2612517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AE41611E-E830-02F6-3031-31A709511604}"/>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01B569A2-39B4-1AF7-7A58-39E277267A6D}"/>
              </a:ext>
            </a:extLst>
          </p:cNvPr>
          <p:cNvSpPr txBox="1">
            <a:spLocks/>
          </p:cNvSpPr>
          <p:nvPr/>
        </p:nvSpPr>
        <p:spPr>
          <a:xfrm>
            <a:off x="528886" y="512448"/>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Among Functional Nutrition Users, Supplements are more likely to be used than Functional Foods and Functional Beverages</a:t>
            </a:r>
          </a:p>
        </p:txBody>
      </p:sp>
      <p:sp>
        <p:nvSpPr>
          <p:cNvPr id="3" name="TextBox 2">
            <a:extLst>
              <a:ext uri="{FF2B5EF4-FFF2-40B4-BE49-F238E27FC236}">
                <a16:creationId xmlns:a16="http://schemas.microsoft.com/office/drawing/2014/main" id="{E833B55A-29ED-1C6E-8038-1BF922D9DC62}"/>
              </a:ext>
            </a:extLst>
          </p:cNvPr>
          <p:cNvSpPr txBox="1"/>
          <p:nvPr/>
        </p:nvSpPr>
        <p:spPr>
          <a:xfrm>
            <a:off x="309703" y="2496136"/>
            <a:ext cx="3971195" cy="2308324"/>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About two-thirds of P3M Supplement users are also regular users of Functional Foods and Beverages</a:t>
            </a:r>
            <a:br>
              <a:rPr lang="en-US" sz="1600" dirty="0">
                <a:solidFill>
                  <a:srgbClr val="BD582C"/>
                </a:solidFill>
                <a:latin typeface="Calibri Light" panose="020F0302020204030204"/>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P3M Functional Food and Beverage Users are more likely to also be Supplement Users than vice/versa (75%+), indicating these groups may be slightly more health and wellness engaged </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73" name="TextBox 72">
            <a:extLst>
              <a:ext uri="{FF2B5EF4-FFF2-40B4-BE49-F238E27FC236}">
                <a16:creationId xmlns:a16="http://schemas.microsoft.com/office/drawing/2014/main" id="{4EBB10ED-4F62-5E84-A53E-1C416D8640CE}"/>
              </a:ext>
            </a:extLst>
          </p:cNvPr>
          <p:cNvSpPr txBox="1"/>
          <p:nvPr/>
        </p:nvSpPr>
        <p:spPr>
          <a:xfrm>
            <a:off x="0" y="6102071"/>
            <a:ext cx="98077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i="1" dirty="0">
                <a:solidFill>
                  <a:srgbClr val="000000"/>
                </a:solidFill>
                <a:latin typeface="Calibri" panose="020F0502020204030204"/>
              </a:rPr>
              <a:t>S6. </a:t>
            </a:r>
            <a:r>
              <a:rPr kumimoji="0" lang="en-US" sz="1050" b="0" i="1" u="none" strike="noStrike" kern="1200" cap="none" spc="0" normalizeH="0" baseline="0" noProof="0" dirty="0">
                <a:ln>
                  <a:noFill/>
                </a:ln>
                <a:solidFill>
                  <a:srgbClr val="000000"/>
                </a:solidFill>
                <a:effectLst/>
                <a:uLnTx/>
                <a:uFillTx/>
                <a:latin typeface="Calibri" panose="020F0502020204030204"/>
                <a:ea typeface="+mn-ea"/>
                <a:cs typeface="+mn-cs"/>
              </a:rPr>
              <a:t>Which of the following products have you purchased </a:t>
            </a:r>
            <a:r>
              <a:rPr kumimoji="0" lang="en-US" sz="1050" b="1" i="1" u="none" strike="noStrike" kern="1200" cap="none" spc="0" normalizeH="0" baseline="0" noProof="0" dirty="0">
                <a:ln>
                  <a:noFill/>
                </a:ln>
                <a:solidFill>
                  <a:srgbClr val="000000"/>
                </a:solidFill>
                <a:effectLst/>
                <a:uLnTx/>
                <a:uFillTx/>
                <a:latin typeface="Calibri" panose="020F0502020204030204"/>
                <a:ea typeface="+mn-ea"/>
                <a:cs typeface="+mn-cs"/>
              </a:rPr>
              <a:t>for your own personal use</a:t>
            </a:r>
            <a:r>
              <a:rPr kumimoji="0" lang="en-US" sz="1050" b="0" i="1" u="none" strike="noStrike" kern="1200" cap="none" spc="0" normalizeH="0" baseline="0" noProof="0" dirty="0">
                <a:ln>
                  <a:noFill/>
                </a:ln>
                <a:solidFill>
                  <a:srgbClr val="000000"/>
                </a:solidFill>
                <a:effectLst/>
                <a:uLnTx/>
                <a:uFillTx/>
                <a:latin typeface="Calibri" panose="020F0502020204030204"/>
                <a:ea typeface="+mn-ea"/>
                <a:cs typeface="+mn-cs"/>
              </a:rPr>
              <a:t> in the past 3 months?</a:t>
            </a:r>
            <a:endParaRPr kumimoji="0" lang="en-US" sz="5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D96BF241-2204-C35F-66EE-87FB704B5CA2}"/>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560AF4F5-88B4-1F65-CB42-58EFD1DD31D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11" name="Chart 10">
            <a:extLst>
              <a:ext uri="{FF2B5EF4-FFF2-40B4-BE49-F238E27FC236}">
                <a16:creationId xmlns:a16="http://schemas.microsoft.com/office/drawing/2014/main" id="{A5782D4C-5233-4B66-BFBB-6EAF52515B29}"/>
              </a:ext>
            </a:extLst>
          </p:cNvPr>
          <p:cNvGraphicFramePr/>
          <p:nvPr/>
        </p:nvGraphicFramePr>
        <p:xfrm>
          <a:off x="4058292" y="1485813"/>
          <a:ext cx="7522661" cy="43293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915FEEFD-6B7C-C8E9-6026-08A270C1058C}"/>
              </a:ext>
            </a:extLst>
          </p:cNvPr>
          <p:cNvSpPr txBox="1"/>
          <p:nvPr/>
        </p:nvSpPr>
        <p:spPr>
          <a:xfrm>
            <a:off x="9719353" y="51391"/>
            <a:ext cx="2472648" cy="369332"/>
          </a:xfrm>
          <a:prstGeom prst="rect">
            <a:avLst/>
          </a:prstGeom>
          <a:solidFill>
            <a:srgbClr val="FFFF00"/>
          </a:solidFill>
        </p:spPr>
        <p:txBody>
          <a:bodyPr wrap="square" rtlCol="0">
            <a:spAutoFit/>
          </a:bodyPr>
          <a:lstStyle/>
          <a:p>
            <a:r>
              <a:rPr lang="en-US" dirty="0"/>
              <a:t>Add gender/age breaks</a:t>
            </a:r>
          </a:p>
        </p:txBody>
      </p:sp>
      <p:sp>
        <p:nvSpPr>
          <p:cNvPr id="5" name="Oval 4">
            <a:extLst>
              <a:ext uri="{FF2B5EF4-FFF2-40B4-BE49-F238E27FC236}">
                <a16:creationId xmlns:a16="http://schemas.microsoft.com/office/drawing/2014/main" id="{0A79B357-C332-1FF9-2FFD-ACB4D917CDB3}"/>
              </a:ext>
            </a:extLst>
          </p:cNvPr>
          <p:cNvSpPr/>
          <p:nvPr/>
        </p:nvSpPr>
        <p:spPr>
          <a:xfrm>
            <a:off x="4503505" y="2763749"/>
            <a:ext cx="493160" cy="51370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87212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F911485-829E-A704-D958-7D9C29083038}"/>
              </a:ext>
            </a:extLst>
          </p:cNvPr>
          <p:cNvSpPr>
            <a:spLocks noGrp="1"/>
          </p:cNvSpPr>
          <p:nvPr>
            <p:ph type="ftr" sz="quarter" idx="11"/>
          </p:nvPr>
        </p:nvSpPr>
        <p:spPr/>
        <p:txBody>
          <a:bodyPr/>
          <a:lstStyle/>
          <a:p>
            <a:r>
              <a:rPr lang="en-US" dirty="0"/>
              <a:t>Sbk insights &amp; strategy</a:t>
            </a:r>
          </a:p>
        </p:txBody>
      </p:sp>
      <p:sp>
        <p:nvSpPr>
          <p:cNvPr id="4" name="Slide Number Placeholder 3">
            <a:extLst>
              <a:ext uri="{FF2B5EF4-FFF2-40B4-BE49-F238E27FC236}">
                <a16:creationId xmlns:a16="http://schemas.microsoft.com/office/drawing/2014/main" id="{7543420C-05AD-FCB0-C6E3-ED88FD8BA766}"/>
              </a:ext>
            </a:extLst>
          </p:cNvPr>
          <p:cNvSpPr>
            <a:spLocks noGrp="1"/>
          </p:cNvSpPr>
          <p:nvPr>
            <p:ph type="sldNum" sz="quarter" idx="12"/>
          </p:nvPr>
        </p:nvSpPr>
        <p:spPr/>
        <p:txBody>
          <a:bodyPr/>
          <a:lstStyle/>
          <a:p>
            <a:fld id="{56B4C109-23AB-4C56-97AA-0E1D785C36F7}" type="slidenum">
              <a:rPr lang="en-US" smtClean="0"/>
              <a:t>19</a:t>
            </a:fld>
            <a:endParaRPr lang="en-US" dirty="0"/>
          </a:p>
        </p:txBody>
      </p:sp>
      <p:graphicFrame>
        <p:nvGraphicFramePr>
          <p:cNvPr id="5" name="Table 4">
            <a:extLst>
              <a:ext uri="{FF2B5EF4-FFF2-40B4-BE49-F238E27FC236}">
                <a16:creationId xmlns:a16="http://schemas.microsoft.com/office/drawing/2014/main" id="{6E646102-EF93-5827-11AF-73AB795AC8B8}"/>
              </a:ext>
            </a:extLst>
          </p:cNvPr>
          <p:cNvGraphicFramePr>
            <a:graphicFrameLocks noGrp="1"/>
          </p:cNvGraphicFramePr>
          <p:nvPr>
            <p:extLst>
              <p:ext uri="{D42A27DB-BD31-4B8C-83A1-F6EECF244321}">
                <p14:modId xmlns:p14="http://schemas.microsoft.com/office/powerpoint/2010/main" val="542385818"/>
              </p:ext>
            </p:extLst>
          </p:nvPr>
        </p:nvGraphicFramePr>
        <p:xfrm>
          <a:off x="1362635" y="2013768"/>
          <a:ext cx="6217920" cy="3114876"/>
        </p:xfrm>
        <a:graphic>
          <a:graphicData uri="http://schemas.openxmlformats.org/drawingml/2006/table">
            <a:tbl>
              <a:tblPr>
                <a:tableStyleId>{3B4B98B0-60AC-42C2-AFA5-B58CD77FA1E5}</a:tableStyleId>
              </a:tblPr>
              <a:tblGrid>
                <a:gridCol w="5029200">
                  <a:extLst>
                    <a:ext uri="{9D8B030D-6E8A-4147-A177-3AD203B41FA5}">
                      <a16:colId xmlns:a16="http://schemas.microsoft.com/office/drawing/2014/main" val="4107426551"/>
                    </a:ext>
                  </a:extLst>
                </a:gridCol>
                <a:gridCol w="1188720">
                  <a:extLst>
                    <a:ext uri="{9D8B030D-6E8A-4147-A177-3AD203B41FA5}">
                      <a16:colId xmlns:a16="http://schemas.microsoft.com/office/drawing/2014/main" val="871605687"/>
                    </a:ext>
                  </a:extLst>
                </a:gridCol>
              </a:tblGrid>
              <a:tr h="0">
                <a:tc gridSpan="2">
                  <a:txBody>
                    <a:bodyPr/>
                    <a:lstStyle/>
                    <a:p>
                      <a:pPr algn="ctr" fontAlgn="b">
                        <a:buNone/>
                      </a:pPr>
                      <a:r>
                        <a:rPr lang="en-US" sz="1400" b="1" i="0" u="none" strike="noStrike" dirty="0">
                          <a:solidFill>
                            <a:schemeClr val="bg1"/>
                          </a:solidFill>
                          <a:effectLst/>
                          <a:latin typeface="Arial" panose="020B0604020202020204" pitchFamily="34" charset="0"/>
                        </a:rPr>
                        <a:t>Category Usage Overlap</a:t>
                      </a: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a:txBody>
                    <a:bodyPr/>
                    <a:lstStyle/>
                    <a:p>
                      <a:pPr algn="l" fontAlgn="b">
                        <a:buNone/>
                      </a:pPr>
                      <a:endParaRPr lang="en-US" sz="140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400" b="1" u="none" strike="noStrike" dirty="0">
                          <a:effectLst/>
                        </a:rPr>
                        <a:t>% of Respondents</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74320">
                <a:tc>
                  <a:txBody>
                    <a:bodyPr/>
                    <a:lstStyle/>
                    <a:p>
                      <a:pPr algn="l" fontAlgn="b">
                        <a:buNone/>
                      </a:pPr>
                      <a:r>
                        <a:rPr lang="en-US" sz="1200" b="1" u="none" strike="noStrike" dirty="0">
                          <a:effectLst/>
                          <a:latin typeface="Arial" panose="020B0604020202020204" pitchFamily="34" charset="0"/>
                          <a:cs typeface="Arial" panose="020B0604020202020204" pitchFamily="34" charset="0"/>
                        </a:rPr>
                        <a:t>P3M user of all three categories</a:t>
                      </a:r>
                      <a:endParaRPr lang="en-US" sz="1200" b="1"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200" b="1" u="none" strike="noStrike" dirty="0">
                          <a:effectLst/>
                          <a:latin typeface="Arial" panose="020B0604020202020204" pitchFamily="34" charset="0"/>
                          <a:cs typeface="Arial" panose="020B0604020202020204" pitchFamily="34" charset="0"/>
                        </a:rPr>
                        <a:t>38.2%</a:t>
                      </a:r>
                      <a:endParaRPr lang="en-US" sz="1200" b="1"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28676805"/>
                  </a:ext>
                </a:extLst>
              </a:tr>
              <a:tr h="274320">
                <a:tc>
                  <a:txBody>
                    <a:bodyPr/>
                    <a:lstStyle/>
                    <a:p>
                      <a:pPr algn="l" fontAlgn="b">
                        <a:buNone/>
                      </a:pPr>
                      <a:r>
                        <a:rPr lang="en-US" sz="1200" b="1" u="none" strike="noStrike" dirty="0">
                          <a:effectLst/>
                          <a:latin typeface="Arial" panose="020B0604020202020204" pitchFamily="34" charset="0"/>
                          <a:cs typeface="Arial" panose="020B0604020202020204" pitchFamily="34" charset="0"/>
                        </a:rPr>
                        <a:t>P3M user of two categories (net)</a:t>
                      </a:r>
                      <a:endParaRPr lang="en-US" sz="1200" b="1"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b="1" u="none" strike="noStrike" dirty="0">
                          <a:effectLst/>
                          <a:latin typeface="Arial" panose="020B0604020202020204" pitchFamily="34" charset="0"/>
                          <a:cs typeface="Arial" panose="020B0604020202020204" pitchFamily="34" charset="0"/>
                        </a:rPr>
                        <a:t>28.3%</a:t>
                      </a:r>
                      <a:endParaRPr lang="en-US" sz="1200" b="1"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807090806"/>
                  </a:ext>
                </a:extLst>
              </a:tr>
              <a:tr h="274320">
                <a:tc>
                  <a:txBody>
                    <a:bodyPr/>
                    <a:lstStyle/>
                    <a:p>
                      <a:pPr algn="l" fontAlgn="b">
                        <a:buNone/>
                      </a:pPr>
                      <a:r>
                        <a:rPr lang="en-US" sz="1200" u="none" strike="noStrike" dirty="0">
                          <a:effectLst/>
                          <a:latin typeface="Arial" panose="020B0604020202020204" pitchFamily="34" charset="0"/>
                          <a:cs typeface="Arial" panose="020B0604020202020204" pitchFamily="34" charset="0"/>
                        </a:rPr>
                        <a:t>     Dietary Supplements + Functional Foods</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u="none" strike="noStrike" dirty="0">
                          <a:effectLst/>
                          <a:latin typeface="Arial" panose="020B0604020202020204" pitchFamily="34" charset="0"/>
                          <a:cs typeface="Arial" panose="020B0604020202020204" pitchFamily="34" charset="0"/>
                        </a:rPr>
                        <a:t>10.5%</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551927491"/>
                  </a:ext>
                </a:extLst>
              </a:tr>
              <a:tr h="274320">
                <a:tc>
                  <a:txBody>
                    <a:bodyPr/>
                    <a:lstStyle/>
                    <a:p>
                      <a:pPr algn="l" fontAlgn="b">
                        <a:buNone/>
                      </a:pPr>
                      <a:r>
                        <a:rPr lang="en-US" sz="1200" u="none" strike="noStrike" dirty="0">
                          <a:effectLst/>
                          <a:latin typeface="Arial" panose="020B0604020202020204" pitchFamily="34" charset="0"/>
                          <a:cs typeface="Arial" panose="020B0604020202020204" pitchFamily="34" charset="0"/>
                        </a:rPr>
                        <a:t>     Functional Foods + Functional Beverages</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u="none" strike="noStrike" dirty="0">
                          <a:effectLst/>
                          <a:latin typeface="Arial" panose="020B0604020202020204" pitchFamily="34" charset="0"/>
                          <a:cs typeface="Arial" panose="020B0604020202020204" pitchFamily="34" charset="0"/>
                        </a:rPr>
                        <a:t>10.4%</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105825919"/>
                  </a:ext>
                </a:extLst>
              </a:tr>
              <a:tr h="274320">
                <a:tc>
                  <a:txBody>
                    <a:bodyPr/>
                    <a:lstStyle/>
                    <a:p>
                      <a:pPr algn="l" fontAlgn="b">
                        <a:buNone/>
                      </a:pPr>
                      <a:r>
                        <a:rPr lang="en-US" sz="1200" u="none" strike="noStrike" dirty="0">
                          <a:effectLst/>
                          <a:latin typeface="Arial" panose="020B0604020202020204" pitchFamily="34" charset="0"/>
                          <a:cs typeface="Arial" panose="020B0604020202020204" pitchFamily="34" charset="0"/>
                        </a:rPr>
                        <a:t>     Dietary Supplements + Functional Beverages</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u="none" strike="noStrike" dirty="0">
                          <a:effectLst/>
                          <a:latin typeface="Arial" panose="020B0604020202020204" pitchFamily="34" charset="0"/>
                          <a:cs typeface="Arial" panose="020B0604020202020204" pitchFamily="34" charset="0"/>
                        </a:rPr>
                        <a:t>7.4%</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597769630"/>
                  </a:ext>
                </a:extLst>
              </a:tr>
              <a:tr h="274320">
                <a:tc>
                  <a:txBody>
                    <a:bodyPr/>
                    <a:lstStyle/>
                    <a:p>
                      <a:pPr algn="l" fontAlgn="b">
                        <a:buNone/>
                      </a:pPr>
                      <a:r>
                        <a:rPr lang="en-US" sz="1200" b="1" i="0" u="none" strike="noStrike" dirty="0">
                          <a:effectLst/>
                          <a:latin typeface="Arial" panose="020B0604020202020204" pitchFamily="34" charset="0"/>
                          <a:cs typeface="Arial" panose="020B0604020202020204" pitchFamily="34" charset="0"/>
                        </a:rPr>
                        <a:t>P3M user of only one category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b">
                        <a:buNone/>
                      </a:pPr>
                      <a:r>
                        <a:rPr lang="en-US" sz="1200" b="1" i="0" u="none" strike="noStrike" dirty="0">
                          <a:effectLst/>
                          <a:latin typeface="Arial" panose="020B0604020202020204" pitchFamily="34" charset="0"/>
                          <a:cs typeface="Arial" panose="020B0604020202020204" pitchFamily="34" charset="0"/>
                        </a:rPr>
                        <a:t>33.5%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541980010"/>
                  </a:ext>
                </a:extLst>
              </a:tr>
              <a:tr h="274320">
                <a:tc>
                  <a:txBody>
                    <a:bodyPr/>
                    <a:lstStyle/>
                    <a:p>
                      <a:pPr algn="l" fontAlgn="b">
                        <a:buNone/>
                      </a:pPr>
                      <a:r>
                        <a:rPr lang="en-US" sz="1200" u="none" strike="noStrike" dirty="0">
                          <a:effectLst/>
                          <a:latin typeface="Arial" panose="020B0604020202020204" pitchFamily="34" charset="0"/>
                          <a:cs typeface="Arial" panose="020B0604020202020204" pitchFamily="34" charset="0"/>
                        </a:rPr>
                        <a:t>     Dietary Supplements only</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tcPr>
                </a:tc>
                <a:tc>
                  <a:txBody>
                    <a:bodyPr/>
                    <a:lstStyle/>
                    <a:p>
                      <a:pPr algn="ctr" fontAlgn="b">
                        <a:buNone/>
                      </a:pPr>
                      <a:r>
                        <a:rPr lang="en-US" sz="1200" u="none" strike="noStrike" dirty="0">
                          <a:effectLst/>
                          <a:latin typeface="Arial" panose="020B0604020202020204" pitchFamily="34" charset="0"/>
                          <a:cs typeface="Arial" panose="020B0604020202020204" pitchFamily="34" charset="0"/>
                        </a:rPr>
                        <a:t>20.3%</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tcPr>
                </a:tc>
                <a:extLst>
                  <a:ext uri="{0D108BD9-81ED-4DB2-BD59-A6C34878D82A}">
                    <a16:rowId xmlns:a16="http://schemas.microsoft.com/office/drawing/2014/main" val="2790179416"/>
                  </a:ext>
                </a:extLst>
              </a:tr>
              <a:tr h="274320">
                <a:tc>
                  <a:txBody>
                    <a:bodyPr/>
                    <a:lstStyle/>
                    <a:p>
                      <a:pPr algn="l" fontAlgn="b">
                        <a:buNone/>
                      </a:pPr>
                      <a:r>
                        <a:rPr lang="en-US" sz="1200" u="none" strike="noStrike" dirty="0">
                          <a:effectLst/>
                          <a:latin typeface="Arial" panose="020B0604020202020204" pitchFamily="34" charset="0"/>
                          <a:cs typeface="Arial" panose="020B0604020202020204" pitchFamily="34" charset="0"/>
                        </a:rPr>
                        <a:t>     Functional Foods only</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u="none" strike="noStrike" dirty="0">
                          <a:effectLst/>
                          <a:latin typeface="Arial" panose="020B0604020202020204" pitchFamily="34" charset="0"/>
                          <a:cs typeface="Arial" panose="020B0604020202020204" pitchFamily="34" charset="0"/>
                        </a:rPr>
                        <a:t>6.7%</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061340747"/>
                  </a:ext>
                </a:extLst>
              </a:tr>
              <a:tr h="274320">
                <a:tc>
                  <a:txBody>
                    <a:bodyPr/>
                    <a:lstStyle/>
                    <a:p>
                      <a:pPr algn="l" fontAlgn="b">
                        <a:buNone/>
                      </a:pPr>
                      <a:r>
                        <a:rPr lang="en-US" sz="1200" u="none" strike="noStrike" dirty="0">
                          <a:effectLst/>
                          <a:latin typeface="Arial" panose="020B0604020202020204" pitchFamily="34" charset="0"/>
                          <a:cs typeface="Arial" panose="020B0604020202020204" pitchFamily="34" charset="0"/>
                        </a:rPr>
                        <a:t>     Functional Beverages only</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u="none" strike="noStrike" dirty="0">
                          <a:effectLst/>
                          <a:latin typeface="Arial" panose="020B0604020202020204" pitchFamily="34" charset="0"/>
                          <a:cs typeface="Arial" panose="020B0604020202020204" pitchFamily="34" charset="0"/>
                        </a:rPr>
                        <a:t>6.5%</a:t>
                      </a:r>
                      <a:endParaRPr lang="en-US" sz="1200" b="0" i="0" u="none" strike="noStrike" dirty="0">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602712643"/>
                  </a:ext>
                </a:extLst>
              </a:tr>
            </a:tbl>
          </a:graphicData>
        </a:graphic>
      </p:graphicFrame>
      <p:sp>
        <p:nvSpPr>
          <p:cNvPr id="6" name="Title 4">
            <a:extLst>
              <a:ext uri="{FF2B5EF4-FFF2-40B4-BE49-F238E27FC236}">
                <a16:creationId xmlns:a16="http://schemas.microsoft.com/office/drawing/2014/main" id="{8B53A244-ACA4-00BA-3CDF-0A60B6F41AA4}"/>
              </a:ext>
            </a:extLst>
          </p:cNvPr>
          <p:cNvSpPr txBox="1">
            <a:spLocks/>
          </p:cNvSpPr>
          <p:nvPr/>
        </p:nvSpPr>
        <p:spPr>
          <a:xfrm>
            <a:off x="528886" y="512448"/>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Two-thirds of Functional Nutrition Users have used more than one of the three categories in the past 3 months; 38% have used all three</a:t>
            </a:r>
          </a:p>
        </p:txBody>
      </p:sp>
      <p:sp>
        <p:nvSpPr>
          <p:cNvPr id="2" name="TextBox 1">
            <a:extLst>
              <a:ext uri="{FF2B5EF4-FFF2-40B4-BE49-F238E27FC236}">
                <a16:creationId xmlns:a16="http://schemas.microsoft.com/office/drawing/2014/main" id="{61480BE1-611C-BD6A-19EB-40A693C094AE}"/>
              </a:ext>
            </a:extLst>
          </p:cNvPr>
          <p:cNvSpPr txBox="1"/>
          <p:nvPr/>
        </p:nvSpPr>
        <p:spPr>
          <a:xfrm>
            <a:off x="7914860" y="3046646"/>
            <a:ext cx="3971195" cy="1569660"/>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endParaRPr lang="en-US" sz="1600" dirty="0">
              <a:solidFill>
                <a:srgbClr val="BD582C"/>
              </a:solidFill>
              <a:latin typeface="Calibri Light" panose="020F0302020204030204"/>
            </a:endParaRPr>
          </a:p>
          <a:p>
            <a:pPr marR="0" lvl="0" algn="l" defTabSz="457200" rtl="0" eaLnBrk="1" fontAlgn="auto" latinLnBrk="0" hangingPunct="1">
              <a:lnSpc>
                <a:spcPct val="100000"/>
              </a:lnSpc>
              <a:spcBef>
                <a:spcPts val="0"/>
              </a:spcBef>
              <a:spcAft>
                <a:spcPts val="0"/>
              </a:spcAft>
              <a:buClrTx/>
              <a:buSzTx/>
              <a:tabLst/>
              <a:defRPr/>
            </a:pPr>
            <a:r>
              <a:rPr lang="en-US" sz="1600" dirty="0">
                <a:solidFill>
                  <a:srgbClr val="BD582C"/>
                </a:solidFill>
                <a:latin typeface="Calibri Light" panose="020F0302020204030204"/>
              </a:rPr>
              <a:t>20% of Functional Nutrition Uses report </a:t>
            </a:r>
            <a:r>
              <a:rPr lang="en-US" sz="1600" b="1" dirty="0">
                <a:solidFill>
                  <a:srgbClr val="BD582C"/>
                </a:solidFill>
                <a:latin typeface="Calibri Light" panose="020F0302020204030204"/>
              </a:rPr>
              <a:t>only</a:t>
            </a:r>
            <a:r>
              <a:rPr lang="en-US" sz="1600" dirty="0">
                <a:solidFill>
                  <a:srgbClr val="BD582C"/>
                </a:solidFill>
                <a:latin typeface="Calibri Light" panose="020F0302020204030204"/>
              </a:rPr>
              <a:t> using Supplements in the P3M (much higher than for the other two categories)</a:t>
            </a:r>
            <a:br>
              <a:rPr lang="en-US" sz="1600" dirty="0">
                <a:solidFill>
                  <a:srgbClr val="BD582C"/>
                </a:solidFill>
                <a:latin typeface="Calibri Light" panose="020F0302020204030204"/>
              </a:rPr>
            </a:br>
            <a:endParaRPr lang="en-US" sz="1600" dirty="0">
              <a:solidFill>
                <a:srgbClr val="BD582C"/>
              </a:solidFill>
              <a:latin typeface="Calibri Light" panose="020F0302020204030204"/>
            </a:endParaRPr>
          </a:p>
          <a:p>
            <a:pPr marR="0" lvl="0" algn="l" defTabSz="4572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712184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F1CF7E8E-4E52-A832-89F2-D9BC7F4464C1}"/>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75F42F53-32FE-04EB-4AD4-FF7E6E6E8FD2}"/>
              </a:ext>
            </a:extLst>
          </p:cNvPr>
          <p:cNvSpPr txBox="1">
            <a:spLocks/>
          </p:cNvSpPr>
          <p:nvPr/>
        </p:nvSpPr>
        <p:spPr>
          <a:xfrm>
            <a:off x="539160" y="494319"/>
            <a:ext cx="10351446" cy="444499"/>
          </a:xfrm>
          <a:prstGeom prst="rect">
            <a:avLst/>
          </a:prstGeom>
          <a:noFill/>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Supplements are more frequently used versus Functional Foods and Beverages, but the monthly spend lags</a:t>
            </a:r>
          </a:p>
        </p:txBody>
      </p:sp>
      <p:sp>
        <p:nvSpPr>
          <p:cNvPr id="3" name="TextBox 2">
            <a:extLst>
              <a:ext uri="{FF2B5EF4-FFF2-40B4-BE49-F238E27FC236}">
                <a16:creationId xmlns:a16="http://schemas.microsoft.com/office/drawing/2014/main" id="{8306D23B-D181-3479-3BB0-75C45249B110}"/>
              </a:ext>
            </a:extLst>
          </p:cNvPr>
          <p:cNvSpPr txBox="1"/>
          <p:nvPr/>
        </p:nvSpPr>
        <p:spPr>
          <a:xfrm>
            <a:off x="624312" y="1281605"/>
            <a:ext cx="8559161" cy="892552"/>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88% of P3M Supplement Users use Supplements daily or more often</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Functional Foods garners the most spend</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kumimoji="0" lang="en-US" sz="20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73" name="TextBox 72">
            <a:extLst>
              <a:ext uri="{FF2B5EF4-FFF2-40B4-BE49-F238E27FC236}">
                <a16:creationId xmlns:a16="http://schemas.microsoft.com/office/drawing/2014/main" id="{3B7C1BDD-272D-06D3-4EBA-801F5B6C7B80}"/>
              </a:ext>
            </a:extLst>
          </p:cNvPr>
          <p:cNvSpPr txBox="1"/>
          <p:nvPr/>
        </p:nvSpPr>
        <p:spPr>
          <a:xfrm>
            <a:off x="-1" y="5977722"/>
            <a:ext cx="9807786" cy="41549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000000"/>
                </a:solidFill>
                <a:effectLst/>
                <a:uLnTx/>
                <a:uFillTx/>
                <a:latin typeface="Calibri" panose="020F0502020204030204"/>
                <a:ea typeface="+mn-ea"/>
                <a:cs typeface="+mn-cs"/>
              </a:rPr>
              <a:t>S7. How frequently do you, personall</a:t>
            </a:r>
            <a:r>
              <a:rPr lang="en-US" sz="1050" i="1" dirty="0">
                <a:solidFill>
                  <a:srgbClr val="000000"/>
                </a:solidFill>
                <a:latin typeface="Calibri" panose="020F0502020204030204"/>
              </a:rPr>
              <a:t>y, consume each of the following types of functional nutrition products?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050" i="1" dirty="0">
                <a:solidFill>
                  <a:srgbClr val="000000"/>
                </a:solidFill>
                <a:latin typeface="Calibri" panose="020F0502020204030204"/>
              </a:rPr>
              <a:t>C3. On average, how much do you spend on &lt;INSERT HOLD CATEGORY&gt; in a typical week? </a:t>
            </a:r>
            <a:endParaRPr kumimoji="0" lang="en-US" sz="5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05CD288A-5F2B-0B67-9EB1-A63E9271C645}"/>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3E6DEC3D-A707-5369-85D7-1CF46A511EA4}"/>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11" name="Chart 10">
            <a:extLst>
              <a:ext uri="{FF2B5EF4-FFF2-40B4-BE49-F238E27FC236}">
                <a16:creationId xmlns:a16="http://schemas.microsoft.com/office/drawing/2014/main" id="{46F4D765-4770-E5B8-6BA1-AB311CF6ED05}"/>
              </a:ext>
            </a:extLst>
          </p:cNvPr>
          <p:cNvGraphicFramePr/>
          <p:nvPr>
            <p:extLst>
              <p:ext uri="{D42A27DB-BD31-4B8C-83A1-F6EECF244321}">
                <p14:modId xmlns:p14="http://schemas.microsoft.com/office/powerpoint/2010/main" val="4203269357"/>
              </p:ext>
            </p:extLst>
          </p:nvPr>
        </p:nvGraphicFramePr>
        <p:xfrm>
          <a:off x="394422" y="1915808"/>
          <a:ext cx="4911286" cy="3995349"/>
        </p:xfrm>
        <a:graphic>
          <a:graphicData uri="http://schemas.openxmlformats.org/drawingml/2006/chart">
            <c:chart xmlns:c="http://schemas.openxmlformats.org/drawingml/2006/chart" xmlns:r="http://schemas.openxmlformats.org/officeDocument/2006/relationships" r:id="rId3"/>
          </a:graphicData>
        </a:graphic>
      </p:graphicFrame>
      <p:grpSp>
        <p:nvGrpSpPr>
          <p:cNvPr id="16" name="Group 15">
            <a:extLst>
              <a:ext uri="{FF2B5EF4-FFF2-40B4-BE49-F238E27FC236}">
                <a16:creationId xmlns:a16="http://schemas.microsoft.com/office/drawing/2014/main" id="{4427ABE9-28FF-A7E5-124F-93BFC7FD294A}"/>
              </a:ext>
            </a:extLst>
          </p:cNvPr>
          <p:cNvGrpSpPr/>
          <p:nvPr/>
        </p:nvGrpSpPr>
        <p:grpSpPr>
          <a:xfrm>
            <a:off x="5535598" y="2040595"/>
            <a:ext cx="6396239" cy="3755375"/>
            <a:chOff x="1311231" y="761692"/>
            <a:chExt cx="9006002" cy="5256526"/>
          </a:xfrm>
        </p:grpSpPr>
        <p:grpSp>
          <p:nvGrpSpPr>
            <p:cNvPr id="4" name="Group 3">
              <a:extLst>
                <a:ext uri="{FF2B5EF4-FFF2-40B4-BE49-F238E27FC236}">
                  <a16:creationId xmlns:a16="http://schemas.microsoft.com/office/drawing/2014/main" id="{72CEC5DE-0945-A320-D087-7AE40A93AAB1}"/>
                </a:ext>
              </a:extLst>
            </p:cNvPr>
            <p:cNvGrpSpPr/>
            <p:nvPr/>
          </p:nvGrpSpPr>
          <p:grpSpPr>
            <a:xfrm>
              <a:off x="1664414" y="761692"/>
              <a:ext cx="8652819" cy="5256526"/>
              <a:chOff x="2928135" y="749441"/>
              <a:chExt cx="8652819" cy="5256526"/>
            </a:xfrm>
          </p:grpSpPr>
          <p:graphicFrame>
            <p:nvGraphicFramePr>
              <p:cNvPr id="5" name="Chart 4">
                <a:extLst>
                  <a:ext uri="{FF2B5EF4-FFF2-40B4-BE49-F238E27FC236}">
                    <a16:creationId xmlns:a16="http://schemas.microsoft.com/office/drawing/2014/main" id="{70D214F2-9F4F-A531-1143-8274B04CE396}"/>
                  </a:ext>
                </a:extLst>
              </p:cNvPr>
              <p:cNvGraphicFramePr/>
              <p:nvPr>
                <p:extLst>
                  <p:ext uri="{D42A27DB-BD31-4B8C-83A1-F6EECF244321}">
                    <p14:modId xmlns:p14="http://schemas.microsoft.com/office/powerpoint/2010/main" val="1742814094"/>
                  </p:ext>
                </p:extLst>
              </p:nvPr>
            </p:nvGraphicFramePr>
            <p:xfrm>
              <a:off x="2928135" y="749441"/>
              <a:ext cx="8652819" cy="5256526"/>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889130AA-F5FD-44D5-BA91-053C4CD03211}"/>
                  </a:ext>
                </a:extLst>
              </p:cNvPr>
              <p:cNvSpPr txBox="1"/>
              <p:nvPr/>
            </p:nvSpPr>
            <p:spPr>
              <a:xfrm>
                <a:off x="3722240" y="1627419"/>
                <a:ext cx="1662964" cy="439286"/>
              </a:xfrm>
              <a:prstGeom prst="rect">
                <a:avLst/>
              </a:prstGeom>
              <a:noFill/>
            </p:spPr>
            <p:txBody>
              <a:bodyPr wrap="square" rtlCol="0">
                <a:spAutoFit/>
              </a:bodyPr>
              <a:lstStyle/>
              <a:p>
                <a:pPr algn="ctr"/>
                <a:r>
                  <a:rPr lang="en-US" sz="1400" b="1" dirty="0">
                    <a:solidFill>
                      <a:schemeClr val="accent2"/>
                    </a:solidFill>
                    <a:latin typeface="+mj-lt"/>
                  </a:rPr>
                  <a:t>$53/mo</a:t>
                </a:r>
              </a:p>
            </p:txBody>
          </p:sp>
          <p:sp>
            <p:nvSpPr>
              <p:cNvPr id="9" name="TextBox 8">
                <a:extLst>
                  <a:ext uri="{FF2B5EF4-FFF2-40B4-BE49-F238E27FC236}">
                    <a16:creationId xmlns:a16="http://schemas.microsoft.com/office/drawing/2014/main" id="{1CEB9120-4190-6813-BC05-DFB314F9D50B}"/>
                  </a:ext>
                </a:extLst>
              </p:cNvPr>
              <p:cNvSpPr txBox="1"/>
              <p:nvPr/>
            </p:nvSpPr>
            <p:spPr>
              <a:xfrm>
                <a:off x="6698060" y="1627419"/>
                <a:ext cx="1662964" cy="439286"/>
              </a:xfrm>
              <a:prstGeom prst="rect">
                <a:avLst/>
              </a:prstGeom>
              <a:noFill/>
            </p:spPr>
            <p:txBody>
              <a:bodyPr wrap="square" rtlCol="0">
                <a:spAutoFit/>
              </a:bodyPr>
              <a:lstStyle/>
              <a:p>
                <a:pPr algn="ctr"/>
                <a:r>
                  <a:rPr lang="en-US" sz="1400" b="1" dirty="0">
                    <a:solidFill>
                      <a:schemeClr val="accent2"/>
                    </a:solidFill>
                    <a:latin typeface="+mj-lt"/>
                  </a:rPr>
                  <a:t>$81/mo</a:t>
                </a:r>
              </a:p>
            </p:txBody>
          </p:sp>
          <p:sp>
            <p:nvSpPr>
              <p:cNvPr id="10" name="TextBox 9">
                <a:extLst>
                  <a:ext uri="{FF2B5EF4-FFF2-40B4-BE49-F238E27FC236}">
                    <a16:creationId xmlns:a16="http://schemas.microsoft.com/office/drawing/2014/main" id="{8EFD7B82-C8B7-F26D-426A-7A14745D586D}"/>
                  </a:ext>
                </a:extLst>
              </p:cNvPr>
              <p:cNvSpPr txBox="1"/>
              <p:nvPr/>
            </p:nvSpPr>
            <p:spPr>
              <a:xfrm>
                <a:off x="9299919" y="1627419"/>
                <a:ext cx="1662964" cy="439286"/>
              </a:xfrm>
              <a:prstGeom prst="rect">
                <a:avLst/>
              </a:prstGeom>
              <a:noFill/>
            </p:spPr>
            <p:txBody>
              <a:bodyPr wrap="square" rtlCol="0">
                <a:spAutoFit/>
              </a:bodyPr>
              <a:lstStyle/>
              <a:p>
                <a:pPr algn="ctr"/>
                <a:r>
                  <a:rPr lang="en-US" sz="1400" b="1" dirty="0">
                    <a:solidFill>
                      <a:schemeClr val="accent2"/>
                    </a:solidFill>
                    <a:latin typeface="+mj-lt"/>
                  </a:rPr>
                  <a:t>$60/mo</a:t>
                </a:r>
              </a:p>
            </p:txBody>
          </p:sp>
        </p:grpSp>
        <p:sp>
          <p:nvSpPr>
            <p:cNvPr id="12" name="Google Shape;1708;p28">
              <a:extLst>
                <a:ext uri="{FF2B5EF4-FFF2-40B4-BE49-F238E27FC236}">
                  <a16:creationId xmlns:a16="http://schemas.microsoft.com/office/drawing/2014/main" id="{B72B56B5-3BFD-88C1-0DB9-CA8C9D029049}"/>
                </a:ext>
              </a:extLst>
            </p:cNvPr>
            <p:cNvSpPr/>
            <p:nvPr/>
          </p:nvSpPr>
          <p:spPr>
            <a:xfrm>
              <a:off x="2465123" y="2668298"/>
              <a:ext cx="1662965" cy="450885"/>
            </a:xfrm>
            <a:prstGeom prst="wedgeRoundRectCallout">
              <a:avLst>
                <a:gd name="adj1" fmla="val -8342"/>
                <a:gd name="adj2" fmla="val -44624"/>
                <a:gd name="adj3" fmla="val 16667"/>
              </a:avLst>
            </a:prstGeom>
            <a:solidFill>
              <a:schemeClr val="accent1">
                <a:lumMod val="20000"/>
                <a:lumOff val="80000"/>
              </a:schemeClr>
            </a:solidFill>
            <a:ln>
              <a:noFill/>
            </a:ln>
          </p:spPr>
          <p:txBody>
            <a:bodyPr spcFirstLastPara="1" wrap="square" lIns="27425" tIns="27425" rIns="27425" bIns="27425" anchor="ctr" anchorCtr="0">
              <a:noAutofit/>
            </a:bodyPr>
            <a:lstStyle/>
            <a:p>
              <a:pPr marL="91440" marR="0" lvl="0" indent="-91440" algn="l" rtl="0">
                <a:spcBef>
                  <a:spcPts val="0"/>
                </a:spcBef>
                <a:spcAft>
                  <a:spcPts val="0"/>
                </a:spcAft>
                <a:buClr>
                  <a:schemeClr val="dk1"/>
                </a:buClr>
                <a:buSzPts val="900"/>
                <a:buFont typeface="Arial"/>
                <a:buChar char="•"/>
              </a:pPr>
              <a:r>
                <a:rPr lang="en-US" sz="900" b="1" dirty="0">
                  <a:solidFill>
                    <a:schemeClr val="dk1"/>
                  </a:solidFill>
                  <a:latin typeface="Lato"/>
                  <a:ea typeface="Lato"/>
                  <a:cs typeface="Lato"/>
                  <a:sym typeface="Lato"/>
                </a:rPr>
                <a:t>25-34 = $66 </a:t>
              </a:r>
              <a:r>
                <a:rPr lang="en-US" sz="900" b="1" dirty="0">
                  <a:solidFill>
                    <a:srgbClr val="33896C"/>
                  </a:solidFill>
                  <a:latin typeface="Lato"/>
                  <a:ea typeface="Lato"/>
                  <a:cs typeface="Lato"/>
                  <a:sym typeface="Lato"/>
                </a:rPr>
                <a:t>(124)</a:t>
              </a:r>
            </a:p>
            <a:p>
              <a:pPr marL="91440" marR="0" lvl="0" indent="-91440" algn="l" rtl="0">
                <a:spcBef>
                  <a:spcPts val="0"/>
                </a:spcBef>
                <a:spcAft>
                  <a:spcPts val="0"/>
                </a:spcAft>
                <a:buClr>
                  <a:schemeClr val="dk1"/>
                </a:buClr>
                <a:buSzPts val="900"/>
                <a:buFont typeface="Arial"/>
                <a:buChar char="•"/>
              </a:pPr>
              <a:r>
                <a:rPr lang="en-US" sz="900" b="1" dirty="0">
                  <a:solidFill>
                    <a:schemeClr val="dk1"/>
                  </a:solidFill>
                  <a:latin typeface="Lato"/>
                  <a:ea typeface="Lato"/>
                  <a:cs typeface="Lato"/>
                  <a:sym typeface="Lato"/>
                </a:rPr>
                <a:t>35-44 = $67 </a:t>
              </a:r>
              <a:r>
                <a:rPr lang="en-US" sz="900" b="1" dirty="0">
                  <a:solidFill>
                    <a:srgbClr val="33896C"/>
                  </a:solidFill>
                  <a:latin typeface="Lato"/>
                  <a:ea typeface="Lato"/>
                  <a:cs typeface="Lato"/>
                  <a:sym typeface="Lato"/>
                </a:rPr>
                <a:t>(127</a:t>
              </a:r>
              <a:r>
                <a:rPr lang="en-US" sz="900" b="1" dirty="0">
                  <a:solidFill>
                    <a:schemeClr val="dk1"/>
                  </a:solidFill>
                  <a:latin typeface="Lato"/>
                  <a:ea typeface="Lato"/>
                  <a:cs typeface="Lato"/>
                  <a:sym typeface="Lato"/>
                </a:rPr>
                <a:t>)</a:t>
              </a:r>
              <a:endParaRPr lang="en-US" sz="900" dirty="0">
                <a:solidFill>
                  <a:schemeClr val="dk1"/>
                </a:solidFill>
                <a:latin typeface="Lato"/>
                <a:ea typeface="Lato"/>
                <a:cs typeface="Lato"/>
                <a:sym typeface="Lato"/>
              </a:endParaRPr>
            </a:p>
          </p:txBody>
        </p:sp>
        <p:sp>
          <p:nvSpPr>
            <p:cNvPr id="13" name="TextBox 12">
              <a:extLst>
                <a:ext uri="{FF2B5EF4-FFF2-40B4-BE49-F238E27FC236}">
                  <a16:creationId xmlns:a16="http://schemas.microsoft.com/office/drawing/2014/main" id="{12796530-A1BB-3BB7-D313-4BE16ACB5B1E}"/>
                </a:ext>
              </a:extLst>
            </p:cNvPr>
            <p:cNvSpPr txBox="1"/>
            <p:nvPr/>
          </p:nvSpPr>
          <p:spPr>
            <a:xfrm>
              <a:off x="1311231" y="1610556"/>
              <a:ext cx="1058239" cy="439286"/>
            </a:xfrm>
            <a:prstGeom prst="rect">
              <a:avLst/>
            </a:prstGeom>
            <a:noFill/>
          </p:spPr>
          <p:txBody>
            <a:bodyPr wrap="square" rtlCol="0">
              <a:spAutoFit/>
            </a:bodyPr>
            <a:lstStyle/>
            <a:p>
              <a:r>
                <a:rPr lang="en-US" sz="1400" b="1" dirty="0">
                  <a:solidFill>
                    <a:schemeClr val="accent2"/>
                  </a:solidFill>
                </a:rPr>
                <a:t>Mean:</a:t>
              </a:r>
            </a:p>
          </p:txBody>
        </p:sp>
      </p:grpSp>
      <p:cxnSp>
        <p:nvCxnSpPr>
          <p:cNvPr id="18" name="Straight Connector 17">
            <a:extLst>
              <a:ext uri="{FF2B5EF4-FFF2-40B4-BE49-F238E27FC236}">
                <a16:creationId xmlns:a16="http://schemas.microsoft.com/office/drawing/2014/main" id="{9EABFA9C-537B-F3AA-45FB-D95A1AB629F9}"/>
              </a:ext>
            </a:extLst>
          </p:cNvPr>
          <p:cNvCxnSpPr>
            <a:cxnSpLocks/>
          </p:cNvCxnSpPr>
          <p:nvPr/>
        </p:nvCxnSpPr>
        <p:spPr>
          <a:xfrm>
            <a:off x="5428568" y="2040595"/>
            <a:ext cx="0" cy="379630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982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7EACBBFE-53A5-8A02-56B2-28F16375737E}"/>
            </a:ext>
          </a:extLst>
        </p:cNvPr>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F58A4487-E94E-B719-F3F6-C2DB1ECBE773}"/>
              </a:ext>
            </a:extLst>
          </p:cNvPr>
          <p:cNvSpPr/>
          <p:nvPr/>
        </p:nvSpPr>
        <p:spPr>
          <a:xfrm>
            <a:off x="154111" y="5250094"/>
            <a:ext cx="7314535" cy="34984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06FA89A9-6E56-2055-3DE8-2C8EDF38B33B}"/>
              </a:ext>
            </a:extLst>
          </p:cNvPr>
          <p:cNvGraphicFramePr/>
          <p:nvPr/>
        </p:nvGraphicFramePr>
        <p:xfrm>
          <a:off x="626724" y="2069002"/>
          <a:ext cx="6841922" cy="3910251"/>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4">
            <a:extLst>
              <a:ext uri="{FF2B5EF4-FFF2-40B4-BE49-F238E27FC236}">
                <a16:creationId xmlns:a16="http://schemas.microsoft.com/office/drawing/2014/main" id="{F69AE4D9-F7BD-B9A6-46AB-3DD90C14E497}"/>
              </a:ext>
            </a:extLst>
          </p:cNvPr>
          <p:cNvSpPr txBox="1">
            <a:spLocks/>
          </p:cNvSpPr>
          <p:nvPr/>
        </p:nvSpPr>
        <p:spPr>
          <a:xfrm>
            <a:off x="493771" y="406555"/>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Supplement usage is driven by Vitamins and Minerals, followed by specialty products</a:t>
            </a:r>
          </a:p>
        </p:txBody>
      </p:sp>
      <p:sp>
        <p:nvSpPr>
          <p:cNvPr id="3" name="TextBox 2">
            <a:extLst>
              <a:ext uri="{FF2B5EF4-FFF2-40B4-BE49-F238E27FC236}">
                <a16:creationId xmlns:a16="http://schemas.microsoft.com/office/drawing/2014/main" id="{10257C6E-DC10-7FA3-CFD5-287148DBBAEB}"/>
              </a:ext>
            </a:extLst>
          </p:cNvPr>
          <p:cNvSpPr txBox="1"/>
          <p:nvPr/>
        </p:nvSpPr>
        <p:spPr>
          <a:xfrm>
            <a:off x="493771" y="1354710"/>
            <a:ext cx="10591129" cy="5847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Gummies compete with “pill” formats, while other formats are much less common (whether driven by availability vs. consumer preference is unknown based on this data)</a:t>
            </a:r>
          </a:p>
        </p:txBody>
      </p:sp>
      <p:sp>
        <p:nvSpPr>
          <p:cNvPr id="73" name="TextBox 72">
            <a:extLst>
              <a:ext uri="{FF2B5EF4-FFF2-40B4-BE49-F238E27FC236}">
                <a16:creationId xmlns:a16="http://schemas.microsoft.com/office/drawing/2014/main" id="{15F5FDEE-8FF4-6DCF-FD8E-31C623B03C19}"/>
              </a:ext>
            </a:extLst>
          </p:cNvPr>
          <p:cNvSpPr txBox="1"/>
          <p:nvPr/>
        </p:nvSpPr>
        <p:spPr>
          <a:xfrm>
            <a:off x="-10201" y="5979253"/>
            <a:ext cx="9807786" cy="5693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C1. How frequently, if ever, do you personally use each of the following types of  Dietary Supplements?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C4. Which of the following supplement formats do you regularly use?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21C27AEF-6063-F7B1-3EC9-152362CC207D}"/>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E3BA72E4-75EB-99A3-3FA7-DBA0DB0B122A}"/>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8" name="Chart 7">
            <a:extLst>
              <a:ext uri="{FF2B5EF4-FFF2-40B4-BE49-F238E27FC236}">
                <a16:creationId xmlns:a16="http://schemas.microsoft.com/office/drawing/2014/main" id="{4777C9BE-09CA-7860-CC04-AA5611904A59}"/>
              </a:ext>
            </a:extLst>
          </p:cNvPr>
          <p:cNvGraphicFramePr/>
          <p:nvPr/>
        </p:nvGraphicFramePr>
        <p:xfrm>
          <a:off x="7838443" y="1939485"/>
          <a:ext cx="4657879" cy="4039768"/>
        </p:xfrm>
        <a:graphic>
          <a:graphicData uri="http://schemas.openxmlformats.org/drawingml/2006/chart">
            <c:chart xmlns:c="http://schemas.openxmlformats.org/drawingml/2006/chart" xmlns:r="http://schemas.openxmlformats.org/officeDocument/2006/relationships" r:id="rId4"/>
          </a:graphicData>
        </a:graphic>
      </p:graphicFrame>
      <p:cxnSp>
        <p:nvCxnSpPr>
          <p:cNvPr id="10" name="Straight Connector 9">
            <a:extLst>
              <a:ext uri="{FF2B5EF4-FFF2-40B4-BE49-F238E27FC236}">
                <a16:creationId xmlns:a16="http://schemas.microsoft.com/office/drawing/2014/main" id="{346A7E44-34E1-0EE7-D994-1D4D59D88E4E}"/>
              </a:ext>
            </a:extLst>
          </p:cNvPr>
          <p:cNvCxnSpPr/>
          <p:nvPr/>
        </p:nvCxnSpPr>
        <p:spPr>
          <a:xfrm>
            <a:off x="7613150" y="1939485"/>
            <a:ext cx="0" cy="4078733"/>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854A948-7DC3-39C2-6C81-761AA48DA155}"/>
              </a:ext>
            </a:extLst>
          </p:cNvPr>
          <p:cNvSpPr txBox="1"/>
          <p:nvPr/>
        </p:nvSpPr>
        <p:spPr>
          <a:xfrm>
            <a:off x="154111" y="5323306"/>
            <a:ext cx="84248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D582C"/>
                </a:solidFill>
                <a:effectLst/>
                <a:uLnTx/>
                <a:uFillTx/>
                <a:latin typeface="Calibri" panose="020F0502020204030204"/>
                <a:ea typeface="+mn-ea"/>
                <a:cs typeface="+mn-cs"/>
              </a:rPr>
              <a:t>Ever Use:</a:t>
            </a:r>
          </a:p>
        </p:txBody>
      </p:sp>
      <p:sp>
        <p:nvSpPr>
          <p:cNvPr id="19" name="TextBox 18">
            <a:extLst>
              <a:ext uri="{FF2B5EF4-FFF2-40B4-BE49-F238E27FC236}">
                <a16:creationId xmlns:a16="http://schemas.microsoft.com/office/drawing/2014/main" id="{FF256710-151F-BF3D-BED9-86321F169DFC}"/>
              </a:ext>
            </a:extLst>
          </p:cNvPr>
          <p:cNvSpPr txBox="1"/>
          <p:nvPr/>
        </p:nvSpPr>
        <p:spPr>
          <a:xfrm>
            <a:off x="996592" y="5322942"/>
            <a:ext cx="842481"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D582C"/>
                </a:solidFill>
                <a:effectLst/>
                <a:uLnTx/>
                <a:uFillTx/>
                <a:latin typeface="Calibri" panose="020F0502020204030204"/>
                <a:ea typeface="+mn-ea"/>
                <a:cs typeface="+mn-cs"/>
              </a:rPr>
              <a:t>97%</a:t>
            </a:r>
          </a:p>
        </p:txBody>
      </p:sp>
      <p:sp>
        <p:nvSpPr>
          <p:cNvPr id="21" name="TextBox 20">
            <a:extLst>
              <a:ext uri="{FF2B5EF4-FFF2-40B4-BE49-F238E27FC236}">
                <a16:creationId xmlns:a16="http://schemas.microsoft.com/office/drawing/2014/main" id="{2B0418F3-4766-A1F9-A17B-8BEE1B2D1051}"/>
              </a:ext>
            </a:extLst>
          </p:cNvPr>
          <p:cNvSpPr txBox="1"/>
          <p:nvPr/>
        </p:nvSpPr>
        <p:spPr>
          <a:xfrm>
            <a:off x="2088808" y="5322941"/>
            <a:ext cx="842481"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D582C"/>
                </a:solidFill>
                <a:effectLst/>
                <a:uLnTx/>
                <a:uFillTx/>
                <a:latin typeface="Calibri" panose="020F0502020204030204"/>
                <a:ea typeface="+mn-ea"/>
                <a:cs typeface="+mn-cs"/>
              </a:rPr>
              <a:t>89%</a:t>
            </a:r>
          </a:p>
        </p:txBody>
      </p:sp>
      <p:sp>
        <p:nvSpPr>
          <p:cNvPr id="22" name="TextBox 21">
            <a:extLst>
              <a:ext uri="{FF2B5EF4-FFF2-40B4-BE49-F238E27FC236}">
                <a16:creationId xmlns:a16="http://schemas.microsoft.com/office/drawing/2014/main" id="{76CB2C86-B833-A908-E3B5-2562E5FF6FE2}"/>
              </a:ext>
            </a:extLst>
          </p:cNvPr>
          <p:cNvSpPr txBox="1"/>
          <p:nvPr/>
        </p:nvSpPr>
        <p:spPr>
          <a:xfrm>
            <a:off x="3146973" y="5322941"/>
            <a:ext cx="842481"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D582C"/>
                </a:solidFill>
                <a:effectLst/>
                <a:uLnTx/>
                <a:uFillTx/>
                <a:latin typeface="Calibri" panose="020F0502020204030204"/>
                <a:ea typeface="+mn-ea"/>
                <a:cs typeface="+mn-cs"/>
              </a:rPr>
              <a:t>66%</a:t>
            </a:r>
          </a:p>
        </p:txBody>
      </p:sp>
      <p:sp>
        <p:nvSpPr>
          <p:cNvPr id="23" name="TextBox 22">
            <a:extLst>
              <a:ext uri="{FF2B5EF4-FFF2-40B4-BE49-F238E27FC236}">
                <a16:creationId xmlns:a16="http://schemas.microsoft.com/office/drawing/2014/main" id="{DD343EF0-06A6-FB35-2ED7-F28E3A1116C1}"/>
              </a:ext>
            </a:extLst>
          </p:cNvPr>
          <p:cNvSpPr txBox="1"/>
          <p:nvPr/>
        </p:nvSpPr>
        <p:spPr>
          <a:xfrm>
            <a:off x="4205138" y="5322941"/>
            <a:ext cx="842481"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D582C"/>
                </a:solidFill>
                <a:effectLst/>
                <a:uLnTx/>
                <a:uFillTx/>
                <a:latin typeface="Calibri" panose="020F0502020204030204"/>
                <a:ea typeface="+mn-ea"/>
                <a:cs typeface="+mn-cs"/>
              </a:rPr>
              <a:t>68%</a:t>
            </a:r>
          </a:p>
        </p:txBody>
      </p:sp>
      <p:sp>
        <p:nvSpPr>
          <p:cNvPr id="24" name="TextBox 23">
            <a:extLst>
              <a:ext uri="{FF2B5EF4-FFF2-40B4-BE49-F238E27FC236}">
                <a16:creationId xmlns:a16="http://schemas.microsoft.com/office/drawing/2014/main" id="{525B682A-EECC-9349-4940-770F8D930676}"/>
              </a:ext>
            </a:extLst>
          </p:cNvPr>
          <p:cNvSpPr txBox="1"/>
          <p:nvPr/>
        </p:nvSpPr>
        <p:spPr>
          <a:xfrm>
            <a:off x="5263303" y="5322941"/>
            <a:ext cx="842481"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D582C"/>
                </a:solidFill>
                <a:effectLst/>
                <a:uLnTx/>
                <a:uFillTx/>
                <a:latin typeface="Calibri" panose="020F0502020204030204"/>
                <a:ea typeface="+mn-ea"/>
                <a:cs typeface="+mn-cs"/>
              </a:rPr>
              <a:t>75%</a:t>
            </a:r>
          </a:p>
        </p:txBody>
      </p:sp>
      <p:sp>
        <p:nvSpPr>
          <p:cNvPr id="25" name="TextBox 24">
            <a:extLst>
              <a:ext uri="{FF2B5EF4-FFF2-40B4-BE49-F238E27FC236}">
                <a16:creationId xmlns:a16="http://schemas.microsoft.com/office/drawing/2014/main" id="{4C342A06-FC55-25D0-2917-28AAE8992994}"/>
              </a:ext>
            </a:extLst>
          </p:cNvPr>
          <p:cNvSpPr txBox="1"/>
          <p:nvPr/>
        </p:nvSpPr>
        <p:spPr>
          <a:xfrm>
            <a:off x="6376248" y="5322940"/>
            <a:ext cx="842481"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D582C"/>
                </a:solidFill>
                <a:effectLst/>
                <a:uLnTx/>
                <a:uFillTx/>
                <a:latin typeface="Calibri" panose="020F0502020204030204"/>
                <a:ea typeface="+mn-ea"/>
                <a:cs typeface="+mn-cs"/>
              </a:rPr>
              <a:t>84%</a:t>
            </a:r>
          </a:p>
        </p:txBody>
      </p:sp>
      <p:sp>
        <p:nvSpPr>
          <p:cNvPr id="11" name="TextBox 10">
            <a:extLst>
              <a:ext uri="{FF2B5EF4-FFF2-40B4-BE49-F238E27FC236}">
                <a16:creationId xmlns:a16="http://schemas.microsoft.com/office/drawing/2014/main" id="{9B2AD17A-F44E-7E97-21CF-D642E27C1CC7}"/>
              </a:ext>
            </a:extLst>
          </p:cNvPr>
          <p:cNvSpPr txBox="1"/>
          <p:nvPr/>
        </p:nvSpPr>
        <p:spPr>
          <a:xfrm>
            <a:off x="9719352" y="17377"/>
            <a:ext cx="2472648" cy="369332"/>
          </a:xfrm>
          <a:prstGeom prst="rect">
            <a:avLst/>
          </a:prstGeom>
          <a:solidFill>
            <a:srgbClr val="FFFF00"/>
          </a:solidFill>
        </p:spPr>
        <p:txBody>
          <a:bodyPr wrap="square" rtlCol="0">
            <a:spAutoFit/>
          </a:bodyPr>
          <a:lstStyle/>
          <a:p>
            <a:r>
              <a:rPr lang="en-US" dirty="0"/>
              <a:t>Add gender/age breaks</a:t>
            </a:r>
          </a:p>
        </p:txBody>
      </p:sp>
    </p:spTree>
    <p:extLst>
      <p:ext uri="{BB962C8B-B14F-4D97-AF65-F5344CB8AC3E}">
        <p14:creationId xmlns:p14="http://schemas.microsoft.com/office/powerpoint/2010/main" val="3230734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FD0BD52A-2D7F-C5F0-F02D-BA7CB89C60D8}"/>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2FA760FD-8C7D-019E-681B-EDC84ACC3935}"/>
              </a:ext>
            </a:extLst>
          </p:cNvPr>
          <p:cNvGraphicFramePr/>
          <p:nvPr>
            <p:extLst>
              <p:ext uri="{D42A27DB-BD31-4B8C-83A1-F6EECF244321}">
                <p14:modId xmlns:p14="http://schemas.microsoft.com/office/powerpoint/2010/main" val="2425101318"/>
              </p:ext>
            </p:extLst>
          </p:nvPr>
        </p:nvGraphicFramePr>
        <p:xfrm>
          <a:off x="2237529" y="1680688"/>
          <a:ext cx="8091617" cy="4411579"/>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4">
            <a:extLst>
              <a:ext uri="{FF2B5EF4-FFF2-40B4-BE49-F238E27FC236}">
                <a16:creationId xmlns:a16="http://schemas.microsoft.com/office/drawing/2014/main" id="{AEDA8645-7516-9F1E-9676-D942E5524973}"/>
              </a:ext>
            </a:extLst>
          </p:cNvPr>
          <p:cNvSpPr txBox="1">
            <a:spLocks/>
          </p:cNvSpPr>
          <p:nvPr/>
        </p:nvSpPr>
        <p:spPr>
          <a:xfrm>
            <a:off x="487789" y="426053"/>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Protein- and fiber-enhanced foods are used most frequently among Functional Food Users</a:t>
            </a:r>
          </a:p>
        </p:txBody>
      </p:sp>
      <p:sp>
        <p:nvSpPr>
          <p:cNvPr id="73" name="TextBox 72">
            <a:extLst>
              <a:ext uri="{FF2B5EF4-FFF2-40B4-BE49-F238E27FC236}">
                <a16:creationId xmlns:a16="http://schemas.microsoft.com/office/drawing/2014/main" id="{90AF5D65-901D-D6F1-577D-F8A851A31D71}"/>
              </a:ext>
            </a:extLst>
          </p:cNvPr>
          <p:cNvSpPr txBox="1"/>
          <p:nvPr/>
        </p:nvSpPr>
        <p:spPr>
          <a:xfrm>
            <a:off x="-10201" y="6092267"/>
            <a:ext cx="98077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C1. How frequently, if ever, do you personally use each of the following types of  Functional Foods?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5" name="Date Placeholder 1">
            <a:extLst>
              <a:ext uri="{FF2B5EF4-FFF2-40B4-BE49-F238E27FC236}">
                <a16:creationId xmlns:a16="http://schemas.microsoft.com/office/drawing/2014/main" id="{8F84F75D-CF18-D2D4-DD7A-38D5B1A275FF}"/>
              </a:ext>
            </a:extLst>
          </p:cNvPr>
          <p:cNvSpPr>
            <a:spLocks noGrp="1"/>
          </p:cNvSpPr>
          <p:nvPr>
            <p:ph type="dt" sz="half" idx="10"/>
          </p:nvPr>
        </p:nvSpPr>
        <p:spPr>
          <a:xfrm>
            <a:off x="1097280" y="6459785"/>
            <a:ext cx="2472271" cy="365125"/>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12/30/2025</a:t>
            </a:r>
          </a:p>
        </p:txBody>
      </p:sp>
      <p:sp>
        <p:nvSpPr>
          <p:cNvPr id="6" name="Footer Placeholder 2">
            <a:extLst>
              <a:ext uri="{FF2B5EF4-FFF2-40B4-BE49-F238E27FC236}">
                <a16:creationId xmlns:a16="http://schemas.microsoft.com/office/drawing/2014/main" id="{101D0562-D520-4765-C3F8-C44F44174493}"/>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CAF9D462-3BDC-7B3B-534B-EF8C52A1170D}"/>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57D230FA-B4C2-BD11-7ED2-A19A0888FC52}"/>
              </a:ext>
            </a:extLst>
          </p:cNvPr>
          <p:cNvSpPr txBox="1"/>
          <p:nvPr/>
        </p:nvSpPr>
        <p:spPr>
          <a:xfrm>
            <a:off x="9719353" y="51391"/>
            <a:ext cx="2472648" cy="369332"/>
          </a:xfrm>
          <a:prstGeom prst="rect">
            <a:avLst/>
          </a:prstGeom>
          <a:solidFill>
            <a:srgbClr val="FFFF00"/>
          </a:solidFill>
        </p:spPr>
        <p:txBody>
          <a:bodyPr wrap="square" rtlCol="0">
            <a:spAutoFit/>
          </a:bodyPr>
          <a:lstStyle/>
          <a:p>
            <a:r>
              <a:rPr lang="en-US" dirty="0"/>
              <a:t>Add gender/age breaks</a:t>
            </a:r>
          </a:p>
        </p:txBody>
      </p:sp>
    </p:spTree>
    <p:extLst>
      <p:ext uri="{BB962C8B-B14F-4D97-AF65-F5344CB8AC3E}">
        <p14:creationId xmlns:p14="http://schemas.microsoft.com/office/powerpoint/2010/main" val="978599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FEEFC849-BA24-5D48-F616-6555254D5C42}"/>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FFF4641E-7304-5FC3-D4EE-7D683CF0F81D}"/>
              </a:ext>
            </a:extLst>
          </p:cNvPr>
          <p:cNvGraphicFramePr/>
          <p:nvPr>
            <p:extLst>
              <p:ext uri="{D42A27DB-BD31-4B8C-83A1-F6EECF244321}">
                <p14:modId xmlns:p14="http://schemas.microsoft.com/office/powerpoint/2010/main" val="2879439931"/>
              </p:ext>
            </p:extLst>
          </p:nvPr>
        </p:nvGraphicFramePr>
        <p:xfrm>
          <a:off x="2149245" y="1539834"/>
          <a:ext cx="8270696" cy="4250668"/>
        </p:xfrm>
        <a:graphic>
          <a:graphicData uri="http://schemas.openxmlformats.org/drawingml/2006/chart">
            <c:chart xmlns:c="http://schemas.openxmlformats.org/drawingml/2006/chart" xmlns:r="http://schemas.openxmlformats.org/officeDocument/2006/relationships" r:id="rId3"/>
          </a:graphicData>
        </a:graphic>
      </p:graphicFrame>
      <p:sp>
        <p:nvSpPr>
          <p:cNvPr id="73" name="TextBox 72">
            <a:extLst>
              <a:ext uri="{FF2B5EF4-FFF2-40B4-BE49-F238E27FC236}">
                <a16:creationId xmlns:a16="http://schemas.microsoft.com/office/drawing/2014/main" id="{9E243DF7-1E1A-3FA8-2118-72C7AEE38408}"/>
              </a:ext>
            </a:extLst>
          </p:cNvPr>
          <p:cNvSpPr txBox="1"/>
          <p:nvPr/>
        </p:nvSpPr>
        <p:spPr>
          <a:xfrm>
            <a:off x="0" y="6075639"/>
            <a:ext cx="98077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C1. How frequently, if ever, do you personally use each of the following types of  Functional Beverages?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A3744E44-5051-A9B3-84C3-0DC235B80011}"/>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D722AB6B-CF45-1B6D-239A-109C35F868F6}"/>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23</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8" name="Title 4">
            <a:extLst>
              <a:ext uri="{FF2B5EF4-FFF2-40B4-BE49-F238E27FC236}">
                <a16:creationId xmlns:a16="http://schemas.microsoft.com/office/drawing/2014/main" id="{F1934C11-E671-0862-DB74-6D0D3CED651D}"/>
              </a:ext>
            </a:extLst>
          </p:cNvPr>
          <p:cNvSpPr txBox="1">
            <a:spLocks/>
          </p:cNvSpPr>
          <p:nvPr/>
        </p:nvSpPr>
        <p:spPr>
          <a:xfrm>
            <a:off x="487789" y="426053"/>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Functional Beverage Users consume Enhanced Waters, Sports Drinks, and Protein Shakes most frequently</a:t>
            </a:r>
          </a:p>
        </p:txBody>
      </p:sp>
      <p:sp>
        <p:nvSpPr>
          <p:cNvPr id="3" name="TextBox 2">
            <a:extLst>
              <a:ext uri="{FF2B5EF4-FFF2-40B4-BE49-F238E27FC236}">
                <a16:creationId xmlns:a16="http://schemas.microsoft.com/office/drawing/2014/main" id="{EB478ABC-2E66-5A35-CE54-21958AB6B4B2}"/>
              </a:ext>
            </a:extLst>
          </p:cNvPr>
          <p:cNvSpPr txBox="1"/>
          <p:nvPr/>
        </p:nvSpPr>
        <p:spPr>
          <a:xfrm>
            <a:off x="9719353" y="51391"/>
            <a:ext cx="2472648" cy="369332"/>
          </a:xfrm>
          <a:prstGeom prst="rect">
            <a:avLst/>
          </a:prstGeom>
          <a:solidFill>
            <a:srgbClr val="FFFF00"/>
          </a:solidFill>
        </p:spPr>
        <p:txBody>
          <a:bodyPr wrap="square" rtlCol="0">
            <a:spAutoFit/>
          </a:bodyPr>
          <a:lstStyle/>
          <a:p>
            <a:r>
              <a:rPr lang="en-US" dirty="0"/>
              <a:t>Add gender/age breaks</a:t>
            </a:r>
          </a:p>
        </p:txBody>
      </p:sp>
    </p:spTree>
    <p:extLst>
      <p:ext uri="{BB962C8B-B14F-4D97-AF65-F5344CB8AC3E}">
        <p14:creationId xmlns:p14="http://schemas.microsoft.com/office/powerpoint/2010/main" val="3335105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EBC9155D-49F4-9051-9D0C-3CC8027D2565}"/>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13A3A83B-5D41-79D2-D6EF-FDD4AE041431}"/>
              </a:ext>
            </a:extLst>
          </p:cNvPr>
          <p:cNvSpPr txBox="1">
            <a:spLocks/>
          </p:cNvSpPr>
          <p:nvPr/>
        </p:nvSpPr>
        <p:spPr>
          <a:xfrm>
            <a:off x="523030" y="407534"/>
            <a:ext cx="10573060"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Consumers are most likely to cite “supporting general health and wellness” as the </a:t>
            </a:r>
            <a:r>
              <a:rPr kumimoji="0" lang="en-US" sz="2800" b="1"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primary</a:t>
            </a: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reason for using all three categories</a:t>
            </a:r>
          </a:p>
        </p:txBody>
      </p:sp>
      <p:sp>
        <p:nvSpPr>
          <p:cNvPr id="3" name="TextBox 2">
            <a:extLst>
              <a:ext uri="{FF2B5EF4-FFF2-40B4-BE49-F238E27FC236}">
                <a16:creationId xmlns:a16="http://schemas.microsoft.com/office/drawing/2014/main" id="{9028B47D-1DBF-9C59-1ED2-A2024B052AD5}"/>
              </a:ext>
            </a:extLst>
          </p:cNvPr>
          <p:cNvSpPr txBox="1"/>
          <p:nvPr/>
        </p:nvSpPr>
        <p:spPr>
          <a:xfrm>
            <a:off x="523030" y="2374626"/>
            <a:ext cx="2758845" cy="2800767"/>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Supplements are more likely than the other two categories to be used for filling nutritional gaps</a:t>
            </a:r>
            <a:b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Functional Beverages have an edge on enhancing physical or mental performance</a:t>
            </a:r>
            <a:b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73" name="TextBox 72">
            <a:extLst>
              <a:ext uri="{FF2B5EF4-FFF2-40B4-BE49-F238E27FC236}">
                <a16:creationId xmlns:a16="http://schemas.microsoft.com/office/drawing/2014/main" id="{F207F7D7-512A-1005-509C-908A91D4A1DB}"/>
              </a:ext>
            </a:extLst>
          </p:cNvPr>
          <p:cNvSpPr txBox="1"/>
          <p:nvPr/>
        </p:nvSpPr>
        <p:spPr>
          <a:xfrm>
            <a:off x="0" y="6083333"/>
            <a:ext cx="9154274"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F1. Please indicate which of the following best describes your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primary</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reason for using each of the following types of functional nutrition products.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06B1DCE0-6654-C730-A971-67437F0E315B}"/>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7421E976-0A95-C7B5-9625-9BF209266172}"/>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7BEDBBC5-AAAA-D7F9-953F-03FB16866F13}"/>
              </a:ext>
            </a:extLst>
          </p:cNvPr>
          <p:cNvGraphicFramePr/>
          <p:nvPr>
            <p:extLst>
              <p:ext uri="{D42A27DB-BD31-4B8C-83A1-F6EECF244321}">
                <p14:modId xmlns:p14="http://schemas.microsoft.com/office/powerpoint/2010/main" val="3031017324"/>
              </p:ext>
            </p:extLst>
          </p:nvPr>
        </p:nvGraphicFramePr>
        <p:xfrm>
          <a:off x="3287731" y="1432948"/>
          <a:ext cx="8652819" cy="4520154"/>
        </p:xfrm>
        <a:graphic>
          <a:graphicData uri="http://schemas.openxmlformats.org/drawingml/2006/chart">
            <c:chart xmlns:c="http://schemas.openxmlformats.org/drawingml/2006/chart" xmlns:r="http://schemas.openxmlformats.org/officeDocument/2006/relationships" r:id="rId3"/>
          </a:graphicData>
        </a:graphic>
      </p:graphicFrame>
      <p:sp>
        <p:nvSpPr>
          <p:cNvPr id="5" name="Oval 4">
            <a:extLst>
              <a:ext uri="{FF2B5EF4-FFF2-40B4-BE49-F238E27FC236}">
                <a16:creationId xmlns:a16="http://schemas.microsoft.com/office/drawing/2014/main" id="{E8D5F3E9-76C4-8203-C4CA-DDBD029079C7}"/>
              </a:ext>
            </a:extLst>
          </p:cNvPr>
          <p:cNvSpPr/>
          <p:nvPr/>
        </p:nvSpPr>
        <p:spPr>
          <a:xfrm>
            <a:off x="5347222" y="2415722"/>
            <a:ext cx="493160" cy="51370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130E415-A79B-B310-ED65-AB227909C1B9}"/>
              </a:ext>
            </a:extLst>
          </p:cNvPr>
          <p:cNvSpPr/>
          <p:nvPr/>
        </p:nvSpPr>
        <p:spPr>
          <a:xfrm>
            <a:off x="11049855" y="2697121"/>
            <a:ext cx="493160" cy="51370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ECC6B9A5-776D-527E-A516-82003E5AA2F1}"/>
              </a:ext>
            </a:extLst>
          </p:cNvPr>
          <p:cNvSpPr txBox="1"/>
          <p:nvPr/>
        </p:nvSpPr>
        <p:spPr>
          <a:xfrm>
            <a:off x="9719353" y="51391"/>
            <a:ext cx="2472648" cy="369332"/>
          </a:xfrm>
          <a:prstGeom prst="rect">
            <a:avLst/>
          </a:prstGeom>
          <a:solidFill>
            <a:srgbClr val="FFFF00"/>
          </a:solidFill>
        </p:spPr>
        <p:txBody>
          <a:bodyPr wrap="square" rtlCol="0">
            <a:spAutoFit/>
          </a:bodyPr>
          <a:lstStyle/>
          <a:p>
            <a:r>
              <a:rPr lang="en-US" dirty="0"/>
              <a:t>Add gender/age breaks</a:t>
            </a:r>
          </a:p>
        </p:txBody>
      </p:sp>
    </p:spTree>
    <p:extLst>
      <p:ext uri="{BB962C8B-B14F-4D97-AF65-F5344CB8AC3E}">
        <p14:creationId xmlns:p14="http://schemas.microsoft.com/office/powerpoint/2010/main" val="3963394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36A92DA6-159B-CF1B-8C01-8DC8CAE4843D}"/>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EA2FA73D-9292-063F-A212-96560C959E8A}"/>
              </a:ext>
            </a:extLst>
          </p:cNvPr>
          <p:cNvSpPr txBox="1">
            <a:spLocks/>
          </p:cNvSpPr>
          <p:nvPr/>
        </p:nvSpPr>
        <p:spPr>
          <a:xfrm>
            <a:off x="496613" y="460398"/>
            <a:ext cx="1057300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Supplements are more likely to recognized as “part of my daily routine” versus Functional Foods and Beverages, and less likely to be used to address more specific needs</a:t>
            </a:r>
          </a:p>
        </p:txBody>
      </p:sp>
      <p:sp>
        <p:nvSpPr>
          <p:cNvPr id="3" name="TextBox 2">
            <a:extLst>
              <a:ext uri="{FF2B5EF4-FFF2-40B4-BE49-F238E27FC236}">
                <a16:creationId xmlns:a16="http://schemas.microsoft.com/office/drawing/2014/main" id="{55BADD2D-5AD0-C006-A8F7-C798512E2939}"/>
              </a:ext>
            </a:extLst>
          </p:cNvPr>
          <p:cNvSpPr txBox="1"/>
          <p:nvPr/>
        </p:nvSpPr>
        <p:spPr>
          <a:xfrm>
            <a:off x="412252" y="2767280"/>
            <a:ext cx="3157299" cy="1323439"/>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Use of Functional Beverages is more likely </a:t>
            </a:r>
            <a:r>
              <a:rPr lang="en-US" sz="1600" dirty="0">
                <a:solidFill>
                  <a:srgbClr val="BD582C"/>
                </a:solidFill>
                <a:latin typeface="Calibri Light" panose="020F0302020204030204"/>
              </a:rPr>
              <a:t>than the other two categories to be driven by </a:t>
            </a: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feeling unwell or a specific physical or emotional need (e.g., lack of energy, stress)</a:t>
            </a:r>
          </a:p>
        </p:txBody>
      </p:sp>
      <p:sp>
        <p:nvSpPr>
          <p:cNvPr id="73" name="TextBox 72">
            <a:extLst>
              <a:ext uri="{FF2B5EF4-FFF2-40B4-BE49-F238E27FC236}">
                <a16:creationId xmlns:a16="http://schemas.microsoft.com/office/drawing/2014/main" id="{AA86761F-A35B-857B-DA11-EE92DA34F977}"/>
              </a:ext>
            </a:extLst>
          </p:cNvPr>
          <p:cNvSpPr txBox="1"/>
          <p:nvPr/>
        </p:nvSpPr>
        <p:spPr>
          <a:xfrm>
            <a:off x="92672" y="6083333"/>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C5. Which of the following describe how &lt;INSERT HOLD.CATEGORY&gt; fit into your health and wellness routine?</a:t>
            </a:r>
          </a:p>
        </p:txBody>
      </p:sp>
      <p:sp>
        <p:nvSpPr>
          <p:cNvPr id="6" name="Footer Placeholder 2">
            <a:extLst>
              <a:ext uri="{FF2B5EF4-FFF2-40B4-BE49-F238E27FC236}">
                <a16:creationId xmlns:a16="http://schemas.microsoft.com/office/drawing/2014/main" id="{AD349E5C-A0D8-6811-881F-4F878ED76F11}"/>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18ACE78C-EA34-DE97-00DD-7AECAC18EB38}"/>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39FE340A-E21F-26C6-107E-ED420E62A605}"/>
              </a:ext>
            </a:extLst>
          </p:cNvPr>
          <p:cNvGraphicFramePr/>
          <p:nvPr>
            <p:extLst>
              <p:ext uri="{D42A27DB-BD31-4B8C-83A1-F6EECF244321}">
                <p14:modId xmlns:p14="http://schemas.microsoft.com/office/powerpoint/2010/main" val="2717261713"/>
              </p:ext>
            </p:extLst>
          </p:nvPr>
        </p:nvGraphicFramePr>
        <p:xfrm>
          <a:off x="3569551" y="1485813"/>
          <a:ext cx="8011403" cy="4467289"/>
        </p:xfrm>
        <a:graphic>
          <a:graphicData uri="http://schemas.openxmlformats.org/drawingml/2006/chart">
            <c:chart xmlns:c="http://schemas.openxmlformats.org/drawingml/2006/chart" xmlns:r="http://schemas.openxmlformats.org/officeDocument/2006/relationships" r:id="rId3"/>
          </a:graphicData>
        </a:graphic>
      </p:graphicFrame>
      <p:sp>
        <p:nvSpPr>
          <p:cNvPr id="9" name="Oval 8">
            <a:extLst>
              <a:ext uri="{FF2B5EF4-FFF2-40B4-BE49-F238E27FC236}">
                <a16:creationId xmlns:a16="http://schemas.microsoft.com/office/drawing/2014/main" id="{A9FC1ADF-3F75-80F0-D8D2-F715CD5DB8C7}"/>
              </a:ext>
            </a:extLst>
          </p:cNvPr>
          <p:cNvSpPr/>
          <p:nvPr/>
        </p:nvSpPr>
        <p:spPr>
          <a:xfrm>
            <a:off x="5633662" y="2956387"/>
            <a:ext cx="493160" cy="51370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2B12E3F8-C424-FC10-8085-0C3DF0A2FD81}"/>
              </a:ext>
            </a:extLst>
          </p:cNvPr>
          <p:cNvSpPr/>
          <p:nvPr/>
        </p:nvSpPr>
        <p:spPr>
          <a:xfrm>
            <a:off x="6947043" y="2815119"/>
            <a:ext cx="493160" cy="51370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77C48BFD-9406-2F33-BAE0-3F7C3142B86F}"/>
              </a:ext>
            </a:extLst>
          </p:cNvPr>
          <p:cNvSpPr txBox="1"/>
          <p:nvPr/>
        </p:nvSpPr>
        <p:spPr>
          <a:xfrm>
            <a:off x="10572109" y="51391"/>
            <a:ext cx="1619892" cy="369332"/>
          </a:xfrm>
          <a:prstGeom prst="rect">
            <a:avLst/>
          </a:prstGeom>
          <a:solidFill>
            <a:srgbClr val="FFFF00"/>
          </a:solidFill>
        </p:spPr>
        <p:txBody>
          <a:bodyPr wrap="square" rtlCol="0">
            <a:spAutoFit/>
          </a:bodyPr>
          <a:lstStyle/>
          <a:p>
            <a:r>
              <a:rPr lang="en-US" dirty="0"/>
              <a:t>Gender/Age</a:t>
            </a:r>
          </a:p>
        </p:txBody>
      </p:sp>
      <p:pic>
        <p:nvPicPr>
          <p:cNvPr id="11" name="Picture 10">
            <a:extLst>
              <a:ext uri="{FF2B5EF4-FFF2-40B4-BE49-F238E27FC236}">
                <a16:creationId xmlns:a16="http://schemas.microsoft.com/office/drawing/2014/main" id="{648ACFB7-704A-6AF6-327A-2F037401CCC7}"/>
              </a:ext>
            </a:extLst>
          </p:cNvPr>
          <p:cNvPicPr>
            <a:picLocks noChangeAspect="1"/>
          </p:cNvPicPr>
          <p:nvPr/>
        </p:nvPicPr>
        <p:blipFill>
          <a:blip r:embed="rId4"/>
          <a:stretch>
            <a:fillRect/>
          </a:stretch>
        </p:blipFill>
        <p:spPr>
          <a:xfrm>
            <a:off x="3846759" y="2074740"/>
            <a:ext cx="512108" cy="530398"/>
          </a:xfrm>
          <a:prstGeom prst="rect">
            <a:avLst/>
          </a:prstGeom>
        </p:spPr>
      </p:pic>
    </p:spTree>
    <p:extLst>
      <p:ext uri="{BB962C8B-B14F-4D97-AF65-F5344CB8AC3E}">
        <p14:creationId xmlns:p14="http://schemas.microsoft.com/office/powerpoint/2010/main" val="1523727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8C530A9E-53D5-9617-6AE1-28A4A7D0B28F}"/>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0F0191AB-49C6-3E12-287A-8DAF255475E5}"/>
              </a:ext>
            </a:extLst>
          </p:cNvPr>
          <p:cNvSpPr txBox="1">
            <a:spLocks/>
          </p:cNvSpPr>
          <p:nvPr/>
        </p:nvSpPr>
        <p:spPr>
          <a:xfrm>
            <a:off x="528886" y="375783"/>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Supplement Users trust the category, see it as essential, and believe quality matters more than price</a:t>
            </a:r>
          </a:p>
        </p:txBody>
      </p:sp>
      <p:sp>
        <p:nvSpPr>
          <p:cNvPr id="3" name="TextBox 2">
            <a:extLst>
              <a:ext uri="{FF2B5EF4-FFF2-40B4-BE49-F238E27FC236}">
                <a16:creationId xmlns:a16="http://schemas.microsoft.com/office/drawing/2014/main" id="{EEB80305-5A1D-3AF5-68FB-D7A03F788CA9}"/>
              </a:ext>
            </a:extLst>
          </p:cNvPr>
          <p:cNvSpPr txBox="1"/>
          <p:nvPr/>
        </p:nvSpPr>
        <p:spPr>
          <a:xfrm>
            <a:off x="372077" y="2432481"/>
            <a:ext cx="3157299" cy="2308324"/>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More than two-thirds say that Dietary Supplements make them feel empowered and that they would miss the category if they stopped using it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dirty="0">
              <a:solidFill>
                <a:srgbClr val="BD582C"/>
              </a:solidFill>
              <a:latin typeface="Calibri Light" panose="020F03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About a third are skeptical about the safety, side effects, or science</a:t>
            </a: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73" name="TextBox 72">
            <a:extLst>
              <a:ext uri="{FF2B5EF4-FFF2-40B4-BE49-F238E27FC236}">
                <a16:creationId xmlns:a16="http://schemas.microsoft.com/office/drawing/2014/main" id="{CF0088A3-5F03-A43D-34FE-DBB4048571AA}"/>
              </a:ext>
            </a:extLst>
          </p:cNvPr>
          <p:cNvSpPr txBox="1"/>
          <p:nvPr/>
        </p:nvSpPr>
        <p:spPr>
          <a:xfrm>
            <a:off x="92672" y="6083333"/>
            <a:ext cx="9807786" cy="246221"/>
          </a:xfrm>
          <a:prstGeom prst="rect">
            <a:avLst/>
          </a:prstGeom>
          <a:noFill/>
        </p:spPr>
        <p:txBody>
          <a:bodyPr wrap="square" rtlCol="0">
            <a:spAutoFit/>
          </a:bodyPr>
          <a:lstStyle/>
          <a:p>
            <a:pPr lvl="0"/>
            <a:r>
              <a:rPr lang="en-US" sz="1000" i="1" dirty="0"/>
              <a:t>C6. Please indicate the extent to which you agree with each of the following statements about &lt;INSERT HOLD.CATEGORY&gt;? </a:t>
            </a:r>
            <a:endParaRPr kumimoji="0" lang="en-US" sz="4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02759396-F5AA-111F-2F15-1108B28FF3D0}"/>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1136DA5D-2712-16F2-CA75-AD24F1818C54}"/>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A1A0473A-4763-3670-F481-3C5B03753497}"/>
              </a:ext>
            </a:extLst>
          </p:cNvPr>
          <p:cNvGraphicFramePr/>
          <p:nvPr>
            <p:extLst>
              <p:ext uri="{D42A27DB-BD31-4B8C-83A1-F6EECF244321}">
                <p14:modId xmlns:p14="http://schemas.microsoft.com/office/powerpoint/2010/main" val="1336058776"/>
              </p:ext>
            </p:extLst>
          </p:nvPr>
        </p:nvGraphicFramePr>
        <p:xfrm>
          <a:off x="3372568" y="1089952"/>
          <a:ext cx="8905050" cy="5116491"/>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Straight Connector 8">
            <a:extLst>
              <a:ext uri="{FF2B5EF4-FFF2-40B4-BE49-F238E27FC236}">
                <a16:creationId xmlns:a16="http://schemas.microsoft.com/office/drawing/2014/main" id="{CE5CA85B-4D27-B43E-9CAC-7A7A61F36C5E}"/>
              </a:ext>
            </a:extLst>
          </p:cNvPr>
          <p:cNvCxnSpPr/>
          <p:nvPr/>
        </p:nvCxnSpPr>
        <p:spPr>
          <a:xfrm>
            <a:off x="3686185" y="3102796"/>
            <a:ext cx="80960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4EBA15-50E0-D701-0514-70CBAA21082E}"/>
              </a:ext>
            </a:extLst>
          </p:cNvPr>
          <p:cNvCxnSpPr/>
          <p:nvPr/>
        </p:nvCxnSpPr>
        <p:spPr>
          <a:xfrm>
            <a:off x="3686185" y="3943564"/>
            <a:ext cx="80960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99CBB26-A2B0-9BB3-1817-6A333FE52DDE}"/>
              </a:ext>
            </a:extLst>
          </p:cNvPr>
          <p:cNvCxnSpPr/>
          <p:nvPr/>
        </p:nvCxnSpPr>
        <p:spPr>
          <a:xfrm>
            <a:off x="3777075" y="4960706"/>
            <a:ext cx="80960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466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DDE38CAA-0BFC-3D98-A3B4-A0E563BBA5A8}"/>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72ABF780-E3E5-0597-A2B5-D187C7D48BD4}"/>
              </a:ext>
            </a:extLst>
          </p:cNvPr>
          <p:cNvSpPr txBox="1">
            <a:spLocks/>
          </p:cNvSpPr>
          <p:nvPr/>
        </p:nvSpPr>
        <p:spPr>
          <a:xfrm>
            <a:off x="528886" y="375783"/>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All three categories are seen as trusted and as providing peace</a:t>
            </a:r>
            <a:r>
              <a:rPr lang="en-US" sz="2400" dirty="0"/>
              <a:t> of mind by the vast majority of category users </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3" name="TextBox 2">
            <a:extLst>
              <a:ext uri="{FF2B5EF4-FFF2-40B4-BE49-F238E27FC236}">
                <a16:creationId xmlns:a16="http://schemas.microsoft.com/office/drawing/2014/main" id="{7302EFF4-1A04-BF51-B0A1-D8A207964D1C}"/>
              </a:ext>
            </a:extLst>
          </p:cNvPr>
          <p:cNvSpPr txBox="1"/>
          <p:nvPr/>
        </p:nvSpPr>
        <p:spPr>
          <a:xfrm>
            <a:off x="357774" y="1739952"/>
            <a:ext cx="3328411" cy="3985706"/>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rPr>
              <a:t>Supplements and Functional Foods are slightly more likely to be seen as essential to health versus Functional Beverages</a:t>
            </a:r>
            <a:br>
              <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rPr>
              <a:t>Functional Foods and Beverages are slightly more likely to be seen as empowering vs. </a:t>
            </a:r>
            <a:r>
              <a:rPr lang="en-US" sz="1400" dirty="0">
                <a:solidFill>
                  <a:srgbClr val="BD582C"/>
                </a:solidFill>
                <a:latin typeface="Calibri Light" panose="020F0302020204030204"/>
              </a:rPr>
              <a:t>Supplements, and users enjoy are more likely to enjoy experimenting with these categories</a:t>
            </a:r>
            <a:br>
              <a:rPr lang="en-US" sz="1400" dirty="0">
                <a:solidFill>
                  <a:srgbClr val="BD582C"/>
                </a:solidFill>
                <a:latin typeface="Calibri Light" panose="020F0302020204030204"/>
              </a:rPr>
            </a:br>
            <a:endParaRPr lang="en-US" sz="1400" dirty="0">
              <a:solidFill>
                <a:srgbClr val="BD582C"/>
              </a:solidFill>
              <a:latin typeface="Calibri Light" panose="020F0302020204030204"/>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rPr>
              <a:t>The Supplements category is seen as more complex and overwhelming</a:t>
            </a:r>
            <a:br>
              <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rPr>
              <a:t>Functional Foods and Beverages are more likely to be seen as artificial and difficult to incorporate into a routine</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73" name="TextBox 72">
            <a:extLst>
              <a:ext uri="{FF2B5EF4-FFF2-40B4-BE49-F238E27FC236}">
                <a16:creationId xmlns:a16="http://schemas.microsoft.com/office/drawing/2014/main" id="{2AFDADEF-0AEA-70EC-CD48-A7F859EFF6A6}"/>
              </a:ext>
            </a:extLst>
          </p:cNvPr>
          <p:cNvSpPr txBox="1"/>
          <p:nvPr/>
        </p:nvSpPr>
        <p:spPr>
          <a:xfrm>
            <a:off x="92672" y="6083333"/>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C6. Please indicate the extent to which you agree with each of the following statements about &lt;INSERT HOLD.CATEGORY&gt;? </a:t>
            </a:r>
            <a:endParaRPr kumimoji="0" lang="en-US" sz="4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E72F19C1-74A9-2488-07CC-4E5EE93DD035}"/>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F3CD7ACF-1F5B-5631-BB70-A53659BF0055}"/>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27</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8" name="Table 7">
            <a:extLst>
              <a:ext uri="{FF2B5EF4-FFF2-40B4-BE49-F238E27FC236}">
                <a16:creationId xmlns:a16="http://schemas.microsoft.com/office/drawing/2014/main" id="{02A7D4B8-3D1E-A17D-D5A7-AC953B4B822E}"/>
              </a:ext>
            </a:extLst>
          </p:cNvPr>
          <p:cNvGraphicFramePr>
            <a:graphicFrameLocks noGrp="1"/>
          </p:cNvGraphicFramePr>
          <p:nvPr>
            <p:extLst>
              <p:ext uri="{D42A27DB-BD31-4B8C-83A1-F6EECF244321}">
                <p14:modId xmlns:p14="http://schemas.microsoft.com/office/powerpoint/2010/main" val="352974019"/>
              </p:ext>
            </p:extLst>
          </p:nvPr>
        </p:nvGraphicFramePr>
        <p:xfrm>
          <a:off x="4095241" y="1649587"/>
          <a:ext cx="7772400" cy="4166436"/>
        </p:xfrm>
        <a:graphic>
          <a:graphicData uri="http://schemas.openxmlformats.org/drawingml/2006/table">
            <a:tbl>
              <a:tblPr>
                <a:tableStyleId>{3B4B98B0-60AC-42C2-AFA5-B58CD77FA1E5}</a:tableStyleId>
              </a:tblPr>
              <a:tblGrid>
                <a:gridCol w="5029200">
                  <a:extLst>
                    <a:ext uri="{9D8B030D-6E8A-4147-A177-3AD203B41FA5}">
                      <a16:colId xmlns:a16="http://schemas.microsoft.com/office/drawing/2014/main" val="4107426551"/>
                    </a:ext>
                  </a:extLst>
                </a:gridCol>
                <a:gridCol w="914400">
                  <a:extLst>
                    <a:ext uri="{9D8B030D-6E8A-4147-A177-3AD203B41FA5}">
                      <a16:colId xmlns:a16="http://schemas.microsoft.com/office/drawing/2014/main" val="871605687"/>
                    </a:ext>
                  </a:extLst>
                </a:gridCol>
                <a:gridCol w="914400">
                  <a:extLst>
                    <a:ext uri="{9D8B030D-6E8A-4147-A177-3AD203B41FA5}">
                      <a16:colId xmlns:a16="http://schemas.microsoft.com/office/drawing/2014/main" val="1381748258"/>
                    </a:ext>
                  </a:extLst>
                </a:gridCol>
                <a:gridCol w="914400">
                  <a:extLst>
                    <a:ext uri="{9D8B030D-6E8A-4147-A177-3AD203B41FA5}">
                      <a16:colId xmlns:a16="http://schemas.microsoft.com/office/drawing/2014/main" val="2197625001"/>
                    </a:ext>
                  </a:extLst>
                </a:gridCol>
              </a:tblGrid>
              <a:tr h="0">
                <a:tc gridSpan="4">
                  <a:txBody>
                    <a:bodyPr/>
                    <a:lstStyle/>
                    <a:p>
                      <a:pPr algn="ctr" fontAlgn="b">
                        <a:buNone/>
                      </a:pPr>
                      <a:r>
                        <a:rPr lang="en-US" sz="1200" b="1" i="0" u="none" strike="noStrike" dirty="0">
                          <a:solidFill>
                            <a:schemeClr val="bg1"/>
                          </a:solidFill>
                          <a:effectLst/>
                          <a:latin typeface="Arial" panose="020B0604020202020204" pitchFamily="34" charset="0"/>
                        </a:rPr>
                        <a:t>Top 2 Box Category Attitude Agreement </a:t>
                      </a:r>
                    </a:p>
                    <a:p>
                      <a:pPr algn="ctr" fontAlgn="b">
                        <a:buNone/>
                      </a:pPr>
                      <a:r>
                        <a:rPr lang="en-US" sz="1200" b="0" i="0" u="none" strike="noStrike" dirty="0">
                          <a:solidFill>
                            <a:schemeClr val="bg1"/>
                          </a:solidFill>
                          <a:effectLst/>
                          <a:latin typeface="Arial" panose="020B0604020202020204" pitchFamily="34" charset="0"/>
                        </a:rPr>
                        <a:t>(% completely/somewhat agree among once/week+ category users)</a:t>
                      </a: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Dietary Supplements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Functional Foods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Functional Beverages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28600">
                <a:tc>
                  <a:txBody>
                    <a:bodyPr/>
                    <a:lstStyle/>
                    <a:p>
                      <a:pPr algn="l" fontAlgn="ctr">
                        <a:buNone/>
                      </a:pPr>
                      <a:r>
                        <a:rPr lang="en-US" sz="1200" u="none" strike="noStrike" dirty="0">
                          <a:effectLst/>
                        </a:rPr>
                        <a:t>I'm generally confident that [category] I use are actually working as claimed</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200" u="none" strike="noStrike" dirty="0">
                          <a:effectLst/>
                        </a:rPr>
                        <a:t>79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200" u="none" strike="noStrike" dirty="0">
                          <a:effectLst/>
                        </a:rPr>
                        <a:t>77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200" u="none" strike="noStrike" dirty="0">
                          <a:effectLst/>
                        </a:rPr>
                        <a:t>79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28676805"/>
                  </a:ext>
                </a:extLst>
              </a:tr>
              <a:tr h="228600">
                <a:tc>
                  <a:txBody>
                    <a:bodyPr/>
                    <a:lstStyle/>
                    <a:p>
                      <a:pPr algn="l" fontAlgn="ctr">
                        <a:buNone/>
                      </a:pPr>
                      <a:r>
                        <a:rPr lang="en-US" sz="1200" u="none" strike="noStrike" dirty="0">
                          <a:effectLst/>
                        </a:rPr>
                        <a:t>Using [category] gives me peace of mind</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78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77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807090806"/>
                  </a:ext>
                </a:extLst>
              </a:tr>
              <a:tr h="228600">
                <a:tc>
                  <a:txBody>
                    <a:bodyPr/>
                    <a:lstStyle/>
                    <a:p>
                      <a:pPr algn="l" fontAlgn="ctr">
                        <a:buNone/>
                      </a:pPr>
                      <a:r>
                        <a:rPr lang="en-US" sz="1200" u="none" strike="noStrike" dirty="0">
                          <a:effectLst/>
                        </a:rPr>
                        <a:t>When it comes to [category], quality matters more than price</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77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78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78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2050239563"/>
                  </a:ext>
                </a:extLst>
              </a:tr>
              <a:tr h="228600">
                <a:tc>
                  <a:txBody>
                    <a:bodyPr/>
                    <a:lstStyle/>
                    <a:p>
                      <a:pPr algn="l" fontAlgn="ctr">
                        <a:buNone/>
                      </a:pPr>
                      <a:r>
                        <a:rPr lang="en-US" sz="1200" u="none" strike="noStrike" dirty="0">
                          <a:effectLst/>
                        </a:rPr>
                        <a:t>[Category] are essential for good health</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75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u="none" strike="noStrike" dirty="0">
                          <a:effectLst/>
                        </a:rPr>
                        <a:t>77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u="none" strike="noStrike" dirty="0">
                          <a:effectLst/>
                        </a:rPr>
                        <a:t>69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3777060894"/>
                  </a:ext>
                </a:extLst>
              </a:tr>
              <a:tr h="228600">
                <a:tc>
                  <a:txBody>
                    <a:bodyPr/>
                    <a:lstStyle/>
                    <a:p>
                      <a:pPr algn="l" fontAlgn="ctr">
                        <a:buNone/>
                      </a:pPr>
                      <a:r>
                        <a:rPr lang="en-US" sz="1200" u="none" strike="noStrike" dirty="0">
                          <a:effectLst/>
                        </a:rPr>
                        <a:t>Using [category] makes me feel empowered and in control</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70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76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u="none" strike="noStrike" dirty="0">
                          <a:effectLst/>
                        </a:rPr>
                        <a:t>75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816600029"/>
                  </a:ext>
                </a:extLst>
              </a:tr>
              <a:tr h="228600">
                <a:tc>
                  <a:txBody>
                    <a:bodyPr/>
                    <a:lstStyle/>
                    <a:p>
                      <a:pPr algn="l" fontAlgn="ctr">
                        <a:buNone/>
                      </a:pPr>
                      <a:r>
                        <a:rPr lang="en-US" sz="1200" u="none" strike="noStrike" dirty="0">
                          <a:effectLst/>
                        </a:rPr>
                        <a:t>I would miss [category] if I stopped using them</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69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69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72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3031203097"/>
                  </a:ext>
                </a:extLst>
              </a:tr>
              <a:tr h="228600">
                <a:tc>
                  <a:txBody>
                    <a:bodyPr/>
                    <a:lstStyle/>
                    <a:p>
                      <a:pPr algn="l" fontAlgn="ctr">
                        <a:buNone/>
                      </a:pPr>
                      <a:r>
                        <a:rPr lang="en-US" sz="1200" u="none" strike="noStrike" dirty="0">
                          <a:effectLst/>
                        </a:rPr>
                        <a:t>I regularly research [category] before buying</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66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71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u="none" strike="noStrike" dirty="0">
                          <a:effectLst/>
                        </a:rPr>
                        <a:t>65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2118574213"/>
                  </a:ext>
                </a:extLst>
              </a:tr>
              <a:tr h="228600">
                <a:tc>
                  <a:txBody>
                    <a:bodyPr/>
                    <a:lstStyle/>
                    <a:p>
                      <a:pPr algn="l" fontAlgn="ctr">
                        <a:buNone/>
                      </a:pPr>
                      <a:r>
                        <a:rPr lang="en-US" sz="1200" u="none" strike="noStrike" dirty="0">
                          <a:effectLst/>
                        </a:rPr>
                        <a:t>I enjoy experimenting with different [category] products and brands</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fontAlgn="b">
                        <a:buNone/>
                      </a:pPr>
                      <a:r>
                        <a:rPr lang="en-US" sz="1200" u="none" strike="noStrike" dirty="0">
                          <a:effectLst/>
                        </a:rPr>
                        <a:t>43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fontAlgn="b">
                        <a:buNone/>
                      </a:pPr>
                      <a:r>
                        <a:rPr lang="en-US" sz="1200" u="none" strike="noStrike" dirty="0">
                          <a:effectLst/>
                        </a:rPr>
                        <a:t>71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200" u="none" strike="noStrike" dirty="0">
                          <a:effectLst/>
                        </a:rPr>
                        <a:t>69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82867502"/>
                  </a:ext>
                </a:extLst>
              </a:tr>
              <a:tr h="228600">
                <a:tc>
                  <a:txBody>
                    <a:bodyPr/>
                    <a:lstStyle/>
                    <a:p>
                      <a:pPr algn="l" fontAlgn="ctr">
                        <a:buNone/>
                      </a:pPr>
                      <a:r>
                        <a:rPr lang="en-US" sz="1200" u="none" strike="noStrike" dirty="0">
                          <a:effectLst/>
                        </a:rPr>
                        <a:t>[Category] are too expensive</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200" u="none" strike="noStrike" dirty="0">
                          <a:effectLst/>
                        </a:rPr>
                        <a:t>52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200" u="none" strike="noStrike" dirty="0">
                          <a:effectLst/>
                        </a:rPr>
                        <a:t>56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200" u="none" strike="noStrike" dirty="0">
                          <a:effectLst/>
                        </a:rPr>
                        <a:t>52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2790179416"/>
                  </a:ext>
                </a:extLst>
              </a:tr>
              <a:tr h="228600">
                <a:tc>
                  <a:txBody>
                    <a:bodyPr/>
                    <a:lstStyle/>
                    <a:p>
                      <a:pPr algn="l" fontAlgn="ctr">
                        <a:buNone/>
                      </a:pPr>
                      <a:r>
                        <a:rPr lang="en-US" sz="1200" u="none" strike="noStrike" dirty="0">
                          <a:effectLst/>
                        </a:rPr>
                        <a:t>The [category] is overly complex and overwhelming</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48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u="none" strike="noStrike" dirty="0">
                          <a:effectLst/>
                        </a:rPr>
                        <a:t>40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37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1221702195"/>
                  </a:ext>
                </a:extLst>
              </a:tr>
              <a:tr h="228600">
                <a:tc>
                  <a:txBody>
                    <a:bodyPr/>
                    <a:lstStyle/>
                    <a:p>
                      <a:pPr algn="l" fontAlgn="ctr">
                        <a:buNone/>
                      </a:pPr>
                      <a:r>
                        <a:rPr lang="en-US" sz="1200" u="none" strike="noStrike" dirty="0">
                          <a:effectLst/>
                        </a:rPr>
                        <a:t>Most brands of [category] are basically the same</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34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34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2777779970"/>
                  </a:ext>
                </a:extLst>
              </a:tr>
              <a:tr h="228600">
                <a:tc>
                  <a:txBody>
                    <a:bodyPr/>
                    <a:lstStyle/>
                    <a:p>
                      <a:pPr algn="l" fontAlgn="ctr">
                        <a:buNone/>
                      </a:pPr>
                      <a:r>
                        <a:rPr lang="en-US" sz="1200" u="none" strike="noStrike" dirty="0">
                          <a:effectLst/>
                        </a:rPr>
                        <a:t>I worry about the safety and side effects of using [category]</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32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31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31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3685218725"/>
                  </a:ext>
                </a:extLst>
              </a:tr>
              <a:tr h="228600">
                <a:tc>
                  <a:txBody>
                    <a:bodyPr/>
                    <a:lstStyle/>
                    <a:p>
                      <a:pPr algn="l" fontAlgn="ctr">
                        <a:buNone/>
                      </a:pPr>
                      <a:r>
                        <a:rPr lang="en-US" sz="1200" u="none" strike="noStrike" dirty="0">
                          <a:effectLst/>
                        </a:rPr>
                        <a:t>I'm skeptical about the science behind [category]</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29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33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31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4061340747"/>
                  </a:ext>
                </a:extLst>
              </a:tr>
              <a:tr h="228600">
                <a:tc>
                  <a:txBody>
                    <a:bodyPr/>
                    <a:lstStyle/>
                    <a:p>
                      <a:pPr algn="l" fontAlgn="ctr">
                        <a:buNone/>
                      </a:pPr>
                      <a:r>
                        <a:rPr lang="en-US" sz="1200" u="none" strike="noStrike" dirty="0">
                          <a:effectLst/>
                        </a:rPr>
                        <a:t>[Category] feel artificial or overly engineered</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24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30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u="none" strike="noStrike" dirty="0">
                          <a:effectLst/>
                        </a:rPr>
                        <a:t>32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602712643"/>
                  </a:ext>
                </a:extLst>
              </a:tr>
              <a:tr h="228600">
                <a:tc>
                  <a:txBody>
                    <a:bodyPr/>
                    <a:lstStyle/>
                    <a:p>
                      <a:pPr algn="l" fontAlgn="ctr">
                        <a:buNone/>
                      </a:pPr>
                      <a:r>
                        <a:rPr lang="en-US" sz="1200" u="none" strike="noStrike" dirty="0">
                          <a:effectLst/>
                        </a:rPr>
                        <a:t>[Category] are difficult to incorporate into my routine</a:t>
                      </a: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18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200" u="none" strike="noStrike" dirty="0">
                          <a:effectLst/>
                        </a:rPr>
                        <a:t>28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u="none" strike="noStrike" dirty="0">
                          <a:effectLst/>
                        </a:rPr>
                        <a:t>23 </a:t>
                      </a: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508202144"/>
                  </a:ext>
                </a:extLst>
              </a:tr>
            </a:tbl>
          </a:graphicData>
        </a:graphic>
      </p:graphicFrame>
      <p:sp>
        <p:nvSpPr>
          <p:cNvPr id="9" name="TextBox 8">
            <a:extLst>
              <a:ext uri="{FF2B5EF4-FFF2-40B4-BE49-F238E27FC236}">
                <a16:creationId xmlns:a16="http://schemas.microsoft.com/office/drawing/2014/main" id="{17EC34E6-B8E3-CB84-5777-EE26DB78EA7E}"/>
              </a:ext>
            </a:extLst>
          </p:cNvPr>
          <p:cNvSpPr txBox="1"/>
          <p:nvPr/>
        </p:nvSpPr>
        <p:spPr>
          <a:xfrm rot="16200000">
            <a:off x="2803314" y="3102796"/>
            <a:ext cx="2133700" cy="276999"/>
          </a:xfrm>
          <a:prstGeom prst="rect">
            <a:avLst/>
          </a:prstGeom>
          <a:noFill/>
        </p:spPr>
        <p:txBody>
          <a:bodyPr wrap="square" rtlCol="0">
            <a:spAutoFit/>
          </a:bodyPr>
          <a:lstStyle/>
          <a:p>
            <a:pPr algn="ctr"/>
            <a:r>
              <a:rPr lang="en-US" sz="1200" b="1" dirty="0">
                <a:solidFill>
                  <a:schemeClr val="accent2"/>
                </a:solidFill>
                <a:latin typeface="+mj-lt"/>
              </a:rPr>
              <a:t>Positive Attitudes</a:t>
            </a:r>
          </a:p>
        </p:txBody>
      </p:sp>
      <p:sp>
        <p:nvSpPr>
          <p:cNvPr id="10" name="TextBox 9">
            <a:extLst>
              <a:ext uri="{FF2B5EF4-FFF2-40B4-BE49-F238E27FC236}">
                <a16:creationId xmlns:a16="http://schemas.microsoft.com/office/drawing/2014/main" id="{22C4D01B-1DAA-901C-16A9-7628A94369AE}"/>
              </a:ext>
            </a:extLst>
          </p:cNvPr>
          <p:cNvSpPr txBox="1"/>
          <p:nvPr/>
        </p:nvSpPr>
        <p:spPr>
          <a:xfrm rot="16200000">
            <a:off x="2803314" y="4825273"/>
            <a:ext cx="2133700" cy="276999"/>
          </a:xfrm>
          <a:prstGeom prst="rect">
            <a:avLst/>
          </a:prstGeom>
          <a:noFill/>
        </p:spPr>
        <p:txBody>
          <a:bodyPr wrap="square" rtlCol="0">
            <a:spAutoFit/>
          </a:bodyPr>
          <a:lstStyle/>
          <a:p>
            <a:pPr algn="ctr"/>
            <a:r>
              <a:rPr lang="en-US" sz="1200" b="1" dirty="0">
                <a:solidFill>
                  <a:schemeClr val="accent2"/>
                </a:solidFill>
                <a:latin typeface="+mj-lt"/>
              </a:rPr>
              <a:t>Negative Attitudes</a:t>
            </a:r>
          </a:p>
        </p:txBody>
      </p:sp>
    </p:spTree>
    <p:extLst>
      <p:ext uri="{BB962C8B-B14F-4D97-AF65-F5344CB8AC3E}">
        <p14:creationId xmlns:p14="http://schemas.microsoft.com/office/powerpoint/2010/main" val="4209957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1044D55D-3A3C-B176-1B0E-4B45E2F5D39F}"/>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8CBDD15A-BBB9-6858-3D2E-B21A21DA0A65}"/>
              </a:ext>
            </a:extLst>
          </p:cNvPr>
          <p:cNvSpPr txBox="1">
            <a:spLocks/>
          </p:cNvSpPr>
          <p:nvPr/>
        </p:nvSpPr>
        <p:spPr>
          <a:xfrm>
            <a:off x="528886" y="470805"/>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Supplements are used to address overall/general health, followed by healthy aging and a wide variety of targeted health needs</a:t>
            </a:r>
          </a:p>
        </p:txBody>
      </p:sp>
      <p:sp>
        <p:nvSpPr>
          <p:cNvPr id="73" name="TextBox 72">
            <a:extLst>
              <a:ext uri="{FF2B5EF4-FFF2-40B4-BE49-F238E27FC236}">
                <a16:creationId xmlns:a16="http://schemas.microsoft.com/office/drawing/2014/main" id="{D075FF31-526B-0DBA-1332-8BED46A36459}"/>
              </a:ext>
            </a:extLst>
          </p:cNvPr>
          <p:cNvSpPr txBox="1"/>
          <p:nvPr/>
        </p:nvSpPr>
        <p:spPr>
          <a:xfrm>
            <a:off x="92672" y="5949771"/>
            <a:ext cx="9807786"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C7. For which of the following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specific</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needs do you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regularly use</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&lt;INSERT HOLD.CATEGORY&gt;?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C8. For which of these needs do you most often use &lt;INSERT HOLD CATEGORY&gt;?</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FD547D18-B1F2-B3F2-E16E-C59DAB35014E}"/>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6F290065-DC72-D470-0D6E-4860B7B62E19}"/>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8" name="Chart 7">
            <a:extLst>
              <a:ext uri="{FF2B5EF4-FFF2-40B4-BE49-F238E27FC236}">
                <a16:creationId xmlns:a16="http://schemas.microsoft.com/office/drawing/2014/main" id="{0FC6A379-0429-283C-3D1C-7F559DD0A115}"/>
              </a:ext>
            </a:extLst>
          </p:cNvPr>
          <p:cNvGraphicFramePr/>
          <p:nvPr>
            <p:extLst>
              <p:ext uri="{D42A27DB-BD31-4B8C-83A1-F6EECF244321}">
                <p14:modId xmlns:p14="http://schemas.microsoft.com/office/powerpoint/2010/main" val="2483379502"/>
              </p:ext>
            </p:extLst>
          </p:nvPr>
        </p:nvGraphicFramePr>
        <p:xfrm>
          <a:off x="661713" y="1025208"/>
          <a:ext cx="6181139" cy="5287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4752AAFB-46E9-B4E4-F5A0-6550EC3CD598}"/>
              </a:ext>
            </a:extLst>
          </p:cNvPr>
          <p:cNvGraphicFramePr/>
          <p:nvPr>
            <p:extLst>
              <p:ext uri="{D42A27DB-BD31-4B8C-83A1-F6EECF244321}">
                <p14:modId xmlns:p14="http://schemas.microsoft.com/office/powerpoint/2010/main" val="3984024797"/>
              </p:ext>
            </p:extLst>
          </p:nvPr>
        </p:nvGraphicFramePr>
        <p:xfrm>
          <a:off x="6417375" y="1222626"/>
          <a:ext cx="5387632" cy="4828853"/>
        </p:xfrm>
        <a:graphic>
          <a:graphicData uri="http://schemas.openxmlformats.org/drawingml/2006/chart">
            <c:chart xmlns:c="http://schemas.openxmlformats.org/drawingml/2006/chart" xmlns:r="http://schemas.openxmlformats.org/officeDocument/2006/relationships" r:id="rId4"/>
          </a:graphicData>
        </a:graphic>
      </p:graphicFrame>
      <p:cxnSp>
        <p:nvCxnSpPr>
          <p:cNvPr id="9" name="Straight Connector 8">
            <a:extLst>
              <a:ext uri="{FF2B5EF4-FFF2-40B4-BE49-F238E27FC236}">
                <a16:creationId xmlns:a16="http://schemas.microsoft.com/office/drawing/2014/main" id="{9DAB0AA2-325E-B145-7439-A8DCDE7B27E7}"/>
              </a:ext>
            </a:extLst>
          </p:cNvPr>
          <p:cNvCxnSpPr>
            <a:cxnSpLocks/>
          </p:cNvCxnSpPr>
          <p:nvPr/>
        </p:nvCxnSpPr>
        <p:spPr>
          <a:xfrm>
            <a:off x="6172531" y="1407560"/>
            <a:ext cx="0" cy="454221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480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1043">
          <a:extLst>
            <a:ext uri="{FF2B5EF4-FFF2-40B4-BE49-F238E27FC236}">
              <a16:creationId xmlns:a16="http://schemas.microsoft.com/office/drawing/2014/main" id="{C4961BE4-B644-F1C5-6160-97F749C7ED99}"/>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3A17E492-A42E-D1AC-931F-A18D9DB24310}"/>
              </a:ext>
            </a:extLst>
          </p:cNvPr>
          <p:cNvSpPr txBox="1">
            <a:spLocks/>
          </p:cNvSpPr>
          <p:nvPr/>
        </p:nvSpPr>
        <p:spPr>
          <a:xfrm>
            <a:off x="357774" y="566390"/>
            <a:ext cx="4618452"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The most common health and wellness needs addressed by all categories are more “general” – improving overall health, healthy aging, and improving physical energy</a:t>
            </a:r>
            <a:r>
              <a:rPr lang="en-US" sz="2400" dirty="0"/>
              <a:t>; differences across categories in needs addressed are small</a:t>
            </a:r>
          </a:p>
        </p:txBody>
      </p:sp>
      <p:sp>
        <p:nvSpPr>
          <p:cNvPr id="3" name="TextBox 2">
            <a:extLst>
              <a:ext uri="{FF2B5EF4-FFF2-40B4-BE49-F238E27FC236}">
                <a16:creationId xmlns:a16="http://schemas.microsoft.com/office/drawing/2014/main" id="{6BA28381-1204-85F4-A459-98391CC5A568}"/>
              </a:ext>
            </a:extLst>
          </p:cNvPr>
          <p:cNvSpPr txBox="1"/>
          <p:nvPr/>
        </p:nvSpPr>
        <p:spPr>
          <a:xfrm>
            <a:off x="532434" y="2958853"/>
            <a:ext cx="3998469" cy="3447098"/>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Supplements have an edge in these more general spaces, as well as on being used for sleep (a top overall health and wellness need)</a:t>
            </a:r>
            <a:b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Functional Foods are more often used for managing weight versus the other two categories</a:t>
            </a:r>
            <a:br>
              <a:rPr lang="en-US" sz="1600" dirty="0">
                <a:solidFill>
                  <a:srgbClr val="BD582C"/>
                </a:solidFill>
                <a:latin typeface="Calibri Light" panose="020F0302020204030204"/>
              </a:rPr>
            </a:br>
            <a:endParaRPr lang="en-US" sz="1600" dirty="0">
              <a:solidFill>
                <a:srgbClr val="BD582C"/>
              </a:solidFill>
              <a:latin typeface="Calibri Light" panose="020F0302020204030204"/>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Functional Beverages have a slight edge when it </a:t>
            </a:r>
            <a:r>
              <a:rPr lang="en-US" sz="1600" dirty="0">
                <a:solidFill>
                  <a:srgbClr val="BD582C"/>
                </a:solidFill>
                <a:latin typeface="Calibri Light" panose="020F0302020204030204"/>
              </a:rPr>
              <a:t>comes to energy (physical and mental) and emotional well-being needs (reducing stress, improving mood)</a:t>
            </a:r>
          </a:p>
        </p:txBody>
      </p:sp>
      <p:sp>
        <p:nvSpPr>
          <p:cNvPr id="6" name="Footer Placeholder 2">
            <a:extLst>
              <a:ext uri="{FF2B5EF4-FFF2-40B4-BE49-F238E27FC236}">
                <a16:creationId xmlns:a16="http://schemas.microsoft.com/office/drawing/2014/main" id="{67CDA199-C5FE-3E8A-51A4-213F43CBCC52}"/>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2786ABD6-19E8-6D73-8A08-53F1389C1752}"/>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29</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8" name="Table 7">
            <a:extLst>
              <a:ext uri="{FF2B5EF4-FFF2-40B4-BE49-F238E27FC236}">
                <a16:creationId xmlns:a16="http://schemas.microsoft.com/office/drawing/2014/main" id="{EF585838-D367-7B67-FEAE-3CDF2718D18C}"/>
              </a:ext>
            </a:extLst>
          </p:cNvPr>
          <p:cNvGraphicFramePr>
            <a:graphicFrameLocks noGrp="1"/>
          </p:cNvGraphicFramePr>
          <p:nvPr>
            <p:extLst>
              <p:ext uri="{D42A27DB-BD31-4B8C-83A1-F6EECF244321}">
                <p14:modId xmlns:p14="http://schemas.microsoft.com/office/powerpoint/2010/main" val="1375187884"/>
              </p:ext>
            </p:extLst>
          </p:nvPr>
        </p:nvGraphicFramePr>
        <p:xfrm>
          <a:off x="4976226" y="233209"/>
          <a:ext cx="6858002" cy="6360996"/>
        </p:xfrm>
        <a:graphic>
          <a:graphicData uri="http://schemas.openxmlformats.org/drawingml/2006/table">
            <a:tbl>
              <a:tblPr>
                <a:tableStyleId>{3B4B98B0-60AC-42C2-AFA5-B58CD77FA1E5}</a:tableStyleId>
              </a:tblPr>
              <a:tblGrid>
                <a:gridCol w="3630706">
                  <a:extLst>
                    <a:ext uri="{9D8B030D-6E8A-4147-A177-3AD203B41FA5}">
                      <a16:colId xmlns:a16="http://schemas.microsoft.com/office/drawing/2014/main" val="4107426551"/>
                    </a:ext>
                  </a:extLst>
                </a:gridCol>
                <a:gridCol w="806824">
                  <a:extLst>
                    <a:ext uri="{9D8B030D-6E8A-4147-A177-3AD203B41FA5}">
                      <a16:colId xmlns:a16="http://schemas.microsoft.com/office/drawing/2014/main" val="3344226335"/>
                    </a:ext>
                  </a:extLst>
                </a:gridCol>
                <a:gridCol w="806824">
                  <a:extLst>
                    <a:ext uri="{9D8B030D-6E8A-4147-A177-3AD203B41FA5}">
                      <a16:colId xmlns:a16="http://schemas.microsoft.com/office/drawing/2014/main" val="871605687"/>
                    </a:ext>
                  </a:extLst>
                </a:gridCol>
                <a:gridCol w="806824">
                  <a:extLst>
                    <a:ext uri="{9D8B030D-6E8A-4147-A177-3AD203B41FA5}">
                      <a16:colId xmlns:a16="http://schemas.microsoft.com/office/drawing/2014/main" val="1381748258"/>
                    </a:ext>
                  </a:extLst>
                </a:gridCol>
                <a:gridCol w="806824">
                  <a:extLst>
                    <a:ext uri="{9D8B030D-6E8A-4147-A177-3AD203B41FA5}">
                      <a16:colId xmlns:a16="http://schemas.microsoft.com/office/drawing/2014/main" val="2197625001"/>
                    </a:ext>
                  </a:extLst>
                </a:gridCol>
              </a:tblGrid>
              <a:tr h="274320">
                <a:tc gridSpan="5">
                  <a:txBody>
                    <a:bodyPr/>
                    <a:lstStyle/>
                    <a:p>
                      <a:pPr algn="ctr" fontAlgn="b">
                        <a:buNone/>
                      </a:pPr>
                      <a:r>
                        <a:rPr lang="en-US" sz="1200" b="1" i="0" u="none" strike="noStrike" dirty="0">
                          <a:solidFill>
                            <a:schemeClr val="bg1"/>
                          </a:solidFill>
                          <a:effectLst/>
                          <a:latin typeface="Arial" panose="020B0604020202020204" pitchFamily="34" charset="0"/>
                        </a:rPr>
                        <a:t>All Health and Wellness Needs Addressed by Category</a:t>
                      </a:r>
                    </a:p>
                  </a:txBody>
                  <a:tcPr marL="2958" marR="2958" marT="2958"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3">
                  <a:txBody>
                    <a:bodyPr/>
                    <a:lstStyle/>
                    <a:p>
                      <a:pPr algn="ctr" fontAlgn="b">
                        <a:buNone/>
                      </a:pPr>
                      <a:r>
                        <a:rPr lang="en-US" sz="1200" b="1" i="0" u="none" strike="noStrike" dirty="0">
                          <a:solidFill>
                            <a:srgbClr val="000000"/>
                          </a:solidFill>
                          <a:effectLst/>
                          <a:latin typeface="Arial" panose="020B0604020202020204" pitchFamily="34" charset="0"/>
                        </a:rPr>
                        <a:t>Need addressed by…</a:t>
                      </a:r>
                    </a:p>
                    <a:p>
                      <a:pPr algn="ctr" fontAlgn="b">
                        <a:buNone/>
                      </a:pPr>
                      <a:r>
                        <a:rPr lang="en-US" sz="1000" b="0" i="0" u="none" strike="noStrike" dirty="0">
                          <a:solidFill>
                            <a:srgbClr val="000000"/>
                          </a:solidFill>
                          <a:effectLst/>
                          <a:latin typeface="Arial" panose="020B0604020202020204" pitchFamily="34" charset="0"/>
                        </a:rPr>
                        <a:t>(% of  once/week+ category users)</a:t>
                      </a: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21513945"/>
                  </a:ext>
                </a:extLst>
              </a:tr>
              <a:tr h="0">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100" b="1" u="none" strike="noStrike" kern="1200" dirty="0">
                          <a:solidFill>
                            <a:schemeClr val="tx1"/>
                          </a:solidFill>
                          <a:effectLst/>
                          <a:latin typeface="+mn-lt"/>
                          <a:ea typeface="+mn-ea"/>
                          <a:cs typeface="+mn-cs"/>
                        </a:rPr>
                        <a:t>Health &amp; Wellness Goals </a:t>
                      </a:r>
                    </a:p>
                    <a:p>
                      <a:pPr algn="ctr" fontAlgn="b">
                        <a:buNone/>
                      </a:pPr>
                      <a:r>
                        <a:rPr lang="en-US" sz="1000" b="0" u="none" strike="noStrike" kern="1200" dirty="0">
                          <a:solidFill>
                            <a:schemeClr val="tx1"/>
                          </a:solidFill>
                          <a:effectLst/>
                          <a:latin typeface="+mn-lt"/>
                          <a:ea typeface="+mn-ea"/>
                          <a:cs typeface="+mn-cs"/>
                        </a:rPr>
                        <a:t>(% of total sample)</a:t>
                      </a: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1100" b="1" u="none" strike="noStrike" dirty="0">
                          <a:effectLst/>
                        </a:rPr>
                        <a:t>Dietary Supplements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u="none" strike="noStrike" dirty="0">
                          <a:effectLst/>
                        </a:rPr>
                        <a:t>Functional Foods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u="none" strike="noStrike" dirty="0">
                          <a:effectLst/>
                        </a:rPr>
                        <a:t>Functional Beverages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182880">
                <a:tc>
                  <a:txBody>
                    <a:bodyPr/>
                    <a:lstStyle/>
                    <a:p>
                      <a:pPr algn="l" fontAlgn="b">
                        <a:buNone/>
                      </a:pPr>
                      <a:r>
                        <a:rPr lang="en-US" sz="1000" b="0" i="0" u="none" strike="noStrike" dirty="0">
                          <a:effectLst/>
                          <a:latin typeface="Arial" panose="020B0604020202020204" pitchFamily="34" charset="0"/>
                        </a:rPr>
                        <a:t>Improving overall/general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182880">
                <a:tc>
                  <a:txBody>
                    <a:bodyPr/>
                    <a:lstStyle/>
                    <a:p>
                      <a:pPr algn="l" fontAlgn="b">
                        <a:buNone/>
                      </a:pPr>
                      <a:r>
                        <a:rPr lang="en-US" sz="1000" b="0" i="0" u="none" strike="noStrike" dirty="0">
                          <a:effectLst/>
                          <a:latin typeface="Arial" panose="020B0604020202020204" pitchFamily="34" charset="0"/>
                        </a:rPr>
                        <a:t>Healthy aging/longevity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08762513"/>
                  </a:ext>
                </a:extLst>
              </a:tr>
              <a:tr h="182880">
                <a:tc>
                  <a:txBody>
                    <a:bodyPr/>
                    <a:lstStyle/>
                    <a:p>
                      <a:pPr algn="l" fontAlgn="b">
                        <a:buNone/>
                      </a:pPr>
                      <a:r>
                        <a:rPr lang="en-US" sz="1000" b="0" i="0" u="none" strike="noStrike" dirty="0">
                          <a:effectLst/>
                          <a:latin typeface="Arial" panose="020B0604020202020204" pitchFamily="34" charset="0"/>
                        </a:rPr>
                        <a:t>Improving overall fitness level</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229445550"/>
                  </a:ext>
                </a:extLst>
              </a:tr>
              <a:tr h="182880">
                <a:tc>
                  <a:txBody>
                    <a:bodyPr/>
                    <a:lstStyle/>
                    <a:p>
                      <a:pPr algn="l" fontAlgn="b">
                        <a:buNone/>
                      </a:pPr>
                      <a:r>
                        <a:rPr lang="en-US" sz="1000" b="0" i="0" u="none" strike="noStrike" dirty="0">
                          <a:effectLst/>
                          <a:latin typeface="Arial" panose="020B0604020202020204" pitchFamily="34" charset="0"/>
                        </a:rPr>
                        <a:t>Reducing stress/anxiety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582629608"/>
                  </a:ext>
                </a:extLst>
              </a:tr>
              <a:tr h="182880">
                <a:tc>
                  <a:txBody>
                    <a:bodyPr/>
                    <a:lstStyle/>
                    <a:p>
                      <a:pPr algn="l" fontAlgn="b">
                        <a:buNone/>
                      </a:pPr>
                      <a:r>
                        <a:rPr lang="en-US" sz="1000" b="0" i="0" u="none" strike="noStrike" dirty="0">
                          <a:effectLst/>
                          <a:latin typeface="Arial" panose="020B0604020202020204" pitchFamily="34" charset="0"/>
                        </a:rPr>
                        <a:t>Managing weight</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924444937"/>
                  </a:ext>
                </a:extLst>
              </a:tr>
              <a:tr h="182880">
                <a:tc>
                  <a:txBody>
                    <a:bodyPr/>
                    <a:lstStyle/>
                    <a:p>
                      <a:pPr algn="l" fontAlgn="b">
                        <a:buNone/>
                      </a:pPr>
                      <a:r>
                        <a:rPr lang="en-US" sz="1000" b="0" i="0" u="none" strike="noStrike" dirty="0">
                          <a:effectLst/>
                          <a:latin typeface="Arial" panose="020B0604020202020204" pitchFamily="34" charset="0"/>
                        </a:rPr>
                        <a:t>Improving physical energy levels</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679102277"/>
                  </a:ext>
                </a:extLst>
              </a:tr>
              <a:tr h="182880">
                <a:tc>
                  <a:txBody>
                    <a:bodyPr/>
                    <a:lstStyle/>
                    <a:p>
                      <a:pPr algn="l" fontAlgn="b">
                        <a:buNone/>
                      </a:pPr>
                      <a:r>
                        <a:rPr lang="en-US" sz="1000" b="0" i="0" u="none" strike="noStrike" dirty="0">
                          <a:effectLst/>
                          <a:latin typeface="Arial" panose="020B0604020202020204" pitchFamily="34" charset="0"/>
                        </a:rPr>
                        <a:t>Improving sleep</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93174655"/>
                  </a:ext>
                </a:extLst>
              </a:tr>
              <a:tr h="182880">
                <a:tc>
                  <a:txBody>
                    <a:bodyPr/>
                    <a:lstStyle/>
                    <a:p>
                      <a:pPr algn="l" fontAlgn="b">
                        <a:buNone/>
                      </a:pPr>
                      <a:r>
                        <a:rPr lang="en-US" sz="1000" b="0" i="0" u="none" strike="noStrike" dirty="0">
                          <a:effectLst/>
                          <a:latin typeface="Arial" panose="020B0604020202020204" pitchFamily="34" charset="0"/>
                        </a:rPr>
                        <a:t>Improving overall mental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816618863"/>
                  </a:ext>
                </a:extLst>
              </a:tr>
              <a:tr h="182880">
                <a:tc>
                  <a:txBody>
                    <a:bodyPr/>
                    <a:lstStyle/>
                    <a:p>
                      <a:pPr algn="l" fontAlgn="b">
                        <a:buNone/>
                      </a:pPr>
                      <a:r>
                        <a:rPr lang="en-US" sz="1000" b="0" i="0" u="none" strike="noStrike" dirty="0">
                          <a:effectLst/>
                          <a:latin typeface="Arial" panose="020B0604020202020204" pitchFamily="34" charset="0"/>
                        </a:rPr>
                        <a:t>Building muscle/strength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109282528"/>
                  </a:ext>
                </a:extLst>
              </a:tr>
              <a:tr h="182880">
                <a:tc>
                  <a:txBody>
                    <a:bodyPr/>
                    <a:lstStyle/>
                    <a:p>
                      <a:pPr algn="l" fontAlgn="b">
                        <a:buNone/>
                      </a:pPr>
                      <a:r>
                        <a:rPr lang="en-US" sz="1000" b="0" i="0" u="none" strike="noStrike" dirty="0">
                          <a:effectLst/>
                          <a:latin typeface="Arial" panose="020B0604020202020204" pitchFamily="34" charset="0"/>
                        </a:rPr>
                        <a:t>Improving mood/emotional well-being</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649533206"/>
                  </a:ext>
                </a:extLst>
              </a:tr>
              <a:tr h="182880">
                <a:tc>
                  <a:txBody>
                    <a:bodyPr/>
                    <a:lstStyle/>
                    <a:p>
                      <a:pPr algn="l" fontAlgn="b">
                        <a:buNone/>
                      </a:pPr>
                      <a:r>
                        <a:rPr lang="en-US" sz="1000" b="0" i="0" u="none" strike="noStrike" dirty="0">
                          <a:effectLst/>
                          <a:latin typeface="Arial" panose="020B0604020202020204" pitchFamily="34" charset="0"/>
                        </a:rPr>
                        <a:t>Improving cognition/mental energy (alertness, focus, etc.)</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679873701"/>
                  </a:ext>
                </a:extLst>
              </a:tr>
              <a:tr h="182880">
                <a:tc>
                  <a:txBody>
                    <a:bodyPr/>
                    <a:lstStyle/>
                    <a:p>
                      <a:pPr algn="l" fontAlgn="b">
                        <a:buNone/>
                      </a:pPr>
                      <a:r>
                        <a:rPr lang="en-US" sz="1000" b="0" i="0" u="none" strike="noStrike" dirty="0">
                          <a:effectLst/>
                          <a:latin typeface="Arial" panose="020B0604020202020204" pitchFamily="34" charset="0"/>
                        </a:rPr>
                        <a:t>Improving appearance (e.g., hair, skin, nails, etc.)</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723336348"/>
                  </a:ext>
                </a:extLst>
              </a:tr>
              <a:tr h="182880">
                <a:tc>
                  <a:txBody>
                    <a:bodyPr/>
                    <a:lstStyle/>
                    <a:p>
                      <a:pPr algn="l" fontAlgn="b">
                        <a:buNone/>
                      </a:pPr>
                      <a:r>
                        <a:rPr lang="en-US" sz="1000" b="0" i="0" u="none" strike="noStrike" dirty="0">
                          <a:effectLst/>
                          <a:latin typeface="Arial" panose="020B0604020202020204" pitchFamily="34" charset="0"/>
                        </a:rPr>
                        <a:t>Boosting immunity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32891055"/>
                  </a:ext>
                </a:extLst>
              </a:tr>
              <a:tr h="182880">
                <a:tc>
                  <a:txBody>
                    <a:bodyPr/>
                    <a:lstStyle/>
                    <a:p>
                      <a:pPr algn="l" fontAlgn="b">
                        <a:buNone/>
                      </a:pPr>
                      <a:r>
                        <a:rPr lang="en-US" sz="1000" b="0" i="0" u="none" strike="noStrike" dirty="0">
                          <a:effectLst/>
                          <a:latin typeface="Arial" panose="020B0604020202020204" pitchFamily="34" charset="0"/>
                        </a:rPr>
                        <a:t>Improving my heart/cardiovascular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807090806"/>
                  </a:ext>
                </a:extLst>
              </a:tr>
              <a:tr h="182880">
                <a:tc>
                  <a:txBody>
                    <a:bodyPr/>
                    <a:lstStyle/>
                    <a:p>
                      <a:pPr algn="l" fontAlgn="b">
                        <a:buNone/>
                      </a:pPr>
                      <a:r>
                        <a:rPr lang="en-US" sz="1000" b="0" i="0" u="none" strike="noStrike" dirty="0">
                          <a:effectLst/>
                          <a:latin typeface="Arial" panose="020B0604020202020204" pitchFamily="34" charset="0"/>
                        </a:rPr>
                        <a:t>Improving gut/gastrointestinal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2050239563"/>
                  </a:ext>
                </a:extLst>
              </a:tr>
              <a:tr h="182880">
                <a:tc>
                  <a:txBody>
                    <a:bodyPr/>
                    <a:lstStyle/>
                    <a:p>
                      <a:pPr algn="l" fontAlgn="b">
                        <a:buNone/>
                      </a:pPr>
                      <a:r>
                        <a:rPr lang="en-US" sz="1000" b="0" i="0" u="none" strike="noStrike" dirty="0">
                          <a:effectLst/>
                          <a:latin typeface="Arial" panose="020B0604020202020204" pitchFamily="34" charset="0"/>
                        </a:rPr>
                        <a:t>Improving brain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777060894"/>
                  </a:ext>
                </a:extLst>
              </a:tr>
              <a:tr h="182880">
                <a:tc>
                  <a:txBody>
                    <a:bodyPr/>
                    <a:lstStyle/>
                    <a:p>
                      <a:pPr algn="l" fontAlgn="b">
                        <a:buNone/>
                      </a:pPr>
                      <a:r>
                        <a:rPr lang="en-US" sz="1000" b="0" i="0" u="none" strike="noStrike" dirty="0">
                          <a:effectLst/>
                          <a:latin typeface="Arial" panose="020B0604020202020204" pitchFamily="34" charset="0"/>
                        </a:rPr>
                        <a:t>Improving bone or joint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816600029"/>
                  </a:ext>
                </a:extLst>
              </a:tr>
              <a:tr h="182880">
                <a:tc>
                  <a:txBody>
                    <a:bodyPr/>
                    <a:lstStyle/>
                    <a:p>
                      <a:pPr algn="l" fontAlgn="b">
                        <a:buNone/>
                      </a:pPr>
                      <a:r>
                        <a:rPr lang="en-US" sz="1000" b="0" i="0" u="none" strike="noStrike" dirty="0">
                          <a:effectLst/>
                          <a:latin typeface="Arial" panose="020B0604020202020204" pitchFamily="34" charset="0"/>
                        </a:rPr>
                        <a:t>Reducing inflammation</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031203097"/>
                  </a:ext>
                </a:extLst>
              </a:tr>
              <a:tr h="182880">
                <a:tc>
                  <a:txBody>
                    <a:bodyPr/>
                    <a:lstStyle/>
                    <a:p>
                      <a:pPr algn="l" fontAlgn="b">
                        <a:buNone/>
                      </a:pPr>
                      <a:r>
                        <a:rPr lang="en-US" sz="1000" b="0" i="0" u="none" strike="noStrike" dirty="0">
                          <a:effectLst/>
                          <a:latin typeface="Arial" panose="020B0604020202020204" pitchFamily="34" charset="0"/>
                        </a:rPr>
                        <a:t>Managing blood sugar</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118574213"/>
                  </a:ext>
                </a:extLst>
              </a:tr>
              <a:tr h="182880">
                <a:tc>
                  <a:txBody>
                    <a:bodyPr/>
                    <a:lstStyle/>
                    <a:p>
                      <a:pPr algn="l" fontAlgn="b">
                        <a:buNone/>
                      </a:pPr>
                      <a:r>
                        <a:rPr lang="en-US" sz="1000" b="0" i="0" u="none" strike="noStrike" dirty="0">
                          <a:effectLst/>
                          <a:latin typeface="Arial" panose="020B0604020202020204" pitchFamily="34" charset="0"/>
                        </a:rPr>
                        <a:t>Improving eye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B w="12700" cap="flat" cmpd="sng" algn="ctr">
                      <a:noFill/>
                      <a:prstDash val="solid"/>
                      <a:round/>
                      <a:headEnd type="none" w="med" len="med"/>
                      <a:tailEnd type="none" w="med" len="med"/>
                    </a:lnB>
                    <a:noFill/>
                  </a:tcPr>
                </a:tc>
                <a:extLst>
                  <a:ext uri="{0D108BD9-81ED-4DB2-BD59-A6C34878D82A}">
                    <a16:rowId xmlns:a16="http://schemas.microsoft.com/office/drawing/2014/main" val="4182867502"/>
                  </a:ext>
                </a:extLst>
              </a:tr>
              <a:tr h="182880">
                <a:tc>
                  <a:txBody>
                    <a:bodyPr/>
                    <a:lstStyle/>
                    <a:p>
                      <a:pPr algn="l" fontAlgn="b">
                        <a:buNone/>
                      </a:pPr>
                      <a:r>
                        <a:rPr lang="en-US" sz="1000" b="0" i="0" u="none" strike="noStrike" dirty="0">
                          <a:effectLst/>
                          <a:latin typeface="Arial" panose="020B0604020202020204" pitchFamily="34" charset="0"/>
                        </a:rPr>
                        <a:t>Managing a diagnosed medical condition</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T w="12700" cap="flat" cmpd="sng" algn="ctr">
                      <a:noFill/>
                      <a:prstDash val="solid"/>
                      <a:round/>
                      <a:headEnd type="none" w="med" len="med"/>
                      <a:tailEnd type="none" w="med" len="med"/>
                    </a:lnT>
                    <a:noFill/>
                  </a:tcPr>
                </a:tc>
                <a:extLst>
                  <a:ext uri="{0D108BD9-81ED-4DB2-BD59-A6C34878D82A}">
                    <a16:rowId xmlns:a16="http://schemas.microsoft.com/office/drawing/2014/main" val="2790179416"/>
                  </a:ext>
                </a:extLst>
              </a:tr>
              <a:tr h="182880">
                <a:tc>
                  <a:txBody>
                    <a:bodyPr/>
                    <a:lstStyle/>
                    <a:p>
                      <a:pPr algn="l" fontAlgn="b">
                        <a:buNone/>
                      </a:pPr>
                      <a:r>
                        <a:rPr lang="en-US" sz="1000" b="0" i="0" u="none" strike="noStrike" dirty="0">
                          <a:effectLst/>
                          <a:latin typeface="Arial" panose="020B0604020202020204" pitchFamily="34" charset="0"/>
                        </a:rPr>
                        <a:t>Improving sexual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221702195"/>
                  </a:ext>
                </a:extLst>
              </a:tr>
              <a:tr h="182880">
                <a:tc>
                  <a:txBody>
                    <a:bodyPr/>
                    <a:lstStyle/>
                    <a:p>
                      <a:pPr algn="l" fontAlgn="b">
                        <a:buNone/>
                      </a:pPr>
                      <a:r>
                        <a:rPr lang="en-US" sz="1000" b="0" i="0" u="none" strike="noStrike" dirty="0">
                          <a:effectLst/>
                          <a:latin typeface="Arial" panose="020B0604020202020204" pitchFamily="34" charset="0"/>
                        </a:rPr>
                        <a:t>Cleansing/detox</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777779970"/>
                  </a:ext>
                </a:extLst>
              </a:tr>
              <a:tr h="182880">
                <a:tc>
                  <a:txBody>
                    <a:bodyPr/>
                    <a:lstStyle/>
                    <a:p>
                      <a:pPr algn="l" fontAlgn="b">
                        <a:buNone/>
                      </a:pPr>
                      <a:r>
                        <a:rPr lang="en-US" sz="1000" b="0" i="0" u="none" strike="noStrike" dirty="0">
                          <a:effectLst/>
                          <a:latin typeface="Arial" panose="020B0604020202020204" pitchFamily="34" charset="0"/>
                        </a:rPr>
                        <a:t>Addressing a nutrient gap/deficiency</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685218725"/>
                  </a:ext>
                </a:extLst>
              </a:tr>
              <a:tr h="182880">
                <a:tc>
                  <a:txBody>
                    <a:bodyPr/>
                    <a:lstStyle/>
                    <a:p>
                      <a:pPr algn="l" fontAlgn="b">
                        <a:buNone/>
                      </a:pPr>
                      <a:r>
                        <a:rPr lang="en-US" sz="1000" b="0" i="0" u="none" strike="noStrike" dirty="0">
                          <a:effectLst/>
                          <a:latin typeface="Arial" panose="020B0604020202020204" pitchFamily="34" charset="0"/>
                        </a:rPr>
                        <a:t>Hormonal/metabolism support</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061340747"/>
                  </a:ext>
                </a:extLst>
              </a:tr>
              <a:tr h="182880">
                <a:tc>
                  <a:txBody>
                    <a:bodyPr/>
                    <a:lstStyle/>
                    <a:p>
                      <a:pPr algn="l" fontAlgn="b">
                        <a:buNone/>
                      </a:pPr>
                      <a:r>
                        <a:rPr lang="en-US" sz="1000" b="0" i="0" u="none" strike="noStrike" dirty="0">
                          <a:effectLst/>
                          <a:latin typeface="Arial" panose="020B0604020202020204" pitchFamily="34" charset="0"/>
                        </a:rPr>
                        <a:t>Improving liver health</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602712643"/>
                  </a:ext>
                </a:extLst>
              </a:tr>
              <a:tr h="182880">
                <a:tc>
                  <a:txBody>
                    <a:bodyPr/>
                    <a:lstStyle/>
                    <a:p>
                      <a:pPr algn="l" fontAlgn="b">
                        <a:buNone/>
                      </a:pPr>
                      <a:r>
                        <a:rPr lang="en-US" sz="1000" b="0" i="0" u="none" strike="noStrike" dirty="0">
                          <a:effectLst/>
                          <a:latin typeface="Arial" panose="020B0604020202020204" pitchFamily="34" charset="0"/>
                        </a:rPr>
                        <a:t>Managing perimenopause/menopause</a:t>
                      </a:r>
                    </a:p>
                  </a:txBody>
                  <a:tcPr marL="114300"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1">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508202144"/>
                  </a:ext>
                </a:extLst>
              </a:tr>
            </a:tbl>
          </a:graphicData>
        </a:graphic>
      </p:graphicFrame>
      <p:sp>
        <p:nvSpPr>
          <p:cNvPr id="4" name="TextBox 3">
            <a:extLst>
              <a:ext uri="{FF2B5EF4-FFF2-40B4-BE49-F238E27FC236}">
                <a16:creationId xmlns:a16="http://schemas.microsoft.com/office/drawing/2014/main" id="{B64580B1-CAB1-1B65-C015-8978B2087DA4}"/>
              </a:ext>
            </a:extLst>
          </p:cNvPr>
          <p:cNvSpPr txBox="1"/>
          <p:nvPr/>
        </p:nvSpPr>
        <p:spPr>
          <a:xfrm>
            <a:off x="0" y="6567454"/>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C7. For which of the following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specific</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needs do you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regularly use</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&lt;INSERT HOLD.CATEGORY&gt;? </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910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1043">
          <a:extLst>
            <a:ext uri="{FF2B5EF4-FFF2-40B4-BE49-F238E27FC236}">
              <a16:creationId xmlns:a16="http://schemas.microsoft.com/office/drawing/2014/main" id="{6EAB4406-7DF5-AFB8-2723-CBA80BF4AED1}"/>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7A7D7378-EBE9-1D7A-08C5-E80D7F442FFD}"/>
              </a:ext>
            </a:extLst>
          </p:cNvPr>
          <p:cNvSpPr txBox="1">
            <a:spLocks/>
          </p:cNvSpPr>
          <p:nvPr/>
        </p:nvSpPr>
        <p:spPr>
          <a:xfrm>
            <a:off x="450241" y="448261"/>
            <a:ext cx="10173238"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As expected, there is a lot of overlap on the health and wellness needs addressed by each category</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6" name="Footer Placeholder 2">
            <a:extLst>
              <a:ext uri="{FF2B5EF4-FFF2-40B4-BE49-F238E27FC236}">
                <a16:creationId xmlns:a16="http://schemas.microsoft.com/office/drawing/2014/main" id="{FECDF0BF-7C4D-CD5C-04C2-6A1E755D18AD}"/>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E281E5B6-2D37-4795-ED17-F9BD63D56915}"/>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600"/>
                </a:spcAft>
                <a:buClrTx/>
                <a:buSzTx/>
                <a:buFontTx/>
                <a:buNone/>
                <a:tabLst/>
                <a:defRPr/>
              </a:pPr>
              <a:t>30</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graphicFrame>
        <p:nvGraphicFramePr>
          <p:cNvPr id="8" name="Table 7">
            <a:extLst>
              <a:ext uri="{FF2B5EF4-FFF2-40B4-BE49-F238E27FC236}">
                <a16:creationId xmlns:a16="http://schemas.microsoft.com/office/drawing/2014/main" id="{F741EFD3-69FD-AB89-7BAF-23742D2105EE}"/>
              </a:ext>
            </a:extLst>
          </p:cNvPr>
          <p:cNvGraphicFramePr>
            <a:graphicFrameLocks noGrp="1"/>
          </p:cNvGraphicFramePr>
          <p:nvPr>
            <p:extLst>
              <p:ext uri="{D42A27DB-BD31-4B8C-83A1-F6EECF244321}">
                <p14:modId xmlns:p14="http://schemas.microsoft.com/office/powerpoint/2010/main" val="2809314461"/>
              </p:ext>
            </p:extLst>
          </p:nvPr>
        </p:nvGraphicFramePr>
        <p:xfrm>
          <a:off x="836999" y="1827899"/>
          <a:ext cx="10303845" cy="4398846"/>
        </p:xfrm>
        <a:graphic>
          <a:graphicData uri="http://schemas.openxmlformats.org/drawingml/2006/table">
            <a:tbl>
              <a:tblPr>
                <a:tableStyleId>{3B4B98B0-60AC-42C2-AFA5-B58CD77FA1E5}</a:tableStyleId>
              </a:tblPr>
              <a:tblGrid>
                <a:gridCol w="2651760">
                  <a:extLst>
                    <a:ext uri="{9D8B030D-6E8A-4147-A177-3AD203B41FA5}">
                      <a16:colId xmlns:a16="http://schemas.microsoft.com/office/drawing/2014/main" val="4107426551"/>
                    </a:ext>
                  </a:extLst>
                </a:gridCol>
                <a:gridCol w="721895">
                  <a:extLst>
                    <a:ext uri="{9D8B030D-6E8A-4147-A177-3AD203B41FA5}">
                      <a16:colId xmlns:a16="http://schemas.microsoft.com/office/drawing/2014/main" val="871605687"/>
                    </a:ext>
                  </a:extLst>
                </a:gridCol>
                <a:gridCol w="2743200">
                  <a:extLst>
                    <a:ext uri="{9D8B030D-6E8A-4147-A177-3AD203B41FA5}">
                      <a16:colId xmlns:a16="http://schemas.microsoft.com/office/drawing/2014/main" val="1129845731"/>
                    </a:ext>
                  </a:extLst>
                </a:gridCol>
                <a:gridCol w="721895">
                  <a:extLst>
                    <a:ext uri="{9D8B030D-6E8A-4147-A177-3AD203B41FA5}">
                      <a16:colId xmlns:a16="http://schemas.microsoft.com/office/drawing/2014/main" val="1381748258"/>
                    </a:ext>
                  </a:extLst>
                </a:gridCol>
                <a:gridCol w="2743200">
                  <a:extLst>
                    <a:ext uri="{9D8B030D-6E8A-4147-A177-3AD203B41FA5}">
                      <a16:colId xmlns:a16="http://schemas.microsoft.com/office/drawing/2014/main" val="3837923658"/>
                    </a:ext>
                  </a:extLst>
                </a:gridCol>
                <a:gridCol w="721895">
                  <a:extLst>
                    <a:ext uri="{9D8B030D-6E8A-4147-A177-3AD203B41FA5}">
                      <a16:colId xmlns:a16="http://schemas.microsoft.com/office/drawing/2014/main" val="2197625001"/>
                    </a:ext>
                  </a:extLst>
                </a:gridCol>
              </a:tblGrid>
              <a:tr h="0">
                <a:tc gridSpan="6">
                  <a:txBody>
                    <a:bodyPr/>
                    <a:lstStyle/>
                    <a:p>
                      <a:pPr algn="ctr" fontAlgn="b">
                        <a:buNone/>
                      </a:pPr>
                      <a:r>
                        <a:rPr lang="en-US" sz="1400" b="1" i="0" u="none" strike="noStrike" dirty="0">
                          <a:solidFill>
                            <a:schemeClr val="bg1"/>
                          </a:solidFill>
                          <a:effectLst/>
                          <a:latin typeface="Arial" panose="020B0604020202020204" pitchFamily="34" charset="0"/>
                        </a:rPr>
                        <a:t>All Health and Wellness Needs Addressed – Top 10 by Category</a:t>
                      </a:r>
                    </a:p>
                    <a:p>
                      <a:pPr algn="ctr" fontAlgn="b">
                        <a:buNone/>
                      </a:pPr>
                      <a:r>
                        <a:rPr lang="en-US" sz="1400" b="0" i="0" u="none" strike="noStrike" dirty="0">
                          <a:solidFill>
                            <a:schemeClr val="bg1"/>
                          </a:solidFill>
                          <a:effectLst/>
                          <a:latin typeface="Arial" panose="020B0604020202020204" pitchFamily="34" charset="0"/>
                        </a:rPr>
                        <a:t>(% of once/week+ category users)</a:t>
                      </a: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gridSpan="2">
                  <a:txBody>
                    <a:bodyPr/>
                    <a:lstStyle/>
                    <a:p>
                      <a:pPr algn="ctr" fontAlgn="b">
                        <a:buNone/>
                      </a:pPr>
                      <a:r>
                        <a:rPr lang="en-US" sz="1400" b="1" u="none" strike="noStrike" dirty="0">
                          <a:effectLst/>
                        </a:rPr>
                        <a:t>Dietary Supplements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dirty="0"/>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2">
                  <a:txBody>
                    <a:bodyPr/>
                    <a:lstStyle/>
                    <a:p>
                      <a:pPr algn="ctr" fontAlgn="b">
                        <a:buNone/>
                      </a:pPr>
                      <a:r>
                        <a:rPr lang="en-US" sz="1400" b="1" u="none" strike="noStrike" dirty="0">
                          <a:effectLst/>
                        </a:rPr>
                        <a:t>Functional Foods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endParaRPr dirty="0"/>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2">
                  <a:txBody>
                    <a:bodyPr/>
                    <a:lstStyle/>
                    <a:p>
                      <a:pPr algn="ctr" fontAlgn="b">
                        <a:buNone/>
                      </a:pPr>
                      <a:r>
                        <a:rPr lang="en-US" sz="1400" b="1" u="none" strike="noStrike" dirty="0">
                          <a:effectLst/>
                        </a:rPr>
                        <a:t>Functional Beverages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endParaRPr dirty="0"/>
                    </a:p>
                  </a:txBody>
                  <a:tcPr marL="2958" marR="2958" marT="2958"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overall/general health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200" b="0" i="0" u="none" strike="noStrike" dirty="0">
                          <a:solidFill>
                            <a:srgbClr val="000000"/>
                          </a:solidFill>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l" fontAlgn="b">
                        <a:buNone/>
                      </a:pPr>
                      <a:r>
                        <a:rPr lang="en-US" sz="1200" b="0" i="0" u="none" strike="noStrike" dirty="0">
                          <a:effectLst/>
                          <a:latin typeface="Arial" panose="020B0604020202020204" pitchFamily="34" charset="0"/>
                        </a:rPr>
                        <a:t>Improving overall/general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200" b="0" i="0" u="none" strike="noStrike" dirty="0">
                          <a:effectLst/>
                          <a:latin typeface="Arial" panose="020B0604020202020204" pitchFamily="34" charset="0"/>
                        </a:rPr>
                        <a:t>57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l" fontAlgn="b">
                        <a:buNone/>
                      </a:pPr>
                      <a:r>
                        <a:rPr lang="en-US" sz="1200" b="0" i="0" u="none" strike="noStrike" dirty="0">
                          <a:effectLst/>
                          <a:latin typeface="Arial" panose="020B0604020202020204" pitchFamily="34" charset="0"/>
                        </a:rPr>
                        <a:t>Improving overall/general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200" b="0" i="0" u="none" strike="noStrike" dirty="0">
                          <a:effectLst/>
                          <a:latin typeface="Arial" panose="020B0604020202020204" pitchFamily="34" charset="0"/>
                        </a:rPr>
                        <a:t>53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Healthy aging/longevity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b="0" i="0" u="none" strike="noStrike" dirty="0">
                          <a:solidFill>
                            <a:srgbClr val="000000"/>
                          </a:solidFill>
                          <a:effectLst/>
                          <a:latin typeface="Arial" panose="020B0604020202020204" pitchFamily="34" charset="0"/>
                        </a:rPr>
                        <a:t>45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physical energy levels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41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physical energy levels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44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08762513"/>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physical energy levels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b="0" i="0" u="none" strike="noStrike" dirty="0">
                          <a:solidFill>
                            <a:srgbClr val="000000"/>
                          </a:solidFill>
                          <a:effectLst/>
                          <a:latin typeface="Arial" panose="020B0604020202020204" pitchFamily="34" charset="0"/>
                        </a:rPr>
                        <a:t>38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Healthy aging/longevity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overall fitness level</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37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229445550"/>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Boosting immunity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b="0" i="0" u="none" strike="noStrike" dirty="0">
                          <a:solidFill>
                            <a:srgbClr val="000000"/>
                          </a:solidFill>
                          <a:effectLst/>
                          <a:latin typeface="Arial" panose="020B0604020202020204" pitchFamily="34" charset="0"/>
                        </a:rPr>
                        <a:t>35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overall fitness level</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Healthy aging/longevity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35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582629608"/>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overall fitness level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b="0" i="0" u="none" strike="noStrike" dirty="0">
                          <a:solidFill>
                            <a:srgbClr val="000000"/>
                          </a:solidFill>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Managing weight</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effectLst/>
                          <a:latin typeface="Arial" panose="020B0604020202020204" pitchFamily="34" charset="0"/>
                        </a:rPr>
                        <a:t>36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l" fontAlgn="b">
                        <a:buNone/>
                      </a:pPr>
                      <a:r>
                        <a:rPr lang="en-US" sz="1200" b="0" i="0" u="none" strike="noStrike" dirty="0">
                          <a:effectLst/>
                          <a:latin typeface="Arial" panose="020B0604020202020204" pitchFamily="34" charset="0"/>
                        </a:rPr>
                        <a:t>Reducing stress/anxiety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924444937"/>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sleep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solidFill>
                            <a:srgbClr val="000000"/>
                          </a:solidFill>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l" fontAlgn="b">
                        <a:buNone/>
                      </a:pPr>
                      <a:r>
                        <a:rPr lang="en-US" sz="1200" b="0" i="0" u="none" strike="noStrike" dirty="0">
                          <a:effectLst/>
                          <a:latin typeface="Arial" panose="020B0604020202020204" pitchFamily="34" charset="0"/>
                        </a:rPr>
                        <a:t>Building muscle/strength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mood/emotional well-being</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79102277"/>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overall mental health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b="0" i="0" u="none" strike="noStrike" dirty="0">
                          <a:solidFill>
                            <a:srgbClr val="000000"/>
                          </a:solidFill>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gut/gastrointestinal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l" fontAlgn="b">
                        <a:buNone/>
                      </a:pPr>
                      <a:r>
                        <a:rPr lang="en-US" sz="1200" b="0" i="0" u="none" strike="noStrike" dirty="0">
                          <a:effectLst/>
                          <a:latin typeface="Arial" panose="020B0604020202020204" pitchFamily="34" charset="0"/>
                        </a:rPr>
                        <a:t>Improving cognition/mental energy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493174655"/>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Addressing a nutrient gap/deficiency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solidFill>
                            <a:srgbClr val="000000"/>
                          </a:solidFill>
                          <a:effectLst/>
                          <a:latin typeface="Arial" panose="020B0604020202020204" pitchFamily="34" charset="0"/>
                        </a:rPr>
                        <a:t>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l" fontAlgn="b">
                        <a:buNone/>
                      </a:pPr>
                      <a:r>
                        <a:rPr lang="en-US" sz="1200" b="0" i="0" u="none" strike="noStrike" dirty="0">
                          <a:effectLst/>
                          <a:latin typeface="Arial" panose="020B0604020202020204" pitchFamily="34" charset="0"/>
                        </a:rPr>
                        <a:t>Boosting immunity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Boosting immunity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816618863"/>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bone or joint health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solidFill>
                            <a:srgbClr val="000000"/>
                          </a:solidFill>
                          <a:effectLst/>
                          <a:latin typeface="Arial" panose="020B0604020202020204" pitchFamily="34" charset="0"/>
                        </a:rPr>
                        <a:t>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l" fontAlgn="b">
                        <a:buNone/>
                      </a:pPr>
                      <a:r>
                        <a:rPr lang="en-US" sz="1200" b="0" i="0" u="none" strike="noStrike" dirty="0">
                          <a:effectLst/>
                          <a:latin typeface="Arial" panose="020B0604020202020204" pitchFamily="34" charset="0"/>
                        </a:rPr>
                        <a:t>Improving overall mental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Building muscle/strength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30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109282528"/>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Reducing stress/anxiety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b">
                        <a:buNone/>
                      </a:pPr>
                      <a:r>
                        <a:rPr lang="en-US" sz="1200" b="0" i="0" u="none" strike="noStrike" dirty="0">
                          <a:solidFill>
                            <a:srgbClr val="000000"/>
                          </a:solidFill>
                          <a:effectLst/>
                          <a:latin typeface="Arial" panose="020B0604020202020204" pitchFamily="34" charset="0"/>
                        </a:rPr>
                        <a:t>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mood/emotional well-being</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overall mental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49533206"/>
                  </a:ext>
                </a:extLst>
              </a:tr>
            </a:tbl>
          </a:graphicData>
        </a:graphic>
      </p:graphicFrame>
      <p:sp>
        <p:nvSpPr>
          <p:cNvPr id="4" name="TextBox 3">
            <a:extLst>
              <a:ext uri="{FF2B5EF4-FFF2-40B4-BE49-F238E27FC236}">
                <a16:creationId xmlns:a16="http://schemas.microsoft.com/office/drawing/2014/main" id="{822A5897-5217-73FC-5C0B-BC9AE1BE40E5}"/>
              </a:ext>
            </a:extLst>
          </p:cNvPr>
          <p:cNvSpPr txBox="1"/>
          <p:nvPr/>
        </p:nvSpPr>
        <p:spPr>
          <a:xfrm>
            <a:off x="0" y="6577914"/>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C7. For which of the following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specific</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needs do you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regularly use</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&lt;INSERT HOLD.CATEGORY&gt;? </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24067FA1-4B5D-2261-91E5-A626A55FD957}"/>
              </a:ext>
            </a:extLst>
          </p:cNvPr>
          <p:cNvSpPr txBox="1"/>
          <p:nvPr/>
        </p:nvSpPr>
        <p:spPr>
          <a:xfrm>
            <a:off x="450241" y="1158315"/>
            <a:ext cx="11077363" cy="892552"/>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There are some needs that show up in the Top 10 for one category but not the other two, indicating at least some level of greater need x category alignment </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kumimoji="0" lang="en-US" sz="20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graphicFrame>
        <p:nvGraphicFramePr>
          <p:cNvPr id="9" name="Table 8">
            <a:extLst>
              <a:ext uri="{FF2B5EF4-FFF2-40B4-BE49-F238E27FC236}">
                <a16:creationId xmlns:a16="http://schemas.microsoft.com/office/drawing/2014/main" id="{342DF890-30C6-A511-D8FE-A90FC2C8AD5E}"/>
              </a:ext>
            </a:extLst>
          </p:cNvPr>
          <p:cNvGraphicFramePr>
            <a:graphicFrameLocks noGrp="1"/>
          </p:cNvGraphicFramePr>
          <p:nvPr>
            <p:extLst>
              <p:ext uri="{D42A27DB-BD31-4B8C-83A1-F6EECF244321}">
                <p14:modId xmlns:p14="http://schemas.microsoft.com/office/powerpoint/2010/main" val="994505528"/>
              </p:ext>
            </p:extLst>
          </p:nvPr>
        </p:nvGraphicFramePr>
        <p:xfrm>
          <a:off x="5792340" y="6446851"/>
          <a:ext cx="5827731" cy="246221"/>
        </p:xfrm>
        <a:graphic>
          <a:graphicData uri="http://schemas.openxmlformats.org/drawingml/2006/table">
            <a:tbl>
              <a:tblPr firstRow="1" bandRow="1">
                <a:tableStyleId>{5C22544A-7EE6-4342-B048-85BDC9FD1C3A}</a:tableStyleId>
              </a:tblPr>
              <a:tblGrid>
                <a:gridCol w="693166">
                  <a:extLst>
                    <a:ext uri="{9D8B030D-6E8A-4147-A177-3AD203B41FA5}">
                      <a16:colId xmlns:a16="http://schemas.microsoft.com/office/drawing/2014/main" val="541657535"/>
                    </a:ext>
                  </a:extLst>
                </a:gridCol>
                <a:gridCol w="5134565">
                  <a:extLst>
                    <a:ext uri="{9D8B030D-6E8A-4147-A177-3AD203B41FA5}">
                      <a16:colId xmlns:a16="http://schemas.microsoft.com/office/drawing/2014/main" val="2075929015"/>
                    </a:ext>
                  </a:extLst>
                </a:gridCol>
              </a:tblGrid>
              <a:tr h="246221">
                <a:tc>
                  <a:txBody>
                    <a:bodyPr/>
                    <a:lstStyle/>
                    <a:p>
                      <a:endParaRPr lang="en-US" sz="1000" dirty="0"/>
                    </a:p>
                  </a:txBody>
                  <a:tcPr>
                    <a:solidFill>
                      <a:schemeClr val="tx2">
                        <a:lumMod val="20000"/>
                        <a:lumOff val="80000"/>
                      </a:schemeClr>
                    </a:solidFill>
                  </a:tcPr>
                </a:tc>
                <a:tc>
                  <a:txBody>
                    <a:bodyPr/>
                    <a:lstStyle/>
                    <a:p>
                      <a:r>
                        <a:rPr lang="en-US" sz="1000" b="0" i="1" dirty="0">
                          <a:solidFill>
                            <a:schemeClr val="tx1"/>
                          </a:solidFill>
                        </a:rPr>
                        <a:t>Indicates that the need appears in the Top 10 for that category, but not for the other two</a:t>
                      </a:r>
                    </a:p>
                  </a:txBody>
                  <a:tcPr>
                    <a:noFill/>
                  </a:tcPr>
                </a:tc>
                <a:extLst>
                  <a:ext uri="{0D108BD9-81ED-4DB2-BD59-A6C34878D82A}">
                    <a16:rowId xmlns:a16="http://schemas.microsoft.com/office/drawing/2014/main" val="2006873653"/>
                  </a:ext>
                </a:extLst>
              </a:tr>
            </a:tbl>
          </a:graphicData>
        </a:graphic>
      </p:graphicFrame>
    </p:spTree>
    <p:extLst>
      <p:ext uri="{BB962C8B-B14F-4D97-AF65-F5344CB8AC3E}">
        <p14:creationId xmlns:p14="http://schemas.microsoft.com/office/powerpoint/2010/main" val="28525038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1E8081BD-C45C-D75E-1D4A-CA4B5EA9E9D0}"/>
            </a:ext>
          </a:extLst>
        </p:cNvPr>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0C3C574A-A990-9DBA-6138-888E491117BE}"/>
              </a:ext>
            </a:extLst>
          </p:cNvPr>
          <p:cNvGraphicFramePr/>
          <p:nvPr/>
        </p:nvGraphicFramePr>
        <p:xfrm>
          <a:off x="294245" y="1633591"/>
          <a:ext cx="11603510" cy="4722584"/>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4">
            <a:extLst>
              <a:ext uri="{FF2B5EF4-FFF2-40B4-BE49-F238E27FC236}">
                <a16:creationId xmlns:a16="http://schemas.microsoft.com/office/drawing/2014/main" id="{15C76875-CC20-BC61-374E-90A6DAD5896A}"/>
              </a:ext>
            </a:extLst>
          </p:cNvPr>
          <p:cNvSpPr txBox="1">
            <a:spLocks/>
          </p:cNvSpPr>
          <p:nvPr/>
        </p:nvSpPr>
        <p:spPr>
          <a:xfrm>
            <a:off x="528886" y="501825"/>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Supplement Users are looking for high quality, science-backed effectiveness with no side effects</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3" name="TextBox 2">
            <a:extLst>
              <a:ext uri="{FF2B5EF4-FFF2-40B4-BE49-F238E27FC236}">
                <a16:creationId xmlns:a16="http://schemas.microsoft.com/office/drawing/2014/main" id="{97410192-DBE3-AD81-9B94-E7E9D7596C82}"/>
              </a:ext>
            </a:extLst>
          </p:cNvPr>
          <p:cNvSpPr txBox="1"/>
          <p:nvPr/>
        </p:nvSpPr>
        <p:spPr>
          <a:xfrm>
            <a:off x="588475" y="1299981"/>
            <a:ext cx="10624007" cy="5847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Supplement Users are also looking for tangible impact, transparency and simplicity, and easy-to-consume formats that fit into the routine</a:t>
            </a:r>
          </a:p>
        </p:txBody>
      </p:sp>
      <p:sp>
        <p:nvSpPr>
          <p:cNvPr id="73" name="TextBox 72">
            <a:extLst>
              <a:ext uri="{FF2B5EF4-FFF2-40B4-BE49-F238E27FC236}">
                <a16:creationId xmlns:a16="http://schemas.microsoft.com/office/drawing/2014/main" id="{48EDD16D-D6BB-E54F-36E9-C04082BAE45E}"/>
              </a:ext>
            </a:extLst>
          </p:cNvPr>
          <p:cNvSpPr txBox="1"/>
          <p:nvPr/>
        </p:nvSpPr>
        <p:spPr>
          <a:xfrm>
            <a:off x="92672" y="6109954"/>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C9. How important are each of the following attributes when purchasing &lt;INSERT HOLD CATEGORY&gt;?</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Date Placeholder 1">
            <a:extLst>
              <a:ext uri="{FF2B5EF4-FFF2-40B4-BE49-F238E27FC236}">
                <a16:creationId xmlns:a16="http://schemas.microsoft.com/office/drawing/2014/main" id="{35F66142-4346-6A9B-8BAA-6F5FEE80A6B9}"/>
              </a:ext>
            </a:extLst>
          </p:cNvPr>
          <p:cNvSpPr>
            <a:spLocks noGrp="1"/>
          </p:cNvSpPr>
          <p:nvPr>
            <p:ph type="dt" sz="half" idx="10"/>
          </p:nvPr>
        </p:nvSpPr>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12/30/2025</a:t>
            </a:r>
          </a:p>
        </p:txBody>
      </p:sp>
      <p:sp>
        <p:nvSpPr>
          <p:cNvPr id="6" name="Footer Placeholder 2">
            <a:extLst>
              <a:ext uri="{FF2B5EF4-FFF2-40B4-BE49-F238E27FC236}">
                <a16:creationId xmlns:a16="http://schemas.microsoft.com/office/drawing/2014/main" id="{CE111450-1913-DB7E-AC00-0825C88BA755}"/>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AE50AA75-FD31-9E73-B3A7-64749116D764}"/>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600"/>
                </a:spcAft>
                <a:buClrTx/>
                <a:buSzTx/>
                <a:buFontTx/>
                <a:buNone/>
                <a:tabLst/>
                <a:defRPr/>
              </a:pPr>
              <a:t>31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cxnSp>
        <p:nvCxnSpPr>
          <p:cNvPr id="4" name="Straight Connector 3">
            <a:extLst>
              <a:ext uri="{FF2B5EF4-FFF2-40B4-BE49-F238E27FC236}">
                <a16:creationId xmlns:a16="http://schemas.microsoft.com/office/drawing/2014/main" id="{C47DA409-AB8C-EE49-E973-146E4DFE71D0}"/>
              </a:ext>
            </a:extLst>
          </p:cNvPr>
          <p:cNvCxnSpPr>
            <a:cxnSpLocks/>
          </p:cNvCxnSpPr>
          <p:nvPr/>
        </p:nvCxnSpPr>
        <p:spPr>
          <a:xfrm>
            <a:off x="5506949" y="2609636"/>
            <a:ext cx="0" cy="2239768"/>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1DDCAC8-0B0F-5A74-5511-AEBDA94E74F5}"/>
              </a:ext>
            </a:extLst>
          </p:cNvPr>
          <p:cNvSpPr txBox="1"/>
          <p:nvPr/>
        </p:nvSpPr>
        <p:spPr>
          <a:xfrm>
            <a:off x="2609632" y="2433523"/>
            <a:ext cx="1756881" cy="276999"/>
          </a:xfrm>
          <a:prstGeom prst="rect">
            <a:avLst/>
          </a:prstGeom>
          <a:noFill/>
        </p:spPr>
        <p:txBody>
          <a:bodyPr wrap="square" rtlCol="0">
            <a:spAutoFit/>
          </a:bodyPr>
          <a:lstStyle/>
          <a:p>
            <a:pPr algn="ctr"/>
            <a:r>
              <a:rPr lang="en-US" sz="1200" b="1" dirty="0">
                <a:solidFill>
                  <a:schemeClr val="accent2"/>
                </a:solidFill>
              </a:rPr>
              <a:t>Top 10 Category Drivers</a:t>
            </a:r>
          </a:p>
        </p:txBody>
      </p:sp>
    </p:spTree>
    <p:extLst>
      <p:ext uri="{BB962C8B-B14F-4D97-AF65-F5344CB8AC3E}">
        <p14:creationId xmlns:p14="http://schemas.microsoft.com/office/powerpoint/2010/main" val="266119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1043">
          <a:extLst>
            <a:ext uri="{FF2B5EF4-FFF2-40B4-BE49-F238E27FC236}">
              <a16:creationId xmlns:a16="http://schemas.microsoft.com/office/drawing/2014/main" id="{65777B61-759A-ADA8-DF3C-BA9201DD67C1}"/>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F02437E4-F87F-C630-D98B-43FE908C2095}"/>
              </a:ext>
            </a:extLst>
          </p:cNvPr>
          <p:cNvSpPr txBox="1">
            <a:spLocks/>
          </p:cNvSpPr>
          <p:nvPr/>
        </p:nvSpPr>
        <p:spPr>
          <a:xfrm>
            <a:off x="357774" y="220938"/>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High quality delivery against claimed benefits – without side effects – is </a:t>
            </a:r>
            <a:r>
              <a:rPr lang="en-US" sz="2400" dirty="0"/>
              <a:t>very important for all three Functional Nutrition categories </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3" name="TextBox 2">
            <a:extLst>
              <a:ext uri="{FF2B5EF4-FFF2-40B4-BE49-F238E27FC236}">
                <a16:creationId xmlns:a16="http://schemas.microsoft.com/office/drawing/2014/main" id="{53171F28-8CC5-87DB-7DE7-DF5182493C42}"/>
              </a:ext>
            </a:extLst>
          </p:cNvPr>
          <p:cNvSpPr txBox="1"/>
          <p:nvPr/>
        </p:nvSpPr>
        <p:spPr>
          <a:xfrm>
            <a:off x="511174" y="2169689"/>
            <a:ext cx="4050552" cy="3447098"/>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Delivery on claimed benefits and science-backed claims are slightly more important for Supplements</a:t>
            </a:r>
            <a:b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Not surprisingly the consumption experience and a desire for clean and simple ingredients are rated as more important for Functional Foods and Beverages</a:t>
            </a:r>
            <a:br>
              <a:rPr lang="en-US" sz="1600" dirty="0">
                <a:solidFill>
                  <a:srgbClr val="BD582C"/>
                </a:solidFill>
                <a:latin typeface="Calibri Light" panose="020F0302020204030204"/>
              </a:rPr>
            </a:br>
            <a:endParaRPr lang="en-US" sz="1600" dirty="0">
              <a:solidFill>
                <a:srgbClr val="BD582C"/>
              </a:solidFill>
              <a:latin typeface="Calibri Light" panose="020F0302020204030204"/>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Providing multiple benefits and fast-acting formulas are also see as more important for Functional Foods and Beverages</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7" name="Slide Number Placeholder 3">
            <a:extLst>
              <a:ext uri="{FF2B5EF4-FFF2-40B4-BE49-F238E27FC236}">
                <a16:creationId xmlns:a16="http://schemas.microsoft.com/office/drawing/2014/main" id="{35DB0080-D4A4-CB39-388D-62076F58BC5C}"/>
              </a:ext>
            </a:extLst>
          </p:cNvPr>
          <p:cNvSpPr>
            <a:spLocks noGrp="1"/>
          </p:cNvSpPr>
          <p:nvPr>
            <p:ph type="sldNum" idx="12"/>
          </p:nvPr>
        </p:nvSpPr>
        <p:spPr/>
        <p:txBody>
          <a:bodyPr vert="horz" lIns="91440" tIns="45720" rIns="91440" bIns="45720" rtlCol="0" anchor="ctr">
            <a:normAutofit fontScale="40000" lnSpcReduction="20000"/>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600"/>
                </a:spcAft>
                <a:buClrTx/>
                <a:buSzTx/>
                <a:buFontTx/>
                <a:buNone/>
                <a:tabLst/>
                <a:defRPr/>
              </a:pPr>
              <a:t>32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6" name="Footer Placeholder 2">
            <a:extLst>
              <a:ext uri="{FF2B5EF4-FFF2-40B4-BE49-F238E27FC236}">
                <a16:creationId xmlns:a16="http://schemas.microsoft.com/office/drawing/2014/main" id="{03591A54-4143-AC12-73DA-A1BB05CE3228}"/>
              </a:ext>
            </a:extLst>
          </p:cNvPr>
          <p:cNvSpPr>
            <a:spLocks noGrp="1"/>
          </p:cNvSpPr>
          <p:nvPr>
            <p:ph type="ftr" sz="quarter" idx="4294967295"/>
          </p:nvPr>
        </p:nvSpPr>
        <p:spPr>
          <a:xfrm>
            <a:off x="7369175" y="6459538"/>
            <a:ext cx="4822825"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8" name="Table 7">
            <a:extLst>
              <a:ext uri="{FF2B5EF4-FFF2-40B4-BE49-F238E27FC236}">
                <a16:creationId xmlns:a16="http://schemas.microsoft.com/office/drawing/2014/main" id="{3DB19208-144E-F0DE-FB4B-DACD2353C07D}"/>
              </a:ext>
            </a:extLst>
          </p:cNvPr>
          <p:cNvGraphicFramePr>
            <a:graphicFrameLocks noGrp="1"/>
          </p:cNvGraphicFramePr>
          <p:nvPr>
            <p:extLst>
              <p:ext uri="{D42A27DB-BD31-4B8C-83A1-F6EECF244321}">
                <p14:modId xmlns:p14="http://schemas.microsoft.com/office/powerpoint/2010/main" val="1970301648"/>
              </p:ext>
            </p:extLst>
          </p:nvPr>
        </p:nvGraphicFramePr>
        <p:xfrm>
          <a:off x="4822826" y="1125683"/>
          <a:ext cx="6858000" cy="5309436"/>
        </p:xfrm>
        <a:graphic>
          <a:graphicData uri="http://schemas.openxmlformats.org/drawingml/2006/table">
            <a:tbl>
              <a:tblPr>
                <a:tableStyleId>{3B4B98B0-60AC-42C2-AFA5-B58CD77FA1E5}</a:tableStyleId>
              </a:tblPr>
              <a:tblGrid>
                <a:gridCol w="4114800">
                  <a:extLst>
                    <a:ext uri="{9D8B030D-6E8A-4147-A177-3AD203B41FA5}">
                      <a16:colId xmlns:a16="http://schemas.microsoft.com/office/drawing/2014/main" val="4107426551"/>
                    </a:ext>
                  </a:extLst>
                </a:gridCol>
                <a:gridCol w="914400">
                  <a:extLst>
                    <a:ext uri="{9D8B030D-6E8A-4147-A177-3AD203B41FA5}">
                      <a16:colId xmlns:a16="http://schemas.microsoft.com/office/drawing/2014/main" val="871605687"/>
                    </a:ext>
                  </a:extLst>
                </a:gridCol>
                <a:gridCol w="914400">
                  <a:extLst>
                    <a:ext uri="{9D8B030D-6E8A-4147-A177-3AD203B41FA5}">
                      <a16:colId xmlns:a16="http://schemas.microsoft.com/office/drawing/2014/main" val="1381748258"/>
                    </a:ext>
                  </a:extLst>
                </a:gridCol>
                <a:gridCol w="914400">
                  <a:extLst>
                    <a:ext uri="{9D8B030D-6E8A-4147-A177-3AD203B41FA5}">
                      <a16:colId xmlns:a16="http://schemas.microsoft.com/office/drawing/2014/main" val="2197625001"/>
                    </a:ext>
                  </a:extLst>
                </a:gridCol>
              </a:tblGrid>
              <a:tr h="0">
                <a:tc gridSpan="4">
                  <a:txBody>
                    <a:bodyPr/>
                    <a:lstStyle/>
                    <a:p>
                      <a:pPr algn="ctr" fontAlgn="b">
                        <a:buNone/>
                      </a:pPr>
                      <a:r>
                        <a:rPr lang="en-US" sz="1200" b="1" i="0" u="none" strike="noStrike" dirty="0">
                          <a:solidFill>
                            <a:schemeClr val="bg1"/>
                          </a:solidFill>
                          <a:effectLst/>
                          <a:latin typeface="Arial" panose="020B0604020202020204" pitchFamily="34" charset="0"/>
                        </a:rPr>
                        <a:t>Top Box Attribute Importance by Category</a:t>
                      </a:r>
                    </a:p>
                    <a:p>
                      <a:pPr algn="ctr" fontAlgn="b">
                        <a:buNone/>
                      </a:pPr>
                      <a:r>
                        <a:rPr lang="en-US" sz="1200" b="0" i="0" u="none" strike="noStrike" dirty="0">
                          <a:solidFill>
                            <a:schemeClr val="bg1"/>
                          </a:solidFill>
                          <a:effectLst/>
                          <a:latin typeface="Arial" panose="020B0604020202020204" pitchFamily="34" charset="0"/>
                        </a:rPr>
                        <a:t>(% “very important” among once/week+ category users)</a:t>
                      </a: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Dietary Supplements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200" b="1" u="none" strike="noStrike" dirty="0">
                          <a:effectLst/>
                        </a:rPr>
                        <a:t>Functional Foods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200" b="1" u="none" strike="noStrike" dirty="0">
                          <a:effectLst/>
                        </a:rPr>
                        <a:t>Functional Beverages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182880">
                <a:tc>
                  <a:txBody>
                    <a:bodyPr/>
                    <a:lstStyle/>
                    <a:p>
                      <a:pPr algn="l" fontAlgn="b">
                        <a:buNone/>
                      </a:pPr>
                      <a:r>
                        <a:rPr lang="en-US" sz="1100" u="none" strike="noStrike" dirty="0">
                          <a:effectLst/>
                        </a:rPr>
                        <a:t>Causes no negative side effects/reactions</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u="none" strike="noStrike" dirty="0">
                          <a:effectLst/>
                        </a:rPr>
                        <a:t>75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u="none" strike="noStrike" dirty="0">
                          <a:effectLst/>
                        </a:rPr>
                        <a:t>71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u="none" strike="noStrike" dirty="0">
                          <a:effectLst/>
                        </a:rPr>
                        <a:t>72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182880">
                <a:tc>
                  <a:txBody>
                    <a:bodyPr/>
                    <a:lstStyle/>
                    <a:p>
                      <a:pPr algn="l" fontAlgn="b">
                        <a:buNone/>
                      </a:pPr>
                      <a:r>
                        <a:rPr lang="en-US" sz="1100" u="none" strike="noStrike" dirty="0">
                          <a:effectLst/>
                        </a:rPr>
                        <a:t>Delivers on claimed benefits</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72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68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65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08762513"/>
                  </a:ext>
                </a:extLst>
              </a:tr>
              <a:tr h="182880">
                <a:tc>
                  <a:txBody>
                    <a:bodyPr/>
                    <a:lstStyle/>
                    <a:p>
                      <a:pPr algn="l" fontAlgn="b">
                        <a:buNone/>
                      </a:pPr>
                      <a:r>
                        <a:rPr lang="en-US" sz="1100" u="none" strike="noStrike" dirty="0">
                          <a:effectLst/>
                        </a:rPr>
                        <a:t>Made with high quality ingredients</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67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229445550"/>
                  </a:ext>
                </a:extLst>
              </a:tr>
              <a:tr h="182880">
                <a:tc>
                  <a:txBody>
                    <a:bodyPr/>
                    <a:lstStyle/>
                    <a:p>
                      <a:pPr algn="l" fontAlgn="b">
                        <a:buNone/>
                      </a:pPr>
                      <a:r>
                        <a:rPr lang="en-US" sz="1100" u="none" strike="noStrike" dirty="0">
                          <a:effectLst/>
                        </a:rPr>
                        <a:t>Has proven, science-backed claims</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56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582629608"/>
                  </a:ext>
                </a:extLst>
              </a:tr>
              <a:tr h="182880">
                <a:tc>
                  <a:txBody>
                    <a:bodyPr/>
                    <a:lstStyle/>
                    <a:p>
                      <a:pPr algn="l" fontAlgn="b">
                        <a:buNone/>
                      </a:pPr>
                      <a:r>
                        <a:rPr lang="en-US" sz="1100" u="none" strike="noStrike" dirty="0">
                          <a:effectLst/>
                        </a:rPr>
                        <a:t>Is a good value for the money</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60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60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924444937"/>
                  </a:ext>
                </a:extLst>
              </a:tr>
              <a:tr h="182880">
                <a:tc>
                  <a:txBody>
                    <a:bodyPr/>
                    <a:lstStyle/>
                    <a:p>
                      <a:pPr algn="l" fontAlgn="b">
                        <a:buNone/>
                      </a:pPr>
                      <a:r>
                        <a:rPr lang="en-US" sz="1100" u="none" strike="noStrike" dirty="0">
                          <a:effectLst/>
                        </a:rPr>
                        <a:t>Transparent about ingredients and sourcing</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57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60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79102277"/>
                  </a:ext>
                </a:extLst>
              </a:tr>
              <a:tr h="182880">
                <a:tc>
                  <a:txBody>
                    <a:bodyPr/>
                    <a:lstStyle/>
                    <a:p>
                      <a:pPr algn="l" fontAlgn="b">
                        <a:buNone/>
                      </a:pPr>
                      <a:r>
                        <a:rPr lang="en-US" sz="1100" u="none" strike="noStrike" dirty="0">
                          <a:effectLst/>
                        </a:rPr>
                        <a:t>Comes in easy-to-consume formats</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57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51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53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93174655"/>
                  </a:ext>
                </a:extLst>
              </a:tr>
              <a:tr h="182880">
                <a:tc>
                  <a:txBody>
                    <a:bodyPr/>
                    <a:lstStyle/>
                    <a:p>
                      <a:pPr algn="l" fontAlgn="b">
                        <a:buNone/>
                      </a:pPr>
                      <a:r>
                        <a:rPr lang="en-US" sz="1100" u="none" strike="noStrike" dirty="0">
                          <a:effectLst/>
                        </a:rPr>
                        <a:t>Easily fits into my health and wellness routine</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816618863"/>
                  </a:ext>
                </a:extLst>
              </a:tr>
              <a:tr h="182880">
                <a:tc>
                  <a:txBody>
                    <a:bodyPr/>
                    <a:lstStyle/>
                    <a:p>
                      <a:pPr algn="l" fontAlgn="b">
                        <a:buNone/>
                      </a:pPr>
                      <a:r>
                        <a:rPr lang="en-US" sz="1100" u="none" strike="noStrike" dirty="0">
                          <a:effectLst/>
                        </a:rPr>
                        <a:t>Provides an impact I can see or feel</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09282528"/>
                  </a:ext>
                </a:extLst>
              </a:tr>
              <a:tr h="182880">
                <a:tc>
                  <a:txBody>
                    <a:bodyPr/>
                    <a:lstStyle/>
                    <a:p>
                      <a:pPr algn="l" fontAlgn="b">
                        <a:buNone/>
                      </a:pPr>
                      <a:r>
                        <a:rPr lang="en-US" sz="1100" u="none" strike="noStrike" dirty="0">
                          <a:effectLst/>
                        </a:rPr>
                        <a:t>Made with clean, simple ingredients</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52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59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649533206"/>
                  </a:ext>
                </a:extLst>
              </a:tr>
              <a:tr h="182880">
                <a:tc>
                  <a:txBody>
                    <a:bodyPr/>
                    <a:lstStyle/>
                    <a:p>
                      <a:pPr algn="l" fontAlgn="b">
                        <a:buNone/>
                      </a:pPr>
                      <a:r>
                        <a:rPr lang="en-US" sz="1100" u="none" strike="noStrike" dirty="0">
                          <a:effectLst/>
                        </a:rPr>
                        <a:t>Recommended by a medical/wellness professional</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43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43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679873701"/>
                  </a:ext>
                </a:extLst>
              </a:tr>
              <a:tr h="182880">
                <a:tc>
                  <a:txBody>
                    <a:bodyPr/>
                    <a:lstStyle/>
                    <a:p>
                      <a:pPr algn="l" fontAlgn="b">
                        <a:buNone/>
                      </a:pPr>
                      <a:r>
                        <a:rPr lang="en-US" sz="1100" u="none" strike="noStrike" dirty="0">
                          <a:effectLst/>
                        </a:rPr>
                        <a:t>Has third-party testing/certifications</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42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43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723336348"/>
                  </a:ext>
                </a:extLst>
              </a:tr>
              <a:tr h="182880">
                <a:tc>
                  <a:txBody>
                    <a:bodyPr/>
                    <a:lstStyle/>
                    <a:p>
                      <a:pPr algn="l" fontAlgn="b">
                        <a:buNone/>
                      </a:pPr>
                      <a:r>
                        <a:rPr lang="en-US" sz="1100" u="none" strike="noStrike" dirty="0">
                          <a:effectLst/>
                        </a:rPr>
                        <a:t>Made by a familiar brand I know and trust</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40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32891055"/>
                  </a:ext>
                </a:extLst>
              </a:tr>
              <a:tr h="182880">
                <a:tc>
                  <a:txBody>
                    <a:bodyPr/>
                    <a:lstStyle/>
                    <a:p>
                      <a:pPr algn="l" fontAlgn="b">
                        <a:buNone/>
                      </a:pPr>
                      <a:r>
                        <a:rPr lang="en-US" sz="1100" u="none" strike="noStrike" dirty="0">
                          <a:effectLst/>
                        </a:rPr>
                        <a:t>Positive ratings/reviews online</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44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42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807090806"/>
                  </a:ext>
                </a:extLst>
              </a:tr>
              <a:tr h="182880">
                <a:tc>
                  <a:txBody>
                    <a:bodyPr/>
                    <a:lstStyle/>
                    <a:p>
                      <a:pPr algn="l" fontAlgn="b">
                        <a:buNone/>
                      </a:pPr>
                      <a:r>
                        <a:rPr lang="en-US" sz="1100" u="none" strike="noStrike" dirty="0">
                          <a:effectLst/>
                        </a:rPr>
                        <a:t>Provides multiple benefits in one product</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45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48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050239563"/>
                  </a:ext>
                </a:extLst>
              </a:tr>
              <a:tr h="182880">
                <a:tc>
                  <a:txBody>
                    <a:bodyPr/>
                    <a:lstStyle/>
                    <a:p>
                      <a:pPr algn="l" fontAlgn="b">
                        <a:buNone/>
                      </a:pPr>
                      <a:r>
                        <a:rPr lang="en-US" sz="1100" u="none" strike="noStrike" dirty="0">
                          <a:effectLst/>
                        </a:rPr>
                        <a:t>Easy to take on-the-go</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40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777060894"/>
                  </a:ext>
                </a:extLst>
              </a:tr>
              <a:tr h="182880">
                <a:tc>
                  <a:txBody>
                    <a:bodyPr/>
                    <a:lstStyle/>
                    <a:p>
                      <a:pPr algn="l" fontAlgn="b">
                        <a:buNone/>
                      </a:pPr>
                      <a:r>
                        <a:rPr lang="en-US" sz="1100" u="none" strike="noStrike" dirty="0">
                          <a:effectLst/>
                        </a:rPr>
                        <a:t>Has a good texture</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35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53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55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816600029"/>
                  </a:ext>
                </a:extLst>
              </a:tr>
              <a:tr h="182880">
                <a:tc>
                  <a:txBody>
                    <a:bodyPr/>
                    <a:lstStyle/>
                    <a:p>
                      <a:pPr algn="l" fontAlgn="b">
                        <a:buNone/>
                      </a:pPr>
                      <a:r>
                        <a:rPr lang="en-US" sz="1100" u="none" strike="noStrike" dirty="0">
                          <a:effectLst/>
                        </a:rPr>
                        <a:t>Has a good taste</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34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67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031203097"/>
                  </a:ext>
                </a:extLst>
              </a:tr>
              <a:tr h="182880">
                <a:tc>
                  <a:txBody>
                    <a:bodyPr/>
                    <a:lstStyle/>
                    <a:p>
                      <a:pPr algn="l" fontAlgn="b">
                        <a:buNone/>
                      </a:pPr>
                      <a:r>
                        <a:rPr lang="en-US" sz="1100" u="none" strike="noStrike" dirty="0">
                          <a:effectLst/>
                        </a:rPr>
                        <a:t>Provides an enjoyable consumption experience</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33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53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56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118574213"/>
                  </a:ext>
                </a:extLst>
              </a:tr>
              <a:tr h="182880">
                <a:tc>
                  <a:txBody>
                    <a:bodyPr/>
                    <a:lstStyle/>
                    <a:p>
                      <a:pPr algn="l" fontAlgn="b">
                        <a:buNone/>
                      </a:pPr>
                      <a:r>
                        <a:rPr lang="en-US" sz="1100" u="none" strike="noStrike" dirty="0">
                          <a:effectLst/>
                        </a:rPr>
                        <a:t>Is fast-acting</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u="none" strike="noStrike" dirty="0">
                          <a:effectLst/>
                        </a:rPr>
                        <a:t>33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u="none" strike="noStrike" dirty="0">
                          <a:effectLst/>
                        </a:rPr>
                        <a:t>39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100" u="none" strike="noStrike" dirty="0">
                          <a:effectLst/>
                        </a:rPr>
                        <a:t>41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B w="12700" cap="flat" cmpd="sng" algn="ctr">
                      <a:no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82867502"/>
                  </a:ext>
                </a:extLst>
              </a:tr>
              <a:tr h="182880">
                <a:tc>
                  <a:txBody>
                    <a:bodyPr/>
                    <a:lstStyle/>
                    <a:p>
                      <a:pPr algn="l" fontAlgn="b">
                        <a:buNone/>
                      </a:pPr>
                      <a:r>
                        <a:rPr lang="en-US" sz="1100" u="none" strike="noStrike" dirty="0">
                          <a:effectLst/>
                        </a:rPr>
                        <a:t>Made by a purpose-driven brand</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u="none" strike="noStrike" dirty="0">
                          <a:effectLst/>
                        </a:rPr>
                        <a:t>32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u="none" strike="noStrike" dirty="0">
                          <a:effectLst/>
                        </a:rPr>
                        <a:t>39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u="none" strike="noStrike" dirty="0">
                          <a:effectLst/>
                        </a:rPr>
                        <a:t>36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T w="12700" cap="flat" cmpd="sng" algn="ctr">
                      <a:noFill/>
                      <a:prstDash val="solid"/>
                      <a:round/>
                      <a:headEnd type="none" w="med" len="med"/>
                      <a:tailEnd type="none" w="med" len="med"/>
                    </a:lnT>
                    <a:noFill/>
                  </a:tcPr>
                </a:tc>
                <a:extLst>
                  <a:ext uri="{0D108BD9-81ED-4DB2-BD59-A6C34878D82A}">
                    <a16:rowId xmlns:a16="http://schemas.microsoft.com/office/drawing/2014/main" val="2790179416"/>
                  </a:ext>
                </a:extLst>
              </a:tr>
              <a:tr h="182880">
                <a:tc>
                  <a:txBody>
                    <a:bodyPr/>
                    <a:lstStyle/>
                    <a:p>
                      <a:pPr algn="l" fontAlgn="b">
                        <a:buNone/>
                      </a:pPr>
                      <a:r>
                        <a:rPr lang="en-US" sz="1100" u="none" strike="noStrike" dirty="0">
                          <a:effectLst/>
                        </a:rPr>
                        <a:t>Sustainably produced</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32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37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37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221702195"/>
                  </a:ext>
                </a:extLst>
              </a:tr>
              <a:tr h="182880">
                <a:tc>
                  <a:txBody>
                    <a:bodyPr/>
                    <a:lstStyle/>
                    <a:p>
                      <a:pPr algn="l" fontAlgn="b">
                        <a:buNone/>
                      </a:pPr>
                      <a:r>
                        <a:rPr lang="en-US" sz="1100" u="none" strike="noStrike" dirty="0">
                          <a:effectLst/>
                        </a:rPr>
                        <a:t>Made by brand that has been around a long time</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28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30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28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2777779970"/>
                  </a:ext>
                </a:extLst>
              </a:tr>
              <a:tr h="182880">
                <a:tc>
                  <a:txBody>
                    <a:bodyPr/>
                    <a:lstStyle/>
                    <a:p>
                      <a:pPr algn="l" fontAlgn="b">
                        <a:buNone/>
                      </a:pPr>
                      <a:r>
                        <a:rPr lang="en-US" sz="1100" u="none" strike="noStrike" dirty="0">
                          <a:effectLst/>
                        </a:rPr>
                        <a:t>Recommended by friends or family</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24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30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29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685218725"/>
                  </a:ext>
                </a:extLst>
              </a:tr>
              <a:tr h="182880">
                <a:tc>
                  <a:txBody>
                    <a:bodyPr/>
                    <a:lstStyle/>
                    <a:p>
                      <a:pPr algn="l" fontAlgn="b">
                        <a:buNone/>
                      </a:pPr>
                      <a:r>
                        <a:rPr lang="en-US" sz="1100" u="none" strike="noStrike" dirty="0">
                          <a:effectLst/>
                        </a:rPr>
                        <a:t>Recommended by a celebrity, athlete or influencer</a:t>
                      </a:r>
                      <a:endParaRPr lang="en-US" sz="1100" b="0" i="0" u="none" strike="noStrike" dirty="0">
                        <a:effectLst/>
                        <a:latin typeface="Arial" panose="020B0604020202020204" pitchFamily="34" charset="0"/>
                      </a:endParaRPr>
                    </a:p>
                  </a:txBody>
                  <a:tcPr marL="89064" marR="7422" marT="7422"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16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21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19 </a:t>
                      </a:r>
                      <a:endParaRPr lang="en-US" sz="1100" b="0" i="0" u="none" strike="noStrike" dirty="0">
                        <a:effectLst/>
                        <a:latin typeface="Arial" panose="020B0604020202020204" pitchFamily="34" charset="0"/>
                      </a:endParaRPr>
                    </a:p>
                  </a:txBody>
                  <a:tcPr marL="7422" marR="7422" marT="7422"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061340747"/>
                  </a:ext>
                </a:extLst>
              </a:tr>
            </a:tbl>
          </a:graphicData>
        </a:graphic>
      </p:graphicFrame>
      <p:sp>
        <p:nvSpPr>
          <p:cNvPr id="5" name="TextBox 4">
            <a:extLst>
              <a:ext uri="{FF2B5EF4-FFF2-40B4-BE49-F238E27FC236}">
                <a16:creationId xmlns:a16="http://schemas.microsoft.com/office/drawing/2014/main" id="{99445D57-6084-9878-3D66-50D55DE00B51}"/>
              </a:ext>
            </a:extLst>
          </p:cNvPr>
          <p:cNvSpPr txBox="1"/>
          <p:nvPr/>
        </p:nvSpPr>
        <p:spPr>
          <a:xfrm>
            <a:off x="-27199" y="6615842"/>
            <a:ext cx="9807786" cy="246221"/>
          </a:xfrm>
          <a:prstGeom prst="rect">
            <a:avLst/>
          </a:prstGeom>
          <a:noFill/>
        </p:spPr>
        <p:txBody>
          <a:bodyPr wrap="square" rtlCol="0">
            <a:spAutoFit/>
          </a:bodyPr>
          <a:lstStyle/>
          <a:p>
            <a:pPr lvl="0">
              <a:defRPr/>
            </a:pPr>
            <a:r>
              <a:rPr lang="en-US" sz="1000" i="1" dirty="0">
                <a:solidFill>
                  <a:srgbClr val="000000"/>
                </a:solidFill>
              </a:rPr>
              <a:t>C9. How important are each of the following attributes when purchasing &lt;INSERT HOLD CATEGORY&gt;?</a:t>
            </a:r>
            <a:endParaRPr lang="en-US" sz="100" i="1" dirty="0">
              <a:solidFill>
                <a:srgbClr val="000000"/>
              </a:solidFill>
            </a:endParaRPr>
          </a:p>
        </p:txBody>
      </p:sp>
    </p:spTree>
    <p:extLst>
      <p:ext uri="{BB962C8B-B14F-4D97-AF65-F5344CB8AC3E}">
        <p14:creationId xmlns:p14="http://schemas.microsoft.com/office/powerpoint/2010/main" val="671274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1043">
          <a:extLst>
            <a:ext uri="{FF2B5EF4-FFF2-40B4-BE49-F238E27FC236}">
              <a16:creationId xmlns:a16="http://schemas.microsoft.com/office/drawing/2014/main" id="{06E10FBA-4A11-B032-31A2-E79C877D4F2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3127AF1B-8157-1D8F-D612-C690D7D7296C}"/>
              </a:ext>
            </a:extLst>
          </p:cNvPr>
          <p:cNvSpPr txBox="1">
            <a:spLocks/>
          </p:cNvSpPr>
          <p:nvPr/>
        </p:nvSpPr>
        <p:spPr>
          <a:xfrm>
            <a:off x="357774" y="391730"/>
            <a:ext cx="11262297"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The top category drivers are generally shared across all three categories</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6" name="Footer Placeholder 2">
            <a:extLst>
              <a:ext uri="{FF2B5EF4-FFF2-40B4-BE49-F238E27FC236}">
                <a16:creationId xmlns:a16="http://schemas.microsoft.com/office/drawing/2014/main" id="{84228950-3C02-900E-187C-96E2229E4737}"/>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FD0CC17A-6A95-854E-AECB-49A26A1EA472}"/>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600"/>
                </a:spcAft>
                <a:buClrTx/>
                <a:buSzTx/>
                <a:buFontTx/>
                <a:buNone/>
                <a:tabLst/>
                <a:defRPr/>
              </a:pPr>
              <a:t>33</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graphicFrame>
        <p:nvGraphicFramePr>
          <p:cNvPr id="8" name="Table 7">
            <a:extLst>
              <a:ext uri="{FF2B5EF4-FFF2-40B4-BE49-F238E27FC236}">
                <a16:creationId xmlns:a16="http://schemas.microsoft.com/office/drawing/2014/main" id="{A0203F81-016A-EFB6-7C81-39FE18839B06}"/>
              </a:ext>
            </a:extLst>
          </p:cNvPr>
          <p:cNvGraphicFramePr>
            <a:graphicFrameLocks noGrp="1"/>
          </p:cNvGraphicFramePr>
          <p:nvPr>
            <p:extLst>
              <p:ext uri="{D42A27DB-BD31-4B8C-83A1-F6EECF244321}">
                <p14:modId xmlns:p14="http://schemas.microsoft.com/office/powerpoint/2010/main" val="3989027534"/>
              </p:ext>
            </p:extLst>
          </p:nvPr>
        </p:nvGraphicFramePr>
        <p:xfrm>
          <a:off x="441157" y="1540882"/>
          <a:ext cx="11309685" cy="4774131"/>
        </p:xfrm>
        <a:graphic>
          <a:graphicData uri="http://schemas.openxmlformats.org/drawingml/2006/table">
            <a:tbl>
              <a:tblPr>
                <a:tableStyleId>{3B4B98B0-60AC-42C2-AFA5-B58CD77FA1E5}</a:tableStyleId>
              </a:tblPr>
              <a:tblGrid>
                <a:gridCol w="3017520">
                  <a:extLst>
                    <a:ext uri="{9D8B030D-6E8A-4147-A177-3AD203B41FA5}">
                      <a16:colId xmlns:a16="http://schemas.microsoft.com/office/drawing/2014/main" val="4107426551"/>
                    </a:ext>
                  </a:extLst>
                </a:gridCol>
                <a:gridCol w="721895">
                  <a:extLst>
                    <a:ext uri="{9D8B030D-6E8A-4147-A177-3AD203B41FA5}">
                      <a16:colId xmlns:a16="http://schemas.microsoft.com/office/drawing/2014/main" val="871605687"/>
                    </a:ext>
                  </a:extLst>
                </a:gridCol>
                <a:gridCol w="3017520">
                  <a:extLst>
                    <a:ext uri="{9D8B030D-6E8A-4147-A177-3AD203B41FA5}">
                      <a16:colId xmlns:a16="http://schemas.microsoft.com/office/drawing/2014/main" val="1129845731"/>
                    </a:ext>
                  </a:extLst>
                </a:gridCol>
                <a:gridCol w="721895">
                  <a:extLst>
                    <a:ext uri="{9D8B030D-6E8A-4147-A177-3AD203B41FA5}">
                      <a16:colId xmlns:a16="http://schemas.microsoft.com/office/drawing/2014/main" val="1381748258"/>
                    </a:ext>
                  </a:extLst>
                </a:gridCol>
                <a:gridCol w="3108960">
                  <a:extLst>
                    <a:ext uri="{9D8B030D-6E8A-4147-A177-3AD203B41FA5}">
                      <a16:colId xmlns:a16="http://schemas.microsoft.com/office/drawing/2014/main" val="3837923658"/>
                    </a:ext>
                  </a:extLst>
                </a:gridCol>
                <a:gridCol w="721895">
                  <a:extLst>
                    <a:ext uri="{9D8B030D-6E8A-4147-A177-3AD203B41FA5}">
                      <a16:colId xmlns:a16="http://schemas.microsoft.com/office/drawing/2014/main" val="2197625001"/>
                    </a:ext>
                  </a:extLst>
                </a:gridCol>
              </a:tblGrid>
              <a:tr h="0">
                <a:tc gridSpan="6">
                  <a:txBody>
                    <a:bodyPr/>
                    <a:lstStyle/>
                    <a:p>
                      <a:pPr algn="ctr" fontAlgn="b">
                        <a:buNone/>
                      </a:pPr>
                      <a:r>
                        <a:rPr lang="en-US" sz="1400" b="1" i="0" u="none" strike="noStrike" dirty="0">
                          <a:solidFill>
                            <a:schemeClr val="bg1"/>
                          </a:solidFill>
                          <a:effectLst/>
                          <a:latin typeface="Arial" panose="020B0604020202020204" pitchFamily="34" charset="0"/>
                        </a:rPr>
                        <a:t>Category Drivers- Top 10 by Category</a:t>
                      </a:r>
                    </a:p>
                    <a:p>
                      <a:pPr algn="ctr" fontAlgn="b">
                        <a:buNone/>
                      </a:pPr>
                      <a:r>
                        <a:rPr lang="en-US" sz="1400" b="0" i="0" u="none" strike="noStrike" dirty="0">
                          <a:solidFill>
                            <a:schemeClr val="bg1"/>
                          </a:solidFill>
                          <a:effectLst/>
                          <a:latin typeface="Arial" panose="020B0604020202020204" pitchFamily="34" charset="0"/>
                        </a:rPr>
                        <a:t>(% “very important” among once/week+ category users)</a:t>
                      </a: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gridSpan="2">
                  <a:txBody>
                    <a:bodyPr/>
                    <a:lstStyle/>
                    <a:p>
                      <a:pPr algn="ctr" fontAlgn="b">
                        <a:buNone/>
                      </a:pPr>
                      <a:r>
                        <a:rPr lang="en-US" sz="1400" b="1" u="none" strike="noStrike" dirty="0">
                          <a:effectLst/>
                        </a:rPr>
                        <a:t>Dietary Supplements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dirty="0"/>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2">
                  <a:txBody>
                    <a:bodyPr/>
                    <a:lstStyle/>
                    <a:p>
                      <a:pPr algn="ctr" fontAlgn="b">
                        <a:buNone/>
                      </a:pPr>
                      <a:r>
                        <a:rPr lang="en-US" sz="1400" b="1" u="none" strike="noStrike" dirty="0">
                          <a:effectLst/>
                        </a:rPr>
                        <a:t>Functional Foods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endParaRPr dirty="0"/>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2">
                  <a:txBody>
                    <a:bodyPr/>
                    <a:lstStyle/>
                    <a:p>
                      <a:pPr algn="ctr" fontAlgn="b">
                        <a:buNone/>
                      </a:pPr>
                      <a:r>
                        <a:rPr lang="en-US" sz="1400" b="1" u="none" strike="noStrike" dirty="0">
                          <a:effectLst/>
                        </a:rPr>
                        <a:t>Functional Beverages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endParaRPr dirty="0"/>
                    </a:p>
                  </a:txBody>
                  <a:tcPr marL="2958" marR="2958" marT="2958"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375285">
                <a:tc>
                  <a:txBody>
                    <a:bodyPr/>
                    <a:lstStyle/>
                    <a:p>
                      <a:pPr algn="l" fontAlgn="b">
                        <a:buNone/>
                      </a:pPr>
                      <a:r>
                        <a:rPr lang="en-US" sz="1100" b="0" i="0" u="none" strike="noStrike" dirty="0">
                          <a:effectLst/>
                          <a:latin typeface="Arial" panose="020B0604020202020204" pitchFamily="34" charset="0"/>
                        </a:rPr>
                        <a:t>Causes no negative side effects/reactions</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l" fontAlgn="b">
                        <a:buNone/>
                      </a:pPr>
                      <a:r>
                        <a:rPr lang="en-US" sz="1100" b="0" i="0" u="none" strike="noStrike" dirty="0">
                          <a:effectLst/>
                          <a:latin typeface="Arial" panose="020B0604020202020204" pitchFamily="34" charset="0"/>
                        </a:rPr>
                        <a:t>Causes no negative side effects/reactions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l" fontAlgn="b">
                        <a:buNone/>
                      </a:pPr>
                      <a:r>
                        <a:rPr lang="en-US" sz="1100" b="0" i="0" u="none" strike="noStrike" dirty="0">
                          <a:effectLst/>
                          <a:latin typeface="Arial" panose="020B0604020202020204" pitchFamily="34" charset="0"/>
                        </a:rPr>
                        <a:t>Causes no negative side effects/reactions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375285">
                <a:tc>
                  <a:txBody>
                    <a:bodyPr/>
                    <a:lstStyle/>
                    <a:p>
                      <a:pPr algn="l" fontAlgn="b">
                        <a:buNone/>
                      </a:pPr>
                      <a:r>
                        <a:rPr lang="en-US" sz="1100" b="0" i="0" u="none" strike="noStrike" dirty="0">
                          <a:effectLst/>
                          <a:latin typeface="Arial" panose="020B0604020202020204" pitchFamily="34" charset="0"/>
                        </a:rPr>
                        <a:t>Delivers on claimed benefits</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Delivers on claimed benefits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Has a good taste</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08762513"/>
                  </a:ext>
                </a:extLst>
              </a:tr>
              <a:tr h="375285">
                <a:tc>
                  <a:txBody>
                    <a:bodyPr/>
                    <a:lstStyle/>
                    <a:p>
                      <a:pPr algn="l" fontAlgn="b">
                        <a:buNone/>
                      </a:pPr>
                      <a:r>
                        <a:rPr lang="en-US" sz="1100" b="0" i="0" u="none" strike="noStrike" dirty="0">
                          <a:effectLst/>
                          <a:latin typeface="Arial" panose="020B0604020202020204" pitchFamily="34" charset="0"/>
                        </a:rPr>
                        <a:t>Made with high quality ingredients</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Made with high quality ingredients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Made with high quality ingredients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66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229445550"/>
                  </a:ext>
                </a:extLst>
              </a:tr>
              <a:tr h="375285">
                <a:tc>
                  <a:txBody>
                    <a:bodyPr/>
                    <a:lstStyle/>
                    <a:p>
                      <a:pPr algn="l" fontAlgn="b">
                        <a:buNone/>
                      </a:pPr>
                      <a:r>
                        <a:rPr lang="en-US" sz="1100" b="0" i="0" u="none" strike="noStrike" dirty="0">
                          <a:effectLst/>
                          <a:latin typeface="Arial" panose="020B0604020202020204" pitchFamily="34" charset="0"/>
                        </a:rPr>
                        <a:t>Has proven, science-backed claims</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Has a good taste</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Delivers on claimed benefits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582629608"/>
                  </a:ext>
                </a:extLst>
              </a:tr>
              <a:tr h="375285">
                <a:tc>
                  <a:txBody>
                    <a:bodyPr/>
                    <a:lstStyle/>
                    <a:p>
                      <a:pPr algn="l" fontAlgn="b">
                        <a:buNone/>
                      </a:pPr>
                      <a:r>
                        <a:rPr lang="en-US" sz="1100" b="0" i="0" u="none" strike="noStrike" dirty="0">
                          <a:effectLst/>
                          <a:latin typeface="Arial" panose="020B0604020202020204" pitchFamily="34" charset="0"/>
                        </a:rPr>
                        <a:t>Is a good value for the money</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Made with clean, simple ingredients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Is a good value for the money</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60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924444937"/>
                  </a:ext>
                </a:extLst>
              </a:tr>
              <a:tr h="375285">
                <a:tc>
                  <a:txBody>
                    <a:bodyPr/>
                    <a:lstStyle/>
                    <a:p>
                      <a:pPr algn="l" fontAlgn="b">
                        <a:buNone/>
                      </a:pPr>
                      <a:r>
                        <a:rPr lang="en-US" sz="1100" b="0" i="0" u="none" strike="noStrike" dirty="0">
                          <a:effectLst/>
                          <a:latin typeface="Arial" panose="020B0604020202020204" pitchFamily="34" charset="0"/>
                        </a:rPr>
                        <a:t>Transparent about ingredients and sourcing</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Transparent about ingredients and sourcing</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Transparent about ingredients and sourcing</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79102277"/>
                  </a:ext>
                </a:extLst>
              </a:tr>
              <a:tr h="375285">
                <a:tc>
                  <a:txBody>
                    <a:bodyPr/>
                    <a:lstStyle/>
                    <a:p>
                      <a:pPr algn="l" fontAlgn="b">
                        <a:buNone/>
                      </a:pPr>
                      <a:r>
                        <a:rPr lang="en-US" sz="1100" b="0" i="0" u="none" strike="noStrike" dirty="0">
                          <a:effectLst/>
                          <a:latin typeface="Arial" panose="020B0604020202020204" pitchFamily="34" charset="0"/>
                        </a:rPr>
                        <a:t>Comes in easy-to-consume formats</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rPr>
                        <a:t>57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l" fontAlgn="b">
                        <a:buNone/>
                      </a:pPr>
                      <a:r>
                        <a:rPr lang="en-US" sz="1100" b="0" i="0" u="none" strike="noStrike" dirty="0">
                          <a:effectLst/>
                          <a:latin typeface="Arial" panose="020B0604020202020204" pitchFamily="34" charset="0"/>
                        </a:rPr>
                        <a:t>Is a good value for the money</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60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Made with clean, simple ingredients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93174655"/>
                  </a:ext>
                </a:extLst>
              </a:tr>
              <a:tr h="375285">
                <a:tc>
                  <a:txBody>
                    <a:bodyPr/>
                    <a:lstStyle/>
                    <a:p>
                      <a:pPr algn="l" fontAlgn="b">
                        <a:buNone/>
                      </a:pPr>
                      <a:r>
                        <a:rPr lang="en-US" sz="1100" b="0" i="0" u="none" strike="noStrike" dirty="0">
                          <a:effectLst/>
                          <a:latin typeface="Arial" panose="020B0604020202020204" pitchFamily="34" charset="0"/>
                        </a:rPr>
                        <a:t>Easily fits into my health and wellness routine</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Easily fits into my health and wellness routine</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Provides an impact I can see or feel</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816618863"/>
                  </a:ext>
                </a:extLst>
              </a:tr>
              <a:tr h="375285">
                <a:tc>
                  <a:txBody>
                    <a:bodyPr/>
                    <a:lstStyle/>
                    <a:p>
                      <a:pPr algn="l" fontAlgn="b">
                        <a:buNone/>
                      </a:pPr>
                      <a:r>
                        <a:rPr lang="en-US" sz="1100" b="0" i="0" u="none" strike="noStrike" dirty="0">
                          <a:effectLst/>
                          <a:latin typeface="Arial" panose="020B0604020202020204" pitchFamily="34" charset="0"/>
                        </a:rPr>
                        <a:t>Provides an impact I can see or feel</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Provides an impact I can see or feel</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Has proven, science-backed claims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109282528"/>
                  </a:ext>
                </a:extLst>
              </a:tr>
              <a:tr h="375285">
                <a:tc>
                  <a:txBody>
                    <a:bodyPr/>
                    <a:lstStyle/>
                    <a:p>
                      <a:pPr algn="l" fontAlgn="b">
                        <a:buNone/>
                      </a:pPr>
                      <a:r>
                        <a:rPr lang="en-US" sz="1100" b="0" i="0" u="none" strike="noStrike" dirty="0">
                          <a:effectLst/>
                          <a:latin typeface="Arial" panose="020B0604020202020204" pitchFamily="34" charset="0"/>
                        </a:rPr>
                        <a:t>Made with clean, simple ingredients</a:t>
                      </a: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Has proven, science-backed claims</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Provides an enjoyable consumption experience</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649533206"/>
                  </a:ext>
                </a:extLst>
              </a:tr>
              <a:tr h="375285">
                <a:tc>
                  <a:txBody>
                    <a:bodyPr/>
                    <a:lstStyle/>
                    <a:p>
                      <a:pPr algn="l" fontAlgn="b">
                        <a:buNone/>
                      </a:pPr>
                      <a:endParaRPr lang="en-US" sz="1100" b="0" i="0" u="none" strike="noStrike" dirty="0">
                        <a:effectLst/>
                        <a:latin typeface="Arial" panose="020B0604020202020204" pitchFamily="34" charset="0"/>
                      </a:endParaRPr>
                    </a:p>
                  </a:txBody>
                  <a:tcPr marL="1143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r" fontAlgn="b">
                        <a:buNone/>
                      </a:pPr>
                      <a:endParaRPr lang="en-US" sz="11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endParaRPr lang="en-US" sz="1100" b="0" i="0" u="none" strike="noStrike" dirty="0">
                        <a:effectLst/>
                        <a:latin typeface="Arial" panose="020B0604020202020204" pitchFamily="34" charset="0"/>
                      </a:endParaRP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r" fontAlgn="b">
                        <a:buNone/>
                      </a:pPr>
                      <a:endParaRPr lang="en-US" sz="11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Easily fits into my health and wellness routine</a:t>
                      </a:r>
                    </a:p>
                  </a:txBody>
                  <a:tcPr marL="114300"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088232375"/>
                  </a:ext>
                </a:extLst>
              </a:tr>
            </a:tbl>
          </a:graphicData>
        </a:graphic>
      </p:graphicFrame>
      <p:sp>
        <p:nvSpPr>
          <p:cNvPr id="3" name="TextBox 2">
            <a:extLst>
              <a:ext uri="{FF2B5EF4-FFF2-40B4-BE49-F238E27FC236}">
                <a16:creationId xmlns:a16="http://schemas.microsoft.com/office/drawing/2014/main" id="{C02B3BCC-41E1-A8D0-83FA-86D20B2F20AF}"/>
              </a:ext>
            </a:extLst>
          </p:cNvPr>
          <p:cNvSpPr txBox="1"/>
          <p:nvPr/>
        </p:nvSpPr>
        <p:spPr>
          <a:xfrm>
            <a:off x="72333" y="6459785"/>
            <a:ext cx="9807786" cy="246221"/>
          </a:xfrm>
          <a:prstGeom prst="rect">
            <a:avLst/>
          </a:prstGeom>
          <a:noFill/>
        </p:spPr>
        <p:txBody>
          <a:bodyPr wrap="square" rtlCol="0">
            <a:spAutoFit/>
          </a:bodyPr>
          <a:lstStyle/>
          <a:p>
            <a:pPr lvl="0">
              <a:defRPr/>
            </a:pPr>
            <a:r>
              <a:rPr lang="en-US" sz="1000" i="1" dirty="0">
                <a:solidFill>
                  <a:srgbClr val="000000"/>
                </a:solidFill>
              </a:rPr>
              <a:t>C9. How important are each of the following attributes when purchasing &lt;INSERT HOLD CATEGORY&gt;?</a:t>
            </a:r>
            <a:endParaRPr lang="en-US" sz="100" i="1" dirty="0">
              <a:solidFill>
                <a:srgbClr val="000000"/>
              </a:solidFill>
            </a:endParaRPr>
          </a:p>
        </p:txBody>
      </p:sp>
      <p:graphicFrame>
        <p:nvGraphicFramePr>
          <p:cNvPr id="4" name="Table 3">
            <a:extLst>
              <a:ext uri="{FF2B5EF4-FFF2-40B4-BE49-F238E27FC236}">
                <a16:creationId xmlns:a16="http://schemas.microsoft.com/office/drawing/2014/main" id="{0F399E78-AC0B-3CF6-C672-2FFD1CCF3D2B}"/>
              </a:ext>
            </a:extLst>
          </p:cNvPr>
          <p:cNvGraphicFramePr>
            <a:graphicFrameLocks noGrp="1"/>
          </p:cNvGraphicFramePr>
          <p:nvPr>
            <p:extLst>
              <p:ext uri="{D42A27DB-BD31-4B8C-83A1-F6EECF244321}">
                <p14:modId xmlns:p14="http://schemas.microsoft.com/office/powerpoint/2010/main" val="1499224772"/>
              </p:ext>
            </p:extLst>
          </p:nvPr>
        </p:nvGraphicFramePr>
        <p:xfrm>
          <a:off x="5792340" y="6446851"/>
          <a:ext cx="5827731" cy="246221"/>
        </p:xfrm>
        <a:graphic>
          <a:graphicData uri="http://schemas.openxmlformats.org/drawingml/2006/table">
            <a:tbl>
              <a:tblPr firstRow="1" bandRow="1">
                <a:tableStyleId>{5C22544A-7EE6-4342-B048-85BDC9FD1C3A}</a:tableStyleId>
              </a:tblPr>
              <a:tblGrid>
                <a:gridCol w="693166">
                  <a:extLst>
                    <a:ext uri="{9D8B030D-6E8A-4147-A177-3AD203B41FA5}">
                      <a16:colId xmlns:a16="http://schemas.microsoft.com/office/drawing/2014/main" val="541657535"/>
                    </a:ext>
                  </a:extLst>
                </a:gridCol>
                <a:gridCol w="5134565">
                  <a:extLst>
                    <a:ext uri="{9D8B030D-6E8A-4147-A177-3AD203B41FA5}">
                      <a16:colId xmlns:a16="http://schemas.microsoft.com/office/drawing/2014/main" val="2075929015"/>
                    </a:ext>
                  </a:extLst>
                </a:gridCol>
              </a:tblGrid>
              <a:tr h="246221">
                <a:tc>
                  <a:txBody>
                    <a:bodyPr/>
                    <a:lstStyle/>
                    <a:p>
                      <a:endParaRPr lang="en-US" sz="1000" dirty="0"/>
                    </a:p>
                  </a:txBody>
                  <a:tcPr>
                    <a:solidFill>
                      <a:schemeClr val="tx2">
                        <a:lumMod val="20000"/>
                        <a:lumOff val="80000"/>
                      </a:schemeClr>
                    </a:solidFill>
                  </a:tcPr>
                </a:tc>
                <a:tc>
                  <a:txBody>
                    <a:bodyPr/>
                    <a:lstStyle/>
                    <a:p>
                      <a:r>
                        <a:rPr lang="en-US" sz="1000" b="0" i="1" dirty="0">
                          <a:solidFill>
                            <a:schemeClr val="tx1"/>
                          </a:solidFill>
                        </a:rPr>
                        <a:t>Indicates that the driver appears in the Top 10 for that category, but not for the other two</a:t>
                      </a:r>
                    </a:p>
                  </a:txBody>
                  <a:tcPr>
                    <a:noFill/>
                  </a:tcPr>
                </a:tc>
                <a:extLst>
                  <a:ext uri="{0D108BD9-81ED-4DB2-BD59-A6C34878D82A}">
                    <a16:rowId xmlns:a16="http://schemas.microsoft.com/office/drawing/2014/main" val="2006873653"/>
                  </a:ext>
                </a:extLst>
              </a:tr>
            </a:tbl>
          </a:graphicData>
        </a:graphic>
      </p:graphicFrame>
      <p:sp>
        <p:nvSpPr>
          <p:cNvPr id="5" name="TextBox 4">
            <a:extLst>
              <a:ext uri="{FF2B5EF4-FFF2-40B4-BE49-F238E27FC236}">
                <a16:creationId xmlns:a16="http://schemas.microsoft.com/office/drawing/2014/main" id="{127B917D-CECE-658C-5D7D-C858617321D3}"/>
              </a:ext>
            </a:extLst>
          </p:cNvPr>
          <p:cNvSpPr txBox="1"/>
          <p:nvPr/>
        </p:nvSpPr>
        <p:spPr>
          <a:xfrm>
            <a:off x="357774" y="849163"/>
            <a:ext cx="11077363" cy="892552"/>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Easy-to-consume formats is higher on the list for supplements, while an enjoyable consumption experience is higher on the list for Functional Beverages</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kumimoji="0" lang="en-US" sz="20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2463193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BCF46C39-6F6C-86E7-2912-BD7F7B5EE5FA}"/>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BDCD023D-12E5-033C-31B7-6FC20E399134}"/>
              </a:ext>
            </a:extLst>
          </p:cNvPr>
          <p:cNvSpPr txBox="1">
            <a:spLocks/>
          </p:cNvSpPr>
          <p:nvPr/>
        </p:nvSpPr>
        <p:spPr>
          <a:xfrm>
            <a:off x="528886" y="651556"/>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Foods are most likely to be substituted for supplements</a:t>
            </a:r>
          </a:p>
        </p:txBody>
      </p:sp>
      <p:sp>
        <p:nvSpPr>
          <p:cNvPr id="73" name="TextBox 72">
            <a:extLst>
              <a:ext uri="{FF2B5EF4-FFF2-40B4-BE49-F238E27FC236}">
                <a16:creationId xmlns:a16="http://schemas.microsoft.com/office/drawing/2014/main" id="{C1FA4B63-DC40-D637-1CD9-47FF9B110187}"/>
              </a:ext>
            </a:extLst>
          </p:cNvPr>
          <p:cNvSpPr txBox="1"/>
          <p:nvPr/>
        </p:nvSpPr>
        <p:spPr>
          <a:xfrm>
            <a:off x="92672" y="6083333"/>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C10. Which of the following products, if any, might you choose instead to meet the same needs as &lt;INSERT HOLD.CATEGORY&gt; </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BD610874-54D6-D33F-8BAF-1BE8B92083E0}"/>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0AD041D9-EF9F-8DA5-E0A3-E5A58C21834A}"/>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4" name="Chart 3">
            <a:extLst>
              <a:ext uri="{FF2B5EF4-FFF2-40B4-BE49-F238E27FC236}">
                <a16:creationId xmlns:a16="http://schemas.microsoft.com/office/drawing/2014/main" id="{A8E328E3-23F3-E577-6F4A-CD62EA9F919F}"/>
              </a:ext>
            </a:extLst>
          </p:cNvPr>
          <p:cNvGraphicFramePr/>
          <p:nvPr>
            <p:extLst>
              <p:ext uri="{D42A27DB-BD31-4B8C-83A1-F6EECF244321}">
                <p14:modId xmlns:p14="http://schemas.microsoft.com/office/powerpoint/2010/main" val="1724882437"/>
              </p:ext>
            </p:extLst>
          </p:nvPr>
        </p:nvGraphicFramePr>
        <p:xfrm>
          <a:off x="-1713332" y="2232019"/>
          <a:ext cx="7465887" cy="397442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1B5F56BF-3DC5-DBB2-4FCF-69E8CC3C9D1A}"/>
              </a:ext>
            </a:extLst>
          </p:cNvPr>
          <p:cNvSpPr txBox="1"/>
          <p:nvPr/>
        </p:nvSpPr>
        <p:spPr>
          <a:xfrm>
            <a:off x="576832" y="1330570"/>
            <a:ext cx="10351446" cy="738664"/>
          </a:xfrm>
          <a:prstGeom prst="rect">
            <a:avLst/>
          </a:prstGeom>
          <a:noFill/>
        </p:spPr>
        <p:txBody>
          <a:bodyPr wrap="square" rtlCol="0">
            <a:spAutoFit/>
          </a:bodyPr>
          <a:lstStyle/>
          <a:p>
            <a:pPr marL="285750" marR="0" lvl="0" indent="-285750" algn="l" defTabSz="457200" rtl="0" eaLnBrk="1" fontAlgn="auto" latinLnBrk="0" hangingPunct="1">
              <a:lnSpc>
                <a:spcPct val="100000"/>
              </a:lnSpc>
              <a:spcAft>
                <a:spcPts val="0"/>
              </a:spcAft>
              <a:buClrTx/>
              <a:buSzTx/>
              <a:buFont typeface="Arial" panose="020B0604020202020204" pitchFamily="34" charset="0"/>
              <a:buChar char="•"/>
              <a:tabLst/>
              <a:defRPr/>
            </a:pPr>
            <a:r>
              <a:rPr lang="en-US" sz="1400" dirty="0">
                <a:solidFill>
                  <a:srgbClr val="BD582C"/>
                </a:solidFill>
                <a:latin typeface="Calibri Light" panose="020F0302020204030204"/>
              </a:rPr>
              <a:t>Foods with naturally occurring benefits are the most likely substitutes for Supplements, followed by functional foods and beverages</a:t>
            </a:r>
          </a:p>
          <a:p>
            <a:pPr marL="285750" marR="0" lvl="0" indent="-285750" algn="l" defTabSz="457200" rtl="0" eaLnBrk="1" fontAlgn="auto" latinLnBrk="0" hangingPunct="1">
              <a:lnSpc>
                <a:spcPct val="100000"/>
              </a:lnSpc>
              <a:spcAft>
                <a:spcPts val="0"/>
              </a:spcAft>
              <a:buClrTx/>
              <a:buSzTx/>
              <a:buFont typeface="Arial" panose="020B0604020202020204" pitchFamily="34" charset="0"/>
              <a:buChar char="•"/>
              <a:tabLst/>
              <a:defRPr/>
            </a:pPr>
            <a:r>
              <a:rPr lang="en-US" sz="1400" dirty="0">
                <a:solidFill>
                  <a:srgbClr val="BD582C"/>
                </a:solidFill>
                <a:latin typeface="Calibri Light" panose="020F0302020204030204"/>
              </a:rPr>
              <a:t>A third of Supplement Category Users would turn to over-the-counter medications for similar benefits</a:t>
            </a:r>
          </a:p>
          <a:p>
            <a:pPr marL="742950" lvl="1" indent="-285750">
              <a:buFont typeface="Arial" panose="020B0604020202020204" pitchFamily="34" charset="0"/>
              <a:buChar char="•"/>
              <a:defRPr/>
            </a:pPr>
            <a:r>
              <a:rPr lang="en-US" sz="1400" dirty="0">
                <a:solidFill>
                  <a:srgbClr val="BD582C"/>
                </a:solidFill>
                <a:latin typeface="Calibri Light" panose="020F0302020204030204"/>
              </a:rPr>
              <a:t>Medications are more likely substitutes for Supplements vs. the other two categories</a:t>
            </a:r>
          </a:p>
        </p:txBody>
      </p:sp>
      <p:graphicFrame>
        <p:nvGraphicFramePr>
          <p:cNvPr id="3" name="Table 2">
            <a:extLst>
              <a:ext uri="{FF2B5EF4-FFF2-40B4-BE49-F238E27FC236}">
                <a16:creationId xmlns:a16="http://schemas.microsoft.com/office/drawing/2014/main" id="{F011AD57-CDD6-883F-3403-BA8097033931}"/>
              </a:ext>
            </a:extLst>
          </p:cNvPr>
          <p:cNvGraphicFramePr>
            <a:graphicFrameLocks noGrp="1"/>
          </p:cNvGraphicFramePr>
          <p:nvPr>
            <p:extLst>
              <p:ext uri="{D42A27DB-BD31-4B8C-83A1-F6EECF244321}">
                <p14:modId xmlns:p14="http://schemas.microsoft.com/office/powerpoint/2010/main" val="1390876125"/>
              </p:ext>
            </p:extLst>
          </p:nvPr>
        </p:nvGraphicFramePr>
        <p:xfrm>
          <a:off x="6179166" y="2513034"/>
          <a:ext cx="5486400" cy="3318462"/>
        </p:xfrm>
        <a:graphic>
          <a:graphicData uri="http://schemas.openxmlformats.org/drawingml/2006/table">
            <a:tbl>
              <a:tblPr>
                <a:tableStyleId>{3B4B98B0-60AC-42C2-AFA5-B58CD77FA1E5}</a:tableStyleId>
              </a:tblPr>
              <a:tblGrid>
                <a:gridCol w="2743200">
                  <a:extLst>
                    <a:ext uri="{9D8B030D-6E8A-4147-A177-3AD203B41FA5}">
                      <a16:colId xmlns:a16="http://schemas.microsoft.com/office/drawing/2014/main" val="4107426551"/>
                    </a:ext>
                  </a:extLst>
                </a:gridCol>
                <a:gridCol w="914400">
                  <a:extLst>
                    <a:ext uri="{9D8B030D-6E8A-4147-A177-3AD203B41FA5}">
                      <a16:colId xmlns:a16="http://schemas.microsoft.com/office/drawing/2014/main" val="871605687"/>
                    </a:ext>
                  </a:extLst>
                </a:gridCol>
                <a:gridCol w="914400">
                  <a:extLst>
                    <a:ext uri="{9D8B030D-6E8A-4147-A177-3AD203B41FA5}">
                      <a16:colId xmlns:a16="http://schemas.microsoft.com/office/drawing/2014/main" val="1381748258"/>
                    </a:ext>
                  </a:extLst>
                </a:gridCol>
                <a:gridCol w="914400">
                  <a:extLst>
                    <a:ext uri="{9D8B030D-6E8A-4147-A177-3AD203B41FA5}">
                      <a16:colId xmlns:a16="http://schemas.microsoft.com/office/drawing/2014/main" val="2197625001"/>
                    </a:ext>
                  </a:extLst>
                </a:gridCol>
              </a:tblGrid>
              <a:tr h="0">
                <a:tc gridSpan="4">
                  <a:txBody>
                    <a:bodyPr/>
                    <a:lstStyle/>
                    <a:p>
                      <a:pPr algn="ctr" fontAlgn="b">
                        <a:buNone/>
                      </a:pPr>
                      <a:r>
                        <a:rPr lang="en-US" sz="1200" b="1" i="0" u="none" strike="noStrike" dirty="0">
                          <a:solidFill>
                            <a:schemeClr val="bg1"/>
                          </a:solidFill>
                          <a:effectLst/>
                          <a:latin typeface="Arial" panose="020B0604020202020204" pitchFamily="34" charset="0"/>
                        </a:rPr>
                        <a:t>Category Substitutes</a:t>
                      </a:r>
                    </a:p>
                    <a:p>
                      <a:pPr algn="ctr" fontAlgn="b">
                        <a:buNone/>
                      </a:pPr>
                      <a:r>
                        <a:rPr lang="en-US" sz="1200" b="0" i="0" u="none" strike="noStrike" dirty="0">
                          <a:solidFill>
                            <a:schemeClr val="bg1"/>
                          </a:solidFill>
                          <a:effectLst/>
                          <a:latin typeface="Arial" panose="020B0604020202020204" pitchFamily="34" charset="0"/>
                        </a:rPr>
                        <a:t>(% of once/week+ category users)</a:t>
                      </a: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368718">
                <a:tc>
                  <a:txBody>
                    <a:bodyPr/>
                    <a:lstStyle/>
                    <a:p>
                      <a:pPr algn="l" fontAlgn="b">
                        <a:buNone/>
                      </a:pPr>
                      <a:endParaRPr lang="en-US" sz="105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100" b="1" u="none" strike="noStrike" dirty="0">
                          <a:effectLst/>
                        </a:rPr>
                        <a:t>Dietary Supplements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u="none" strike="noStrike" dirty="0">
                          <a:effectLst/>
                        </a:rPr>
                        <a:t>Functional Foods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u="none" strike="noStrike" dirty="0">
                          <a:effectLst/>
                        </a:rPr>
                        <a:t>Functional Beverages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368718">
                <a:tc>
                  <a:txBody>
                    <a:bodyPr/>
                    <a:lstStyle/>
                    <a:p>
                      <a:pPr algn="l" fontAlgn="b">
                        <a:buNone/>
                      </a:pPr>
                      <a:r>
                        <a:rPr lang="en-US" sz="1100" u="none" strike="noStrike" dirty="0">
                          <a:effectLst/>
                        </a:rPr>
                        <a:t>Foods with naturally occurring benefits</a:t>
                      </a:r>
                      <a:endParaRPr lang="en-US" sz="1100" b="0" i="0" u="none" strike="noStrike" dirty="0">
                        <a:effectLst/>
                        <a:latin typeface="Arial" panose="020B0604020202020204" pitchFamily="34" charset="0"/>
                      </a:endParaRPr>
                    </a:p>
                  </a:txBody>
                  <a:tcPr marL="89064" marR="7422" marT="7422"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u="none" strike="noStrike" dirty="0">
                          <a:effectLst/>
                        </a:rPr>
                        <a:t>65</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u="none" strike="noStrike" dirty="0">
                          <a:effectLst/>
                        </a:rPr>
                        <a:t>66</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u="none" strike="noStrike" dirty="0">
                          <a:effectLst/>
                        </a:rPr>
                        <a:t>58</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368718">
                <a:tc>
                  <a:txBody>
                    <a:bodyPr/>
                    <a:lstStyle/>
                    <a:p>
                      <a:pPr marL="0" algn="l" defTabSz="914400" rtl="0" eaLnBrk="1" fontAlgn="b" latinLnBrk="0" hangingPunct="1">
                        <a:buNone/>
                      </a:pPr>
                      <a:r>
                        <a:rPr lang="en-US" sz="1100" u="none" strike="noStrike" kern="1200" dirty="0">
                          <a:solidFill>
                            <a:schemeClr val="tx1"/>
                          </a:solidFill>
                          <a:effectLst/>
                          <a:latin typeface="+mn-lt"/>
                          <a:ea typeface="+mn-ea"/>
                          <a:cs typeface="+mn-cs"/>
                        </a:rPr>
                        <a:t>Dietary supplements</a:t>
                      </a:r>
                    </a:p>
                  </a:txBody>
                  <a:tcPr marL="89064" marR="7422" marT="7422"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a:t>
                      </a: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marL="0" algn="ctr" defTabSz="914400" rtl="0" eaLnBrk="1" fontAlgn="b" latinLnBrk="0" hangingPunct="1">
                        <a:buNone/>
                      </a:pPr>
                      <a:r>
                        <a:rPr lang="en-US" sz="1100" u="none" strike="noStrike" kern="1200" dirty="0">
                          <a:solidFill>
                            <a:schemeClr val="tx1"/>
                          </a:solidFill>
                          <a:effectLst/>
                          <a:latin typeface="+mn-lt"/>
                          <a:ea typeface="+mn-ea"/>
                          <a:cs typeface="+mn-cs"/>
                        </a:rPr>
                        <a:t>60</a:t>
                      </a: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marL="0" algn="ctr" defTabSz="914400" rtl="0" eaLnBrk="1" fontAlgn="b" latinLnBrk="0" hangingPunct="1">
                        <a:buNone/>
                      </a:pPr>
                      <a:r>
                        <a:rPr lang="en-US" sz="1100" u="none" strike="noStrike" kern="1200" dirty="0">
                          <a:solidFill>
                            <a:schemeClr val="tx1"/>
                          </a:solidFill>
                          <a:effectLst/>
                          <a:latin typeface="+mn-lt"/>
                          <a:ea typeface="+mn-ea"/>
                          <a:cs typeface="+mn-cs"/>
                        </a:rPr>
                        <a:t>62</a:t>
                      </a:r>
                    </a:p>
                  </a:txBody>
                  <a:tcPr marL="7422" marR="7422" marT="7422"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44356063"/>
                  </a:ext>
                </a:extLst>
              </a:tr>
              <a:tr h="368718">
                <a:tc>
                  <a:txBody>
                    <a:bodyPr/>
                    <a:lstStyle/>
                    <a:p>
                      <a:pPr marL="0" algn="l" defTabSz="914400" rtl="0" eaLnBrk="1" fontAlgn="b" latinLnBrk="0" hangingPunct="1">
                        <a:buNone/>
                      </a:pPr>
                      <a:r>
                        <a:rPr lang="en-US" sz="1100" u="none" strike="noStrike" kern="1200" dirty="0">
                          <a:solidFill>
                            <a:schemeClr val="tx1"/>
                          </a:solidFill>
                          <a:effectLst/>
                          <a:latin typeface="+mn-lt"/>
                          <a:ea typeface="+mn-ea"/>
                          <a:cs typeface="+mn-cs"/>
                        </a:rPr>
                        <a:t>Functional foods</a:t>
                      </a:r>
                    </a:p>
                  </a:txBody>
                  <a:tcPr marL="89064" marR="7422" marT="7422"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58</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a:t>
                      </a: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64</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608762513"/>
                  </a:ext>
                </a:extLst>
              </a:tr>
              <a:tr h="368718">
                <a:tc>
                  <a:txBody>
                    <a:bodyPr/>
                    <a:lstStyle/>
                    <a:p>
                      <a:pPr algn="l" fontAlgn="b">
                        <a:buNone/>
                      </a:pPr>
                      <a:r>
                        <a:rPr lang="en-US" sz="1100" u="none" strike="noStrike" dirty="0">
                          <a:effectLst/>
                        </a:rPr>
                        <a:t>Functional beverages</a:t>
                      </a:r>
                      <a:endParaRPr lang="en-US" sz="1100" b="0" i="0" u="none" strike="noStrike" dirty="0">
                        <a:effectLst/>
                        <a:latin typeface="Arial" panose="020B0604020202020204" pitchFamily="34" charset="0"/>
                      </a:endParaRPr>
                    </a:p>
                  </a:txBody>
                  <a:tcPr marL="89064" marR="7422" marT="7422"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52</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61</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229445550"/>
                  </a:ext>
                </a:extLst>
              </a:tr>
              <a:tr h="368718">
                <a:tc>
                  <a:txBody>
                    <a:bodyPr/>
                    <a:lstStyle/>
                    <a:p>
                      <a:pPr algn="l" fontAlgn="b">
                        <a:buNone/>
                      </a:pPr>
                      <a:r>
                        <a:rPr lang="en-US" sz="1100" u="none" strike="noStrike" dirty="0">
                          <a:effectLst/>
                        </a:rPr>
                        <a:t>Beverages with naturally occurring benefits</a:t>
                      </a:r>
                      <a:endParaRPr lang="en-US" sz="1100" b="0" i="0" u="none" strike="noStrike" dirty="0">
                        <a:effectLst/>
                        <a:latin typeface="Arial" panose="020B0604020202020204" pitchFamily="34" charset="0"/>
                      </a:endParaRPr>
                    </a:p>
                  </a:txBody>
                  <a:tcPr marL="89064" marR="7422" marT="7422"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44</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53</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72</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582629608"/>
                  </a:ext>
                </a:extLst>
              </a:tr>
              <a:tr h="368718">
                <a:tc>
                  <a:txBody>
                    <a:bodyPr/>
                    <a:lstStyle/>
                    <a:p>
                      <a:pPr algn="l" fontAlgn="b">
                        <a:buNone/>
                      </a:pPr>
                      <a:r>
                        <a:rPr lang="en-US" sz="1100" u="none" strike="noStrike" dirty="0">
                          <a:effectLst/>
                        </a:rPr>
                        <a:t>Over-the-counter medications</a:t>
                      </a:r>
                      <a:endParaRPr lang="en-US" sz="1100" b="0" i="0" u="none" strike="noStrike" dirty="0">
                        <a:effectLst/>
                        <a:latin typeface="Arial" panose="020B0604020202020204" pitchFamily="34" charset="0"/>
                      </a:endParaRPr>
                    </a:p>
                  </a:txBody>
                  <a:tcPr marL="89064" marR="7422" marT="7422"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33</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25</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21</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924444937"/>
                  </a:ext>
                </a:extLst>
              </a:tr>
              <a:tr h="368718">
                <a:tc>
                  <a:txBody>
                    <a:bodyPr/>
                    <a:lstStyle/>
                    <a:p>
                      <a:pPr algn="l" fontAlgn="b">
                        <a:buNone/>
                      </a:pPr>
                      <a:r>
                        <a:rPr lang="en-US" sz="1100" u="none" strike="noStrike" dirty="0">
                          <a:effectLst/>
                        </a:rPr>
                        <a:t>Prescription medications</a:t>
                      </a:r>
                      <a:endParaRPr lang="en-US" sz="1100" b="0" i="0" u="none" strike="noStrike" dirty="0">
                        <a:effectLst/>
                        <a:latin typeface="Arial" panose="020B0604020202020204" pitchFamily="34" charset="0"/>
                      </a:endParaRPr>
                    </a:p>
                  </a:txBody>
                  <a:tcPr marL="89064" marR="7422" marT="7422"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27</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u="none" strike="noStrike" dirty="0">
                          <a:effectLst/>
                        </a:rPr>
                        <a:t>19</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u="none" strike="noStrike" dirty="0">
                          <a:effectLst/>
                        </a:rPr>
                        <a:t>18</a:t>
                      </a:r>
                      <a:endParaRPr lang="en-US" sz="1100" b="0" i="0" u="none" strike="noStrike" dirty="0">
                        <a:effectLst/>
                        <a:latin typeface="Arial" panose="020B0604020202020204" pitchFamily="34" charset="0"/>
                      </a:endParaRPr>
                    </a:p>
                  </a:txBody>
                  <a:tcPr marL="7422" marR="7422" marT="7422" marB="0" anchor="ctr">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79102277"/>
                  </a:ext>
                </a:extLst>
              </a:tr>
            </a:tbl>
          </a:graphicData>
        </a:graphic>
      </p:graphicFrame>
      <p:cxnSp>
        <p:nvCxnSpPr>
          <p:cNvPr id="5" name="Straight Connector 4">
            <a:extLst>
              <a:ext uri="{FF2B5EF4-FFF2-40B4-BE49-F238E27FC236}">
                <a16:creationId xmlns:a16="http://schemas.microsoft.com/office/drawing/2014/main" id="{43946A58-5347-B045-C5D3-06AAF0D7C31E}"/>
              </a:ext>
            </a:extLst>
          </p:cNvPr>
          <p:cNvCxnSpPr>
            <a:cxnSpLocks/>
          </p:cNvCxnSpPr>
          <p:nvPr/>
        </p:nvCxnSpPr>
        <p:spPr>
          <a:xfrm>
            <a:off x="5619965" y="2483856"/>
            <a:ext cx="0" cy="347075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1870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A9FBA792-C088-3151-E2B4-62DDEA4796D5}"/>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0934F97A-B70B-C567-FB34-F65131BA2DA6}"/>
              </a:ext>
            </a:extLst>
          </p:cNvPr>
          <p:cNvGraphicFramePr/>
          <p:nvPr>
            <p:extLst>
              <p:ext uri="{D42A27DB-BD31-4B8C-83A1-F6EECF244321}">
                <p14:modId xmlns:p14="http://schemas.microsoft.com/office/powerpoint/2010/main" val="2599167464"/>
              </p:ext>
            </p:extLst>
          </p:nvPr>
        </p:nvGraphicFramePr>
        <p:xfrm>
          <a:off x="869876" y="783262"/>
          <a:ext cx="10793236" cy="5546292"/>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4">
            <a:extLst>
              <a:ext uri="{FF2B5EF4-FFF2-40B4-BE49-F238E27FC236}">
                <a16:creationId xmlns:a16="http://schemas.microsoft.com/office/drawing/2014/main" id="{1504F43A-8C57-22A5-CEF4-A4530A8BC5D5}"/>
              </a:ext>
            </a:extLst>
          </p:cNvPr>
          <p:cNvSpPr txBox="1">
            <a:spLocks/>
          </p:cNvSpPr>
          <p:nvPr/>
        </p:nvSpPr>
        <p:spPr>
          <a:xfrm>
            <a:off x="528886" y="651556"/>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Expense is the top barrier to increased use of Supplements</a:t>
            </a:r>
          </a:p>
        </p:txBody>
      </p:sp>
      <p:sp>
        <p:nvSpPr>
          <p:cNvPr id="3" name="TextBox 2">
            <a:extLst>
              <a:ext uri="{FF2B5EF4-FFF2-40B4-BE49-F238E27FC236}">
                <a16:creationId xmlns:a16="http://schemas.microsoft.com/office/drawing/2014/main" id="{93E0DF54-3E50-D737-6938-87FCD9962EA9}"/>
              </a:ext>
            </a:extLst>
          </p:cNvPr>
          <p:cNvSpPr txBox="1"/>
          <p:nvPr/>
        </p:nvSpPr>
        <p:spPr>
          <a:xfrm>
            <a:off x="528885" y="1244519"/>
            <a:ext cx="10474735" cy="523220"/>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BD582C"/>
                </a:solidFill>
                <a:effectLst/>
                <a:uLnTx/>
                <a:uFillTx/>
                <a:latin typeface="Calibri Light" panose="020F0302020204030204"/>
                <a:ea typeface="+mn-ea"/>
                <a:cs typeface="+mn-cs"/>
              </a:rPr>
              <a:t>Just over a fifth of Supplement Category Users cite lack of tangible impact, negative side effects, lack of science-based claims, conflicting information, and questions about ingredient quality as barriers to increased use</a:t>
            </a:r>
          </a:p>
        </p:txBody>
      </p:sp>
      <p:sp>
        <p:nvSpPr>
          <p:cNvPr id="73" name="TextBox 72">
            <a:extLst>
              <a:ext uri="{FF2B5EF4-FFF2-40B4-BE49-F238E27FC236}">
                <a16:creationId xmlns:a16="http://schemas.microsoft.com/office/drawing/2014/main" id="{075490D9-5340-A331-5CC0-2BDF64B8BE58}"/>
              </a:ext>
            </a:extLst>
          </p:cNvPr>
          <p:cNvSpPr txBox="1"/>
          <p:nvPr/>
        </p:nvSpPr>
        <p:spPr>
          <a:xfrm>
            <a:off x="92672" y="6083333"/>
            <a:ext cx="9807786" cy="246221"/>
          </a:xfrm>
          <a:prstGeom prst="rect">
            <a:avLst/>
          </a:prstGeom>
          <a:noFill/>
        </p:spPr>
        <p:txBody>
          <a:bodyPr wrap="square" rtlCol="0">
            <a:spAutoFit/>
          </a:bodyPr>
          <a:lstStyle/>
          <a:p>
            <a:pPr lvl="0"/>
            <a:r>
              <a:rPr lang="en-US" sz="1000" i="1" dirty="0"/>
              <a:t>C11. Which, if any, of the following are significant barriers to you using &lt;INSERT HOLD.CATEGORY&gt; more frequently or to meet different needs? </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14D4088F-9173-D4DF-684D-94D81F990976}"/>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A330AE75-6D3C-D6CB-521C-9DECC1A15E1E}"/>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2FDC373D-51CD-49DB-4C8C-0B7C049C1D5F}"/>
              </a:ext>
            </a:extLst>
          </p:cNvPr>
          <p:cNvCxnSpPr>
            <a:cxnSpLocks/>
          </p:cNvCxnSpPr>
          <p:nvPr/>
        </p:nvCxnSpPr>
        <p:spPr>
          <a:xfrm>
            <a:off x="11003624" y="2106203"/>
            <a:ext cx="0" cy="211647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69803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AE422CC2-6BF8-B959-D6CB-47F5FEB7C9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F570DD-F278-221F-DA44-E1B2E8A0C73B}"/>
              </a:ext>
            </a:extLst>
          </p:cNvPr>
          <p:cNvSpPr txBox="1"/>
          <p:nvPr/>
        </p:nvSpPr>
        <p:spPr>
          <a:xfrm>
            <a:off x="559348" y="2322165"/>
            <a:ext cx="3328411" cy="2877711"/>
          </a:xfrm>
          <a:prstGeom prst="rect">
            <a:avLst/>
          </a:prstGeom>
          <a:noFill/>
        </p:spPr>
        <p:txBody>
          <a:bodyPr wrap="square" rtlCol="0">
            <a:spAutoFit/>
          </a:bodyPr>
          <a:lstStyle/>
          <a:p>
            <a:pPr marL="285750" indent="-285750">
              <a:spcBef>
                <a:spcPts val="600"/>
              </a:spcBef>
              <a:buFont typeface="Arial" panose="020B0604020202020204" pitchFamily="34" charset="0"/>
              <a:buChar char="•"/>
              <a:defRPr/>
            </a:pPr>
            <a:r>
              <a:rPr lang="en-US" sz="1600" dirty="0">
                <a:solidFill>
                  <a:srgbClr val="BD582C"/>
                </a:solidFill>
                <a:latin typeface="Calibri Light" panose="020F0302020204030204"/>
              </a:rPr>
              <a:t>Around a fifth of users of all three categories cite lack of tangible impact, negative side effects, lack of science-based claims, conflicting information, and questions about ingredient quality as barriers to increased use</a:t>
            </a:r>
            <a:br>
              <a:rPr lang="en-US" sz="1600" dirty="0">
                <a:solidFill>
                  <a:srgbClr val="BD582C"/>
                </a:solidFill>
                <a:latin typeface="Calibri Light" panose="020F0302020204030204"/>
              </a:rPr>
            </a:br>
            <a:endParaRPr lang="en-US" sz="1600" dirty="0">
              <a:solidFill>
                <a:srgbClr val="BD582C"/>
              </a:solidFill>
              <a:latin typeface="Calibri Light" panose="020F0302020204030204"/>
            </a:endParaRPr>
          </a:p>
          <a:p>
            <a:pPr marL="285750" indent="-285750">
              <a:spcBef>
                <a:spcPts val="600"/>
              </a:spcBef>
              <a:buFont typeface="Arial" panose="020B0604020202020204" pitchFamily="34" charset="0"/>
              <a:buChar char="•"/>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Not surprisingly the consumption experience is a bigger barrier for Functional Foods and Beverages</a:t>
            </a:r>
          </a:p>
        </p:txBody>
      </p:sp>
      <p:sp>
        <p:nvSpPr>
          <p:cNvPr id="6" name="Footer Placeholder 2">
            <a:extLst>
              <a:ext uri="{FF2B5EF4-FFF2-40B4-BE49-F238E27FC236}">
                <a16:creationId xmlns:a16="http://schemas.microsoft.com/office/drawing/2014/main" id="{721CB883-32D5-5874-872A-2C543D67487B}"/>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F0951872-1857-846F-D4A8-5B5888740C37}"/>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600"/>
                </a:spcAft>
                <a:buClrTx/>
                <a:buSzTx/>
                <a:buFontTx/>
                <a:buNone/>
                <a:tabLst/>
                <a:defRPr/>
              </a:pPr>
              <a:t>36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graphicFrame>
        <p:nvGraphicFramePr>
          <p:cNvPr id="8" name="Table 7">
            <a:extLst>
              <a:ext uri="{FF2B5EF4-FFF2-40B4-BE49-F238E27FC236}">
                <a16:creationId xmlns:a16="http://schemas.microsoft.com/office/drawing/2014/main" id="{D7C9F341-3DC8-372E-A6DF-735002081F6F}"/>
              </a:ext>
            </a:extLst>
          </p:cNvPr>
          <p:cNvGraphicFramePr>
            <a:graphicFrameLocks noGrp="1"/>
          </p:cNvGraphicFramePr>
          <p:nvPr>
            <p:extLst>
              <p:ext uri="{D42A27DB-BD31-4B8C-83A1-F6EECF244321}">
                <p14:modId xmlns:p14="http://schemas.microsoft.com/office/powerpoint/2010/main" val="926396053"/>
              </p:ext>
            </p:extLst>
          </p:nvPr>
        </p:nvGraphicFramePr>
        <p:xfrm>
          <a:off x="4447107" y="1324117"/>
          <a:ext cx="7315200" cy="4821756"/>
        </p:xfrm>
        <a:graphic>
          <a:graphicData uri="http://schemas.openxmlformats.org/drawingml/2006/table">
            <a:tbl>
              <a:tblPr>
                <a:tableStyleId>{3B4B98B0-60AC-42C2-AFA5-B58CD77FA1E5}</a:tableStyleId>
              </a:tblPr>
              <a:tblGrid>
                <a:gridCol w="4572000">
                  <a:extLst>
                    <a:ext uri="{9D8B030D-6E8A-4147-A177-3AD203B41FA5}">
                      <a16:colId xmlns:a16="http://schemas.microsoft.com/office/drawing/2014/main" val="4107426551"/>
                    </a:ext>
                  </a:extLst>
                </a:gridCol>
                <a:gridCol w="914400">
                  <a:extLst>
                    <a:ext uri="{9D8B030D-6E8A-4147-A177-3AD203B41FA5}">
                      <a16:colId xmlns:a16="http://schemas.microsoft.com/office/drawing/2014/main" val="871605687"/>
                    </a:ext>
                  </a:extLst>
                </a:gridCol>
                <a:gridCol w="914400">
                  <a:extLst>
                    <a:ext uri="{9D8B030D-6E8A-4147-A177-3AD203B41FA5}">
                      <a16:colId xmlns:a16="http://schemas.microsoft.com/office/drawing/2014/main" val="1381748258"/>
                    </a:ext>
                  </a:extLst>
                </a:gridCol>
                <a:gridCol w="914400">
                  <a:extLst>
                    <a:ext uri="{9D8B030D-6E8A-4147-A177-3AD203B41FA5}">
                      <a16:colId xmlns:a16="http://schemas.microsoft.com/office/drawing/2014/main" val="2197625001"/>
                    </a:ext>
                  </a:extLst>
                </a:gridCol>
              </a:tblGrid>
              <a:tr h="0">
                <a:tc gridSpan="4">
                  <a:txBody>
                    <a:bodyPr/>
                    <a:lstStyle/>
                    <a:p>
                      <a:pPr algn="ctr" fontAlgn="b">
                        <a:buNone/>
                      </a:pPr>
                      <a:r>
                        <a:rPr lang="en-US" sz="1200" b="1" i="0" u="none" strike="noStrike" dirty="0">
                          <a:solidFill>
                            <a:schemeClr val="bg1"/>
                          </a:solidFill>
                          <a:effectLst/>
                          <a:latin typeface="Arial" panose="020B0604020202020204" pitchFamily="34" charset="0"/>
                        </a:rPr>
                        <a:t>Category Barriers</a:t>
                      </a:r>
                    </a:p>
                    <a:p>
                      <a:pPr algn="ctr" fontAlgn="b">
                        <a:buNone/>
                      </a:pPr>
                      <a:r>
                        <a:rPr lang="en-US" sz="1200" b="0" i="0" u="none" strike="noStrike" dirty="0">
                          <a:solidFill>
                            <a:schemeClr val="bg1"/>
                          </a:solidFill>
                          <a:effectLst/>
                          <a:latin typeface="Arial" panose="020B0604020202020204" pitchFamily="34" charset="0"/>
                        </a:rPr>
                        <a:t>(% of once/week+ category users)</a:t>
                      </a: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a:txBody>
                    <a:bodyPr/>
                    <a:lstStyle/>
                    <a:p>
                      <a:pPr algn="l" fontAlgn="b">
                        <a:buNone/>
                      </a:pPr>
                      <a:endParaRPr lang="en-US" sz="110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100" b="1" u="none" strike="noStrike" dirty="0">
                          <a:effectLst/>
                        </a:rPr>
                        <a:t>Dietary Supplements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u="none" strike="noStrike" dirty="0">
                          <a:effectLst/>
                        </a:rPr>
                        <a:t>Functional Foods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u="none" strike="noStrike" dirty="0">
                          <a:effectLst/>
                        </a:rPr>
                        <a:t>Functional Beverages</a:t>
                      </a:r>
                      <a:endParaRPr lang="en-US" sz="11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Products are too expensive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38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39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38 </a:t>
                      </a:r>
                    </a:p>
                  </a:txBody>
                  <a:tcPr marL="9525" marR="9525" marT="9525"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I can't see or feel the impact of the products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08762513"/>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Negative side effects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229445550"/>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Lack of science-backed claims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582629608"/>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Too much conflicting information out there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924444937"/>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Questions about ingredient quality/purity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79102277"/>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I doubt the effectiveness of products in the category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93174655"/>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The category is too complex/there are too many choices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16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816618863"/>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Lack of regulation, third-party testing/certification,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09282528"/>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Lack of transparency from brands/manufacturers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49533206"/>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Not enough information/education available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679873701"/>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I forget to buy or use them</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723336348"/>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Products don't work quickly enough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32891055"/>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I already have to use too many products to get the benefits I'm looking for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11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807090806"/>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I don't like the taste/texture of most products in the category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050239563"/>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The product formats are too difficult to consume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777060894"/>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Products are too difficult to incorporate into my routine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816600029"/>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None of the above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22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21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22 </a:t>
                      </a:r>
                    </a:p>
                  </a:txBody>
                  <a:tcPr marL="9525" marR="9525" marT="9525"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3031203097"/>
                  </a:ext>
                </a:extLst>
              </a:tr>
            </a:tbl>
          </a:graphicData>
        </a:graphic>
      </p:graphicFrame>
      <p:sp>
        <p:nvSpPr>
          <p:cNvPr id="4" name="TextBox 3">
            <a:extLst>
              <a:ext uri="{FF2B5EF4-FFF2-40B4-BE49-F238E27FC236}">
                <a16:creationId xmlns:a16="http://schemas.microsoft.com/office/drawing/2014/main" id="{7F07DBEB-4954-0A32-B714-1CE3FD30A24E}"/>
              </a:ext>
            </a:extLst>
          </p:cNvPr>
          <p:cNvSpPr txBox="1"/>
          <p:nvPr/>
        </p:nvSpPr>
        <p:spPr>
          <a:xfrm>
            <a:off x="0" y="6125325"/>
            <a:ext cx="9807786" cy="246221"/>
          </a:xfrm>
          <a:prstGeom prst="rect">
            <a:avLst/>
          </a:prstGeom>
          <a:noFill/>
        </p:spPr>
        <p:txBody>
          <a:bodyPr wrap="square" rtlCol="0">
            <a:spAutoFit/>
          </a:bodyPr>
          <a:lstStyle/>
          <a:p>
            <a:pPr lvl="0"/>
            <a:r>
              <a:rPr lang="en-US" sz="1000" i="1" dirty="0"/>
              <a:t>C11. Which, if any, of the following are significant barriers to you using &lt;INSERT HOLD.CATEGORY&gt; more frequently or to meet different needs? </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Title 4">
            <a:extLst>
              <a:ext uri="{FF2B5EF4-FFF2-40B4-BE49-F238E27FC236}">
                <a16:creationId xmlns:a16="http://schemas.microsoft.com/office/drawing/2014/main" id="{04C0DB34-8A2C-DA61-94E4-E49DE22C28B5}"/>
              </a:ext>
            </a:extLst>
          </p:cNvPr>
          <p:cNvSpPr txBox="1">
            <a:spLocks/>
          </p:cNvSpPr>
          <p:nvPr/>
        </p:nvSpPr>
        <p:spPr>
          <a:xfrm>
            <a:off x="487789" y="394702"/>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The three </a:t>
            </a:r>
            <a:r>
              <a:rPr lang="en-US" dirty="0"/>
              <a:t>Functional Nutrition categories share most barriers, with expense</a:t>
            </a: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 </a:t>
            </a:r>
            <a:r>
              <a:rPr lang="en-US" dirty="0"/>
              <a:t>the top barrier for all</a:t>
            </a:r>
            <a:endPar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877550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7D5652FE-D519-3F0C-7515-5454C9FDB266}"/>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0EAD089D-C502-FAB8-C01A-0780316E6382}"/>
              </a:ext>
            </a:extLst>
          </p:cNvPr>
          <p:cNvGraphicFramePr/>
          <p:nvPr>
            <p:extLst>
              <p:ext uri="{D42A27DB-BD31-4B8C-83A1-F6EECF244321}">
                <p14:modId xmlns:p14="http://schemas.microsoft.com/office/powerpoint/2010/main" val="2596254617"/>
              </p:ext>
            </p:extLst>
          </p:nvPr>
        </p:nvGraphicFramePr>
        <p:xfrm>
          <a:off x="417973" y="1091317"/>
          <a:ext cx="11356054" cy="5890694"/>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4">
            <a:extLst>
              <a:ext uri="{FF2B5EF4-FFF2-40B4-BE49-F238E27FC236}">
                <a16:creationId xmlns:a16="http://schemas.microsoft.com/office/drawing/2014/main" id="{661D94AD-5311-872A-4600-ACFEABFA6698}"/>
              </a:ext>
            </a:extLst>
          </p:cNvPr>
          <p:cNvSpPr txBox="1">
            <a:spLocks/>
          </p:cNvSpPr>
          <p:nvPr/>
        </p:nvSpPr>
        <p:spPr>
          <a:xfrm>
            <a:off x="528886" y="429306"/>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Supplement Users are most likely to purchase in Mass, following by Online and Drug </a:t>
            </a:r>
          </a:p>
        </p:txBody>
      </p:sp>
      <p:sp>
        <p:nvSpPr>
          <p:cNvPr id="73" name="TextBox 72">
            <a:extLst>
              <a:ext uri="{FF2B5EF4-FFF2-40B4-BE49-F238E27FC236}">
                <a16:creationId xmlns:a16="http://schemas.microsoft.com/office/drawing/2014/main" id="{A0B1078E-6916-D689-3E87-883B9342FB84}"/>
              </a:ext>
            </a:extLst>
          </p:cNvPr>
          <p:cNvSpPr txBox="1"/>
          <p:nvPr/>
        </p:nvSpPr>
        <p:spPr>
          <a:xfrm>
            <a:off x="0" y="6059675"/>
            <a:ext cx="9807786" cy="400110"/>
          </a:xfrm>
          <a:prstGeom prst="rect">
            <a:avLst/>
          </a:prstGeom>
          <a:noFill/>
        </p:spPr>
        <p:txBody>
          <a:bodyPr wrap="square" rtlCol="0">
            <a:spAutoFit/>
          </a:bodyPr>
          <a:lstStyle/>
          <a:p>
            <a:r>
              <a:rPr lang="en-US" sz="1000" i="1" dirty="0"/>
              <a:t>C12 . From which of the following outlets do you </a:t>
            </a:r>
            <a:r>
              <a:rPr lang="en-US" sz="1000" b="1" i="1" dirty="0"/>
              <a:t>most often</a:t>
            </a:r>
            <a:r>
              <a:rPr lang="en-US" sz="1000" i="1" dirty="0"/>
              <a:t> purchase? Please select your </a:t>
            </a:r>
            <a:r>
              <a:rPr lang="en-US" sz="1000" b="1" i="1" dirty="0"/>
              <a:t>top 3</a:t>
            </a:r>
            <a:r>
              <a:rPr lang="en-US" sz="1000" i="1" dirty="0"/>
              <a:t> outlets. &lt;INSERT HOLD.CATEGORY&gt;? </a:t>
            </a:r>
          </a:p>
          <a:p>
            <a:r>
              <a:rPr lang="en-US" sz="1000" i="1" dirty="0"/>
              <a:t> </a:t>
            </a:r>
          </a:p>
        </p:txBody>
      </p:sp>
      <p:sp>
        <p:nvSpPr>
          <p:cNvPr id="6" name="Footer Placeholder 2">
            <a:extLst>
              <a:ext uri="{FF2B5EF4-FFF2-40B4-BE49-F238E27FC236}">
                <a16:creationId xmlns:a16="http://schemas.microsoft.com/office/drawing/2014/main" id="{E5CAF22C-C879-5B0B-C8C8-5B1B613DB57D}"/>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646F11C6-5B03-673E-EDB1-D17E7208964D}"/>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37</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2403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8BF00550-D202-E3CE-9E61-DFBED6443D0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F0EDC2-E608-09D4-73E1-7F03859D6017}"/>
              </a:ext>
            </a:extLst>
          </p:cNvPr>
          <p:cNvSpPr txBox="1"/>
          <p:nvPr/>
        </p:nvSpPr>
        <p:spPr>
          <a:xfrm>
            <a:off x="450241" y="2210365"/>
            <a:ext cx="3328411" cy="3447098"/>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Supplements are more likely to be purchase Online and in Drug Stores vs. the other two categories</a:t>
            </a:r>
            <a:br>
              <a:rPr lang="en-US" sz="1600" noProof="0" dirty="0">
                <a:solidFill>
                  <a:srgbClr val="BD582C"/>
                </a:solidFill>
                <a:latin typeface="Calibri Light" panose="020F0302020204030204"/>
              </a:rPr>
            </a:br>
            <a:endParaRPr lang="en-US" sz="1600" noProof="0" dirty="0">
              <a:solidFill>
                <a:srgbClr val="BD582C"/>
              </a:solidFill>
              <a:latin typeface="Calibri Light" panose="020F0302020204030204"/>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As would be expected, Functional Foods and Beverage are more likely to be purchased in grocery</a:t>
            </a:r>
            <a:b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Functional Beverages have the advantage of greater C-store presence, driving it into one of the top 3 outlets for 17% of category users</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6" name="Footer Placeholder 2">
            <a:extLst>
              <a:ext uri="{FF2B5EF4-FFF2-40B4-BE49-F238E27FC236}">
                <a16:creationId xmlns:a16="http://schemas.microsoft.com/office/drawing/2014/main" id="{4D338B76-F211-8E3E-A886-A45356DCEF61}"/>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C9A313FD-6F48-6D9E-0390-1D11EB60326C}"/>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600"/>
                </a:spcAft>
                <a:buClrTx/>
                <a:buSzTx/>
                <a:buFontTx/>
                <a:buNone/>
                <a:tabLst/>
                <a:defRPr/>
              </a:pPr>
              <a:t>38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graphicFrame>
        <p:nvGraphicFramePr>
          <p:cNvPr id="8" name="Table 7">
            <a:extLst>
              <a:ext uri="{FF2B5EF4-FFF2-40B4-BE49-F238E27FC236}">
                <a16:creationId xmlns:a16="http://schemas.microsoft.com/office/drawing/2014/main" id="{E99ABE04-A6E4-4F5C-7F4B-37AE4536B829}"/>
              </a:ext>
            </a:extLst>
          </p:cNvPr>
          <p:cNvGraphicFramePr>
            <a:graphicFrameLocks noGrp="1"/>
          </p:cNvGraphicFramePr>
          <p:nvPr>
            <p:extLst>
              <p:ext uri="{D42A27DB-BD31-4B8C-83A1-F6EECF244321}">
                <p14:modId xmlns:p14="http://schemas.microsoft.com/office/powerpoint/2010/main" val="1923528541"/>
              </p:ext>
            </p:extLst>
          </p:nvPr>
        </p:nvGraphicFramePr>
        <p:xfrm>
          <a:off x="4282721" y="1509053"/>
          <a:ext cx="7315200" cy="4349316"/>
        </p:xfrm>
        <a:graphic>
          <a:graphicData uri="http://schemas.openxmlformats.org/drawingml/2006/table">
            <a:tbl>
              <a:tblPr>
                <a:tableStyleId>{3B4B98B0-60AC-42C2-AFA5-B58CD77FA1E5}</a:tableStyleId>
              </a:tblPr>
              <a:tblGrid>
                <a:gridCol w="4572000">
                  <a:extLst>
                    <a:ext uri="{9D8B030D-6E8A-4147-A177-3AD203B41FA5}">
                      <a16:colId xmlns:a16="http://schemas.microsoft.com/office/drawing/2014/main" val="4107426551"/>
                    </a:ext>
                  </a:extLst>
                </a:gridCol>
                <a:gridCol w="914400">
                  <a:extLst>
                    <a:ext uri="{9D8B030D-6E8A-4147-A177-3AD203B41FA5}">
                      <a16:colId xmlns:a16="http://schemas.microsoft.com/office/drawing/2014/main" val="871605687"/>
                    </a:ext>
                  </a:extLst>
                </a:gridCol>
                <a:gridCol w="914400">
                  <a:extLst>
                    <a:ext uri="{9D8B030D-6E8A-4147-A177-3AD203B41FA5}">
                      <a16:colId xmlns:a16="http://schemas.microsoft.com/office/drawing/2014/main" val="1381748258"/>
                    </a:ext>
                  </a:extLst>
                </a:gridCol>
                <a:gridCol w="914400">
                  <a:extLst>
                    <a:ext uri="{9D8B030D-6E8A-4147-A177-3AD203B41FA5}">
                      <a16:colId xmlns:a16="http://schemas.microsoft.com/office/drawing/2014/main" val="2197625001"/>
                    </a:ext>
                  </a:extLst>
                </a:gridCol>
              </a:tblGrid>
              <a:tr h="0">
                <a:tc gridSpan="4">
                  <a:txBody>
                    <a:bodyPr/>
                    <a:lstStyle/>
                    <a:p>
                      <a:pPr algn="ctr" fontAlgn="b">
                        <a:buNone/>
                      </a:pPr>
                      <a:r>
                        <a:rPr lang="en-US" sz="1200" b="1" i="0" u="none" strike="noStrike" dirty="0">
                          <a:solidFill>
                            <a:schemeClr val="bg1"/>
                          </a:solidFill>
                          <a:effectLst/>
                          <a:latin typeface="Arial" panose="020B0604020202020204" pitchFamily="34" charset="0"/>
                        </a:rPr>
                        <a:t>Top Purchase Outlets</a:t>
                      </a:r>
                    </a:p>
                    <a:p>
                      <a:pPr algn="ctr" fontAlgn="b">
                        <a:buNone/>
                      </a:pPr>
                      <a:r>
                        <a:rPr lang="en-US" sz="1200" b="0" i="0" u="none" strike="noStrike" dirty="0">
                          <a:solidFill>
                            <a:schemeClr val="bg1"/>
                          </a:solidFill>
                          <a:effectLst/>
                          <a:latin typeface="Arial" panose="020B0604020202020204" pitchFamily="34" charset="0"/>
                        </a:rPr>
                        <a:t>(% selecting as one of top 3 Purchase Outlets among category users)</a:t>
                      </a: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a:txBody>
                    <a:bodyPr/>
                    <a:lstStyle/>
                    <a:p>
                      <a:pPr algn="l" fontAlgn="b">
                        <a:buNone/>
                      </a:pPr>
                      <a:endParaRPr lang="en-US" sz="105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Dietary Supplements</a:t>
                      </a:r>
                      <a:endParaRPr lang="en-US" sz="105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u="none" strike="noStrike" dirty="0">
                          <a:effectLst/>
                        </a:rPr>
                        <a:t>Functional Foods</a:t>
                      </a:r>
                      <a:endParaRPr lang="en-US" sz="105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u="none" strike="noStrike" dirty="0">
                          <a:effectLst/>
                        </a:rPr>
                        <a:t>Functional Beverages</a:t>
                      </a:r>
                      <a:endParaRPr lang="en-US" sz="105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Mass merchandiser (Wal-Mart, Target,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0000"/>
                          </a:solidFill>
                          <a:effectLst/>
                          <a:latin typeface="Arial" panose="020B0604020202020204" pitchFamily="34" charset="0"/>
                        </a:rPr>
                        <a:t>59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0000"/>
                          </a:solidFill>
                          <a:effectLst/>
                          <a:latin typeface="Arial" panose="020B0604020202020204" pitchFamily="34" charset="0"/>
                        </a:rPr>
                        <a:t>56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0000"/>
                          </a:solidFill>
                          <a:effectLst/>
                          <a:latin typeface="Arial" panose="020B0604020202020204" pitchFamily="34" charset="0"/>
                        </a:rPr>
                        <a:t>60 </a:t>
                      </a:r>
                    </a:p>
                  </a:txBody>
                  <a:tcPr marL="9525" marR="9525" marT="9525"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Online from an online retailer website (e.g., Amazon)</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51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solidFill>
                            <a:srgbClr val="000000"/>
                          </a:solidFill>
                          <a:effectLst/>
                          <a:latin typeface="Arial" panose="020B0604020202020204" pitchFamily="34" charset="0"/>
                        </a:rPr>
                        <a:t>39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37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08762513"/>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Drug Store (Walgreens, CVS,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43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solidFill>
                            <a:srgbClr val="000000"/>
                          </a:solidFill>
                          <a:effectLst/>
                          <a:latin typeface="Arial" panose="020B0604020202020204" pitchFamily="34" charset="0"/>
                        </a:rPr>
                        <a:t>21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23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229445550"/>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Traditional grocery store (Safeway, Kroger,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32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44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solidFill>
                            <a:srgbClr val="000000"/>
                          </a:solidFill>
                          <a:effectLst/>
                          <a:latin typeface="Arial" panose="020B0604020202020204" pitchFamily="34" charset="0"/>
                        </a:rPr>
                        <a:t>42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582629608"/>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Club Store (Costco, Sam's Club, BJ's,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31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35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33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924444937"/>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Specialty Health Store (GNC, Vitamin Shop,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20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79102277"/>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Online from a brand/manufacturer website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93174655"/>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Natural/Organic grocery store (Whole Foods, Fresh Thyme,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12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29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solidFill>
                            <a:srgbClr val="000000"/>
                          </a:solidFill>
                          <a:effectLst/>
                          <a:latin typeface="Arial" panose="020B0604020202020204" pitchFamily="34" charset="0"/>
                        </a:rPr>
                        <a:t>21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816618863"/>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Dollar Store (Dollar General, Dollar Tree,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09282528"/>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Online through a social media website (TikTok, Instagram, Facebook,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49533206"/>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Online through an influencer/podcaster (celebrity, athlete,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679873701"/>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Convenience store (7-11, Quick Stop,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723336348"/>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Ordering from Mail, TV, or Radio Offers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2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32891055"/>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From a restaurant/coffee shop/cafeteria</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807090806"/>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Multi-level or network marketing company (NuSkin, Avon, Herbalife,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2050239563"/>
                  </a:ext>
                </a:extLst>
              </a:tr>
              <a:tr h="228600">
                <a:tc>
                  <a:txBody>
                    <a:bodyPr/>
                    <a:lstStyle/>
                    <a:p>
                      <a:pPr algn="l" fontAlgn="b">
                        <a:buNone/>
                      </a:pPr>
                      <a:r>
                        <a:rPr lang="en-US" sz="1050" b="0" i="0" u="none" strike="noStrike" dirty="0">
                          <a:solidFill>
                            <a:srgbClr val="000000"/>
                          </a:solidFill>
                          <a:effectLst/>
                          <a:latin typeface="Arial" panose="020B0604020202020204" pitchFamily="34" charset="0"/>
                        </a:rPr>
                        <a:t>Vending machine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777060894"/>
                  </a:ext>
                </a:extLst>
              </a:tr>
            </a:tbl>
          </a:graphicData>
        </a:graphic>
      </p:graphicFrame>
      <p:sp>
        <p:nvSpPr>
          <p:cNvPr id="5" name="TextBox 4">
            <a:extLst>
              <a:ext uri="{FF2B5EF4-FFF2-40B4-BE49-F238E27FC236}">
                <a16:creationId xmlns:a16="http://schemas.microsoft.com/office/drawing/2014/main" id="{7097A81F-74D5-C1B2-2A20-A0091C510CC1}"/>
              </a:ext>
            </a:extLst>
          </p:cNvPr>
          <p:cNvSpPr txBox="1"/>
          <p:nvPr/>
        </p:nvSpPr>
        <p:spPr>
          <a:xfrm>
            <a:off x="0" y="6059675"/>
            <a:ext cx="9807786" cy="400110"/>
          </a:xfrm>
          <a:prstGeom prst="rect">
            <a:avLst/>
          </a:prstGeom>
          <a:noFill/>
        </p:spPr>
        <p:txBody>
          <a:bodyPr wrap="square" rtlCol="0">
            <a:spAutoFit/>
          </a:bodyPr>
          <a:lstStyle/>
          <a:p>
            <a:r>
              <a:rPr lang="en-US" sz="1000" i="1" dirty="0"/>
              <a:t>C12 . From which of the following outlets do you </a:t>
            </a:r>
            <a:r>
              <a:rPr lang="en-US" sz="1000" b="1" i="1" dirty="0"/>
              <a:t>most often</a:t>
            </a:r>
            <a:r>
              <a:rPr lang="en-US" sz="1000" i="1" dirty="0"/>
              <a:t> purchase? Please select your </a:t>
            </a:r>
            <a:r>
              <a:rPr lang="en-US" sz="1000" b="1" i="1" dirty="0"/>
              <a:t>top 3</a:t>
            </a:r>
            <a:r>
              <a:rPr lang="en-US" sz="1000" i="1" dirty="0"/>
              <a:t> outlets. &lt;INSERT HOLD.CATEGORY&gt;? </a:t>
            </a:r>
          </a:p>
          <a:p>
            <a:r>
              <a:rPr lang="en-US" sz="1000" i="1" dirty="0"/>
              <a:t> </a:t>
            </a:r>
          </a:p>
        </p:txBody>
      </p:sp>
      <p:sp>
        <p:nvSpPr>
          <p:cNvPr id="9" name="Title 4">
            <a:extLst>
              <a:ext uri="{FF2B5EF4-FFF2-40B4-BE49-F238E27FC236}">
                <a16:creationId xmlns:a16="http://schemas.microsoft.com/office/drawing/2014/main" id="{636641FC-D9B5-2AEA-2F0D-2CE013A510AA}"/>
              </a:ext>
            </a:extLst>
          </p:cNvPr>
          <p:cNvSpPr txBox="1">
            <a:spLocks/>
          </p:cNvSpPr>
          <p:nvPr/>
        </p:nvSpPr>
        <p:spPr>
          <a:xfrm>
            <a:off x="549434" y="685387"/>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Mass is the top outlet for all three Functional Nutrition categories </a:t>
            </a:r>
          </a:p>
        </p:txBody>
      </p:sp>
    </p:spTree>
    <p:extLst>
      <p:ext uri="{BB962C8B-B14F-4D97-AF65-F5344CB8AC3E}">
        <p14:creationId xmlns:p14="http://schemas.microsoft.com/office/powerpoint/2010/main" val="464020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699CDE83-DBDF-3133-FC3D-399074204276}"/>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4DABEFF-0B5F-B023-E2D0-92EBDAAD30B6}"/>
              </a:ext>
            </a:extLst>
          </p:cNvPr>
          <p:cNvGraphicFramePr/>
          <p:nvPr>
            <p:extLst>
              <p:ext uri="{D42A27DB-BD31-4B8C-83A1-F6EECF244321}">
                <p14:modId xmlns:p14="http://schemas.microsoft.com/office/powerpoint/2010/main" val="1460830237"/>
              </p:ext>
            </p:extLst>
          </p:nvPr>
        </p:nvGraphicFramePr>
        <p:xfrm>
          <a:off x="780835" y="664670"/>
          <a:ext cx="10630329" cy="62265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4">
            <a:extLst>
              <a:ext uri="{FF2B5EF4-FFF2-40B4-BE49-F238E27FC236}">
                <a16:creationId xmlns:a16="http://schemas.microsoft.com/office/drawing/2014/main" id="{9B84851C-B70C-23F3-E1B1-00D236AEFEEE}"/>
              </a:ext>
            </a:extLst>
          </p:cNvPr>
          <p:cNvSpPr txBox="1">
            <a:spLocks/>
          </p:cNvSpPr>
          <p:nvPr/>
        </p:nvSpPr>
        <p:spPr>
          <a:xfrm>
            <a:off x="527522" y="442420"/>
            <a:ext cx="9726087"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dirty="0"/>
              <a:t>Medical Professionals are the top source of Supplement information by far for category users</a:t>
            </a:r>
            <a:endPar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73" name="TextBox 72">
            <a:extLst>
              <a:ext uri="{FF2B5EF4-FFF2-40B4-BE49-F238E27FC236}">
                <a16:creationId xmlns:a16="http://schemas.microsoft.com/office/drawing/2014/main" id="{C6A31899-8132-0BD2-BA57-F666B6D54EAC}"/>
              </a:ext>
            </a:extLst>
          </p:cNvPr>
          <p:cNvSpPr txBox="1"/>
          <p:nvPr/>
        </p:nvSpPr>
        <p:spPr>
          <a:xfrm>
            <a:off x="92672" y="6083333"/>
            <a:ext cx="9807786" cy="246221"/>
          </a:xfrm>
          <a:prstGeom prst="rect">
            <a:avLst/>
          </a:prstGeom>
          <a:noFill/>
        </p:spPr>
        <p:txBody>
          <a:bodyPr wrap="square" rtlCol="0">
            <a:spAutoFit/>
          </a:bodyPr>
          <a:lstStyle/>
          <a:p>
            <a:pPr lvl="0"/>
            <a:r>
              <a:rPr lang="en-US" sz="1000" i="1" dirty="0"/>
              <a:t>C13. Which of the following sources do you </a:t>
            </a:r>
            <a:r>
              <a:rPr lang="en-US" sz="1000" b="1" i="1" dirty="0"/>
              <a:t>most often</a:t>
            </a:r>
            <a:r>
              <a:rPr lang="en-US" sz="1000" i="1" dirty="0"/>
              <a:t> turn to for information and advice about &lt;INSERT HOLD.CATEGORY&gt;?Please select your </a:t>
            </a:r>
            <a:r>
              <a:rPr lang="en-US" sz="1000" b="1" i="1" dirty="0"/>
              <a:t>top 3</a:t>
            </a:r>
            <a:r>
              <a:rPr lang="en-US" sz="1000" i="1" dirty="0"/>
              <a:t> sources. </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a:t>
            </a:r>
          </a:p>
        </p:txBody>
      </p:sp>
      <p:sp>
        <p:nvSpPr>
          <p:cNvPr id="6" name="Footer Placeholder 2">
            <a:extLst>
              <a:ext uri="{FF2B5EF4-FFF2-40B4-BE49-F238E27FC236}">
                <a16:creationId xmlns:a16="http://schemas.microsoft.com/office/drawing/2014/main" id="{08B8E966-6897-CB60-C38E-F1CF23018D38}"/>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19DA998F-0C3F-FA63-868F-C2A0F51A9D3D}"/>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39</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5135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D5A863C0-AA2A-C96F-5EB7-39DE116D88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2E7943-269A-8C70-55E4-B5C78B4FE966}"/>
              </a:ext>
            </a:extLst>
          </p:cNvPr>
          <p:cNvSpPr txBox="1"/>
          <p:nvPr/>
        </p:nvSpPr>
        <p:spPr>
          <a:xfrm>
            <a:off x="576655" y="2243843"/>
            <a:ext cx="3328411" cy="3200876"/>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While the top source for all categories, Medical Professionals are much more likely to be a top source for information on Supplements</a:t>
            </a:r>
            <a:b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b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Functional Beverage Users are nearly as likely to look to Online Reviews as to Medical Professionals for information about that category</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
        <p:nvSpPr>
          <p:cNvPr id="6" name="Footer Placeholder 2">
            <a:extLst>
              <a:ext uri="{FF2B5EF4-FFF2-40B4-BE49-F238E27FC236}">
                <a16:creationId xmlns:a16="http://schemas.microsoft.com/office/drawing/2014/main" id="{8716D394-608F-0208-DB26-4D0BC130E3FF}"/>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7" name="Slide Number Placeholder 3">
            <a:extLst>
              <a:ext uri="{FF2B5EF4-FFF2-40B4-BE49-F238E27FC236}">
                <a16:creationId xmlns:a16="http://schemas.microsoft.com/office/drawing/2014/main" id="{36B476B6-B1E2-E864-EAE3-9549286B7F10}"/>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600"/>
                </a:spcAft>
                <a:buClrTx/>
                <a:buSzTx/>
                <a:buFontTx/>
                <a:buNone/>
                <a:tabLst/>
                <a:defRPr/>
              </a:pPr>
              <a:t>40</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graphicFrame>
        <p:nvGraphicFramePr>
          <p:cNvPr id="8" name="Table 7">
            <a:extLst>
              <a:ext uri="{FF2B5EF4-FFF2-40B4-BE49-F238E27FC236}">
                <a16:creationId xmlns:a16="http://schemas.microsoft.com/office/drawing/2014/main" id="{AB65FDAA-BAC3-987D-1979-5C6DBF8A957C}"/>
              </a:ext>
            </a:extLst>
          </p:cNvPr>
          <p:cNvGraphicFramePr>
            <a:graphicFrameLocks noGrp="1"/>
          </p:cNvGraphicFramePr>
          <p:nvPr>
            <p:extLst>
              <p:ext uri="{D42A27DB-BD31-4B8C-83A1-F6EECF244321}">
                <p14:modId xmlns:p14="http://schemas.microsoft.com/office/powerpoint/2010/main" val="383418073"/>
              </p:ext>
            </p:extLst>
          </p:nvPr>
        </p:nvGraphicFramePr>
        <p:xfrm>
          <a:off x="4436833" y="1317913"/>
          <a:ext cx="7315200" cy="4806516"/>
        </p:xfrm>
        <a:graphic>
          <a:graphicData uri="http://schemas.openxmlformats.org/drawingml/2006/table">
            <a:tbl>
              <a:tblPr>
                <a:tableStyleId>{3B4B98B0-60AC-42C2-AFA5-B58CD77FA1E5}</a:tableStyleId>
              </a:tblPr>
              <a:tblGrid>
                <a:gridCol w="4572000">
                  <a:extLst>
                    <a:ext uri="{9D8B030D-6E8A-4147-A177-3AD203B41FA5}">
                      <a16:colId xmlns:a16="http://schemas.microsoft.com/office/drawing/2014/main" val="4107426551"/>
                    </a:ext>
                  </a:extLst>
                </a:gridCol>
                <a:gridCol w="914400">
                  <a:extLst>
                    <a:ext uri="{9D8B030D-6E8A-4147-A177-3AD203B41FA5}">
                      <a16:colId xmlns:a16="http://schemas.microsoft.com/office/drawing/2014/main" val="871605687"/>
                    </a:ext>
                  </a:extLst>
                </a:gridCol>
                <a:gridCol w="914400">
                  <a:extLst>
                    <a:ext uri="{9D8B030D-6E8A-4147-A177-3AD203B41FA5}">
                      <a16:colId xmlns:a16="http://schemas.microsoft.com/office/drawing/2014/main" val="1381748258"/>
                    </a:ext>
                  </a:extLst>
                </a:gridCol>
                <a:gridCol w="914400">
                  <a:extLst>
                    <a:ext uri="{9D8B030D-6E8A-4147-A177-3AD203B41FA5}">
                      <a16:colId xmlns:a16="http://schemas.microsoft.com/office/drawing/2014/main" val="2197625001"/>
                    </a:ext>
                  </a:extLst>
                </a:gridCol>
              </a:tblGrid>
              <a:tr h="0">
                <a:tc gridSpan="4">
                  <a:txBody>
                    <a:bodyPr/>
                    <a:lstStyle/>
                    <a:p>
                      <a:pPr algn="ctr" fontAlgn="b">
                        <a:buNone/>
                      </a:pPr>
                      <a:r>
                        <a:rPr lang="en-US" sz="1200" b="1" i="0" u="none" strike="noStrike" dirty="0">
                          <a:solidFill>
                            <a:schemeClr val="bg1"/>
                          </a:solidFill>
                          <a:effectLst/>
                          <a:latin typeface="Arial" panose="020B0604020202020204" pitchFamily="34" charset="0"/>
                        </a:rPr>
                        <a:t>Top Information Sources</a:t>
                      </a:r>
                    </a:p>
                    <a:p>
                      <a:pPr algn="ctr" fontAlgn="b">
                        <a:buNone/>
                      </a:pPr>
                      <a:r>
                        <a:rPr lang="en-US" sz="1200" b="0" i="0" u="none" strike="noStrike" dirty="0">
                          <a:solidFill>
                            <a:schemeClr val="bg1"/>
                          </a:solidFill>
                          <a:effectLst/>
                          <a:latin typeface="Arial" panose="020B0604020202020204" pitchFamily="34" charset="0"/>
                        </a:rPr>
                        <a:t>(% selecting as one of top Information Sources among once/week+ category users)</a:t>
                      </a: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a:txBody>
                    <a:bodyPr/>
                    <a:lstStyle/>
                    <a:p>
                      <a:pPr algn="l" fontAlgn="b">
                        <a:buNone/>
                      </a:pPr>
                      <a:endParaRPr lang="en-US" sz="105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Dietary Supplements</a:t>
                      </a:r>
                      <a:endParaRPr lang="en-US" sz="105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u="none" strike="noStrike" dirty="0">
                          <a:effectLst/>
                        </a:rPr>
                        <a:t>Functional Foods</a:t>
                      </a:r>
                      <a:endParaRPr lang="en-US" sz="105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u="none" strike="noStrike" dirty="0">
                          <a:effectLst/>
                        </a:rPr>
                        <a:t>Functional Beverages</a:t>
                      </a:r>
                      <a:endParaRPr lang="en-US" sz="105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Doctor/Medical Professional</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50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solidFill>
                            <a:srgbClr val="000000"/>
                          </a:solidFill>
                          <a:effectLst/>
                          <a:latin typeface="Arial" panose="020B0604020202020204" pitchFamily="34" charset="0"/>
                        </a:rPr>
                        <a:t>40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36 </a:t>
                      </a:r>
                    </a:p>
                  </a:txBody>
                  <a:tcPr marL="9525" marR="9525" marT="9525"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Online reviews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32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2360386451"/>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Friends and family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31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008909763"/>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Health and wellness publications/websites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28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08762513"/>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Product packaging</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19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229445550"/>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Health &amp; Wellness product manufacturers/brands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21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582629608"/>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General interest publications/websites (e.g., women's/men's magazines)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924444937"/>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Retailers (e.g., GNC, Whole Foods,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79102277"/>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Government websites (e.g., CDC, NIH)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93174655"/>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Social media influencer/podcaster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816618863"/>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Coach/Trainer/Physical Therapist</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11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09282528"/>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Third-party testers/certifiers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49533206"/>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Other Wellness Professionals (e.g., acupuncturist, masseuse, aesthetician,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679873701"/>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Health technology companies/apps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11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723336348"/>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Therapist/Counselor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807090806"/>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Athlete influence/podcaster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2050239563"/>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Celebrity influencer/podcaster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777060894"/>
                  </a:ext>
                </a:extLst>
              </a:tr>
              <a:tr h="228600">
                <a:tc>
                  <a:txBody>
                    <a:bodyPr/>
                    <a:lstStyle/>
                    <a:p>
                      <a:pPr algn="l" fontAlgn="b">
                        <a:buNone/>
                      </a:pPr>
                      <a:r>
                        <a:rPr lang="en-US" sz="1000" b="0" i="0" u="none" strike="noStrike" dirty="0">
                          <a:solidFill>
                            <a:srgbClr val="000000"/>
                          </a:solidFill>
                          <a:effectLst/>
                          <a:latin typeface="Arial" panose="020B0604020202020204" pitchFamily="34" charset="0"/>
                        </a:rPr>
                        <a:t>I do not use any of these sources for information about dietary supplements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744397749"/>
                  </a:ext>
                </a:extLst>
              </a:tr>
            </a:tbl>
          </a:graphicData>
        </a:graphic>
      </p:graphicFrame>
      <p:sp>
        <p:nvSpPr>
          <p:cNvPr id="4" name="TextBox 3">
            <a:extLst>
              <a:ext uri="{FF2B5EF4-FFF2-40B4-BE49-F238E27FC236}">
                <a16:creationId xmlns:a16="http://schemas.microsoft.com/office/drawing/2014/main" id="{3F964666-CD8C-4073-D9C9-FCDA84EA34E8}"/>
              </a:ext>
            </a:extLst>
          </p:cNvPr>
          <p:cNvSpPr txBox="1"/>
          <p:nvPr/>
        </p:nvSpPr>
        <p:spPr>
          <a:xfrm>
            <a:off x="61850" y="6124429"/>
            <a:ext cx="9807786" cy="246221"/>
          </a:xfrm>
          <a:prstGeom prst="rect">
            <a:avLst/>
          </a:prstGeom>
          <a:noFill/>
        </p:spPr>
        <p:txBody>
          <a:bodyPr wrap="square" rtlCol="0">
            <a:spAutoFit/>
          </a:bodyPr>
          <a:lstStyle/>
          <a:p>
            <a:pPr lvl="0"/>
            <a:r>
              <a:rPr lang="en-US" sz="1000" i="1" dirty="0"/>
              <a:t>C13. Which of the following sources do you </a:t>
            </a:r>
            <a:r>
              <a:rPr lang="en-US" sz="1000" b="1" i="1" dirty="0"/>
              <a:t>most often</a:t>
            </a:r>
            <a:r>
              <a:rPr lang="en-US" sz="1000" i="1" dirty="0"/>
              <a:t> turn to for information and advice about &lt;INSERT HOLD.CATEGORY&gt;?Please select your </a:t>
            </a:r>
            <a:r>
              <a:rPr lang="en-US" sz="1000" b="1" i="1" dirty="0"/>
              <a:t>top 3</a:t>
            </a:r>
            <a:r>
              <a:rPr lang="en-US" sz="1000" i="1" dirty="0"/>
              <a:t> sources. </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a:t>
            </a:r>
          </a:p>
        </p:txBody>
      </p:sp>
      <p:sp>
        <p:nvSpPr>
          <p:cNvPr id="9" name="Title 4">
            <a:extLst>
              <a:ext uri="{FF2B5EF4-FFF2-40B4-BE49-F238E27FC236}">
                <a16:creationId xmlns:a16="http://schemas.microsoft.com/office/drawing/2014/main" id="{2AB94673-C694-6468-21C2-580AD1748DF2}"/>
              </a:ext>
            </a:extLst>
          </p:cNvPr>
          <p:cNvSpPr txBox="1">
            <a:spLocks/>
          </p:cNvSpPr>
          <p:nvPr/>
        </p:nvSpPr>
        <p:spPr>
          <a:xfrm>
            <a:off x="527522" y="442420"/>
            <a:ext cx="9726087"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dirty="0"/>
              <a:t>Medical Professionals are the top source of information for all three Functional Nutrition categories</a:t>
            </a:r>
            <a:endPar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10" name="TextBox 9">
            <a:extLst>
              <a:ext uri="{FF2B5EF4-FFF2-40B4-BE49-F238E27FC236}">
                <a16:creationId xmlns:a16="http://schemas.microsoft.com/office/drawing/2014/main" id="{9F48CC97-DDC3-0A99-6708-385A79410C13}"/>
              </a:ext>
            </a:extLst>
          </p:cNvPr>
          <p:cNvSpPr txBox="1"/>
          <p:nvPr/>
        </p:nvSpPr>
        <p:spPr>
          <a:xfrm>
            <a:off x="10330201" y="0"/>
            <a:ext cx="1861799" cy="646331"/>
          </a:xfrm>
          <a:prstGeom prst="rect">
            <a:avLst/>
          </a:prstGeom>
          <a:solidFill>
            <a:srgbClr val="FFFF00"/>
          </a:solidFill>
        </p:spPr>
        <p:txBody>
          <a:bodyPr wrap="square" rtlCol="0">
            <a:spAutoFit/>
          </a:bodyPr>
          <a:lstStyle/>
          <a:p>
            <a:r>
              <a:rPr lang="en-US" dirty="0"/>
              <a:t>Compare to total H&amp;W; add NETS</a:t>
            </a:r>
          </a:p>
        </p:txBody>
      </p:sp>
    </p:spTree>
    <p:extLst>
      <p:ext uri="{BB962C8B-B14F-4D97-AF65-F5344CB8AC3E}">
        <p14:creationId xmlns:p14="http://schemas.microsoft.com/office/powerpoint/2010/main" val="25004786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3DA22AC7-4442-4723-1336-24F39841431D}"/>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F2C987A0-6246-1806-F650-691716BF72E4}"/>
              </a:ext>
            </a:extLst>
          </p:cNvPr>
          <p:cNvSpPr txBox="1">
            <a:spLocks/>
          </p:cNvSpPr>
          <p:nvPr/>
        </p:nvSpPr>
        <p:spPr>
          <a:xfrm>
            <a:off x="436419" y="531991"/>
            <a:ext cx="7423311"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Unaidedly, Nature Made was the most often mentioned Supplement brand (open-ended), followed by Centrum and Nature’s Bounty</a:t>
            </a:r>
          </a:p>
        </p:txBody>
      </p:sp>
      <p:sp>
        <p:nvSpPr>
          <p:cNvPr id="73" name="TextBox 72">
            <a:extLst>
              <a:ext uri="{FF2B5EF4-FFF2-40B4-BE49-F238E27FC236}">
                <a16:creationId xmlns:a16="http://schemas.microsoft.com/office/drawing/2014/main" id="{E562CFD7-8E6D-6BB1-48A4-CD5BDF912E2C}"/>
              </a:ext>
            </a:extLst>
          </p:cNvPr>
          <p:cNvSpPr txBox="1"/>
          <p:nvPr/>
        </p:nvSpPr>
        <p:spPr>
          <a:xfrm>
            <a:off x="43084" y="6446357"/>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C2. What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brands</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of  Dietary Supplements do you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regularly</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purchase? Please list all the brands  Dietary Supplements you can think of  that are a regular part of your routine.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7" name="Slide Number Placeholder 3">
            <a:extLst>
              <a:ext uri="{FF2B5EF4-FFF2-40B4-BE49-F238E27FC236}">
                <a16:creationId xmlns:a16="http://schemas.microsoft.com/office/drawing/2014/main" id="{92A2D87B-EC23-D9FF-C3D8-67CBC08F9384}"/>
              </a:ext>
            </a:extLst>
          </p:cNvPr>
          <p:cNvSpPr>
            <a:spLocks noGrp="1"/>
          </p:cNvSpPr>
          <p:nvPr>
            <p:ph type="sldNum" idx="12"/>
          </p:nvPr>
        </p:nvSpPr>
        <p:spPr/>
        <p:txBody>
          <a:bodyPr vert="horz" lIns="91440" tIns="45720" rIns="91440" bIns="45720" rtlCol="0" anchor="ctr">
            <a:normAutofit fontScale="40000" lnSpcReduction="20000"/>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 name="Footer Placeholder 2">
            <a:extLst>
              <a:ext uri="{FF2B5EF4-FFF2-40B4-BE49-F238E27FC236}">
                <a16:creationId xmlns:a16="http://schemas.microsoft.com/office/drawing/2014/main" id="{9899D341-6252-2A72-BE78-73B81949C201}"/>
              </a:ext>
            </a:extLst>
          </p:cNvPr>
          <p:cNvSpPr>
            <a:spLocks noGrp="1"/>
          </p:cNvSpPr>
          <p:nvPr>
            <p:ph type="ftr" sz="quarter" idx="4294967295"/>
          </p:nvPr>
        </p:nvSpPr>
        <p:spPr>
          <a:xfrm>
            <a:off x="7369175" y="6459538"/>
            <a:ext cx="4822825"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5" name="Table 4">
            <a:extLst>
              <a:ext uri="{FF2B5EF4-FFF2-40B4-BE49-F238E27FC236}">
                <a16:creationId xmlns:a16="http://schemas.microsoft.com/office/drawing/2014/main" id="{1A267490-0C34-2B11-E619-C21AE4CD99A3}"/>
              </a:ext>
            </a:extLst>
          </p:cNvPr>
          <p:cNvGraphicFramePr>
            <a:graphicFrameLocks noGrp="1"/>
          </p:cNvGraphicFramePr>
          <p:nvPr>
            <p:extLst>
              <p:ext uri="{D42A27DB-BD31-4B8C-83A1-F6EECF244321}">
                <p14:modId xmlns:p14="http://schemas.microsoft.com/office/powerpoint/2010/main" val="381592193"/>
              </p:ext>
            </p:extLst>
          </p:nvPr>
        </p:nvGraphicFramePr>
        <p:xfrm>
          <a:off x="528886" y="2799938"/>
          <a:ext cx="3017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634517051"/>
                    </a:ext>
                  </a:extLst>
                </a:gridCol>
                <a:gridCol w="914400">
                  <a:extLst>
                    <a:ext uri="{9D8B030D-6E8A-4147-A177-3AD203B41FA5}">
                      <a16:colId xmlns:a16="http://schemas.microsoft.com/office/drawing/2014/main" val="3453797810"/>
                    </a:ext>
                  </a:extLst>
                </a:gridCol>
              </a:tblGrid>
              <a:tr h="370840">
                <a:tc gridSpan="2">
                  <a:txBody>
                    <a:bodyPr/>
                    <a:lstStyle/>
                    <a:p>
                      <a:pPr algn="ctr"/>
                      <a:r>
                        <a:rPr lang="en-US" sz="1200" dirty="0"/>
                        <a:t>Dietary Supplements</a:t>
                      </a:r>
                    </a:p>
                    <a:p>
                      <a:pPr algn="ctr"/>
                      <a:r>
                        <a:rPr lang="en-US" sz="1200" b="0" dirty="0"/>
                        <a:t>% of once/week+ users</a:t>
                      </a:r>
                    </a:p>
                  </a:txBody>
                  <a:tcPr/>
                </a:tc>
                <a:tc hMerge="1">
                  <a:txBody>
                    <a:bodyPr/>
                    <a:lstStyle/>
                    <a:p>
                      <a:endParaRPr lang="en-US" dirty="0"/>
                    </a:p>
                  </a:txBody>
                  <a:tcPr/>
                </a:tc>
                <a:extLst>
                  <a:ext uri="{0D108BD9-81ED-4DB2-BD59-A6C34878D82A}">
                    <a16:rowId xmlns:a16="http://schemas.microsoft.com/office/drawing/2014/main" val="3939604066"/>
                  </a:ext>
                </a:extLst>
              </a:tr>
              <a:tr h="182880">
                <a:tc>
                  <a:txBody>
                    <a:bodyPr/>
                    <a:lstStyle/>
                    <a:p>
                      <a:pPr algn="l" fontAlgn="b">
                        <a:buNone/>
                      </a:pPr>
                      <a:r>
                        <a:rPr lang="en-US" sz="1050" b="0" i="0" u="none" strike="noStrike" dirty="0">
                          <a:effectLst/>
                          <a:latin typeface="Arial" panose="020B0604020202020204" pitchFamily="34" charset="0"/>
                        </a:rPr>
                        <a:t>Nature Made</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31 </a:t>
                      </a:r>
                    </a:p>
                  </a:txBody>
                  <a:tcPr marL="9525" marR="9525" marT="9525" marB="0" anchor="ctr">
                    <a:noFill/>
                  </a:tcPr>
                </a:tc>
                <a:extLst>
                  <a:ext uri="{0D108BD9-81ED-4DB2-BD59-A6C34878D82A}">
                    <a16:rowId xmlns:a16="http://schemas.microsoft.com/office/drawing/2014/main" val="3209808471"/>
                  </a:ext>
                </a:extLst>
              </a:tr>
              <a:tr h="182880">
                <a:tc>
                  <a:txBody>
                    <a:bodyPr/>
                    <a:lstStyle/>
                    <a:p>
                      <a:pPr algn="l" fontAlgn="b">
                        <a:buNone/>
                      </a:pPr>
                      <a:r>
                        <a:rPr lang="en-US" sz="1050" b="0" i="0" u="none" strike="noStrike" dirty="0">
                          <a:effectLst/>
                          <a:latin typeface="Arial" panose="020B0604020202020204" pitchFamily="34" charset="0"/>
                        </a:rPr>
                        <a:t>Centrum</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14 </a:t>
                      </a:r>
                    </a:p>
                  </a:txBody>
                  <a:tcPr marL="9525" marR="9525" marT="9525" marB="0" anchor="ctr">
                    <a:noFill/>
                  </a:tcPr>
                </a:tc>
                <a:extLst>
                  <a:ext uri="{0D108BD9-81ED-4DB2-BD59-A6C34878D82A}">
                    <a16:rowId xmlns:a16="http://schemas.microsoft.com/office/drawing/2014/main" val="1641478282"/>
                  </a:ext>
                </a:extLst>
              </a:tr>
              <a:tr h="182880">
                <a:tc>
                  <a:txBody>
                    <a:bodyPr/>
                    <a:lstStyle/>
                    <a:p>
                      <a:pPr algn="l" fontAlgn="b">
                        <a:buNone/>
                      </a:pPr>
                      <a:r>
                        <a:rPr lang="en-US" sz="1050" b="0" i="0" u="none" strike="noStrike" dirty="0">
                          <a:effectLst/>
                          <a:latin typeface="Arial" panose="020B0604020202020204" pitchFamily="34" charset="0"/>
                        </a:rPr>
                        <a:t>Nature's Bounty</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14 </a:t>
                      </a:r>
                    </a:p>
                  </a:txBody>
                  <a:tcPr marL="9525" marR="9525" marT="9525" marB="0" anchor="ctr">
                    <a:noFill/>
                  </a:tcPr>
                </a:tc>
                <a:extLst>
                  <a:ext uri="{0D108BD9-81ED-4DB2-BD59-A6C34878D82A}">
                    <a16:rowId xmlns:a16="http://schemas.microsoft.com/office/drawing/2014/main" val="29471956"/>
                  </a:ext>
                </a:extLst>
              </a:tr>
              <a:tr h="182880">
                <a:tc>
                  <a:txBody>
                    <a:bodyPr/>
                    <a:lstStyle/>
                    <a:p>
                      <a:pPr algn="l" fontAlgn="b">
                        <a:buNone/>
                      </a:pPr>
                      <a:r>
                        <a:rPr lang="en-US" sz="1050" b="0" i="0" u="none" strike="noStrike" dirty="0">
                          <a:effectLst/>
                          <a:latin typeface="Arial" panose="020B0604020202020204" pitchFamily="34" charset="0"/>
                        </a:rPr>
                        <a:t>Olly</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10 </a:t>
                      </a:r>
                    </a:p>
                  </a:txBody>
                  <a:tcPr marL="9525" marR="9525" marT="9525" marB="0" anchor="ctr">
                    <a:noFill/>
                  </a:tcPr>
                </a:tc>
                <a:extLst>
                  <a:ext uri="{0D108BD9-81ED-4DB2-BD59-A6C34878D82A}">
                    <a16:rowId xmlns:a16="http://schemas.microsoft.com/office/drawing/2014/main" val="647951843"/>
                  </a:ext>
                </a:extLst>
              </a:tr>
              <a:tr h="182880">
                <a:tc>
                  <a:txBody>
                    <a:bodyPr/>
                    <a:lstStyle/>
                    <a:p>
                      <a:pPr algn="l" fontAlgn="b">
                        <a:buNone/>
                      </a:pPr>
                      <a:r>
                        <a:rPr lang="en-US" sz="1050" b="0" i="0" u="none" strike="noStrike" dirty="0">
                          <a:effectLst/>
                          <a:latin typeface="Arial" panose="020B0604020202020204" pitchFamily="34" charset="0"/>
                        </a:rPr>
                        <a:t>One A Day</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8 </a:t>
                      </a:r>
                    </a:p>
                  </a:txBody>
                  <a:tcPr marL="9525" marR="9525" marT="9525" marB="0" anchor="ctr">
                    <a:noFill/>
                  </a:tcPr>
                </a:tc>
                <a:extLst>
                  <a:ext uri="{0D108BD9-81ED-4DB2-BD59-A6C34878D82A}">
                    <a16:rowId xmlns:a16="http://schemas.microsoft.com/office/drawing/2014/main" val="4034885438"/>
                  </a:ext>
                </a:extLst>
              </a:tr>
              <a:tr h="182880">
                <a:tc>
                  <a:txBody>
                    <a:bodyPr/>
                    <a:lstStyle/>
                    <a:p>
                      <a:pPr algn="l" fontAlgn="b">
                        <a:buNone/>
                      </a:pPr>
                      <a:r>
                        <a:rPr lang="en-US" sz="1050" b="0" i="0" u="none" strike="noStrike" dirty="0">
                          <a:effectLst/>
                          <a:latin typeface="Arial" panose="020B0604020202020204" pitchFamily="34" charset="0"/>
                        </a:rPr>
                        <a:t>Garden Of Life</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5 </a:t>
                      </a:r>
                    </a:p>
                  </a:txBody>
                  <a:tcPr marL="9525" marR="9525" marT="9525" marB="0" anchor="ctr">
                    <a:noFill/>
                  </a:tcPr>
                </a:tc>
                <a:extLst>
                  <a:ext uri="{0D108BD9-81ED-4DB2-BD59-A6C34878D82A}">
                    <a16:rowId xmlns:a16="http://schemas.microsoft.com/office/drawing/2014/main" val="2131562700"/>
                  </a:ext>
                </a:extLst>
              </a:tr>
              <a:tr h="182880">
                <a:tc>
                  <a:txBody>
                    <a:bodyPr/>
                    <a:lstStyle/>
                    <a:p>
                      <a:pPr algn="l" fontAlgn="b">
                        <a:buNone/>
                      </a:pPr>
                      <a:r>
                        <a:rPr lang="en-US" sz="1050" b="0" i="0" u="none" strike="noStrike" dirty="0">
                          <a:effectLst/>
                          <a:latin typeface="Arial" panose="020B0604020202020204" pitchFamily="34" charset="0"/>
                        </a:rPr>
                        <a:t>Vitafusion</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ctr">
                    <a:noFill/>
                  </a:tcPr>
                </a:tc>
                <a:extLst>
                  <a:ext uri="{0D108BD9-81ED-4DB2-BD59-A6C34878D82A}">
                    <a16:rowId xmlns:a16="http://schemas.microsoft.com/office/drawing/2014/main" val="2118512621"/>
                  </a:ext>
                </a:extLst>
              </a:tr>
              <a:tr h="182880">
                <a:tc>
                  <a:txBody>
                    <a:bodyPr/>
                    <a:lstStyle/>
                    <a:p>
                      <a:pPr algn="l" fontAlgn="b">
                        <a:buNone/>
                      </a:pPr>
                      <a:r>
                        <a:rPr lang="en-US" sz="1050" b="0" i="0" u="none" strike="noStrike" dirty="0">
                          <a:effectLst/>
                          <a:latin typeface="Arial" panose="020B0604020202020204" pitchFamily="34" charset="0"/>
                        </a:rPr>
                        <a:t>Now Brand</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ctr">
                    <a:noFill/>
                  </a:tcPr>
                </a:tc>
                <a:extLst>
                  <a:ext uri="{0D108BD9-81ED-4DB2-BD59-A6C34878D82A}">
                    <a16:rowId xmlns:a16="http://schemas.microsoft.com/office/drawing/2014/main" val="1166837071"/>
                  </a:ext>
                </a:extLst>
              </a:tr>
              <a:tr h="182880">
                <a:tc>
                  <a:txBody>
                    <a:bodyPr/>
                    <a:lstStyle/>
                    <a:p>
                      <a:pPr algn="l" fontAlgn="b">
                        <a:buNone/>
                      </a:pPr>
                      <a:r>
                        <a:rPr lang="en-US" sz="1050" b="0" i="0" u="none" strike="noStrike" dirty="0">
                          <a:effectLst/>
                          <a:latin typeface="Arial" panose="020B0604020202020204" pitchFamily="34" charset="0"/>
                        </a:rPr>
                        <a:t>Nature Valley/Nature's Valley</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ctr">
                    <a:noFill/>
                  </a:tcPr>
                </a:tc>
                <a:extLst>
                  <a:ext uri="{0D108BD9-81ED-4DB2-BD59-A6C34878D82A}">
                    <a16:rowId xmlns:a16="http://schemas.microsoft.com/office/drawing/2014/main" val="1469024950"/>
                  </a:ext>
                </a:extLst>
              </a:tr>
              <a:tr h="182880">
                <a:tc>
                  <a:txBody>
                    <a:bodyPr/>
                    <a:lstStyle/>
                    <a:p>
                      <a:pPr algn="l" fontAlgn="b">
                        <a:buNone/>
                      </a:pPr>
                      <a:r>
                        <a:rPr lang="en-US" sz="1050" b="0" i="0" u="none" strike="noStrike" dirty="0">
                          <a:effectLst/>
                          <a:latin typeface="Arial" panose="020B0604020202020204" pitchFamily="34" charset="0"/>
                        </a:rPr>
                        <a:t>Spring Valley</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ctr">
                    <a:noFill/>
                  </a:tcPr>
                </a:tc>
                <a:extLst>
                  <a:ext uri="{0D108BD9-81ED-4DB2-BD59-A6C34878D82A}">
                    <a16:rowId xmlns:a16="http://schemas.microsoft.com/office/drawing/2014/main" val="3617769626"/>
                  </a:ext>
                </a:extLst>
              </a:tr>
              <a:tr h="182880">
                <a:tc>
                  <a:txBody>
                    <a:bodyPr/>
                    <a:lstStyle/>
                    <a:p>
                      <a:pPr algn="l" fontAlgn="b">
                        <a:buNone/>
                      </a:pPr>
                      <a:r>
                        <a:rPr lang="en-US" sz="1050" b="0" i="0" u="none" strike="noStrike" dirty="0">
                          <a:effectLst/>
                          <a:latin typeface="Arial" panose="020B0604020202020204" pitchFamily="34" charset="0"/>
                        </a:rPr>
                        <a:t>Nature's Way</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ctr">
                    <a:noFill/>
                  </a:tcPr>
                </a:tc>
                <a:extLst>
                  <a:ext uri="{0D108BD9-81ED-4DB2-BD59-A6C34878D82A}">
                    <a16:rowId xmlns:a16="http://schemas.microsoft.com/office/drawing/2014/main" val="153990652"/>
                  </a:ext>
                </a:extLst>
              </a:tr>
              <a:tr h="182880">
                <a:tc>
                  <a:txBody>
                    <a:bodyPr/>
                    <a:lstStyle/>
                    <a:p>
                      <a:pPr algn="l" fontAlgn="b">
                        <a:buNone/>
                      </a:pPr>
                      <a:r>
                        <a:rPr lang="en-US" sz="1050" b="0" i="0" u="none" strike="noStrike" dirty="0">
                          <a:effectLst/>
                          <a:latin typeface="Arial" panose="020B0604020202020204" pitchFamily="34" charset="0"/>
                        </a:rPr>
                        <a:t>Thorne</a:t>
                      </a:r>
                    </a:p>
                  </a:txBody>
                  <a:tcPr marL="114300" marR="9525" marT="9525" marB="0" anchor="ctr">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ctr">
                    <a:noFill/>
                  </a:tcPr>
                </a:tc>
                <a:extLst>
                  <a:ext uri="{0D108BD9-81ED-4DB2-BD59-A6C34878D82A}">
                    <a16:rowId xmlns:a16="http://schemas.microsoft.com/office/drawing/2014/main" val="3136967011"/>
                  </a:ext>
                </a:extLst>
              </a:tr>
              <a:tr h="182880">
                <a:tc>
                  <a:txBody>
                    <a:bodyPr/>
                    <a:lstStyle/>
                    <a:p>
                      <a:pPr algn="l" fontAlgn="b">
                        <a:buNone/>
                      </a:pPr>
                      <a:r>
                        <a:rPr lang="en-US" sz="1050" b="0" i="0" u="none" strike="noStrike" dirty="0">
                          <a:effectLst/>
                          <a:latin typeface="Arial" panose="020B0604020202020204" pitchFamily="34" charset="0"/>
                        </a:rPr>
                        <a:t>Nordic Naturals</a:t>
                      </a:r>
                    </a:p>
                  </a:txBody>
                  <a:tcPr marL="114300" marR="9525" marT="9525" marB="0" anchor="ct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ctr">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828851213"/>
                  </a:ext>
                </a:extLst>
              </a:tr>
              <a:tr h="182880">
                <a:tc>
                  <a:txBody>
                    <a:bodyPr/>
                    <a:lstStyle/>
                    <a:p>
                      <a:pPr algn="l" fontAlgn="b">
                        <a:buNone/>
                      </a:pPr>
                      <a:r>
                        <a:rPr lang="en-US" sz="1050" b="0" i="0" u="none" strike="noStrike" dirty="0">
                          <a:effectLst/>
                          <a:latin typeface="Arial" panose="020B0604020202020204" pitchFamily="34" charset="0"/>
                        </a:rPr>
                        <a:t>Store Brands (subnet)</a:t>
                      </a:r>
                    </a:p>
                  </a:txBody>
                  <a:tcPr marL="114300" marR="9525" marT="9525" marB="0" anchor="b">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rPr>
                        <a:t>20 </a:t>
                      </a:r>
                    </a:p>
                  </a:txBody>
                  <a:tcPr marL="9525" marR="9525" marT="9525" marB="0" anchor="b">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3987899669"/>
                  </a:ext>
                </a:extLst>
              </a:tr>
            </a:tbl>
          </a:graphicData>
        </a:graphic>
      </p:graphicFrame>
      <p:graphicFrame>
        <p:nvGraphicFramePr>
          <p:cNvPr id="8" name="Table 7">
            <a:extLst>
              <a:ext uri="{FF2B5EF4-FFF2-40B4-BE49-F238E27FC236}">
                <a16:creationId xmlns:a16="http://schemas.microsoft.com/office/drawing/2014/main" id="{F7917DFC-E2D5-648F-9C46-66B394664C21}"/>
              </a:ext>
            </a:extLst>
          </p:cNvPr>
          <p:cNvGraphicFramePr>
            <a:graphicFrameLocks noGrp="1"/>
          </p:cNvGraphicFramePr>
          <p:nvPr>
            <p:extLst>
              <p:ext uri="{D42A27DB-BD31-4B8C-83A1-F6EECF244321}">
                <p14:modId xmlns:p14="http://schemas.microsoft.com/office/powerpoint/2010/main" val="1189819860"/>
              </p:ext>
            </p:extLst>
          </p:nvPr>
        </p:nvGraphicFramePr>
        <p:xfrm>
          <a:off x="4220987" y="1569174"/>
          <a:ext cx="3017520" cy="42976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634517051"/>
                    </a:ext>
                  </a:extLst>
                </a:gridCol>
                <a:gridCol w="914400">
                  <a:extLst>
                    <a:ext uri="{9D8B030D-6E8A-4147-A177-3AD203B41FA5}">
                      <a16:colId xmlns:a16="http://schemas.microsoft.com/office/drawing/2014/main" val="3453797810"/>
                    </a:ext>
                  </a:extLst>
                </a:gridCol>
              </a:tblGrid>
              <a:tr h="370840">
                <a:tc gridSpan="2">
                  <a:txBody>
                    <a:bodyPr/>
                    <a:lstStyle/>
                    <a:p>
                      <a:pPr algn="ctr"/>
                      <a:r>
                        <a:rPr lang="en-US" sz="1200" dirty="0"/>
                        <a:t>Functional Foods</a:t>
                      </a:r>
                    </a:p>
                    <a:p>
                      <a:pPr algn="ctr"/>
                      <a:r>
                        <a:rPr lang="en-US" sz="1200" b="0" dirty="0"/>
                        <a:t>% of once/week+ users</a:t>
                      </a:r>
                    </a:p>
                  </a:txBody>
                  <a:tcPr/>
                </a:tc>
                <a:tc hMerge="1">
                  <a:txBody>
                    <a:bodyPr/>
                    <a:lstStyle/>
                    <a:p>
                      <a:endParaRPr lang="en-US" dirty="0"/>
                    </a:p>
                  </a:txBody>
                  <a:tcPr/>
                </a:tc>
                <a:extLst>
                  <a:ext uri="{0D108BD9-81ED-4DB2-BD59-A6C34878D82A}">
                    <a16:rowId xmlns:a16="http://schemas.microsoft.com/office/drawing/2014/main" val="3939604066"/>
                  </a:ext>
                </a:extLst>
              </a:tr>
              <a:tr h="182880">
                <a:tc>
                  <a:txBody>
                    <a:bodyPr/>
                    <a:lstStyle/>
                    <a:p>
                      <a:pPr algn="l" fontAlgn="b">
                        <a:buNone/>
                      </a:pPr>
                      <a:r>
                        <a:rPr lang="en-US" sz="1050" b="0" i="0" u="none" strike="noStrike" dirty="0">
                          <a:effectLst/>
                          <a:latin typeface="Arial" panose="020B0604020202020204" pitchFamily="34" charset="0"/>
                        </a:rPr>
                        <a:t>Kind</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5 </a:t>
                      </a:r>
                    </a:p>
                  </a:txBody>
                  <a:tcPr marL="9525" marR="9525" marT="9525" marB="0" anchor="b">
                    <a:noFill/>
                  </a:tcPr>
                </a:tc>
                <a:extLst>
                  <a:ext uri="{0D108BD9-81ED-4DB2-BD59-A6C34878D82A}">
                    <a16:rowId xmlns:a16="http://schemas.microsoft.com/office/drawing/2014/main" val="3209808471"/>
                  </a:ext>
                </a:extLst>
              </a:tr>
              <a:tr h="182880">
                <a:tc>
                  <a:txBody>
                    <a:bodyPr/>
                    <a:lstStyle/>
                    <a:p>
                      <a:pPr algn="l" fontAlgn="b">
                        <a:buNone/>
                      </a:pPr>
                      <a:r>
                        <a:rPr lang="en-US" sz="1050" b="0" i="0" u="none" strike="noStrike" dirty="0">
                          <a:effectLst/>
                          <a:latin typeface="Arial" panose="020B0604020202020204" pitchFamily="34" charset="0"/>
                        </a:rPr>
                        <a:t>Quest</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5 </a:t>
                      </a:r>
                    </a:p>
                  </a:txBody>
                  <a:tcPr marL="9525" marR="9525" marT="9525" marB="0" anchor="b">
                    <a:noFill/>
                  </a:tcPr>
                </a:tc>
                <a:extLst>
                  <a:ext uri="{0D108BD9-81ED-4DB2-BD59-A6C34878D82A}">
                    <a16:rowId xmlns:a16="http://schemas.microsoft.com/office/drawing/2014/main" val="827715920"/>
                  </a:ext>
                </a:extLst>
              </a:tr>
              <a:tr h="182880">
                <a:tc>
                  <a:txBody>
                    <a:bodyPr/>
                    <a:lstStyle/>
                    <a:p>
                      <a:pPr algn="l" fontAlgn="b">
                        <a:buNone/>
                      </a:pPr>
                      <a:r>
                        <a:rPr lang="en-US" sz="1050" b="0" i="0" u="none" strike="noStrike" dirty="0">
                          <a:effectLst/>
                          <a:latin typeface="Arial" panose="020B0604020202020204" pitchFamily="34" charset="0"/>
                        </a:rPr>
                        <a:t>Nestle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5 </a:t>
                      </a:r>
                    </a:p>
                  </a:txBody>
                  <a:tcPr marL="9525" marR="9525" marT="9525" marB="0" anchor="b">
                    <a:noFill/>
                  </a:tcPr>
                </a:tc>
                <a:extLst>
                  <a:ext uri="{0D108BD9-81ED-4DB2-BD59-A6C34878D82A}">
                    <a16:rowId xmlns:a16="http://schemas.microsoft.com/office/drawing/2014/main" val="4110403276"/>
                  </a:ext>
                </a:extLst>
              </a:tr>
              <a:tr h="182880">
                <a:tc>
                  <a:txBody>
                    <a:bodyPr/>
                    <a:lstStyle/>
                    <a:p>
                      <a:pPr algn="l" fontAlgn="b">
                        <a:buNone/>
                      </a:pPr>
                      <a:r>
                        <a:rPr lang="en-US" sz="1050" b="0" i="0" u="none" strike="noStrike" dirty="0">
                          <a:effectLst/>
                          <a:latin typeface="Arial" panose="020B0604020202020204" pitchFamily="34" charset="0"/>
                        </a:rPr>
                        <a:t>Chobani</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b">
                    <a:noFill/>
                  </a:tcPr>
                </a:tc>
                <a:extLst>
                  <a:ext uri="{0D108BD9-81ED-4DB2-BD59-A6C34878D82A}">
                    <a16:rowId xmlns:a16="http://schemas.microsoft.com/office/drawing/2014/main" val="923261317"/>
                  </a:ext>
                </a:extLst>
              </a:tr>
              <a:tr h="182880">
                <a:tc>
                  <a:txBody>
                    <a:bodyPr/>
                    <a:lstStyle/>
                    <a:p>
                      <a:pPr algn="l" fontAlgn="b">
                        <a:buNone/>
                      </a:pPr>
                      <a:r>
                        <a:rPr lang="en-US" sz="1050" b="0" i="0" u="none" strike="noStrike" dirty="0">
                          <a:effectLst/>
                          <a:latin typeface="Arial" panose="020B0604020202020204" pitchFamily="34" charset="0"/>
                        </a:rPr>
                        <a:t>Kellogg's</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b">
                    <a:noFill/>
                  </a:tcPr>
                </a:tc>
                <a:extLst>
                  <a:ext uri="{0D108BD9-81ED-4DB2-BD59-A6C34878D82A}">
                    <a16:rowId xmlns:a16="http://schemas.microsoft.com/office/drawing/2014/main" val="2075814575"/>
                  </a:ext>
                </a:extLst>
              </a:tr>
              <a:tr h="182880">
                <a:tc>
                  <a:txBody>
                    <a:bodyPr/>
                    <a:lstStyle/>
                    <a:p>
                      <a:pPr algn="l" fontAlgn="b">
                        <a:buNone/>
                      </a:pPr>
                      <a:r>
                        <a:rPr lang="en-US" sz="1050" b="0" i="0" u="none" strike="noStrike" dirty="0">
                          <a:effectLst/>
                          <a:latin typeface="Arial" panose="020B0604020202020204" pitchFamily="34" charset="0"/>
                        </a:rPr>
                        <a:t>OLIPOP</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b">
                    <a:noFill/>
                  </a:tcPr>
                </a:tc>
                <a:extLst>
                  <a:ext uri="{0D108BD9-81ED-4DB2-BD59-A6C34878D82A}">
                    <a16:rowId xmlns:a16="http://schemas.microsoft.com/office/drawing/2014/main" val="1641478282"/>
                  </a:ext>
                </a:extLst>
              </a:tr>
              <a:tr h="182880">
                <a:tc>
                  <a:txBody>
                    <a:bodyPr/>
                    <a:lstStyle/>
                    <a:p>
                      <a:pPr algn="l" fontAlgn="b">
                        <a:buNone/>
                      </a:pPr>
                      <a:r>
                        <a:rPr lang="en-US" sz="1050" b="0" i="0" u="none" strike="noStrike" dirty="0">
                          <a:effectLst/>
                          <a:latin typeface="Arial" panose="020B0604020202020204" pitchFamily="34" charset="0"/>
                        </a:rPr>
                        <a:t>Clif/Clif Bar</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b">
                    <a:noFill/>
                  </a:tcPr>
                </a:tc>
                <a:extLst>
                  <a:ext uri="{0D108BD9-81ED-4DB2-BD59-A6C34878D82A}">
                    <a16:rowId xmlns:a16="http://schemas.microsoft.com/office/drawing/2014/main" val="29471956"/>
                  </a:ext>
                </a:extLst>
              </a:tr>
              <a:tr h="182880">
                <a:tc>
                  <a:txBody>
                    <a:bodyPr/>
                    <a:lstStyle/>
                    <a:p>
                      <a:pPr algn="l" fontAlgn="b">
                        <a:buNone/>
                      </a:pPr>
                      <a:r>
                        <a:rPr lang="en-US" sz="1050" b="0" i="0" u="none" strike="noStrike" dirty="0">
                          <a:effectLst/>
                          <a:latin typeface="Arial" panose="020B0604020202020204" pitchFamily="34" charset="0"/>
                        </a:rPr>
                        <a:t>General Mills</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647951843"/>
                  </a:ext>
                </a:extLst>
              </a:tr>
              <a:tr h="182880">
                <a:tc>
                  <a:txBody>
                    <a:bodyPr/>
                    <a:lstStyle/>
                    <a:p>
                      <a:pPr algn="l" fontAlgn="b">
                        <a:buNone/>
                      </a:pPr>
                      <a:r>
                        <a:rPr lang="en-US" sz="1050" b="0" i="0" u="none" strike="noStrike" dirty="0">
                          <a:effectLst/>
                          <a:latin typeface="Arial" panose="020B0604020202020204" pitchFamily="34" charset="0"/>
                        </a:rPr>
                        <a:t>Activia</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4034885438"/>
                  </a:ext>
                </a:extLst>
              </a:tr>
              <a:tr h="182880">
                <a:tc>
                  <a:txBody>
                    <a:bodyPr/>
                    <a:lstStyle/>
                    <a:p>
                      <a:pPr algn="l" fontAlgn="b">
                        <a:buNone/>
                      </a:pPr>
                      <a:r>
                        <a:rPr lang="en-US" sz="1050" b="0" i="0" u="none" strike="noStrike" dirty="0">
                          <a:effectLst/>
                          <a:latin typeface="Arial" panose="020B0604020202020204" pitchFamily="34" charset="0"/>
                        </a:rPr>
                        <a:t>Danone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2131562700"/>
                  </a:ext>
                </a:extLst>
              </a:tr>
              <a:tr h="182880">
                <a:tc>
                  <a:txBody>
                    <a:bodyPr/>
                    <a:lstStyle/>
                    <a:p>
                      <a:pPr algn="l" fontAlgn="b">
                        <a:buNone/>
                      </a:pPr>
                      <a:r>
                        <a:rPr lang="en-US" sz="1050" b="0" i="0" u="none" strike="noStrike" dirty="0">
                          <a:effectLst/>
                          <a:latin typeface="Arial" panose="020B0604020202020204" pitchFamily="34" charset="0"/>
                        </a:rPr>
                        <a:t>Poppi</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2118512621"/>
                  </a:ext>
                </a:extLst>
              </a:tr>
              <a:tr h="182880">
                <a:tc>
                  <a:txBody>
                    <a:bodyPr/>
                    <a:lstStyle/>
                    <a:p>
                      <a:pPr algn="l" fontAlgn="b">
                        <a:buNone/>
                      </a:pPr>
                      <a:r>
                        <a:rPr lang="en-US" sz="1050" b="0" i="0" u="none" strike="noStrike" dirty="0">
                          <a:effectLst/>
                          <a:latin typeface="Arial" panose="020B0604020202020204" pitchFamily="34" charset="0"/>
                        </a:rPr>
                        <a:t>Premier Protein</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1166837071"/>
                  </a:ext>
                </a:extLst>
              </a:tr>
              <a:tr h="182880">
                <a:tc>
                  <a:txBody>
                    <a:bodyPr/>
                    <a:lstStyle/>
                    <a:p>
                      <a:pPr algn="l" fontAlgn="b">
                        <a:buNone/>
                      </a:pPr>
                      <a:r>
                        <a:rPr lang="en-US" sz="1050" b="0" i="0" u="none" strike="noStrike" dirty="0">
                          <a:effectLst/>
                          <a:latin typeface="Arial" panose="020B0604020202020204" pitchFamily="34" charset="0"/>
                        </a:rPr>
                        <a:t>Fiber One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1469024950"/>
                  </a:ext>
                </a:extLst>
              </a:tr>
              <a:tr h="182880">
                <a:tc>
                  <a:txBody>
                    <a:bodyPr/>
                    <a:lstStyle/>
                    <a:p>
                      <a:pPr algn="l" fontAlgn="b">
                        <a:buNone/>
                      </a:pPr>
                      <a:r>
                        <a:rPr lang="en-US" sz="1050" b="0" i="0" u="none" strike="noStrike" dirty="0">
                          <a:effectLst/>
                          <a:latin typeface="Arial" panose="020B0604020202020204" pitchFamily="34" charset="0"/>
                        </a:rPr>
                        <a:t>Kashi</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3617769626"/>
                  </a:ext>
                </a:extLst>
              </a:tr>
              <a:tr h="182880">
                <a:tc>
                  <a:txBody>
                    <a:bodyPr/>
                    <a:lstStyle/>
                    <a:p>
                      <a:pPr algn="l" fontAlgn="b">
                        <a:buNone/>
                      </a:pPr>
                      <a:r>
                        <a:rPr lang="en-US" sz="1050" b="0" i="0" u="none" strike="noStrike" dirty="0">
                          <a:effectLst/>
                          <a:latin typeface="Arial" panose="020B0604020202020204" pitchFamily="34" charset="0"/>
                        </a:rPr>
                        <a:t>Quaker</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153990652"/>
                  </a:ext>
                </a:extLst>
              </a:tr>
              <a:tr h="182880">
                <a:tc>
                  <a:txBody>
                    <a:bodyPr/>
                    <a:lstStyle/>
                    <a:p>
                      <a:pPr algn="l" fontAlgn="b">
                        <a:buNone/>
                      </a:pPr>
                      <a:r>
                        <a:rPr lang="en-US" sz="1050" b="0" i="0" u="none" strike="noStrike" dirty="0">
                          <a:effectLst/>
                          <a:latin typeface="Arial" panose="020B0604020202020204" pitchFamily="34" charset="0"/>
                        </a:rPr>
                        <a:t>Ensure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3136967011"/>
                  </a:ext>
                </a:extLst>
              </a:tr>
              <a:tr h="182880">
                <a:tc>
                  <a:txBody>
                    <a:bodyPr/>
                    <a:lstStyle/>
                    <a:p>
                      <a:pPr algn="l" fontAlgn="b">
                        <a:buNone/>
                      </a:pPr>
                      <a:r>
                        <a:rPr lang="en-US" sz="1050" b="0" i="0" u="none" strike="noStrike" dirty="0">
                          <a:effectLst/>
                          <a:latin typeface="Arial" panose="020B0604020202020204" pitchFamily="34" charset="0"/>
                        </a:rPr>
                        <a:t>Nature Valley/Nature's Valley</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3828851213"/>
                  </a:ext>
                </a:extLst>
              </a:tr>
              <a:tr h="182880">
                <a:tc>
                  <a:txBody>
                    <a:bodyPr/>
                    <a:lstStyle/>
                    <a:p>
                      <a:pPr algn="l" fontAlgn="b">
                        <a:buNone/>
                      </a:pPr>
                      <a:r>
                        <a:rPr lang="en-US" sz="1050" b="0" i="0" u="none" strike="noStrike" dirty="0">
                          <a:effectLst/>
                          <a:latin typeface="Arial" panose="020B0604020202020204" pitchFamily="34" charset="0"/>
                        </a:rPr>
                        <a:t>Boost</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1945682274"/>
                  </a:ext>
                </a:extLst>
              </a:tr>
              <a:tr h="182880">
                <a:tc>
                  <a:txBody>
                    <a:bodyPr/>
                    <a:lstStyle/>
                    <a:p>
                      <a:pPr algn="l" fontAlgn="b">
                        <a:buNone/>
                      </a:pPr>
                      <a:r>
                        <a:rPr lang="en-US" sz="1050" b="0" i="0" u="none" strike="noStrike" dirty="0">
                          <a:effectLst/>
                          <a:latin typeface="Arial" panose="020B0604020202020204" pitchFamily="34" charset="0"/>
                        </a:rPr>
                        <a:t>Muscle Milk</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930698342"/>
                  </a:ext>
                </a:extLst>
              </a:tr>
              <a:tr h="182880">
                <a:tc>
                  <a:txBody>
                    <a:bodyPr/>
                    <a:lstStyle/>
                    <a:p>
                      <a:pPr algn="l" fontAlgn="b">
                        <a:buNone/>
                      </a:pPr>
                      <a:r>
                        <a:rPr lang="en-US" sz="1050" b="0" i="0" u="none" strike="noStrike" dirty="0">
                          <a:effectLst/>
                          <a:latin typeface="Arial" panose="020B0604020202020204" pitchFamily="34" charset="0"/>
                        </a:rPr>
                        <a:t>Rxbar</a:t>
                      </a:r>
                    </a:p>
                  </a:txBody>
                  <a:tcPr marL="114300" marR="9525" marT="9525" marB="0" anchor="b">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328309475"/>
                  </a:ext>
                </a:extLst>
              </a:tr>
              <a:tr h="182880">
                <a:tc>
                  <a:txBody>
                    <a:bodyPr/>
                    <a:lstStyle/>
                    <a:p>
                      <a:pPr algn="l" fontAlgn="b">
                        <a:buNone/>
                      </a:pPr>
                      <a:r>
                        <a:rPr lang="en-US" sz="1050" b="0" i="0" u="none" strike="noStrike" dirty="0">
                          <a:effectLst/>
                          <a:latin typeface="Arial" panose="020B0604020202020204" pitchFamily="34" charset="0"/>
                        </a:rPr>
                        <a:t>Store Brands (subnet)</a:t>
                      </a:r>
                    </a:p>
                  </a:txBody>
                  <a:tcPr marL="114300" marR="9525" marT="9525" marB="0" anchor="b">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rPr>
                        <a:t>9 </a:t>
                      </a:r>
                    </a:p>
                  </a:txBody>
                  <a:tcPr marL="9525" marR="9525" marT="9525" marB="0" anchor="b">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3903537599"/>
                  </a:ext>
                </a:extLst>
              </a:tr>
            </a:tbl>
          </a:graphicData>
        </a:graphic>
      </p:graphicFrame>
      <p:graphicFrame>
        <p:nvGraphicFramePr>
          <p:cNvPr id="9" name="Table 8">
            <a:extLst>
              <a:ext uri="{FF2B5EF4-FFF2-40B4-BE49-F238E27FC236}">
                <a16:creationId xmlns:a16="http://schemas.microsoft.com/office/drawing/2014/main" id="{7995692B-AB34-D2F0-C184-3FC9AC70A149}"/>
              </a:ext>
            </a:extLst>
          </p:cNvPr>
          <p:cNvGraphicFramePr>
            <a:graphicFrameLocks noGrp="1"/>
          </p:cNvGraphicFramePr>
          <p:nvPr>
            <p:extLst>
              <p:ext uri="{D42A27DB-BD31-4B8C-83A1-F6EECF244321}">
                <p14:modId xmlns:p14="http://schemas.microsoft.com/office/powerpoint/2010/main" val="342869657"/>
              </p:ext>
            </p:extLst>
          </p:nvPr>
        </p:nvGraphicFramePr>
        <p:xfrm>
          <a:off x="7748702" y="510580"/>
          <a:ext cx="3017520" cy="53949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634517051"/>
                    </a:ext>
                  </a:extLst>
                </a:gridCol>
                <a:gridCol w="914400">
                  <a:extLst>
                    <a:ext uri="{9D8B030D-6E8A-4147-A177-3AD203B41FA5}">
                      <a16:colId xmlns:a16="http://schemas.microsoft.com/office/drawing/2014/main" val="3453797810"/>
                    </a:ext>
                  </a:extLst>
                </a:gridCol>
              </a:tblGrid>
              <a:tr h="370840">
                <a:tc gridSpan="2">
                  <a:txBody>
                    <a:bodyPr/>
                    <a:lstStyle/>
                    <a:p>
                      <a:pPr algn="ctr"/>
                      <a:r>
                        <a:rPr lang="en-US" sz="1200" dirty="0"/>
                        <a:t>Functional Beverages</a:t>
                      </a:r>
                    </a:p>
                    <a:p>
                      <a:pPr algn="ctr"/>
                      <a:r>
                        <a:rPr lang="en-US" sz="1200" b="0" dirty="0"/>
                        <a:t>% of once/week+ users</a:t>
                      </a:r>
                    </a:p>
                  </a:txBody>
                  <a:tcPr/>
                </a:tc>
                <a:tc hMerge="1">
                  <a:txBody>
                    <a:bodyPr/>
                    <a:lstStyle/>
                    <a:p>
                      <a:endParaRPr lang="en-US" dirty="0"/>
                    </a:p>
                  </a:txBody>
                  <a:tcPr/>
                </a:tc>
                <a:extLst>
                  <a:ext uri="{0D108BD9-81ED-4DB2-BD59-A6C34878D82A}">
                    <a16:rowId xmlns:a16="http://schemas.microsoft.com/office/drawing/2014/main" val="3939604066"/>
                  </a:ext>
                </a:extLst>
              </a:tr>
              <a:tr h="182880">
                <a:tc>
                  <a:txBody>
                    <a:bodyPr/>
                    <a:lstStyle/>
                    <a:p>
                      <a:pPr algn="l" fontAlgn="b">
                        <a:buNone/>
                      </a:pPr>
                      <a:r>
                        <a:rPr lang="en-US" sz="1050" b="0" i="0" u="none" strike="noStrike" dirty="0">
                          <a:effectLst/>
                          <a:latin typeface="Arial" panose="020B0604020202020204" pitchFamily="34" charset="0"/>
                        </a:rPr>
                        <a:t>Gatorade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19 </a:t>
                      </a:r>
                    </a:p>
                  </a:txBody>
                  <a:tcPr marL="9525" marR="9525" marT="9525" marB="0" anchor="b">
                    <a:noFill/>
                  </a:tcPr>
                </a:tc>
                <a:extLst>
                  <a:ext uri="{0D108BD9-81ED-4DB2-BD59-A6C34878D82A}">
                    <a16:rowId xmlns:a16="http://schemas.microsoft.com/office/drawing/2014/main" val="3209808471"/>
                  </a:ext>
                </a:extLst>
              </a:tr>
              <a:tr h="182880">
                <a:tc>
                  <a:txBody>
                    <a:bodyPr/>
                    <a:lstStyle/>
                    <a:p>
                      <a:pPr algn="l" fontAlgn="b">
                        <a:buNone/>
                      </a:pPr>
                      <a:r>
                        <a:rPr lang="en-US" sz="1050" b="0" i="0" u="none" strike="noStrike" dirty="0">
                          <a:effectLst/>
                          <a:latin typeface="Arial" panose="020B0604020202020204" pitchFamily="34" charset="0"/>
                        </a:rPr>
                        <a:t>OLIPOP</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11 </a:t>
                      </a:r>
                    </a:p>
                  </a:txBody>
                  <a:tcPr marL="9525" marR="9525" marT="9525" marB="0" anchor="b">
                    <a:noFill/>
                  </a:tcPr>
                </a:tc>
                <a:extLst>
                  <a:ext uri="{0D108BD9-81ED-4DB2-BD59-A6C34878D82A}">
                    <a16:rowId xmlns:a16="http://schemas.microsoft.com/office/drawing/2014/main" val="2975255986"/>
                  </a:ext>
                </a:extLst>
              </a:tr>
              <a:tr h="182880">
                <a:tc>
                  <a:txBody>
                    <a:bodyPr/>
                    <a:lstStyle/>
                    <a:p>
                      <a:pPr algn="l" fontAlgn="b">
                        <a:buNone/>
                      </a:pPr>
                      <a:r>
                        <a:rPr lang="en-US" sz="1050" b="0" i="0" u="none" strike="noStrike" dirty="0">
                          <a:effectLst/>
                          <a:latin typeface="Arial" panose="020B0604020202020204" pitchFamily="34" charset="0"/>
                        </a:rPr>
                        <a:t>Poppi</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10 </a:t>
                      </a:r>
                    </a:p>
                  </a:txBody>
                  <a:tcPr marL="9525" marR="9525" marT="9525" marB="0" anchor="b">
                    <a:noFill/>
                  </a:tcPr>
                </a:tc>
                <a:extLst>
                  <a:ext uri="{0D108BD9-81ED-4DB2-BD59-A6C34878D82A}">
                    <a16:rowId xmlns:a16="http://schemas.microsoft.com/office/drawing/2014/main" val="2302689533"/>
                  </a:ext>
                </a:extLst>
              </a:tr>
              <a:tr h="182880">
                <a:tc>
                  <a:txBody>
                    <a:bodyPr/>
                    <a:lstStyle/>
                    <a:p>
                      <a:pPr algn="l" fontAlgn="b">
                        <a:buNone/>
                      </a:pPr>
                      <a:r>
                        <a:rPr lang="en-US" sz="1050" b="0" i="0" u="none" strike="noStrike" dirty="0">
                          <a:effectLst/>
                          <a:latin typeface="Arial" panose="020B0604020202020204" pitchFamily="34" charset="0"/>
                        </a:rPr>
                        <a:t>Vitamin Water</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10 </a:t>
                      </a:r>
                    </a:p>
                  </a:txBody>
                  <a:tcPr marL="9525" marR="9525" marT="9525" marB="0" anchor="b">
                    <a:noFill/>
                  </a:tcPr>
                </a:tc>
                <a:extLst>
                  <a:ext uri="{0D108BD9-81ED-4DB2-BD59-A6C34878D82A}">
                    <a16:rowId xmlns:a16="http://schemas.microsoft.com/office/drawing/2014/main" val="3254410384"/>
                  </a:ext>
                </a:extLst>
              </a:tr>
              <a:tr h="182880">
                <a:tc>
                  <a:txBody>
                    <a:bodyPr/>
                    <a:lstStyle/>
                    <a:p>
                      <a:pPr algn="l" fontAlgn="b">
                        <a:buNone/>
                      </a:pPr>
                      <a:r>
                        <a:rPr lang="en-US" sz="1050" b="0" i="0" u="none" strike="noStrike" dirty="0">
                          <a:effectLst/>
                          <a:latin typeface="Arial" panose="020B0604020202020204" pitchFamily="34" charset="0"/>
                        </a:rPr>
                        <a:t>Red Bull</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8 </a:t>
                      </a:r>
                    </a:p>
                  </a:txBody>
                  <a:tcPr marL="9525" marR="9525" marT="9525" marB="0" anchor="b">
                    <a:noFill/>
                  </a:tcPr>
                </a:tc>
                <a:extLst>
                  <a:ext uri="{0D108BD9-81ED-4DB2-BD59-A6C34878D82A}">
                    <a16:rowId xmlns:a16="http://schemas.microsoft.com/office/drawing/2014/main" val="861263563"/>
                  </a:ext>
                </a:extLst>
              </a:tr>
              <a:tr h="182880">
                <a:tc>
                  <a:txBody>
                    <a:bodyPr/>
                    <a:lstStyle/>
                    <a:p>
                      <a:pPr algn="l" fontAlgn="b">
                        <a:buNone/>
                      </a:pPr>
                      <a:r>
                        <a:rPr lang="en-US" sz="1050" b="0" i="0" u="none" strike="noStrike" dirty="0">
                          <a:effectLst/>
                          <a:latin typeface="Arial" panose="020B0604020202020204" pitchFamily="34" charset="0"/>
                        </a:rPr>
                        <a:t>Premier Protein</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8 </a:t>
                      </a:r>
                    </a:p>
                  </a:txBody>
                  <a:tcPr marL="9525" marR="9525" marT="9525" marB="0" anchor="b">
                    <a:noFill/>
                  </a:tcPr>
                </a:tc>
                <a:extLst>
                  <a:ext uri="{0D108BD9-81ED-4DB2-BD59-A6C34878D82A}">
                    <a16:rowId xmlns:a16="http://schemas.microsoft.com/office/drawing/2014/main" val="1229346612"/>
                  </a:ext>
                </a:extLst>
              </a:tr>
              <a:tr h="182880">
                <a:tc>
                  <a:txBody>
                    <a:bodyPr/>
                    <a:lstStyle/>
                    <a:p>
                      <a:pPr algn="l" fontAlgn="b">
                        <a:buNone/>
                      </a:pPr>
                      <a:r>
                        <a:rPr lang="en-US" sz="1050" b="0" i="0" u="none" strike="noStrike" dirty="0">
                          <a:effectLst/>
                          <a:latin typeface="Arial" panose="020B0604020202020204" pitchFamily="34" charset="0"/>
                        </a:rPr>
                        <a:t>Powerade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7 </a:t>
                      </a:r>
                    </a:p>
                  </a:txBody>
                  <a:tcPr marL="9525" marR="9525" marT="9525" marB="0" anchor="b">
                    <a:noFill/>
                  </a:tcPr>
                </a:tc>
                <a:extLst>
                  <a:ext uri="{0D108BD9-81ED-4DB2-BD59-A6C34878D82A}">
                    <a16:rowId xmlns:a16="http://schemas.microsoft.com/office/drawing/2014/main" val="732058910"/>
                  </a:ext>
                </a:extLst>
              </a:tr>
              <a:tr h="182880">
                <a:tc>
                  <a:txBody>
                    <a:bodyPr/>
                    <a:lstStyle/>
                    <a:p>
                      <a:pPr algn="l" fontAlgn="b">
                        <a:buNone/>
                      </a:pPr>
                      <a:r>
                        <a:rPr lang="en-US" sz="1050" b="0" i="0" u="none" strike="noStrike" dirty="0">
                          <a:effectLst/>
                          <a:latin typeface="Arial" panose="020B0604020202020204" pitchFamily="34" charset="0"/>
                        </a:rPr>
                        <a:t>Celsius</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7 </a:t>
                      </a:r>
                    </a:p>
                  </a:txBody>
                  <a:tcPr marL="9525" marR="9525" marT="9525" marB="0" anchor="b">
                    <a:noFill/>
                  </a:tcPr>
                </a:tc>
                <a:extLst>
                  <a:ext uri="{0D108BD9-81ED-4DB2-BD59-A6C34878D82A}">
                    <a16:rowId xmlns:a16="http://schemas.microsoft.com/office/drawing/2014/main" val="1641478282"/>
                  </a:ext>
                </a:extLst>
              </a:tr>
              <a:tr h="182880">
                <a:tc>
                  <a:txBody>
                    <a:bodyPr/>
                    <a:lstStyle/>
                    <a:p>
                      <a:pPr algn="l" fontAlgn="b">
                        <a:buNone/>
                      </a:pPr>
                      <a:r>
                        <a:rPr lang="en-US" sz="1050" b="0" i="0" u="none" strike="noStrike" dirty="0">
                          <a:effectLst/>
                          <a:latin typeface="Arial" panose="020B0604020202020204" pitchFamily="34" charset="0"/>
                        </a:rPr>
                        <a:t>Body Armor</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6 </a:t>
                      </a:r>
                    </a:p>
                  </a:txBody>
                  <a:tcPr marL="9525" marR="9525" marT="9525" marB="0" anchor="b">
                    <a:noFill/>
                  </a:tcPr>
                </a:tc>
                <a:extLst>
                  <a:ext uri="{0D108BD9-81ED-4DB2-BD59-A6C34878D82A}">
                    <a16:rowId xmlns:a16="http://schemas.microsoft.com/office/drawing/2014/main" val="29471956"/>
                  </a:ext>
                </a:extLst>
              </a:tr>
              <a:tr h="182880">
                <a:tc>
                  <a:txBody>
                    <a:bodyPr/>
                    <a:lstStyle/>
                    <a:p>
                      <a:pPr algn="l" fontAlgn="b">
                        <a:buNone/>
                      </a:pPr>
                      <a:r>
                        <a:rPr lang="en-US" sz="1050" b="0" i="0" u="none" strike="noStrike" dirty="0">
                          <a:effectLst/>
                          <a:latin typeface="Arial" panose="020B0604020202020204" pitchFamily="34" charset="0"/>
                        </a:rPr>
                        <a:t>Ensure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5 </a:t>
                      </a:r>
                    </a:p>
                  </a:txBody>
                  <a:tcPr marL="9525" marR="9525" marT="9525" marB="0" anchor="b">
                    <a:noFill/>
                  </a:tcPr>
                </a:tc>
                <a:extLst>
                  <a:ext uri="{0D108BD9-81ED-4DB2-BD59-A6C34878D82A}">
                    <a16:rowId xmlns:a16="http://schemas.microsoft.com/office/drawing/2014/main" val="647951843"/>
                  </a:ext>
                </a:extLst>
              </a:tr>
              <a:tr h="182880">
                <a:tc>
                  <a:txBody>
                    <a:bodyPr/>
                    <a:lstStyle/>
                    <a:p>
                      <a:pPr algn="l" fontAlgn="b">
                        <a:buNone/>
                      </a:pPr>
                      <a:r>
                        <a:rPr lang="en-US" sz="1050" b="0" i="0" u="none" strike="noStrike" dirty="0">
                          <a:effectLst/>
                          <a:latin typeface="Arial" panose="020B0604020202020204" pitchFamily="34" charset="0"/>
                        </a:rPr>
                        <a:t>Muscle Milk</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b">
                    <a:noFill/>
                  </a:tcPr>
                </a:tc>
                <a:extLst>
                  <a:ext uri="{0D108BD9-81ED-4DB2-BD59-A6C34878D82A}">
                    <a16:rowId xmlns:a16="http://schemas.microsoft.com/office/drawing/2014/main" val="4034885438"/>
                  </a:ext>
                </a:extLst>
              </a:tr>
              <a:tr h="182880">
                <a:tc>
                  <a:txBody>
                    <a:bodyPr/>
                    <a:lstStyle/>
                    <a:p>
                      <a:pPr algn="l" fontAlgn="b">
                        <a:buNone/>
                      </a:pPr>
                      <a:r>
                        <a:rPr lang="en-US" sz="1050" b="0" i="0" u="none" strike="noStrike" dirty="0">
                          <a:effectLst/>
                          <a:latin typeface="Arial" panose="020B0604020202020204" pitchFamily="34" charset="0"/>
                        </a:rPr>
                        <a:t>Monster</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b">
                    <a:noFill/>
                  </a:tcPr>
                </a:tc>
                <a:extLst>
                  <a:ext uri="{0D108BD9-81ED-4DB2-BD59-A6C34878D82A}">
                    <a16:rowId xmlns:a16="http://schemas.microsoft.com/office/drawing/2014/main" val="2131562700"/>
                  </a:ext>
                </a:extLst>
              </a:tr>
              <a:tr h="182880">
                <a:tc>
                  <a:txBody>
                    <a:bodyPr/>
                    <a:lstStyle/>
                    <a:p>
                      <a:pPr algn="l" fontAlgn="b">
                        <a:buNone/>
                      </a:pPr>
                      <a:r>
                        <a:rPr lang="en-US" sz="1050" b="0" i="0" u="none" strike="noStrike" dirty="0">
                          <a:effectLst/>
                          <a:latin typeface="Arial" panose="020B0604020202020204" pitchFamily="34" charset="0"/>
                        </a:rPr>
                        <a:t>Boost</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b">
                    <a:noFill/>
                  </a:tcPr>
                </a:tc>
                <a:extLst>
                  <a:ext uri="{0D108BD9-81ED-4DB2-BD59-A6C34878D82A}">
                    <a16:rowId xmlns:a16="http://schemas.microsoft.com/office/drawing/2014/main" val="2118512621"/>
                  </a:ext>
                </a:extLst>
              </a:tr>
              <a:tr h="182880">
                <a:tc>
                  <a:txBody>
                    <a:bodyPr/>
                    <a:lstStyle/>
                    <a:p>
                      <a:pPr algn="l" fontAlgn="b">
                        <a:buNone/>
                      </a:pPr>
                      <a:r>
                        <a:rPr lang="en-US" sz="1050" b="0" i="0" u="none" strike="noStrike" dirty="0">
                          <a:effectLst/>
                          <a:latin typeface="Arial" panose="020B0604020202020204" pitchFamily="34" charset="0"/>
                        </a:rPr>
                        <a:t>Bai</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1166837071"/>
                  </a:ext>
                </a:extLst>
              </a:tr>
              <a:tr h="182880">
                <a:tc>
                  <a:txBody>
                    <a:bodyPr/>
                    <a:lstStyle/>
                    <a:p>
                      <a:pPr algn="l" fontAlgn="b">
                        <a:buNone/>
                      </a:pPr>
                      <a:r>
                        <a:rPr lang="en-US" sz="1050" b="0" i="0" u="none" strike="noStrike" dirty="0">
                          <a:effectLst/>
                          <a:latin typeface="Arial" panose="020B0604020202020204" pitchFamily="34" charset="0"/>
                        </a:rPr>
                        <a:t>Fairlife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1469024950"/>
                  </a:ext>
                </a:extLst>
              </a:tr>
              <a:tr h="182880">
                <a:tc>
                  <a:txBody>
                    <a:bodyPr/>
                    <a:lstStyle/>
                    <a:p>
                      <a:pPr algn="l" fontAlgn="b">
                        <a:buNone/>
                      </a:pPr>
                      <a:r>
                        <a:rPr lang="en-US" sz="1050" b="0" i="0" u="none" strike="noStrike" dirty="0">
                          <a:effectLst/>
                          <a:latin typeface="Arial" panose="020B0604020202020204" pitchFamily="34" charset="0"/>
                        </a:rPr>
                        <a:t>Propel</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3617769626"/>
                  </a:ext>
                </a:extLst>
              </a:tr>
              <a:tr h="182880">
                <a:tc>
                  <a:txBody>
                    <a:bodyPr/>
                    <a:lstStyle/>
                    <a:p>
                      <a:pPr algn="l" fontAlgn="b">
                        <a:buNone/>
                      </a:pPr>
                      <a:r>
                        <a:rPr lang="en-US" sz="1050" b="0" i="0" u="none" strike="noStrike" dirty="0">
                          <a:effectLst/>
                          <a:latin typeface="Arial" panose="020B0604020202020204" pitchFamily="34" charset="0"/>
                        </a:rPr>
                        <a:t>Liquid IV</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3 </a:t>
                      </a:r>
                    </a:p>
                  </a:txBody>
                  <a:tcPr marL="9525" marR="9525" marT="9525" marB="0" anchor="b">
                    <a:noFill/>
                  </a:tcPr>
                </a:tc>
                <a:extLst>
                  <a:ext uri="{0D108BD9-81ED-4DB2-BD59-A6C34878D82A}">
                    <a16:rowId xmlns:a16="http://schemas.microsoft.com/office/drawing/2014/main" val="153990652"/>
                  </a:ext>
                </a:extLst>
              </a:tr>
              <a:tr h="182880">
                <a:tc>
                  <a:txBody>
                    <a:bodyPr/>
                    <a:lstStyle/>
                    <a:p>
                      <a:pPr algn="l" fontAlgn="b">
                        <a:buNone/>
                      </a:pPr>
                      <a:r>
                        <a:rPr lang="en-US" sz="1050" b="0" i="0" u="none" strike="noStrike" dirty="0">
                          <a:effectLst/>
                          <a:latin typeface="Arial" panose="020B0604020202020204" pitchFamily="34" charset="0"/>
                        </a:rPr>
                        <a:t>Bloom</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3136967011"/>
                  </a:ext>
                </a:extLst>
              </a:tr>
              <a:tr h="182880">
                <a:tc>
                  <a:txBody>
                    <a:bodyPr/>
                    <a:lstStyle/>
                    <a:p>
                      <a:pPr algn="l" fontAlgn="b">
                        <a:buNone/>
                      </a:pPr>
                      <a:r>
                        <a:rPr lang="en-US" sz="1050" b="0" i="0" u="none" strike="noStrike" dirty="0">
                          <a:effectLst/>
                          <a:latin typeface="Arial" panose="020B0604020202020204" pitchFamily="34" charset="0"/>
                        </a:rPr>
                        <a:t>Core/Core Power</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3828851213"/>
                  </a:ext>
                </a:extLst>
              </a:tr>
              <a:tr h="182880">
                <a:tc>
                  <a:txBody>
                    <a:bodyPr/>
                    <a:lstStyle/>
                    <a:p>
                      <a:pPr algn="l" fontAlgn="b">
                        <a:buNone/>
                      </a:pPr>
                      <a:r>
                        <a:rPr lang="en-US" sz="1050" b="0" i="0" u="none" strike="noStrike" dirty="0">
                          <a:effectLst/>
                          <a:latin typeface="Arial" panose="020B0604020202020204" pitchFamily="34" charset="0"/>
                        </a:rPr>
                        <a:t>Suja</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1945682274"/>
                  </a:ext>
                </a:extLst>
              </a:tr>
              <a:tr h="182880">
                <a:tc>
                  <a:txBody>
                    <a:bodyPr/>
                    <a:lstStyle/>
                    <a:p>
                      <a:pPr algn="l" fontAlgn="b">
                        <a:buNone/>
                      </a:pPr>
                      <a:r>
                        <a:rPr lang="en-US" sz="1050" b="0" i="0" u="none" strike="noStrike" dirty="0">
                          <a:effectLst/>
                          <a:latin typeface="Arial" panose="020B0604020202020204" pitchFamily="34" charset="0"/>
                        </a:rPr>
                        <a:t>Vita Coco</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930698342"/>
                  </a:ext>
                </a:extLst>
              </a:tr>
              <a:tr h="182880">
                <a:tc>
                  <a:txBody>
                    <a:bodyPr/>
                    <a:lstStyle/>
                    <a:p>
                      <a:pPr algn="l" fontAlgn="b">
                        <a:buNone/>
                      </a:pPr>
                      <a:r>
                        <a:rPr lang="en-US" sz="1050" b="0" i="0" u="none" strike="noStrike" dirty="0">
                          <a:effectLst/>
                          <a:latin typeface="Arial" panose="020B0604020202020204" pitchFamily="34" charset="0"/>
                        </a:rPr>
                        <a:t>Alani Nu/Alani</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1328309475"/>
                  </a:ext>
                </a:extLst>
              </a:tr>
              <a:tr h="182880">
                <a:tc>
                  <a:txBody>
                    <a:bodyPr/>
                    <a:lstStyle/>
                    <a:p>
                      <a:pPr algn="l" fontAlgn="b">
                        <a:buNone/>
                      </a:pPr>
                      <a:r>
                        <a:rPr lang="en-US" sz="1050" b="0" i="0" u="none" strike="noStrike" dirty="0">
                          <a:effectLst/>
                          <a:latin typeface="Arial" panose="020B0604020202020204" pitchFamily="34" charset="0"/>
                        </a:rPr>
                        <a:t>Prime</a:t>
                      </a:r>
                    </a:p>
                  </a:txBody>
                  <a:tcPr marL="114300" marR="9525" marT="9525" marB="0" anchor="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noFill/>
                  </a:tcPr>
                </a:tc>
                <a:extLst>
                  <a:ext uri="{0D108BD9-81ED-4DB2-BD59-A6C34878D82A}">
                    <a16:rowId xmlns:a16="http://schemas.microsoft.com/office/drawing/2014/main" val="3411348245"/>
                  </a:ext>
                </a:extLst>
              </a:tr>
              <a:tr h="182880">
                <a:tc>
                  <a:txBody>
                    <a:bodyPr/>
                    <a:lstStyle/>
                    <a:p>
                      <a:pPr algn="l" fontAlgn="b">
                        <a:buNone/>
                      </a:pPr>
                      <a:r>
                        <a:rPr lang="en-US" sz="1050" b="0" i="0" u="none" strike="noStrike" dirty="0">
                          <a:effectLst/>
                          <a:latin typeface="Arial" panose="020B0604020202020204" pitchFamily="34" charset="0"/>
                        </a:rPr>
                        <a:t>Naked</a:t>
                      </a:r>
                    </a:p>
                  </a:txBody>
                  <a:tcPr marL="114300" marR="9525" marT="9525" marB="0" anchor="b">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lnB w="12700" cap="flat" cmpd="sng" algn="ctr">
                      <a:noFill/>
                      <a:prstDash val="solid"/>
                      <a:round/>
                      <a:headEnd type="none" w="med" len="med"/>
                      <a:tailEnd type="none" w="med" len="med"/>
                    </a:lnB>
                    <a:noFill/>
                  </a:tcPr>
                </a:tc>
                <a:extLst>
                  <a:ext uri="{0D108BD9-81ED-4DB2-BD59-A6C34878D82A}">
                    <a16:rowId xmlns:a16="http://schemas.microsoft.com/office/drawing/2014/main" val="3924792227"/>
                  </a:ext>
                </a:extLst>
              </a:tr>
              <a:tr h="182880">
                <a:tc>
                  <a:txBody>
                    <a:bodyPr/>
                    <a:lstStyle/>
                    <a:p>
                      <a:pPr algn="l" fontAlgn="b">
                        <a:buNone/>
                      </a:pPr>
                      <a:r>
                        <a:rPr lang="en-US" sz="1050" b="0" i="0" u="none" strike="noStrike" dirty="0">
                          <a:effectLst/>
                          <a:latin typeface="Arial" panose="020B0604020202020204" pitchFamily="34" charset="0"/>
                        </a:rPr>
                        <a:t>Health Aide</a:t>
                      </a:r>
                    </a:p>
                  </a:txBody>
                  <a:tcPr marL="114300" marR="9525" marT="9525" marB="0" anchor="b">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lnT w="12700" cap="flat" cmpd="sng" algn="ctr">
                      <a:noFill/>
                      <a:prstDash val="solid"/>
                      <a:round/>
                      <a:headEnd type="none" w="med" len="med"/>
                      <a:tailEnd type="none" w="med" len="med"/>
                    </a:lnT>
                    <a:noFill/>
                  </a:tcPr>
                </a:tc>
                <a:extLst>
                  <a:ext uri="{0D108BD9-81ED-4DB2-BD59-A6C34878D82A}">
                    <a16:rowId xmlns:a16="http://schemas.microsoft.com/office/drawing/2014/main" val="3987899669"/>
                  </a:ext>
                </a:extLst>
              </a:tr>
              <a:tr h="182880">
                <a:tc>
                  <a:txBody>
                    <a:bodyPr/>
                    <a:lstStyle/>
                    <a:p>
                      <a:pPr algn="l" fontAlgn="b">
                        <a:buNone/>
                      </a:pPr>
                      <a:r>
                        <a:rPr lang="en-US" sz="1050" b="0" i="0" u="none" strike="noStrike" dirty="0">
                          <a:effectLst/>
                          <a:latin typeface="Arial" panose="020B0604020202020204" pitchFamily="34" charset="0"/>
                        </a:rPr>
                        <a:t>Smartwater</a:t>
                      </a:r>
                    </a:p>
                  </a:txBody>
                  <a:tcPr marL="114300" marR="9525" marT="9525" marB="0" anchor="b">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b">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66802220"/>
                  </a:ext>
                </a:extLst>
              </a:tr>
              <a:tr h="182880">
                <a:tc>
                  <a:txBody>
                    <a:bodyPr/>
                    <a:lstStyle/>
                    <a:p>
                      <a:pPr algn="l" fontAlgn="b">
                        <a:buNone/>
                      </a:pPr>
                      <a:r>
                        <a:rPr lang="en-US" sz="1050" b="0" i="0" u="none" strike="noStrike" dirty="0">
                          <a:effectLst/>
                          <a:latin typeface="Arial" panose="020B0604020202020204" pitchFamily="34" charset="0"/>
                        </a:rPr>
                        <a:t>Store Brands (subnet)</a:t>
                      </a:r>
                    </a:p>
                  </a:txBody>
                  <a:tcPr marL="114300" marR="9525" marT="9525" marB="0" anchor="b">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b">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3564390249"/>
                  </a:ext>
                </a:extLst>
              </a:tr>
            </a:tbl>
          </a:graphicData>
        </a:graphic>
      </p:graphicFrame>
      <p:sp>
        <p:nvSpPr>
          <p:cNvPr id="10" name="TextBox 9">
            <a:extLst>
              <a:ext uri="{FF2B5EF4-FFF2-40B4-BE49-F238E27FC236}">
                <a16:creationId xmlns:a16="http://schemas.microsoft.com/office/drawing/2014/main" id="{13D17A05-155A-A770-BF96-14302CEA140E}"/>
              </a:ext>
            </a:extLst>
          </p:cNvPr>
          <p:cNvSpPr txBox="1"/>
          <p:nvPr/>
        </p:nvSpPr>
        <p:spPr>
          <a:xfrm>
            <a:off x="2037646" y="6047993"/>
            <a:ext cx="7870005" cy="307777"/>
          </a:xfrm>
          <a:prstGeom prst="rect">
            <a:avLst/>
          </a:prstGeom>
          <a:noFill/>
          <a:ln>
            <a:solidFill>
              <a:schemeClr val="accent6"/>
            </a:solidFill>
          </a:ln>
        </p:spPr>
        <p:txBody>
          <a:bodyPr wrap="square" rtlCol="0">
            <a:spAutoFit/>
          </a:bodyPr>
          <a:lstStyle/>
          <a:p>
            <a:pPr algn="ctr"/>
            <a:r>
              <a:rPr lang="en-US" sz="1400" i="1" dirty="0">
                <a:solidFill>
                  <a:schemeClr val="accent2"/>
                </a:solidFill>
              </a:rPr>
              <a:t>Brands mentioned by 2%+ of respondents (approximately 16 or more respondents)</a:t>
            </a:r>
          </a:p>
        </p:txBody>
      </p:sp>
    </p:spTree>
    <p:extLst>
      <p:ext uri="{BB962C8B-B14F-4D97-AF65-F5344CB8AC3E}">
        <p14:creationId xmlns:p14="http://schemas.microsoft.com/office/powerpoint/2010/main" val="3417011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96E209-B941-0E29-16F5-E1D0497877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FC9C94-0397-F83A-1E65-6ADBBB542143}"/>
              </a:ext>
            </a:extLst>
          </p:cNvPr>
          <p:cNvSpPr/>
          <p:nvPr/>
        </p:nvSpPr>
        <p:spPr>
          <a:xfrm>
            <a:off x="0" y="948835"/>
            <a:ext cx="12207253" cy="1131794"/>
          </a:xfrm>
          <a:prstGeom prst="rect">
            <a:avLst/>
          </a:prstGeom>
          <a:solidFill>
            <a:schemeClr val="accent2">
              <a:lumMod val="20000"/>
              <a:lumOff val="80000"/>
              <a:alpha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graphicFrame>
        <p:nvGraphicFramePr>
          <p:cNvPr id="4" name="Table 24">
            <a:extLst>
              <a:ext uri="{FF2B5EF4-FFF2-40B4-BE49-F238E27FC236}">
                <a16:creationId xmlns:a16="http://schemas.microsoft.com/office/drawing/2014/main" id="{4264C6EE-F15D-4322-FB52-B380645EEB98}"/>
              </a:ext>
            </a:extLst>
          </p:cNvPr>
          <p:cNvGraphicFramePr>
            <a:graphicFrameLocks noGrp="1"/>
          </p:cNvGraphicFramePr>
          <p:nvPr>
            <p:extLst>
              <p:ext uri="{D42A27DB-BD31-4B8C-83A1-F6EECF244321}">
                <p14:modId xmlns:p14="http://schemas.microsoft.com/office/powerpoint/2010/main" val="2453086760"/>
              </p:ext>
            </p:extLst>
          </p:nvPr>
        </p:nvGraphicFramePr>
        <p:xfrm>
          <a:off x="406575" y="2318632"/>
          <a:ext cx="11247120" cy="738486"/>
        </p:xfrm>
        <a:graphic>
          <a:graphicData uri="http://schemas.openxmlformats.org/drawingml/2006/table">
            <a:tbl>
              <a:tblPr firstRow="1" bandRow="1">
                <a:tableStyleId>{72833802-FEF1-4C79-8D5D-14CF1EAF98D9}</a:tableStyleId>
              </a:tblPr>
              <a:tblGrid>
                <a:gridCol w="3749040">
                  <a:extLst>
                    <a:ext uri="{9D8B030D-6E8A-4147-A177-3AD203B41FA5}">
                      <a16:colId xmlns:a16="http://schemas.microsoft.com/office/drawing/2014/main" val="2357937168"/>
                    </a:ext>
                  </a:extLst>
                </a:gridCol>
                <a:gridCol w="3749040">
                  <a:extLst>
                    <a:ext uri="{9D8B030D-6E8A-4147-A177-3AD203B41FA5}">
                      <a16:colId xmlns:a16="http://schemas.microsoft.com/office/drawing/2014/main" val="3847420540"/>
                    </a:ext>
                  </a:extLst>
                </a:gridCol>
                <a:gridCol w="3749040">
                  <a:extLst>
                    <a:ext uri="{9D8B030D-6E8A-4147-A177-3AD203B41FA5}">
                      <a16:colId xmlns:a16="http://schemas.microsoft.com/office/drawing/2014/main" val="1651945099"/>
                    </a:ext>
                  </a:extLst>
                </a:gridCol>
              </a:tblGrid>
              <a:tr h="281949">
                <a:tc>
                  <a:txBody>
                    <a:bodyPr/>
                    <a:lstStyle/>
                    <a:p>
                      <a:pPr algn="ctr">
                        <a:spcAft>
                          <a:spcPts val="600"/>
                        </a:spcAft>
                      </a:pPr>
                      <a:r>
                        <a:rPr lang="en-US" sz="1400" dirty="0">
                          <a:solidFill>
                            <a:schemeClr val="accent2"/>
                          </a:solidFill>
                        </a:rPr>
                        <a:t>Top Goals</a:t>
                      </a:r>
                    </a:p>
                  </a:txBody>
                  <a:tcPr anchor="ctr">
                    <a:lnL w="9525" cap="flat" cmpd="sng" algn="ctr">
                      <a:noFill/>
                      <a:prstDash val="solid"/>
                    </a:lnL>
                    <a:lnR w="12700" cap="flat" cmpd="sng" algn="ctr">
                      <a:solidFill>
                        <a:schemeClr val="accent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spcAft>
                          <a:spcPts val="600"/>
                        </a:spcAft>
                      </a:pPr>
                      <a:r>
                        <a:rPr lang="en-US" sz="1400" dirty="0">
                          <a:solidFill>
                            <a:schemeClr val="accent2"/>
                          </a:solidFill>
                        </a:rPr>
                        <a:t>Top Drivers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spcAft>
                          <a:spcPts val="600"/>
                        </a:spcAft>
                      </a:pPr>
                      <a:r>
                        <a:rPr lang="en-US" sz="1400" dirty="0">
                          <a:solidFill>
                            <a:schemeClr val="accent2"/>
                          </a:solidFill>
                        </a:rPr>
                        <a:t>Top Barriers</a:t>
                      </a:r>
                    </a:p>
                  </a:txBody>
                  <a:tcPr anchor="ctr">
                    <a:lnL w="12700" cap="flat" cmpd="sng" algn="ctr">
                      <a:solidFill>
                        <a:schemeClr val="accent1"/>
                      </a:solidFill>
                      <a:prstDash val="solid"/>
                      <a:round/>
                      <a:headEnd type="none" w="med" len="med"/>
                      <a:tailEnd type="none" w="med" len="me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217288642"/>
                  </a:ext>
                </a:extLst>
              </a:tr>
              <a:tr h="182880">
                <a:tc>
                  <a:txBody>
                    <a:bodyPr/>
                    <a:lstStyle/>
                    <a:p>
                      <a:pPr algn="ctr" fontAlgn="ctr">
                        <a:spcAft>
                          <a:spcPts val="600"/>
                        </a:spcAft>
                      </a:pPr>
                      <a:endParaRPr lang="en-US" sz="1400" b="0" i="0" u="none" strike="noStrike" dirty="0">
                        <a:solidFill>
                          <a:schemeClr val="accent2"/>
                        </a:solidFill>
                        <a:effectLst/>
                        <a:highlight>
                          <a:srgbClr val="FFFF00"/>
                        </a:highlight>
                        <a:latin typeface="Corbel" panose="020B0503020204020204" pitchFamily="34" charset="0"/>
                      </a:endParaRPr>
                    </a:p>
                  </a:txBody>
                  <a:tcPr marL="3483" marR="3483" marT="3483" marB="0" anchor="ctr">
                    <a:lnL w="9525" cap="flat" cmpd="sng" algn="ctr">
                      <a:noFill/>
                      <a:prstDash val="solid"/>
                    </a:lnL>
                    <a:lnR w="12700" cap="flat" cmpd="sng" algn="ctr">
                      <a:solidFill>
                        <a:schemeClr val="accent1"/>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spcAft>
                          <a:spcPts val="600"/>
                        </a:spcAft>
                      </a:pPr>
                      <a:endParaRPr lang="en-US" sz="1400" b="0" i="0" u="none" strike="noStrike" dirty="0">
                        <a:solidFill>
                          <a:schemeClr val="accent2"/>
                        </a:solidFill>
                        <a:effectLst/>
                        <a:latin typeface="Corbel" panose="020B0503020204020204" pitchFamily="34" charset="0"/>
                      </a:endParaRPr>
                    </a:p>
                  </a:txBody>
                  <a:tcPr marL="3483" marR="3483" marT="3483"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spcAft>
                          <a:spcPts val="600"/>
                        </a:spcAft>
                      </a:pPr>
                      <a:endParaRPr lang="en-US" sz="1400" b="0" i="0" u="none" strike="noStrike" dirty="0">
                        <a:solidFill>
                          <a:schemeClr val="accent2"/>
                        </a:solidFill>
                        <a:effectLst/>
                        <a:latin typeface="Corbel" panose="020B0503020204020204" pitchFamily="34" charset="0"/>
                      </a:endParaRPr>
                    </a:p>
                  </a:txBody>
                  <a:tcPr marL="3483" marR="3483" marT="3483" marB="0" anchor="ctr">
                    <a:lnL w="12700" cap="flat" cmpd="sng" algn="ctr">
                      <a:solidFill>
                        <a:schemeClr val="accent1"/>
                      </a:solidFill>
                      <a:prstDash val="solid"/>
                      <a:round/>
                      <a:headEnd type="none" w="med" len="med"/>
                      <a:tailEnd type="none" w="med" len="me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4085818"/>
                  </a:ext>
                </a:extLst>
              </a:tr>
              <a:tr h="182880">
                <a:tc>
                  <a:txBody>
                    <a:bodyPr/>
                    <a:lstStyle/>
                    <a:p>
                      <a:pPr algn="ctr" fontAlgn="ctr">
                        <a:spcAft>
                          <a:spcPts val="600"/>
                        </a:spcAft>
                      </a:pPr>
                      <a:endParaRPr lang="en-US" sz="1400" b="0" i="0" u="none" strike="noStrike" dirty="0">
                        <a:solidFill>
                          <a:schemeClr val="accent2"/>
                        </a:solidFill>
                        <a:effectLst/>
                        <a:highlight>
                          <a:srgbClr val="FFFF00"/>
                        </a:highlight>
                        <a:latin typeface="Corbel" panose="020B0503020204020204" pitchFamily="34" charset="0"/>
                      </a:endParaRPr>
                    </a:p>
                  </a:txBody>
                  <a:tcPr marL="3483" marR="3483" marT="3483" marB="0" anchor="ctr">
                    <a:lnL w="9525" cap="flat" cmpd="sng" algn="ctr">
                      <a:noFill/>
                      <a:prstDash val="solid"/>
                    </a:lnL>
                    <a:lnR w="12700" cap="flat" cmpd="sng" algn="ctr">
                      <a:solidFill>
                        <a:schemeClr val="accent1"/>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spcAft>
                          <a:spcPts val="600"/>
                        </a:spcAft>
                      </a:pPr>
                      <a:endParaRPr lang="en-US" sz="1400" b="0" i="0" u="none" strike="noStrike" dirty="0">
                        <a:solidFill>
                          <a:schemeClr val="accent2"/>
                        </a:solidFill>
                        <a:effectLst/>
                        <a:latin typeface="Corbel" panose="020B0503020204020204" pitchFamily="34" charset="0"/>
                      </a:endParaRPr>
                    </a:p>
                  </a:txBody>
                  <a:tcPr marL="3483" marR="3483" marT="3483"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spcAft>
                          <a:spcPts val="600"/>
                        </a:spcAft>
                      </a:pPr>
                      <a:endParaRPr lang="en-US" sz="1400" b="0" i="0" u="none" strike="noStrike" dirty="0">
                        <a:solidFill>
                          <a:schemeClr val="accent2"/>
                        </a:solidFill>
                        <a:effectLst/>
                        <a:latin typeface="Corbel" panose="020B0503020204020204" pitchFamily="34" charset="0"/>
                      </a:endParaRPr>
                    </a:p>
                  </a:txBody>
                  <a:tcPr marL="3483" marR="3483" marT="3483" marB="0" anchor="ctr">
                    <a:lnL w="12700" cap="flat" cmpd="sng" algn="ctr">
                      <a:solidFill>
                        <a:schemeClr val="accent1"/>
                      </a:solidFill>
                      <a:prstDash val="solid"/>
                      <a:round/>
                      <a:headEnd type="none" w="med" len="med"/>
                      <a:tailEnd type="none" w="med" len="me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3107572"/>
                  </a:ext>
                </a:extLst>
              </a:tr>
            </a:tbl>
          </a:graphicData>
        </a:graphic>
      </p:graphicFrame>
      <p:sp>
        <p:nvSpPr>
          <p:cNvPr id="44" name="Rectangle 43">
            <a:extLst>
              <a:ext uri="{FF2B5EF4-FFF2-40B4-BE49-F238E27FC236}">
                <a16:creationId xmlns:a16="http://schemas.microsoft.com/office/drawing/2014/main" id="{9B9D2856-580A-5797-6FE3-7941F619B22B}"/>
              </a:ext>
            </a:extLst>
          </p:cNvPr>
          <p:cNvSpPr/>
          <p:nvPr/>
        </p:nvSpPr>
        <p:spPr>
          <a:xfrm>
            <a:off x="-9986" y="5428008"/>
            <a:ext cx="12207253" cy="1131794"/>
          </a:xfrm>
          <a:prstGeom prst="rect">
            <a:avLst/>
          </a:prstGeom>
          <a:solidFill>
            <a:schemeClr val="accent2">
              <a:lumMod val="20000"/>
              <a:lumOff val="80000"/>
              <a:alpha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sp>
        <p:nvSpPr>
          <p:cNvPr id="30" name="Rectangle 29">
            <a:extLst>
              <a:ext uri="{FF2B5EF4-FFF2-40B4-BE49-F238E27FC236}">
                <a16:creationId xmlns:a16="http://schemas.microsoft.com/office/drawing/2014/main" id="{F9A28846-24AB-C36B-1F66-B2E23C6E5167}"/>
              </a:ext>
            </a:extLst>
          </p:cNvPr>
          <p:cNvSpPr/>
          <p:nvPr/>
        </p:nvSpPr>
        <p:spPr>
          <a:xfrm>
            <a:off x="-9795" y="-38147"/>
            <a:ext cx="12207253" cy="9899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7F7F7">
                  <a:lumMod val="25000"/>
                </a:srgbClr>
              </a:solidFill>
              <a:effectLst/>
              <a:uLnTx/>
              <a:uFillTx/>
              <a:latin typeface="Calibri" panose="020F0502020204030204"/>
              <a:ea typeface="+mn-ea"/>
              <a:cs typeface="+mn-cs"/>
              <a:sym typeface="Calibri"/>
            </a:endParaRPr>
          </a:p>
        </p:txBody>
      </p:sp>
      <p:sp>
        <p:nvSpPr>
          <p:cNvPr id="8" name="TextBox 7">
            <a:extLst>
              <a:ext uri="{FF2B5EF4-FFF2-40B4-BE49-F238E27FC236}">
                <a16:creationId xmlns:a16="http://schemas.microsoft.com/office/drawing/2014/main" id="{A03336C8-EBC2-36BF-3615-F55AF19AE7AE}"/>
              </a:ext>
            </a:extLst>
          </p:cNvPr>
          <p:cNvSpPr txBox="1"/>
          <p:nvPr/>
        </p:nvSpPr>
        <p:spPr>
          <a:xfrm>
            <a:off x="90581" y="1204320"/>
            <a:ext cx="1501389" cy="302720"/>
          </a:xfrm>
          <a:prstGeom prst="rect">
            <a:avLst/>
          </a:prstGeom>
          <a:noFill/>
        </p:spPr>
        <p:txBody>
          <a:bodyPr wrap="square" rtlCol="0">
            <a:noAutofit/>
          </a:bodyPr>
          <a:lstStyle/>
          <a:p>
            <a:pPr marL="0" marR="0" lvl="0" indent="0" algn="l" defTabSz="914400" rtl="0" eaLnBrk="1" fontAlgn="auto" latinLnBrk="0" hangingPunct="0">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Avenir Next LT Pro" panose="020B0504020202020204" pitchFamily="34" charset="0"/>
                <a:ea typeface="+mn-ea"/>
                <a:cs typeface="Calibri" panose="020F0502020204030204" pitchFamily="34" charset="0"/>
                <a:sym typeface="Calibri"/>
              </a:rPr>
              <a:t>MAIN ROLE IN H&amp;W ROUTINE</a:t>
            </a:r>
          </a:p>
        </p:txBody>
      </p:sp>
      <p:sp>
        <p:nvSpPr>
          <p:cNvPr id="15" name="TextBox 14">
            <a:extLst>
              <a:ext uri="{FF2B5EF4-FFF2-40B4-BE49-F238E27FC236}">
                <a16:creationId xmlns:a16="http://schemas.microsoft.com/office/drawing/2014/main" id="{48998D4A-E8BA-4AD2-59D8-9503E8CC7697}"/>
              </a:ext>
            </a:extLst>
          </p:cNvPr>
          <p:cNvSpPr txBox="1"/>
          <p:nvPr/>
        </p:nvSpPr>
        <p:spPr>
          <a:xfrm>
            <a:off x="2186347" y="1255530"/>
            <a:ext cx="893356" cy="464556"/>
          </a:xfrm>
          <a:prstGeom prst="rect">
            <a:avLst/>
          </a:prstGeom>
          <a:noFill/>
        </p:spPr>
        <p:txBody>
          <a:bodyPr wrap="square" rtlCol="0" anchor="ctr">
            <a:noAutofit/>
          </a:bodyPr>
          <a:lstStyle/>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Part of daily routine</a:t>
            </a:r>
          </a:p>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a:t>
            </a: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xx%, xxx)</a:t>
            </a:r>
            <a:endPar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endParaRPr>
          </a:p>
        </p:txBody>
      </p:sp>
      <p:sp>
        <p:nvSpPr>
          <p:cNvPr id="5" name="TextBox 4">
            <a:extLst>
              <a:ext uri="{FF2B5EF4-FFF2-40B4-BE49-F238E27FC236}">
                <a16:creationId xmlns:a16="http://schemas.microsoft.com/office/drawing/2014/main" id="{58B8D567-405C-240B-AF65-124604A36ED4}"/>
              </a:ext>
            </a:extLst>
          </p:cNvPr>
          <p:cNvSpPr txBox="1"/>
          <p:nvPr/>
        </p:nvSpPr>
        <p:spPr>
          <a:xfrm>
            <a:off x="8906511" y="9567"/>
            <a:ext cx="3126696" cy="1015663"/>
          </a:xfrm>
          <a:prstGeom prst="rect">
            <a:avLst/>
          </a:prstGeom>
          <a:noFill/>
        </p:spPr>
        <p:txBody>
          <a:bodyPr wrap="square" rtlCol="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7F7F7"/>
                </a:solidFill>
                <a:effectLst/>
                <a:uLnTx/>
                <a:uFillTx/>
                <a:latin typeface="Tenorite" panose="00000500000000000000" pitchFamily="2" charset="0"/>
                <a:ea typeface="+mn-ea"/>
                <a:cs typeface="+mn-cs"/>
                <a:sym typeface="Calibri"/>
              </a:rPr>
              <a:t>P3M Incidence:</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7F7F7"/>
                </a:solidFill>
                <a:effectLst/>
                <a:uLnTx/>
                <a:uFillTx/>
                <a:latin typeface="Tenorite" panose="00000500000000000000" pitchFamily="2" charset="0"/>
                <a:ea typeface="+mn-ea"/>
                <a:cs typeface="+mn-cs"/>
                <a:sym typeface="Calibri"/>
              </a:rPr>
              <a:t>% Daily+: </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7F7F7"/>
                </a:solidFill>
                <a:effectLst/>
                <a:uLnTx/>
                <a:uFillTx/>
                <a:latin typeface="Tenorite" panose="00000500000000000000" pitchFamily="2" charset="0"/>
                <a:ea typeface="+mn-ea"/>
                <a:cs typeface="+mn-cs"/>
                <a:sym typeface="Calibri"/>
              </a:rPr>
              <a:t>Mean Monthly Spend:  </a:t>
            </a:r>
            <a:endParaRPr kumimoji="0" lang="en-US" sz="1100" b="1" i="0" u="none" strike="noStrike" kern="1200" cap="none" spc="0" normalizeH="0" baseline="0" noProof="0" dirty="0">
              <a:ln>
                <a:noFill/>
              </a:ln>
              <a:solidFill>
                <a:srgbClr val="F7F7F7"/>
              </a:solidFill>
              <a:effectLst/>
              <a:uLnTx/>
              <a:uFillTx/>
              <a:latin typeface="Tenorite" panose="00000500000000000000" pitchFamily="2" charset="0"/>
              <a:ea typeface="+mn-ea"/>
              <a:cs typeface="+mn-cs"/>
              <a:sym typeface="Calibri"/>
            </a:endParaRPr>
          </a:p>
        </p:txBody>
      </p:sp>
      <p:sp>
        <p:nvSpPr>
          <p:cNvPr id="13" name="TextBox 12">
            <a:extLst>
              <a:ext uri="{FF2B5EF4-FFF2-40B4-BE49-F238E27FC236}">
                <a16:creationId xmlns:a16="http://schemas.microsoft.com/office/drawing/2014/main" id="{12A66313-95AA-40B0-D3AD-1AC771631520}"/>
              </a:ext>
            </a:extLst>
          </p:cNvPr>
          <p:cNvSpPr txBox="1"/>
          <p:nvPr/>
        </p:nvSpPr>
        <p:spPr>
          <a:xfrm>
            <a:off x="1026460" y="89659"/>
            <a:ext cx="7845563" cy="70788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7F7F7"/>
                </a:solidFill>
                <a:effectLst/>
                <a:uLnTx/>
                <a:uFillTx/>
                <a:latin typeface="Avenir Next LT Pro" panose="020B0504020202020204" pitchFamily="34" charset="0"/>
                <a:ea typeface="+mn-ea"/>
                <a:cs typeface="+mn-cs"/>
                <a:sym typeface="Calibri"/>
              </a:rPr>
              <a:t>SUPPLEMENTS CATEGORY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7F7F7"/>
                </a:solidFill>
                <a:effectLst/>
                <a:uLnTx/>
                <a:uFillTx/>
                <a:latin typeface="Avenir Next LT Pro" panose="020B0504020202020204" pitchFamily="34" charset="0"/>
                <a:ea typeface="+mn-ea"/>
                <a:cs typeface="+mn-cs"/>
                <a:sym typeface="Calibri"/>
              </a:rPr>
              <a:t>(among P3M Buyers using once/week+)</a:t>
            </a:r>
          </a:p>
        </p:txBody>
      </p:sp>
      <p:sp>
        <p:nvSpPr>
          <p:cNvPr id="12" name="Rectangle 11">
            <a:extLst>
              <a:ext uri="{FF2B5EF4-FFF2-40B4-BE49-F238E27FC236}">
                <a16:creationId xmlns:a16="http://schemas.microsoft.com/office/drawing/2014/main" id="{1D7165B7-CBA7-7702-D8CA-63D6A6EFD29D}"/>
              </a:ext>
            </a:extLst>
          </p:cNvPr>
          <p:cNvSpPr/>
          <p:nvPr/>
        </p:nvSpPr>
        <p:spPr>
          <a:xfrm>
            <a:off x="-4817" y="6556883"/>
            <a:ext cx="12202083" cy="3046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sym typeface="Calibri"/>
            </a:endParaRPr>
          </a:p>
        </p:txBody>
      </p:sp>
      <p:sp>
        <p:nvSpPr>
          <p:cNvPr id="39" name="Slide Number">
            <a:extLst>
              <a:ext uri="{FF2B5EF4-FFF2-40B4-BE49-F238E27FC236}">
                <a16:creationId xmlns:a16="http://schemas.microsoft.com/office/drawing/2014/main" id="{AA853E5E-9D5C-DE61-EEE7-3139296BCD0F}"/>
              </a:ext>
            </a:extLst>
          </p:cNvPr>
          <p:cNvSpPr txBox="1">
            <a:spLocks/>
          </p:cNvSpPr>
          <p:nvPr/>
        </p:nvSpPr>
        <p:spPr>
          <a:xfrm>
            <a:off x="11669024" y="6596993"/>
            <a:ext cx="342900" cy="230832"/>
          </a:xfrm>
          <a:prstGeom prst="rect">
            <a:avLst/>
          </a:prstGeom>
          <a:ln w="12700">
            <a:miter lim="400000"/>
          </a:ln>
        </p:spPr>
        <p:txBody>
          <a:bodyPr wrap="squar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kumimoji="0" sz="1000" b="1" i="0" u="none" strike="noStrike" cap="none" spc="0" normalizeH="0" baseline="0">
                <a:ln>
                  <a:noFill/>
                </a:ln>
                <a:solidFill>
                  <a:schemeClr val="tx2">
                    <a:lumMod val="75000"/>
                  </a:schemeClr>
                </a:solidFill>
                <a:effectLst/>
                <a:uFillTx/>
                <a:latin typeface="Lato" panose="020F0502020204030203" pitchFamily="34" charset="0"/>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solidFill>
                <a:effectLst/>
                <a:uFillTx/>
                <a:latin typeface="+mj-lt"/>
                <a:ea typeface="+mj-ea"/>
                <a:cs typeface="+mj-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900" b="1" i="0" u="none" strike="noStrike" kern="0" cap="none" spc="0" normalizeH="0" baseline="0" noProof="0" smtClean="0">
                <a:ln>
                  <a:noFill/>
                </a:ln>
                <a:solidFill>
                  <a:srgbClr val="F7F7F7"/>
                </a:solidFill>
                <a:effectLst/>
                <a:uLnTx/>
                <a:uFillTx/>
                <a:latin typeface="Tenorite" panose="00000500000000000000" pitchFamily="2" charset="0"/>
                <a:ea typeface="+mj-ea"/>
                <a:cs typeface="Calibri" panose="020F0502020204030204" pitchFamily="34" charset="0"/>
                <a:sym typeface="Calibri"/>
              </a:rPr>
              <a:pPr marL="0" marR="0" lvl="0" indent="0" algn="ctr" defTabSz="914400" rtl="0" eaLnBrk="1" fontAlgn="auto" latinLnBrk="0" hangingPunct="0">
                <a:lnSpc>
                  <a:spcPct val="100000"/>
                </a:lnSpc>
                <a:spcBef>
                  <a:spcPts val="0"/>
                </a:spcBef>
                <a:spcAft>
                  <a:spcPts val="0"/>
                </a:spcAft>
                <a:buClrTx/>
                <a:buSzTx/>
                <a:buFontTx/>
                <a:buNone/>
                <a:tabLst/>
                <a:defRPr/>
              </a:pPr>
              <a:t>42</a:t>
            </a:fld>
            <a:endParaRPr kumimoji="0" lang="en-US" sz="900" b="1" i="0" u="none" strike="noStrike" kern="0" cap="none" spc="0" normalizeH="0" baseline="0" noProof="0" dirty="0">
              <a:ln>
                <a:noFill/>
              </a:ln>
              <a:solidFill>
                <a:srgbClr val="F7F7F7"/>
              </a:solidFill>
              <a:effectLst/>
              <a:uLnTx/>
              <a:uFillTx/>
              <a:latin typeface="Tenorite" panose="00000500000000000000" pitchFamily="2" charset="0"/>
              <a:ea typeface="+mj-ea"/>
              <a:cs typeface="Calibri" panose="020F0502020204030204" pitchFamily="34" charset="0"/>
              <a:sym typeface="Calibri"/>
            </a:endParaRPr>
          </a:p>
        </p:txBody>
      </p:sp>
      <p:sp>
        <p:nvSpPr>
          <p:cNvPr id="101" name="TextBox 100">
            <a:extLst>
              <a:ext uri="{FF2B5EF4-FFF2-40B4-BE49-F238E27FC236}">
                <a16:creationId xmlns:a16="http://schemas.microsoft.com/office/drawing/2014/main" id="{BE93272C-4CE5-65DF-859E-90FC818D2E00}"/>
              </a:ext>
            </a:extLst>
          </p:cNvPr>
          <p:cNvSpPr txBox="1"/>
          <p:nvPr/>
        </p:nvSpPr>
        <p:spPr>
          <a:xfrm>
            <a:off x="3652691" y="1163380"/>
            <a:ext cx="1097135" cy="464556"/>
          </a:xfrm>
          <a:prstGeom prst="rect">
            <a:avLst/>
          </a:prstGeom>
          <a:noFill/>
        </p:spPr>
        <p:txBody>
          <a:bodyPr wrap="square" rtlCol="0">
            <a:noAutofit/>
          </a:bodyPr>
          <a:lstStyle/>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When feeling unwell</a:t>
            </a:r>
          </a:p>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a:t>
            </a: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xx%, xxx) </a:t>
            </a:r>
            <a:endPar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endParaRPr>
          </a:p>
        </p:txBody>
      </p:sp>
      <p:sp>
        <p:nvSpPr>
          <p:cNvPr id="16" name="TextBox 15">
            <a:extLst>
              <a:ext uri="{FF2B5EF4-FFF2-40B4-BE49-F238E27FC236}">
                <a16:creationId xmlns:a16="http://schemas.microsoft.com/office/drawing/2014/main" id="{FCF4FCCD-4217-02BD-BFC9-1A3255FB357B}"/>
              </a:ext>
            </a:extLst>
          </p:cNvPr>
          <p:cNvSpPr txBox="1"/>
          <p:nvPr/>
        </p:nvSpPr>
        <p:spPr>
          <a:xfrm>
            <a:off x="5536856" y="1204320"/>
            <a:ext cx="1269016" cy="437165"/>
          </a:xfrm>
          <a:prstGeom prst="rect">
            <a:avLst/>
          </a:prstGeom>
          <a:noFill/>
        </p:spPr>
        <p:txBody>
          <a:bodyPr wrap="square" rtlCol="0">
            <a:noAutofit/>
          </a:bodyPr>
          <a:lstStyle/>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Specific physical/</a:t>
            </a:r>
            <a:b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b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emotional need</a:t>
            </a:r>
          </a:p>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a:t>
            </a: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xx%, xxx) </a:t>
            </a:r>
            <a:endPar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endParaRPr>
          </a:p>
        </p:txBody>
      </p:sp>
      <p:sp>
        <p:nvSpPr>
          <p:cNvPr id="28" name="TextBox 27">
            <a:extLst>
              <a:ext uri="{FF2B5EF4-FFF2-40B4-BE49-F238E27FC236}">
                <a16:creationId xmlns:a16="http://schemas.microsoft.com/office/drawing/2014/main" id="{C0B9729D-DFD3-D49E-F373-80DB1B28DE12}"/>
              </a:ext>
            </a:extLst>
          </p:cNvPr>
          <p:cNvSpPr txBox="1"/>
          <p:nvPr/>
        </p:nvSpPr>
        <p:spPr>
          <a:xfrm>
            <a:off x="7326120" y="1302082"/>
            <a:ext cx="1371763" cy="464556"/>
          </a:xfrm>
          <a:prstGeom prst="rect">
            <a:avLst/>
          </a:prstGeom>
          <a:noFill/>
        </p:spPr>
        <p:txBody>
          <a:bodyPr wrap="square" rtlCol="0">
            <a:noAutofit/>
          </a:bodyPr>
          <a:lstStyle/>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Traveling</a:t>
            </a:r>
          </a:p>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a:t>
            </a: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xx%, xxx) </a:t>
            </a:r>
            <a:endPar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endParaRPr>
          </a:p>
        </p:txBody>
      </p:sp>
      <p:grpSp>
        <p:nvGrpSpPr>
          <p:cNvPr id="32" name="Group 31">
            <a:extLst>
              <a:ext uri="{FF2B5EF4-FFF2-40B4-BE49-F238E27FC236}">
                <a16:creationId xmlns:a16="http://schemas.microsoft.com/office/drawing/2014/main" id="{C6F7C7C6-8FFF-8CA2-239D-C33141D459F0}"/>
              </a:ext>
            </a:extLst>
          </p:cNvPr>
          <p:cNvGrpSpPr>
            <a:grpSpLocks noChangeAspect="1"/>
          </p:cNvGrpSpPr>
          <p:nvPr/>
        </p:nvGrpSpPr>
        <p:grpSpPr>
          <a:xfrm>
            <a:off x="8539920" y="1208736"/>
            <a:ext cx="592060" cy="592060"/>
            <a:chOff x="1862138" y="3424238"/>
            <a:chExt cx="908050" cy="908051"/>
          </a:xfrm>
          <a:solidFill>
            <a:schemeClr val="accent2"/>
          </a:solidFill>
        </p:grpSpPr>
        <p:sp>
          <p:nvSpPr>
            <p:cNvPr id="33" name="Freeform 14">
              <a:extLst>
                <a:ext uri="{FF2B5EF4-FFF2-40B4-BE49-F238E27FC236}">
                  <a16:creationId xmlns:a16="http://schemas.microsoft.com/office/drawing/2014/main" id="{146670CB-044B-27D7-04FC-F6528502C942}"/>
                </a:ext>
              </a:extLst>
            </p:cNvPr>
            <p:cNvSpPr>
              <a:spLocks noEditPoints="1"/>
            </p:cNvSpPr>
            <p:nvPr/>
          </p:nvSpPr>
          <p:spPr bwMode="auto">
            <a:xfrm>
              <a:off x="1862138" y="3778251"/>
              <a:ext cx="908050" cy="554038"/>
            </a:xfrm>
            <a:custGeom>
              <a:avLst/>
              <a:gdLst>
                <a:gd name="T0" fmla="*/ 283 w 1143"/>
                <a:gd name="T1" fmla="*/ 56 h 697"/>
                <a:gd name="T2" fmla="*/ 386 w 1143"/>
                <a:gd name="T3" fmla="*/ 113 h 697"/>
                <a:gd name="T4" fmla="*/ 467 w 1143"/>
                <a:gd name="T5" fmla="*/ 137 h 697"/>
                <a:gd name="T6" fmla="*/ 526 w 1143"/>
                <a:gd name="T7" fmla="*/ 185 h 697"/>
                <a:gd name="T8" fmla="*/ 583 w 1143"/>
                <a:gd name="T9" fmla="*/ 266 h 697"/>
                <a:gd name="T10" fmla="*/ 785 w 1143"/>
                <a:gd name="T11" fmla="*/ 276 h 697"/>
                <a:gd name="T12" fmla="*/ 785 w 1143"/>
                <a:gd name="T13" fmla="*/ 181 h 697"/>
                <a:gd name="T14" fmla="*/ 862 w 1143"/>
                <a:gd name="T15" fmla="*/ 56 h 697"/>
                <a:gd name="T16" fmla="*/ 950 w 1143"/>
                <a:gd name="T17" fmla="*/ 9 h 697"/>
                <a:gd name="T18" fmla="*/ 1062 w 1143"/>
                <a:gd name="T19" fmla="*/ 129 h 697"/>
                <a:gd name="T20" fmla="*/ 1086 w 1143"/>
                <a:gd name="T21" fmla="*/ 250 h 697"/>
                <a:gd name="T22" fmla="*/ 1136 w 1143"/>
                <a:gd name="T23" fmla="*/ 279 h 697"/>
                <a:gd name="T24" fmla="*/ 1112 w 1143"/>
                <a:gd name="T25" fmla="*/ 432 h 697"/>
                <a:gd name="T26" fmla="*/ 985 w 1143"/>
                <a:gd name="T27" fmla="*/ 590 h 697"/>
                <a:gd name="T28" fmla="*/ 797 w 1143"/>
                <a:gd name="T29" fmla="*/ 696 h 697"/>
                <a:gd name="T30" fmla="*/ 277 w 1143"/>
                <a:gd name="T31" fmla="*/ 666 h 697"/>
                <a:gd name="T32" fmla="*/ 91 w 1143"/>
                <a:gd name="T33" fmla="*/ 525 h 697"/>
                <a:gd name="T34" fmla="*/ 5 w 1143"/>
                <a:gd name="T35" fmla="*/ 346 h 697"/>
                <a:gd name="T36" fmla="*/ 18 w 1143"/>
                <a:gd name="T37" fmla="*/ 278 h 697"/>
                <a:gd name="T38" fmla="*/ 66 w 1143"/>
                <a:gd name="T39" fmla="*/ 207 h 697"/>
                <a:gd name="T40" fmla="*/ 136 w 1143"/>
                <a:gd name="T41" fmla="*/ 129 h 697"/>
                <a:gd name="T42" fmla="*/ 33 w 1143"/>
                <a:gd name="T43" fmla="*/ 310 h 697"/>
                <a:gd name="T44" fmla="*/ 75 w 1143"/>
                <a:gd name="T45" fmla="*/ 454 h 697"/>
                <a:gd name="T46" fmla="*/ 251 w 1143"/>
                <a:gd name="T47" fmla="*/ 618 h 697"/>
                <a:gd name="T48" fmla="*/ 775 w 1143"/>
                <a:gd name="T49" fmla="*/ 666 h 697"/>
                <a:gd name="T50" fmla="*/ 918 w 1143"/>
                <a:gd name="T51" fmla="*/ 601 h 697"/>
                <a:gd name="T52" fmla="*/ 1069 w 1143"/>
                <a:gd name="T53" fmla="*/ 453 h 697"/>
                <a:gd name="T54" fmla="*/ 1109 w 1143"/>
                <a:gd name="T55" fmla="*/ 309 h 697"/>
                <a:gd name="T56" fmla="*/ 329 w 1143"/>
                <a:gd name="T57" fmla="*/ 254 h 697"/>
                <a:gd name="T58" fmla="*/ 278 w 1143"/>
                <a:gd name="T59" fmla="*/ 140 h 697"/>
                <a:gd name="T60" fmla="*/ 299 w 1143"/>
                <a:gd name="T61" fmla="*/ 115 h 697"/>
                <a:gd name="T62" fmla="*/ 321 w 1143"/>
                <a:gd name="T63" fmla="*/ 182 h 697"/>
                <a:gd name="T64" fmla="*/ 393 w 1143"/>
                <a:gd name="T65" fmla="*/ 268 h 697"/>
                <a:gd name="T66" fmla="*/ 408 w 1143"/>
                <a:gd name="T67" fmla="*/ 238 h 697"/>
                <a:gd name="T68" fmla="*/ 399 w 1143"/>
                <a:gd name="T69" fmla="*/ 168 h 697"/>
                <a:gd name="T70" fmla="*/ 421 w 1143"/>
                <a:gd name="T71" fmla="*/ 188 h 697"/>
                <a:gd name="T72" fmla="*/ 519 w 1143"/>
                <a:gd name="T73" fmla="*/ 276 h 697"/>
                <a:gd name="T74" fmla="*/ 524 w 1143"/>
                <a:gd name="T75" fmla="*/ 222 h 697"/>
                <a:gd name="T76" fmla="*/ 452 w 1143"/>
                <a:gd name="T77" fmla="*/ 163 h 697"/>
                <a:gd name="T78" fmla="*/ 371 w 1143"/>
                <a:gd name="T79" fmla="*/ 147 h 697"/>
                <a:gd name="T80" fmla="*/ 333 w 1143"/>
                <a:gd name="T81" fmla="*/ 97 h 697"/>
                <a:gd name="T82" fmla="*/ 259 w 1143"/>
                <a:gd name="T83" fmla="*/ 94 h 697"/>
                <a:gd name="T84" fmla="*/ 199 w 1143"/>
                <a:gd name="T85" fmla="*/ 141 h 697"/>
                <a:gd name="T86" fmla="*/ 90 w 1143"/>
                <a:gd name="T87" fmla="*/ 231 h 697"/>
                <a:gd name="T88" fmla="*/ 273 w 1143"/>
                <a:gd name="T89" fmla="*/ 276 h 697"/>
                <a:gd name="T90" fmla="*/ 158 w 1143"/>
                <a:gd name="T91" fmla="*/ 218 h 697"/>
                <a:gd name="T92" fmla="*/ 155 w 1143"/>
                <a:gd name="T93" fmla="*/ 188 h 697"/>
                <a:gd name="T94" fmla="*/ 281 w 1143"/>
                <a:gd name="T95" fmla="*/ 240 h 697"/>
                <a:gd name="T96" fmla="*/ 1043 w 1143"/>
                <a:gd name="T97" fmla="*/ 159 h 697"/>
                <a:gd name="T98" fmla="*/ 957 w 1143"/>
                <a:gd name="T99" fmla="*/ 53 h 697"/>
                <a:gd name="T100" fmla="*/ 818 w 1143"/>
                <a:gd name="T101" fmla="*/ 179 h 697"/>
                <a:gd name="T102" fmla="*/ 871 w 1143"/>
                <a:gd name="T103" fmla="*/ 276 h 697"/>
                <a:gd name="T104" fmla="*/ 915 w 1143"/>
                <a:gd name="T105" fmla="*/ 228 h 697"/>
                <a:gd name="T106" fmla="*/ 912 w 1143"/>
                <a:gd name="T107" fmla="*/ 178 h 697"/>
                <a:gd name="T108" fmla="*/ 913 w 1143"/>
                <a:gd name="T109" fmla="*/ 50 h 697"/>
                <a:gd name="T110" fmla="*/ 1047 w 1143"/>
                <a:gd name="T111" fmla="*/ 201 h 697"/>
                <a:gd name="T112" fmla="*/ 1000 w 1143"/>
                <a:gd name="T113" fmla="*/ 276 h 697"/>
                <a:gd name="T114" fmla="*/ 1055 w 1143"/>
                <a:gd name="T115" fmla="*/ 198 h 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3" h="697">
                  <a:moveTo>
                    <a:pt x="202" y="109"/>
                  </a:moveTo>
                  <a:lnTo>
                    <a:pt x="202" y="109"/>
                  </a:lnTo>
                  <a:lnTo>
                    <a:pt x="212" y="97"/>
                  </a:lnTo>
                  <a:lnTo>
                    <a:pt x="223" y="85"/>
                  </a:lnTo>
                  <a:lnTo>
                    <a:pt x="234" y="75"/>
                  </a:lnTo>
                  <a:lnTo>
                    <a:pt x="246" y="68"/>
                  </a:lnTo>
                  <a:lnTo>
                    <a:pt x="258" y="62"/>
                  </a:lnTo>
                  <a:lnTo>
                    <a:pt x="270" y="57"/>
                  </a:lnTo>
                  <a:lnTo>
                    <a:pt x="283" y="56"/>
                  </a:lnTo>
                  <a:lnTo>
                    <a:pt x="296" y="54"/>
                  </a:lnTo>
                  <a:lnTo>
                    <a:pt x="308" y="56"/>
                  </a:lnTo>
                  <a:lnTo>
                    <a:pt x="321" y="59"/>
                  </a:lnTo>
                  <a:lnTo>
                    <a:pt x="333" y="63"/>
                  </a:lnTo>
                  <a:lnTo>
                    <a:pt x="345" y="70"/>
                  </a:lnTo>
                  <a:lnTo>
                    <a:pt x="357" y="78"/>
                  </a:lnTo>
                  <a:lnTo>
                    <a:pt x="367" y="88"/>
                  </a:lnTo>
                  <a:lnTo>
                    <a:pt x="377" y="100"/>
                  </a:lnTo>
                  <a:lnTo>
                    <a:pt x="386" y="113"/>
                  </a:lnTo>
                  <a:lnTo>
                    <a:pt x="386" y="113"/>
                  </a:lnTo>
                  <a:lnTo>
                    <a:pt x="402" y="113"/>
                  </a:lnTo>
                  <a:lnTo>
                    <a:pt x="402" y="113"/>
                  </a:lnTo>
                  <a:lnTo>
                    <a:pt x="414" y="113"/>
                  </a:lnTo>
                  <a:lnTo>
                    <a:pt x="426" y="116"/>
                  </a:lnTo>
                  <a:lnTo>
                    <a:pt x="438" y="119"/>
                  </a:lnTo>
                  <a:lnTo>
                    <a:pt x="448" y="123"/>
                  </a:lnTo>
                  <a:lnTo>
                    <a:pt x="458" y="129"/>
                  </a:lnTo>
                  <a:lnTo>
                    <a:pt x="467" y="137"/>
                  </a:lnTo>
                  <a:lnTo>
                    <a:pt x="476" y="144"/>
                  </a:lnTo>
                  <a:lnTo>
                    <a:pt x="483" y="154"/>
                  </a:lnTo>
                  <a:lnTo>
                    <a:pt x="483" y="154"/>
                  </a:lnTo>
                  <a:lnTo>
                    <a:pt x="491" y="162"/>
                  </a:lnTo>
                  <a:lnTo>
                    <a:pt x="496" y="169"/>
                  </a:lnTo>
                  <a:lnTo>
                    <a:pt x="505" y="173"/>
                  </a:lnTo>
                  <a:lnTo>
                    <a:pt x="514" y="179"/>
                  </a:lnTo>
                  <a:lnTo>
                    <a:pt x="514" y="179"/>
                  </a:lnTo>
                  <a:lnTo>
                    <a:pt x="526" y="185"/>
                  </a:lnTo>
                  <a:lnTo>
                    <a:pt x="536" y="193"/>
                  </a:lnTo>
                  <a:lnTo>
                    <a:pt x="547" y="201"/>
                  </a:lnTo>
                  <a:lnTo>
                    <a:pt x="555" y="210"/>
                  </a:lnTo>
                  <a:lnTo>
                    <a:pt x="563" y="220"/>
                  </a:lnTo>
                  <a:lnTo>
                    <a:pt x="570" y="231"/>
                  </a:lnTo>
                  <a:lnTo>
                    <a:pt x="575" y="243"/>
                  </a:lnTo>
                  <a:lnTo>
                    <a:pt x="580" y="256"/>
                  </a:lnTo>
                  <a:lnTo>
                    <a:pt x="580" y="256"/>
                  </a:lnTo>
                  <a:lnTo>
                    <a:pt x="583" y="266"/>
                  </a:lnTo>
                  <a:lnTo>
                    <a:pt x="583" y="266"/>
                  </a:lnTo>
                  <a:lnTo>
                    <a:pt x="588" y="275"/>
                  </a:lnTo>
                  <a:lnTo>
                    <a:pt x="588" y="275"/>
                  </a:lnTo>
                  <a:lnTo>
                    <a:pt x="611" y="276"/>
                  </a:lnTo>
                  <a:lnTo>
                    <a:pt x="636" y="276"/>
                  </a:lnTo>
                  <a:lnTo>
                    <a:pt x="685" y="276"/>
                  </a:lnTo>
                  <a:lnTo>
                    <a:pt x="685" y="276"/>
                  </a:lnTo>
                  <a:lnTo>
                    <a:pt x="785" y="276"/>
                  </a:lnTo>
                  <a:lnTo>
                    <a:pt x="785" y="276"/>
                  </a:lnTo>
                  <a:lnTo>
                    <a:pt x="785" y="266"/>
                  </a:lnTo>
                  <a:lnTo>
                    <a:pt x="784" y="256"/>
                  </a:lnTo>
                  <a:lnTo>
                    <a:pt x="784" y="256"/>
                  </a:lnTo>
                  <a:lnTo>
                    <a:pt x="781" y="244"/>
                  </a:lnTo>
                  <a:lnTo>
                    <a:pt x="779" y="231"/>
                  </a:lnTo>
                  <a:lnTo>
                    <a:pt x="779" y="218"/>
                  </a:lnTo>
                  <a:lnTo>
                    <a:pt x="779" y="206"/>
                  </a:lnTo>
                  <a:lnTo>
                    <a:pt x="782" y="194"/>
                  </a:lnTo>
                  <a:lnTo>
                    <a:pt x="785" y="181"/>
                  </a:lnTo>
                  <a:lnTo>
                    <a:pt x="792" y="157"/>
                  </a:lnTo>
                  <a:lnTo>
                    <a:pt x="792" y="157"/>
                  </a:lnTo>
                  <a:lnTo>
                    <a:pt x="803" y="134"/>
                  </a:lnTo>
                  <a:lnTo>
                    <a:pt x="816" y="112"/>
                  </a:lnTo>
                  <a:lnTo>
                    <a:pt x="816" y="112"/>
                  </a:lnTo>
                  <a:lnTo>
                    <a:pt x="826" y="97"/>
                  </a:lnTo>
                  <a:lnTo>
                    <a:pt x="837" y="82"/>
                  </a:lnTo>
                  <a:lnTo>
                    <a:pt x="848" y="69"/>
                  </a:lnTo>
                  <a:lnTo>
                    <a:pt x="862" y="56"/>
                  </a:lnTo>
                  <a:lnTo>
                    <a:pt x="887" y="31"/>
                  </a:lnTo>
                  <a:lnTo>
                    <a:pt x="916" y="9"/>
                  </a:lnTo>
                  <a:lnTo>
                    <a:pt x="916" y="9"/>
                  </a:lnTo>
                  <a:lnTo>
                    <a:pt x="925" y="1"/>
                  </a:lnTo>
                  <a:lnTo>
                    <a:pt x="929" y="0"/>
                  </a:lnTo>
                  <a:lnTo>
                    <a:pt x="934" y="0"/>
                  </a:lnTo>
                  <a:lnTo>
                    <a:pt x="937" y="0"/>
                  </a:lnTo>
                  <a:lnTo>
                    <a:pt x="941" y="1"/>
                  </a:lnTo>
                  <a:lnTo>
                    <a:pt x="950" y="9"/>
                  </a:lnTo>
                  <a:lnTo>
                    <a:pt x="950" y="9"/>
                  </a:lnTo>
                  <a:lnTo>
                    <a:pt x="980" y="31"/>
                  </a:lnTo>
                  <a:lnTo>
                    <a:pt x="1008" y="57"/>
                  </a:lnTo>
                  <a:lnTo>
                    <a:pt x="1019" y="70"/>
                  </a:lnTo>
                  <a:lnTo>
                    <a:pt x="1031" y="85"/>
                  </a:lnTo>
                  <a:lnTo>
                    <a:pt x="1043" y="100"/>
                  </a:lnTo>
                  <a:lnTo>
                    <a:pt x="1053" y="116"/>
                  </a:lnTo>
                  <a:lnTo>
                    <a:pt x="1053" y="116"/>
                  </a:lnTo>
                  <a:lnTo>
                    <a:pt x="1062" y="129"/>
                  </a:lnTo>
                  <a:lnTo>
                    <a:pt x="1069" y="144"/>
                  </a:lnTo>
                  <a:lnTo>
                    <a:pt x="1075" y="159"/>
                  </a:lnTo>
                  <a:lnTo>
                    <a:pt x="1080" y="175"/>
                  </a:lnTo>
                  <a:lnTo>
                    <a:pt x="1080" y="175"/>
                  </a:lnTo>
                  <a:lnTo>
                    <a:pt x="1086" y="193"/>
                  </a:lnTo>
                  <a:lnTo>
                    <a:pt x="1087" y="212"/>
                  </a:lnTo>
                  <a:lnTo>
                    <a:pt x="1089" y="231"/>
                  </a:lnTo>
                  <a:lnTo>
                    <a:pt x="1086" y="250"/>
                  </a:lnTo>
                  <a:lnTo>
                    <a:pt x="1086" y="250"/>
                  </a:lnTo>
                  <a:lnTo>
                    <a:pt x="1083" y="262"/>
                  </a:lnTo>
                  <a:lnTo>
                    <a:pt x="1081" y="275"/>
                  </a:lnTo>
                  <a:lnTo>
                    <a:pt x="1081" y="275"/>
                  </a:lnTo>
                  <a:lnTo>
                    <a:pt x="1091" y="276"/>
                  </a:lnTo>
                  <a:lnTo>
                    <a:pt x="1100" y="276"/>
                  </a:lnTo>
                  <a:lnTo>
                    <a:pt x="1118" y="276"/>
                  </a:lnTo>
                  <a:lnTo>
                    <a:pt x="1118" y="276"/>
                  </a:lnTo>
                  <a:lnTo>
                    <a:pt x="1131" y="278"/>
                  </a:lnTo>
                  <a:lnTo>
                    <a:pt x="1136" y="279"/>
                  </a:lnTo>
                  <a:lnTo>
                    <a:pt x="1139" y="282"/>
                  </a:lnTo>
                  <a:lnTo>
                    <a:pt x="1142" y="285"/>
                  </a:lnTo>
                  <a:lnTo>
                    <a:pt x="1143" y="290"/>
                  </a:lnTo>
                  <a:lnTo>
                    <a:pt x="1143" y="303"/>
                  </a:lnTo>
                  <a:lnTo>
                    <a:pt x="1143" y="303"/>
                  </a:lnTo>
                  <a:lnTo>
                    <a:pt x="1140" y="337"/>
                  </a:lnTo>
                  <a:lnTo>
                    <a:pt x="1134" y="369"/>
                  </a:lnTo>
                  <a:lnTo>
                    <a:pt x="1125" y="401"/>
                  </a:lnTo>
                  <a:lnTo>
                    <a:pt x="1112" y="432"/>
                  </a:lnTo>
                  <a:lnTo>
                    <a:pt x="1112" y="432"/>
                  </a:lnTo>
                  <a:lnTo>
                    <a:pt x="1100" y="456"/>
                  </a:lnTo>
                  <a:lnTo>
                    <a:pt x="1087" y="478"/>
                  </a:lnTo>
                  <a:lnTo>
                    <a:pt x="1074" y="498"/>
                  </a:lnTo>
                  <a:lnTo>
                    <a:pt x="1058" y="519"/>
                  </a:lnTo>
                  <a:lnTo>
                    <a:pt x="1041" y="538"/>
                  </a:lnTo>
                  <a:lnTo>
                    <a:pt x="1024" y="556"/>
                  </a:lnTo>
                  <a:lnTo>
                    <a:pt x="1005" y="573"/>
                  </a:lnTo>
                  <a:lnTo>
                    <a:pt x="985" y="590"/>
                  </a:lnTo>
                  <a:lnTo>
                    <a:pt x="985" y="590"/>
                  </a:lnTo>
                  <a:lnTo>
                    <a:pt x="966" y="606"/>
                  </a:lnTo>
                  <a:lnTo>
                    <a:pt x="946" y="621"/>
                  </a:lnTo>
                  <a:lnTo>
                    <a:pt x="925" y="634"/>
                  </a:lnTo>
                  <a:lnTo>
                    <a:pt x="903" y="647"/>
                  </a:lnTo>
                  <a:lnTo>
                    <a:pt x="859" y="669"/>
                  </a:lnTo>
                  <a:lnTo>
                    <a:pt x="813" y="690"/>
                  </a:lnTo>
                  <a:lnTo>
                    <a:pt x="813" y="690"/>
                  </a:lnTo>
                  <a:lnTo>
                    <a:pt x="797" y="696"/>
                  </a:lnTo>
                  <a:lnTo>
                    <a:pt x="781" y="697"/>
                  </a:lnTo>
                  <a:lnTo>
                    <a:pt x="781" y="697"/>
                  </a:lnTo>
                  <a:lnTo>
                    <a:pt x="362" y="697"/>
                  </a:lnTo>
                  <a:lnTo>
                    <a:pt x="362" y="697"/>
                  </a:lnTo>
                  <a:lnTo>
                    <a:pt x="346" y="696"/>
                  </a:lnTo>
                  <a:lnTo>
                    <a:pt x="332" y="691"/>
                  </a:lnTo>
                  <a:lnTo>
                    <a:pt x="332" y="691"/>
                  </a:lnTo>
                  <a:lnTo>
                    <a:pt x="304" y="679"/>
                  </a:lnTo>
                  <a:lnTo>
                    <a:pt x="277" y="666"/>
                  </a:lnTo>
                  <a:lnTo>
                    <a:pt x="251" y="651"/>
                  </a:lnTo>
                  <a:lnTo>
                    <a:pt x="224" y="637"/>
                  </a:lnTo>
                  <a:lnTo>
                    <a:pt x="199" y="621"/>
                  </a:lnTo>
                  <a:lnTo>
                    <a:pt x="175" y="604"/>
                  </a:lnTo>
                  <a:lnTo>
                    <a:pt x="152" y="585"/>
                  </a:lnTo>
                  <a:lnTo>
                    <a:pt x="130" y="565"/>
                  </a:lnTo>
                  <a:lnTo>
                    <a:pt x="130" y="565"/>
                  </a:lnTo>
                  <a:lnTo>
                    <a:pt x="109" y="546"/>
                  </a:lnTo>
                  <a:lnTo>
                    <a:pt x="91" y="525"/>
                  </a:lnTo>
                  <a:lnTo>
                    <a:pt x="74" y="504"/>
                  </a:lnTo>
                  <a:lnTo>
                    <a:pt x="59" y="482"/>
                  </a:lnTo>
                  <a:lnTo>
                    <a:pt x="44" y="460"/>
                  </a:lnTo>
                  <a:lnTo>
                    <a:pt x="33" y="435"/>
                  </a:lnTo>
                  <a:lnTo>
                    <a:pt x="22" y="410"/>
                  </a:lnTo>
                  <a:lnTo>
                    <a:pt x="13" y="384"/>
                  </a:lnTo>
                  <a:lnTo>
                    <a:pt x="13" y="384"/>
                  </a:lnTo>
                  <a:lnTo>
                    <a:pt x="8" y="365"/>
                  </a:lnTo>
                  <a:lnTo>
                    <a:pt x="5" y="346"/>
                  </a:lnTo>
                  <a:lnTo>
                    <a:pt x="0" y="307"/>
                  </a:lnTo>
                  <a:lnTo>
                    <a:pt x="0" y="307"/>
                  </a:lnTo>
                  <a:lnTo>
                    <a:pt x="0" y="296"/>
                  </a:lnTo>
                  <a:lnTo>
                    <a:pt x="0" y="296"/>
                  </a:lnTo>
                  <a:lnTo>
                    <a:pt x="2" y="288"/>
                  </a:lnTo>
                  <a:lnTo>
                    <a:pt x="5" y="282"/>
                  </a:lnTo>
                  <a:lnTo>
                    <a:pt x="10" y="279"/>
                  </a:lnTo>
                  <a:lnTo>
                    <a:pt x="18" y="278"/>
                  </a:lnTo>
                  <a:lnTo>
                    <a:pt x="18" y="278"/>
                  </a:lnTo>
                  <a:lnTo>
                    <a:pt x="34" y="276"/>
                  </a:lnTo>
                  <a:lnTo>
                    <a:pt x="53" y="276"/>
                  </a:lnTo>
                  <a:lnTo>
                    <a:pt x="53" y="276"/>
                  </a:lnTo>
                  <a:lnTo>
                    <a:pt x="55" y="254"/>
                  </a:lnTo>
                  <a:lnTo>
                    <a:pt x="55" y="254"/>
                  </a:lnTo>
                  <a:lnTo>
                    <a:pt x="58" y="241"/>
                  </a:lnTo>
                  <a:lnTo>
                    <a:pt x="59" y="229"/>
                  </a:lnTo>
                  <a:lnTo>
                    <a:pt x="62" y="218"/>
                  </a:lnTo>
                  <a:lnTo>
                    <a:pt x="66" y="207"/>
                  </a:lnTo>
                  <a:lnTo>
                    <a:pt x="72" y="195"/>
                  </a:lnTo>
                  <a:lnTo>
                    <a:pt x="78" y="185"/>
                  </a:lnTo>
                  <a:lnTo>
                    <a:pt x="84" y="175"/>
                  </a:lnTo>
                  <a:lnTo>
                    <a:pt x="91" y="166"/>
                  </a:lnTo>
                  <a:lnTo>
                    <a:pt x="99" y="157"/>
                  </a:lnTo>
                  <a:lnTo>
                    <a:pt x="108" y="150"/>
                  </a:lnTo>
                  <a:lnTo>
                    <a:pt x="116" y="143"/>
                  </a:lnTo>
                  <a:lnTo>
                    <a:pt x="125" y="135"/>
                  </a:lnTo>
                  <a:lnTo>
                    <a:pt x="136" y="129"/>
                  </a:lnTo>
                  <a:lnTo>
                    <a:pt x="147" y="123"/>
                  </a:lnTo>
                  <a:lnTo>
                    <a:pt x="158" y="119"/>
                  </a:lnTo>
                  <a:lnTo>
                    <a:pt x="170" y="116"/>
                  </a:lnTo>
                  <a:lnTo>
                    <a:pt x="170" y="116"/>
                  </a:lnTo>
                  <a:lnTo>
                    <a:pt x="187" y="112"/>
                  </a:lnTo>
                  <a:lnTo>
                    <a:pt x="202" y="109"/>
                  </a:lnTo>
                  <a:lnTo>
                    <a:pt x="202" y="109"/>
                  </a:lnTo>
                  <a:close/>
                  <a:moveTo>
                    <a:pt x="33" y="310"/>
                  </a:moveTo>
                  <a:lnTo>
                    <a:pt x="33" y="310"/>
                  </a:lnTo>
                  <a:lnTo>
                    <a:pt x="31" y="321"/>
                  </a:lnTo>
                  <a:lnTo>
                    <a:pt x="33" y="329"/>
                  </a:lnTo>
                  <a:lnTo>
                    <a:pt x="34" y="347"/>
                  </a:lnTo>
                  <a:lnTo>
                    <a:pt x="34" y="347"/>
                  </a:lnTo>
                  <a:lnTo>
                    <a:pt x="40" y="371"/>
                  </a:lnTo>
                  <a:lnTo>
                    <a:pt x="46" y="393"/>
                  </a:lnTo>
                  <a:lnTo>
                    <a:pt x="55" y="413"/>
                  </a:lnTo>
                  <a:lnTo>
                    <a:pt x="63" y="434"/>
                  </a:lnTo>
                  <a:lnTo>
                    <a:pt x="75" y="454"/>
                  </a:lnTo>
                  <a:lnTo>
                    <a:pt x="87" y="473"/>
                  </a:lnTo>
                  <a:lnTo>
                    <a:pt x="100" y="491"/>
                  </a:lnTo>
                  <a:lnTo>
                    <a:pt x="116" y="510"/>
                  </a:lnTo>
                  <a:lnTo>
                    <a:pt x="116" y="510"/>
                  </a:lnTo>
                  <a:lnTo>
                    <a:pt x="140" y="535"/>
                  </a:lnTo>
                  <a:lnTo>
                    <a:pt x="165" y="559"/>
                  </a:lnTo>
                  <a:lnTo>
                    <a:pt x="193" y="579"/>
                  </a:lnTo>
                  <a:lnTo>
                    <a:pt x="221" y="598"/>
                  </a:lnTo>
                  <a:lnTo>
                    <a:pt x="251" y="618"/>
                  </a:lnTo>
                  <a:lnTo>
                    <a:pt x="280" y="634"/>
                  </a:lnTo>
                  <a:lnTo>
                    <a:pt x="311" y="648"/>
                  </a:lnTo>
                  <a:lnTo>
                    <a:pt x="343" y="663"/>
                  </a:lnTo>
                  <a:lnTo>
                    <a:pt x="343" y="663"/>
                  </a:lnTo>
                  <a:lnTo>
                    <a:pt x="349" y="665"/>
                  </a:lnTo>
                  <a:lnTo>
                    <a:pt x="355" y="666"/>
                  </a:lnTo>
                  <a:lnTo>
                    <a:pt x="368" y="666"/>
                  </a:lnTo>
                  <a:lnTo>
                    <a:pt x="368" y="666"/>
                  </a:lnTo>
                  <a:lnTo>
                    <a:pt x="775" y="666"/>
                  </a:lnTo>
                  <a:lnTo>
                    <a:pt x="775" y="666"/>
                  </a:lnTo>
                  <a:lnTo>
                    <a:pt x="791" y="665"/>
                  </a:lnTo>
                  <a:lnTo>
                    <a:pt x="798" y="663"/>
                  </a:lnTo>
                  <a:lnTo>
                    <a:pt x="806" y="660"/>
                  </a:lnTo>
                  <a:lnTo>
                    <a:pt x="806" y="660"/>
                  </a:lnTo>
                  <a:lnTo>
                    <a:pt x="851" y="640"/>
                  </a:lnTo>
                  <a:lnTo>
                    <a:pt x="875" y="628"/>
                  </a:lnTo>
                  <a:lnTo>
                    <a:pt x="896" y="615"/>
                  </a:lnTo>
                  <a:lnTo>
                    <a:pt x="918" y="601"/>
                  </a:lnTo>
                  <a:lnTo>
                    <a:pt x="938" y="588"/>
                  </a:lnTo>
                  <a:lnTo>
                    <a:pt x="959" y="573"/>
                  </a:lnTo>
                  <a:lnTo>
                    <a:pt x="980" y="557"/>
                  </a:lnTo>
                  <a:lnTo>
                    <a:pt x="980" y="557"/>
                  </a:lnTo>
                  <a:lnTo>
                    <a:pt x="1005" y="534"/>
                  </a:lnTo>
                  <a:lnTo>
                    <a:pt x="1028" y="509"/>
                  </a:lnTo>
                  <a:lnTo>
                    <a:pt x="1050" y="481"/>
                  </a:lnTo>
                  <a:lnTo>
                    <a:pt x="1069" y="453"/>
                  </a:lnTo>
                  <a:lnTo>
                    <a:pt x="1069" y="453"/>
                  </a:lnTo>
                  <a:lnTo>
                    <a:pt x="1084" y="425"/>
                  </a:lnTo>
                  <a:lnTo>
                    <a:pt x="1096" y="396"/>
                  </a:lnTo>
                  <a:lnTo>
                    <a:pt x="1105" y="365"/>
                  </a:lnTo>
                  <a:lnTo>
                    <a:pt x="1111" y="334"/>
                  </a:lnTo>
                  <a:lnTo>
                    <a:pt x="1111" y="334"/>
                  </a:lnTo>
                  <a:lnTo>
                    <a:pt x="1112" y="321"/>
                  </a:lnTo>
                  <a:lnTo>
                    <a:pt x="1112" y="315"/>
                  </a:lnTo>
                  <a:lnTo>
                    <a:pt x="1109" y="309"/>
                  </a:lnTo>
                  <a:lnTo>
                    <a:pt x="1109" y="309"/>
                  </a:lnTo>
                  <a:lnTo>
                    <a:pt x="1056" y="309"/>
                  </a:lnTo>
                  <a:lnTo>
                    <a:pt x="934" y="307"/>
                  </a:lnTo>
                  <a:lnTo>
                    <a:pt x="570" y="307"/>
                  </a:lnTo>
                  <a:lnTo>
                    <a:pt x="208" y="307"/>
                  </a:lnTo>
                  <a:lnTo>
                    <a:pt x="86" y="309"/>
                  </a:lnTo>
                  <a:lnTo>
                    <a:pt x="33" y="310"/>
                  </a:lnTo>
                  <a:lnTo>
                    <a:pt x="33" y="310"/>
                  </a:lnTo>
                  <a:close/>
                  <a:moveTo>
                    <a:pt x="329" y="254"/>
                  </a:moveTo>
                  <a:lnTo>
                    <a:pt x="329" y="254"/>
                  </a:lnTo>
                  <a:lnTo>
                    <a:pt x="321" y="240"/>
                  </a:lnTo>
                  <a:lnTo>
                    <a:pt x="321" y="240"/>
                  </a:lnTo>
                  <a:lnTo>
                    <a:pt x="308" y="218"/>
                  </a:lnTo>
                  <a:lnTo>
                    <a:pt x="295" y="195"/>
                  </a:lnTo>
                  <a:lnTo>
                    <a:pt x="295" y="195"/>
                  </a:lnTo>
                  <a:lnTo>
                    <a:pt x="289" y="182"/>
                  </a:lnTo>
                  <a:lnTo>
                    <a:pt x="283" y="169"/>
                  </a:lnTo>
                  <a:lnTo>
                    <a:pt x="280" y="154"/>
                  </a:lnTo>
                  <a:lnTo>
                    <a:pt x="278" y="140"/>
                  </a:lnTo>
                  <a:lnTo>
                    <a:pt x="278" y="140"/>
                  </a:lnTo>
                  <a:lnTo>
                    <a:pt x="278" y="131"/>
                  </a:lnTo>
                  <a:lnTo>
                    <a:pt x="281" y="123"/>
                  </a:lnTo>
                  <a:lnTo>
                    <a:pt x="281" y="123"/>
                  </a:lnTo>
                  <a:lnTo>
                    <a:pt x="284" y="118"/>
                  </a:lnTo>
                  <a:lnTo>
                    <a:pt x="290" y="115"/>
                  </a:lnTo>
                  <a:lnTo>
                    <a:pt x="290" y="115"/>
                  </a:lnTo>
                  <a:lnTo>
                    <a:pt x="295" y="113"/>
                  </a:lnTo>
                  <a:lnTo>
                    <a:pt x="299" y="115"/>
                  </a:lnTo>
                  <a:lnTo>
                    <a:pt x="302" y="118"/>
                  </a:lnTo>
                  <a:lnTo>
                    <a:pt x="305" y="120"/>
                  </a:lnTo>
                  <a:lnTo>
                    <a:pt x="305" y="120"/>
                  </a:lnTo>
                  <a:lnTo>
                    <a:pt x="308" y="126"/>
                  </a:lnTo>
                  <a:lnTo>
                    <a:pt x="308" y="134"/>
                  </a:lnTo>
                  <a:lnTo>
                    <a:pt x="308" y="134"/>
                  </a:lnTo>
                  <a:lnTo>
                    <a:pt x="311" y="151"/>
                  </a:lnTo>
                  <a:lnTo>
                    <a:pt x="314" y="168"/>
                  </a:lnTo>
                  <a:lnTo>
                    <a:pt x="321" y="182"/>
                  </a:lnTo>
                  <a:lnTo>
                    <a:pt x="329" y="197"/>
                  </a:lnTo>
                  <a:lnTo>
                    <a:pt x="329" y="197"/>
                  </a:lnTo>
                  <a:lnTo>
                    <a:pt x="346" y="222"/>
                  </a:lnTo>
                  <a:lnTo>
                    <a:pt x="364" y="245"/>
                  </a:lnTo>
                  <a:lnTo>
                    <a:pt x="364" y="245"/>
                  </a:lnTo>
                  <a:lnTo>
                    <a:pt x="370" y="253"/>
                  </a:lnTo>
                  <a:lnTo>
                    <a:pt x="377" y="259"/>
                  </a:lnTo>
                  <a:lnTo>
                    <a:pt x="386" y="263"/>
                  </a:lnTo>
                  <a:lnTo>
                    <a:pt x="393" y="268"/>
                  </a:lnTo>
                  <a:lnTo>
                    <a:pt x="402" y="269"/>
                  </a:lnTo>
                  <a:lnTo>
                    <a:pt x="411" y="271"/>
                  </a:lnTo>
                  <a:lnTo>
                    <a:pt x="432" y="271"/>
                  </a:lnTo>
                  <a:lnTo>
                    <a:pt x="432" y="271"/>
                  </a:lnTo>
                  <a:lnTo>
                    <a:pt x="429" y="265"/>
                  </a:lnTo>
                  <a:lnTo>
                    <a:pt x="426" y="259"/>
                  </a:lnTo>
                  <a:lnTo>
                    <a:pt x="418" y="251"/>
                  </a:lnTo>
                  <a:lnTo>
                    <a:pt x="418" y="251"/>
                  </a:lnTo>
                  <a:lnTo>
                    <a:pt x="408" y="238"/>
                  </a:lnTo>
                  <a:lnTo>
                    <a:pt x="401" y="222"/>
                  </a:lnTo>
                  <a:lnTo>
                    <a:pt x="395" y="207"/>
                  </a:lnTo>
                  <a:lnTo>
                    <a:pt x="390" y="191"/>
                  </a:lnTo>
                  <a:lnTo>
                    <a:pt x="390" y="191"/>
                  </a:lnTo>
                  <a:lnTo>
                    <a:pt x="390" y="179"/>
                  </a:lnTo>
                  <a:lnTo>
                    <a:pt x="390" y="179"/>
                  </a:lnTo>
                  <a:lnTo>
                    <a:pt x="392" y="175"/>
                  </a:lnTo>
                  <a:lnTo>
                    <a:pt x="395" y="170"/>
                  </a:lnTo>
                  <a:lnTo>
                    <a:pt x="399" y="168"/>
                  </a:lnTo>
                  <a:lnTo>
                    <a:pt x="404" y="168"/>
                  </a:lnTo>
                  <a:lnTo>
                    <a:pt x="404" y="168"/>
                  </a:lnTo>
                  <a:lnTo>
                    <a:pt x="408" y="168"/>
                  </a:lnTo>
                  <a:lnTo>
                    <a:pt x="413" y="169"/>
                  </a:lnTo>
                  <a:lnTo>
                    <a:pt x="415" y="172"/>
                  </a:lnTo>
                  <a:lnTo>
                    <a:pt x="417" y="175"/>
                  </a:lnTo>
                  <a:lnTo>
                    <a:pt x="417" y="175"/>
                  </a:lnTo>
                  <a:lnTo>
                    <a:pt x="421" y="188"/>
                  </a:lnTo>
                  <a:lnTo>
                    <a:pt x="421" y="188"/>
                  </a:lnTo>
                  <a:lnTo>
                    <a:pt x="427" y="207"/>
                  </a:lnTo>
                  <a:lnTo>
                    <a:pt x="435" y="222"/>
                  </a:lnTo>
                  <a:lnTo>
                    <a:pt x="445" y="235"/>
                  </a:lnTo>
                  <a:lnTo>
                    <a:pt x="457" y="247"/>
                  </a:lnTo>
                  <a:lnTo>
                    <a:pt x="470" y="256"/>
                  </a:lnTo>
                  <a:lnTo>
                    <a:pt x="485" y="265"/>
                  </a:lnTo>
                  <a:lnTo>
                    <a:pt x="501" y="271"/>
                  </a:lnTo>
                  <a:lnTo>
                    <a:pt x="519" y="276"/>
                  </a:lnTo>
                  <a:lnTo>
                    <a:pt x="519" y="276"/>
                  </a:lnTo>
                  <a:lnTo>
                    <a:pt x="526" y="278"/>
                  </a:lnTo>
                  <a:lnTo>
                    <a:pt x="535" y="278"/>
                  </a:lnTo>
                  <a:lnTo>
                    <a:pt x="544" y="276"/>
                  </a:lnTo>
                  <a:lnTo>
                    <a:pt x="554" y="273"/>
                  </a:lnTo>
                  <a:lnTo>
                    <a:pt x="554" y="273"/>
                  </a:lnTo>
                  <a:lnTo>
                    <a:pt x="549" y="259"/>
                  </a:lnTo>
                  <a:lnTo>
                    <a:pt x="542" y="244"/>
                  </a:lnTo>
                  <a:lnTo>
                    <a:pt x="535" y="232"/>
                  </a:lnTo>
                  <a:lnTo>
                    <a:pt x="524" y="222"/>
                  </a:lnTo>
                  <a:lnTo>
                    <a:pt x="514" y="213"/>
                  </a:lnTo>
                  <a:lnTo>
                    <a:pt x="502" y="206"/>
                  </a:lnTo>
                  <a:lnTo>
                    <a:pt x="488" y="200"/>
                  </a:lnTo>
                  <a:lnTo>
                    <a:pt x="473" y="195"/>
                  </a:lnTo>
                  <a:lnTo>
                    <a:pt x="473" y="195"/>
                  </a:lnTo>
                  <a:lnTo>
                    <a:pt x="467" y="182"/>
                  </a:lnTo>
                  <a:lnTo>
                    <a:pt x="467" y="182"/>
                  </a:lnTo>
                  <a:lnTo>
                    <a:pt x="460" y="172"/>
                  </a:lnTo>
                  <a:lnTo>
                    <a:pt x="452" y="163"/>
                  </a:lnTo>
                  <a:lnTo>
                    <a:pt x="443" y="156"/>
                  </a:lnTo>
                  <a:lnTo>
                    <a:pt x="435" y="150"/>
                  </a:lnTo>
                  <a:lnTo>
                    <a:pt x="424" y="145"/>
                  </a:lnTo>
                  <a:lnTo>
                    <a:pt x="414" y="144"/>
                  </a:lnTo>
                  <a:lnTo>
                    <a:pt x="402" y="144"/>
                  </a:lnTo>
                  <a:lnTo>
                    <a:pt x="389" y="145"/>
                  </a:lnTo>
                  <a:lnTo>
                    <a:pt x="389" y="145"/>
                  </a:lnTo>
                  <a:lnTo>
                    <a:pt x="376" y="147"/>
                  </a:lnTo>
                  <a:lnTo>
                    <a:pt x="371" y="147"/>
                  </a:lnTo>
                  <a:lnTo>
                    <a:pt x="367" y="145"/>
                  </a:lnTo>
                  <a:lnTo>
                    <a:pt x="364" y="143"/>
                  </a:lnTo>
                  <a:lnTo>
                    <a:pt x="361" y="138"/>
                  </a:lnTo>
                  <a:lnTo>
                    <a:pt x="355" y="126"/>
                  </a:lnTo>
                  <a:lnTo>
                    <a:pt x="355" y="126"/>
                  </a:lnTo>
                  <a:lnTo>
                    <a:pt x="351" y="118"/>
                  </a:lnTo>
                  <a:lnTo>
                    <a:pt x="346" y="110"/>
                  </a:lnTo>
                  <a:lnTo>
                    <a:pt x="340" y="103"/>
                  </a:lnTo>
                  <a:lnTo>
                    <a:pt x="333" y="97"/>
                  </a:lnTo>
                  <a:lnTo>
                    <a:pt x="324" y="93"/>
                  </a:lnTo>
                  <a:lnTo>
                    <a:pt x="317" y="88"/>
                  </a:lnTo>
                  <a:lnTo>
                    <a:pt x="306" y="87"/>
                  </a:lnTo>
                  <a:lnTo>
                    <a:pt x="296" y="85"/>
                  </a:lnTo>
                  <a:lnTo>
                    <a:pt x="296" y="85"/>
                  </a:lnTo>
                  <a:lnTo>
                    <a:pt x="286" y="85"/>
                  </a:lnTo>
                  <a:lnTo>
                    <a:pt x="277" y="87"/>
                  </a:lnTo>
                  <a:lnTo>
                    <a:pt x="268" y="90"/>
                  </a:lnTo>
                  <a:lnTo>
                    <a:pt x="259" y="94"/>
                  </a:lnTo>
                  <a:lnTo>
                    <a:pt x="252" y="98"/>
                  </a:lnTo>
                  <a:lnTo>
                    <a:pt x="246" y="104"/>
                  </a:lnTo>
                  <a:lnTo>
                    <a:pt x="239" y="112"/>
                  </a:lnTo>
                  <a:lnTo>
                    <a:pt x="234" y="120"/>
                  </a:lnTo>
                  <a:lnTo>
                    <a:pt x="234" y="120"/>
                  </a:lnTo>
                  <a:lnTo>
                    <a:pt x="223" y="140"/>
                  </a:lnTo>
                  <a:lnTo>
                    <a:pt x="223" y="140"/>
                  </a:lnTo>
                  <a:lnTo>
                    <a:pt x="199" y="141"/>
                  </a:lnTo>
                  <a:lnTo>
                    <a:pt x="199" y="141"/>
                  </a:lnTo>
                  <a:lnTo>
                    <a:pt x="180" y="144"/>
                  </a:lnTo>
                  <a:lnTo>
                    <a:pt x="162" y="150"/>
                  </a:lnTo>
                  <a:lnTo>
                    <a:pt x="146" y="159"/>
                  </a:lnTo>
                  <a:lnTo>
                    <a:pt x="130" y="169"/>
                  </a:lnTo>
                  <a:lnTo>
                    <a:pt x="116" y="182"/>
                  </a:lnTo>
                  <a:lnTo>
                    <a:pt x="106" y="197"/>
                  </a:lnTo>
                  <a:lnTo>
                    <a:pt x="97" y="213"/>
                  </a:lnTo>
                  <a:lnTo>
                    <a:pt x="90" y="231"/>
                  </a:lnTo>
                  <a:lnTo>
                    <a:pt x="90" y="231"/>
                  </a:lnTo>
                  <a:lnTo>
                    <a:pt x="87" y="241"/>
                  </a:lnTo>
                  <a:lnTo>
                    <a:pt x="86" y="253"/>
                  </a:lnTo>
                  <a:lnTo>
                    <a:pt x="86" y="263"/>
                  </a:lnTo>
                  <a:lnTo>
                    <a:pt x="89" y="275"/>
                  </a:lnTo>
                  <a:lnTo>
                    <a:pt x="89" y="275"/>
                  </a:lnTo>
                  <a:lnTo>
                    <a:pt x="94" y="276"/>
                  </a:lnTo>
                  <a:lnTo>
                    <a:pt x="97" y="276"/>
                  </a:lnTo>
                  <a:lnTo>
                    <a:pt x="97" y="276"/>
                  </a:lnTo>
                  <a:lnTo>
                    <a:pt x="273" y="276"/>
                  </a:lnTo>
                  <a:lnTo>
                    <a:pt x="273" y="276"/>
                  </a:lnTo>
                  <a:lnTo>
                    <a:pt x="276" y="275"/>
                  </a:lnTo>
                  <a:lnTo>
                    <a:pt x="280" y="272"/>
                  </a:lnTo>
                  <a:lnTo>
                    <a:pt x="280" y="272"/>
                  </a:lnTo>
                  <a:lnTo>
                    <a:pt x="259" y="265"/>
                  </a:lnTo>
                  <a:lnTo>
                    <a:pt x="259" y="265"/>
                  </a:lnTo>
                  <a:lnTo>
                    <a:pt x="167" y="222"/>
                  </a:lnTo>
                  <a:lnTo>
                    <a:pt x="167" y="222"/>
                  </a:lnTo>
                  <a:lnTo>
                    <a:pt x="158" y="218"/>
                  </a:lnTo>
                  <a:lnTo>
                    <a:pt x="150" y="212"/>
                  </a:lnTo>
                  <a:lnTo>
                    <a:pt x="150" y="212"/>
                  </a:lnTo>
                  <a:lnTo>
                    <a:pt x="147" y="209"/>
                  </a:lnTo>
                  <a:lnTo>
                    <a:pt x="146" y="204"/>
                  </a:lnTo>
                  <a:lnTo>
                    <a:pt x="146" y="198"/>
                  </a:lnTo>
                  <a:lnTo>
                    <a:pt x="147" y="194"/>
                  </a:lnTo>
                  <a:lnTo>
                    <a:pt x="147" y="194"/>
                  </a:lnTo>
                  <a:lnTo>
                    <a:pt x="150" y="190"/>
                  </a:lnTo>
                  <a:lnTo>
                    <a:pt x="155" y="188"/>
                  </a:lnTo>
                  <a:lnTo>
                    <a:pt x="159" y="187"/>
                  </a:lnTo>
                  <a:lnTo>
                    <a:pt x="164" y="187"/>
                  </a:lnTo>
                  <a:lnTo>
                    <a:pt x="164" y="187"/>
                  </a:lnTo>
                  <a:lnTo>
                    <a:pt x="184" y="197"/>
                  </a:lnTo>
                  <a:lnTo>
                    <a:pt x="184" y="197"/>
                  </a:lnTo>
                  <a:lnTo>
                    <a:pt x="208" y="210"/>
                  </a:lnTo>
                  <a:lnTo>
                    <a:pt x="231" y="220"/>
                  </a:lnTo>
                  <a:lnTo>
                    <a:pt x="256" y="231"/>
                  </a:lnTo>
                  <a:lnTo>
                    <a:pt x="281" y="240"/>
                  </a:lnTo>
                  <a:lnTo>
                    <a:pt x="281" y="240"/>
                  </a:lnTo>
                  <a:lnTo>
                    <a:pt x="329" y="254"/>
                  </a:lnTo>
                  <a:lnTo>
                    <a:pt x="329" y="254"/>
                  </a:lnTo>
                  <a:close/>
                  <a:moveTo>
                    <a:pt x="950" y="251"/>
                  </a:moveTo>
                  <a:lnTo>
                    <a:pt x="950" y="251"/>
                  </a:lnTo>
                  <a:lnTo>
                    <a:pt x="971" y="232"/>
                  </a:lnTo>
                  <a:lnTo>
                    <a:pt x="999" y="206"/>
                  </a:lnTo>
                  <a:lnTo>
                    <a:pt x="1025" y="179"/>
                  </a:lnTo>
                  <a:lnTo>
                    <a:pt x="1043" y="159"/>
                  </a:lnTo>
                  <a:lnTo>
                    <a:pt x="1043" y="159"/>
                  </a:lnTo>
                  <a:lnTo>
                    <a:pt x="1034" y="144"/>
                  </a:lnTo>
                  <a:lnTo>
                    <a:pt x="1027" y="129"/>
                  </a:lnTo>
                  <a:lnTo>
                    <a:pt x="1016" y="115"/>
                  </a:lnTo>
                  <a:lnTo>
                    <a:pt x="1006" y="101"/>
                  </a:lnTo>
                  <a:lnTo>
                    <a:pt x="994" y="88"/>
                  </a:lnTo>
                  <a:lnTo>
                    <a:pt x="982" y="76"/>
                  </a:lnTo>
                  <a:lnTo>
                    <a:pt x="957" y="53"/>
                  </a:lnTo>
                  <a:lnTo>
                    <a:pt x="957" y="53"/>
                  </a:lnTo>
                  <a:lnTo>
                    <a:pt x="954" y="53"/>
                  </a:lnTo>
                  <a:lnTo>
                    <a:pt x="950" y="53"/>
                  </a:lnTo>
                  <a:lnTo>
                    <a:pt x="950" y="53"/>
                  </a:lnTo>
                  <a:lnTo>
                    <a:pt x="950" y="251"/>
                  </a:lnTo>
                  <a:lnTo>
                    <a:pt x="950" y="251"/>
                  </a:lnTo>
                  <a:close/>
                  <a:moveTo>
                    <a:pt x="834" y="144"/>
                  </a:moveTo>
                  <a:lnTo>
                    <a:pt x="834" y="144"/>
                  </a:lnTo>
                  <a:lnTo>
                    <a:pt x="825" y="162"/>
                  </a:lnTo>
                  <a:lnTo>
                    <a:pt x="818" y="179"/>
                  </a:lnTo>
                  <a:lnTo>
                    <a:pt x="813" y="195"/>
                  </a:lnTo>
                  <a:lnTo>
                    <a:pt x="810" y="213"/>
                  </a:lnTo>
                  <a:lnTo>
                    <a:pt x="810" y="229"/>
                  </a:lnTo>
                  <a:lnTo>
                    <a:pt x="813" y="245"/>
                  </a:lnTo>
                  <a:lnTo>
                    <a:pt x="818" y="262"/>
                  </a:lnTo>
                  <a:lnTo>
                    <a:pt x="823" y="276"/>
                  </a:lnTo>
                  <a:lnTo>
                    <a:pt x="823" y="276"/>
                  </a:lnTo>
                  <a:lnTo>
                    <a:pt x="871" y="276"/>
                  </a:lnTo>
                  <a:lnTo>
                    <a:pt x="871" y="276"/>
                  </a:lnTo>
                  <a:lnTo>
                    <a:pt x="894" y="276"/>
                  </a:lnTo>
                  <a:lnTo>
                    <a:pt x="906" y="276"/>
                  </a:lnTo>
                  <a:lnTo>
                    <a:pt x="919" y="273"/>
                  </a:lnTo>
                  <a:lnTo>
                    <a:pt x="919" y="273"/>
                  </a:lnTo>
                  <a:lnTo>
                    <a:pt x="919" y="256"/>
                  </a:lnTo>
                  <a:lnTo>
                    <a:pt x="919" y="240"/>
                  </a:lnTo>
                  <a:lnTo>
                    <a:pt x="919" y="240"/>
                  </a:lnTo>
                  <a:lnTo>
                    <a:pt x="916" y="231"/>
                  </a:lnTo>
                  <a:lnTo>
                    <a:pt x="915" y="228"/>
                  </a:lnTo>
                  <a:lnTo>
                    <a:pt x="913" y="225"/>
                  </a:lnTo>
                  <a:lnTo>
                    <a:pt x="913" y="225"/>
                  </a:lnTo>
                  <a:lnTo>
                    <a:pt x="834" y="144"/>
                  </a:lnTo>
                  <a:lnTo>
                    <a:pt x="834" y="144"/>
                  </a:lnTo>
                  <a:close/>
                  <a:moveTo>
                    <a:pt x="850" y="118"/>
                  </a:moveTo>
                  <a:lnTo>
                    <a:pt x="850" y="118"/>
                  </a:lnTo>
                  <a:lnTo>
                    <a:pt x="881" y="148"/>
                  </a:lnTo>
                  <a:lnTo>
                    <a:pt x="896" y="163"/>
                  </a:lnTo>
                  <a:lnTo>
                    <a:pt x="912" y="178"/>
                  </a:lnTo>
                  <a:lnTo>
                    <a:pt x="912" y="178"/>
                  </a:lnTo>
                  <a:lnTo>
                    <a:pt x="915" y="178"/>
                  </a:lnTo>
                  <a:lnTo>
                    <a:pt x="919" y="176"/>
                  </a:lnTo>
                  <a:lnTo>
                    <a:pt x="919" y="176"/>
                  </a:lnTo>
                  <a:lnTo>
                    <a:pt x="919" y="116"/>
                  </a:lnTo>
                  <a:lnTo>
                    <a:pt x="918" y="56"/>
                  </a:lnTo>
                  <a:lnTo>
                    <a:pt x="918" y="56"/>
                  </a:lnTo>
                  <a:lnTo>
                    <a:pt x="916" y="54"/>
                  </a:lnTo>
                  <a:lnTo>
                    <a:pt x="913" y="50"/>
                  </a:lnTo>
                  <a:lnTo>
                    <a:pt x="913" y="50"/>
                  </a:lnTo>
                  <a:lnTo>
                    <a:pt x="896" y="65"/>
                  </a:lnTo>
                  <a:lnTo>
                    <a:pt x="879" y="81"/>
                  </a:lnTo>
                  <a:lnTo>
                    <a:pt x="865" y="98"/>
                  </a:lnTo>
                  <a:lnTo>
                    <a:pt x="850" y="118"/>
                  </a:lnTo>
                  <a:lnTo>
                    <a:pt x="850" y="118"/>
                  </a:lnTo>
                  <a:close/>
                  <a:moveTo>
                    <a:pt x="1055" y="198"/>
                  </a:moveTo>
                  <a:lnTo>
                    <a:pt x="1055" y="198"/>
                  </a:lnTo>
                  <a:lnTo>
                    <a:pt x="1047" y="201"/>
                  </a:lnTo>
                  <a:lnTo>
                    <a:pt x="1044" y="203"/>
                  </a:lnTo>
                  <a:lnTo>
                    <a:pt x="1044" y="203"/>
                  </a:lnTo>
                  <a:lnTo>
                    <a:pt x="980" y="269"/>
                  </a:lnTo>
                  <a:lnTo>
                    <a:pt x="980" y="269"/>
                  </a:lnTo>
                  <a:lnTo>
                    <a:pt x="978" y="272"/>
                  </a:lnTo>
                  <a:lnTo>
                    <a:pt x="978" y="272"/>
                  </a:lnTo>
                  <a:lnTo>
                    <a:pt x="980" y="275"/>
                  </a:lnTo>
                  <a:lnTo>
                    <a:pt x="980" y="275"/>
                  </a:lnTo>
                  <a:lnTo>
                    <a:pt x="1000" y="276"/>
                  </a:lnTo>
                  <a:lnTo>
                    <a:pt x="1018" y="276"/>
                  </a:lnTo>
                  <a:lnTo>
                    <a:pt x="1034" y="275"/>
                  </a:lnTo>
                  <a:lnTo>
                    <a:pt x="1047" y="272"/>
                  </a:lnTo>
                  <a:lnTo>
                    <a:pt x="1047" y="272"/>
                  </a:lnTo>
                  <a:lnTo>
                    <a:pt x="1053" y="254"/>
                  </a:lnTo>
                  <a:lnTo>
                    <a:pt x="1056" y="237"/>
                  </a:lnTo>
                  <a:lnTo>
                    <a:pt x="1056" y="218"/>
                  </a:lnTo>
                  <a:lnTo>
                    <a:pt x="1055" y="198"/>
                  </a:lnTo>
                  <a:lnTo>
                    <a:pt x="1055"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sp>
          <p:nvSpPr>
            <p:cNvPr id="45" name="Freeform 38">
              <a:extLst>
                <a:ext uri="{FF2B5EF4-FFF2-40B4-BE49-F238E27FC236}">
                  <a16:creationId xmlns:a16="http://schemas.microsoft.com/office/drawing/2014/main" id="{A8FA8AF0-6C9E-BD85-B6A4-BA51D8D5CBF4}"/>
                </a:ext>
              </a:extLst>
            </p:cNvPr>
            <p:cNvSpPr>
              <a:spLocks noEditPoints="1"/>
            </p:cNvSpPr>
            <p:nvPr/>
          </p:nvSpPr>
          <p:spPr bwMode="auto">
            <a:xfrm>
              <a:off x="2259013" y="3689351"/>
              <a:ext cx="246063" cy="244475"/>
            </a:xfrm>
            <a:custGeom>
              <a:avLst/>
              <a:gdLst>
                <a:gd name="T0" fmla="*/ 250 w 309"/>
                <a:gd name="T1" fmla="*/ 2 h 309"/>
                <a:gd name="T2" fmla="*/ 264 w 309"/>
                <a:gd name="T3" fmla="*/ 12 h 309"/>
                <a:gd name="T4" fmla="*/ 290 w 309"/>
                <a:gd name="T5" fmla="*/ 52 h 309"/>
                <a:gd name="T6" fmla="*/ 308 w 309"/>
                <a:gd name="T7" fmla="*/ 115 h 309"/>
                <a:gd name="T8" fmla="*/ 300 w 309"/>
                <a:gd name="T9" fmla="*/ 184 h 309"/>
                <a:gd name="T10" fmla="*/ 280 w 309"/>
                <a:gd name="T11" fmla="*/ 227 h 309"/>
                <a:gd name="T12" fmla="*/ 234 w 309"/>
                <a:gd name="T13" fmla="*/ 275 h 309"/>
                <a:gd name="T14" fmla="*/ 169 w 309"/>
                <a:gd name="T15" fmla="*/ 303 h 309"/>
                <a:gd name="T16" fmla="*/ 129 w 309"/>
                <a:gd name="T17" fmla="*/ 309 h 309"/>
                <a:gd name="T18" fmla="*/ 75 w 309"/>
                <a:gd name="T19" fmla="*/ 300 h 309"/>
                <a:gd name="T20" fmla="*/ 22 w 309"/>
                <a:gd name="T21" fmla="*/ 272 h 309"/>
                <a:gd name="T22" fmla="*/ 6 w 309"/>
                <a:gd name="T23" fmla="*/ 257 h 309"/>
                <a:gd name="T24" fmla="*/ 0 w 309"/>
                <a:gd name="T25" fmla="*/ 246 h 309"/>
                <a:gd name="T26" fmla="*/ 6 w 309"/>
                <a:gd name="T27" fmla="*/ 234 h 309"/>
                <a:gd name="T28" fmla="*/ 221 w 309"/>
                <a:gd name="T29" fmla="*/ 19 h 309"/>
                <a:gd name="T30" fmla="*/ 237 w 309"/>
                <a:gd name="T31" fmla="*/ 3 h 309"/>
                <a:gd name="T32" fmla="*/ 37 w 309"/>
                <a:gd name="T33" fmla="*/ 241 h 309"/>
                <a:gd name="T34" fmla="*/ 57 w 309"/>
                <a:gd name="T35" fmla="*/ 257 h 309"/>
                <a:gd name="T36" fmla="*/ 93 w 309"/>
                <a:gd name="T37" fmla="*/ 272 h 309"/>
                <a:gd name="T38" fmla="*/ 132 w 309"/>
                <a:gd name="T39" fmla="*/ 277 h 309"/>
                <a:gd name="T40" fmla="*/ 174 w 309"/>
                <a:gd name="T41" fmla="*/ 271 h 309"/>
                <a:gd name="T42" fmla="*/ 213 w 309"/>
                <a:gd name="T43" fmla="*/ 253 h 309"/>
                <a:gd name="T44" fmla="*/ 236 w 309"/>
                <a:gd name="T45" fmla="*/ 234 h 309"/>
                <a:gd name="T46" fmla="*/ 261 w 309"/>
                <a:gd name="T47" fmla="*/ 200 h 309"/>
                <a:gd name="T48" fmla="*/ 274 w 309"/>
                <a:gd name="T49" fmla="*/ 165 h 309"/>
                <a:gd name="T50" fmla="*/ 278 w 309"/>
                <a:gd name="T51" fmla="*/ 125 h 309"/>
                <a:gd name="T52" fmla="*/ 271 w 309"/>
                <a:gd name="T53" fmla="*/ 87 h 309"/>
                <a:gd name="T54" fmla="*/ 253 w 309"/>
                <a:gd name="T55" fmla="*/ 52 h 309"/>
                <a:gd name="T56" fmla="*/ 231 w 309"/>
                <a:gd name="T57" fmla="*/ 53 h 309"/>
                <a:gd name="T58" fmla="*/ 250 w 309"/>
                <a:gd name="T59" fmla="*/ 93 h 309"/>
                <a:gd name="T60" fmla="*/ 256 w 309"/>
                <a:gd name="T61" fmla="*/ 125 h 309"/>
                <a:gd name="T62" fmla="*/ 256 w 309"/>
                <a:gd name="T63" fmla="*/ 147 h 309"/>
                <a:gd name="T64" fmla="*/ 247 w 309"/>
                <a:gd name="T65" fmla="*/ 180 h 309"/>
                <a:gd name="T66" fmla="*/ 230 w 309"/>
                <a:gd name="T67" fmla="*/ 209 h 309"/>
                <a:gd name="T68" fmla="*/ 208 w 309"/>
                <a:gd name="T69" fmla="*/ 231 h 309"/>
                <a:gd name="T70" fmla="*/ 152 w 309"/>
                <a:gd name="T71" fmla="*/ 255 h 309"/>
                <a:gd name="T72" fmla="*/ 125 w 309"/>
                <a:gd name="T73" fmla="*/ 256 h 309"/>
                <a:gd name="T74" fmla="*/ 88 w 309"/>
                <a:gd name="T75" fmla="*/ 249 h 309"/>
                <a:gd name="T76" fmla="*/ 51 w 309"/>
                <a:gd name="T77" fmla="*/ 231 h 309"/>
                <a:gd name="T78" fmla="*/ 208 w 309"/>
                <a:gd name="T79" fmla="*/ 75 h 309"/>
                <a:gd name="T80" fmla="*/ 180 w 309"/>
                <a:gd name="T81" fmla="*/ 103 h 309"/>
                <a:gd name="T82" fmla="*/ 185 w 309"/>
                <a:gd name="T83" fmla="*/ 115 h 309"/>
                <a:gd name="T84" fmla="*/ 224 w 309"/>
                <a:gd name="T85" fmla="*/ 112 h 309"/>
                <a:gd name="T86" fmla="*/ 219 w 309"/>
                <a:gd name="T87" fmla="*/ 93 h 309"/>
                <a:gd name="T88" fmla="*/ 208 w 309"/>
                <a:gd name="T89" fmla="*/ 75 h 309"/>
                <a:gd name="T90" fmla="*/ 168 w 309"/>
                <a:gd name="T91" fmla="*/ 188 h 309"/>
                <a:gd name="T92" fmla="*/ 146 w 309"/>
                <a:gd name="T93" fmla="*/ 172 h 309"/>
                <a:gd name="T94" fmla="*/ 149 w 309"/>
                <a:gd name="T95" fmla="*/ 224 h 309"/>
                <a:gd name="T96" fmla="*/ 166 w 309"/>
                <a:gd name="T97" fmla="*/ 219 h 309"/>
                <a:gd name="T98" fmla="*/ 185 w 309"/>
                <a:gd name="T99" fmla="*/ 207 h 309"/>
                <a:gd name="T100" fmla="*/ 205 w 309"/>
                <a:gd name="T101" fmla="*/ 146 h 309"/>
                <a:gd name="T102" fmla="*/ 174 w 309"/>
                <a:gd name="T103" fmla="*/ 150 h 309"/>
                <a:gd name="T104" fmla="*/ 206 w 309"/>
                <a:gd name="T105" fmla="*/ 184 h 309"/>
                <a:gd name="T106" fmla="*/ 222 w 309"/>
                <a:gd name="T107" fmla="*/ 159 h 309"/>
                <a:gd name="T108" fmla="*/ 113 w 309"/>
                <a:gd name="T109" fmla="*/ 171 h 309"/>
                <a:gd name="T110" fmla="*/ 84 w 309"/>
                <a:gd name="T111" fmla="*/ 199 h 309"/>
                <a:gd name="T112" fmla="*/ 85 w 309"/>
                <a:gd name="T113" fmla="*/ 215 h 309"/>
                <a:gd name="T114" fmla="*/ 112 w 309"/>
                <a:gd name="T115" fmla="*/ 222 h 309"/>
                <a:gd name="T116" fmla="*/ 115 w 309"/>
                <a:gd name="T117" fmla="*/ 199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09" h="309">
                  <a:moveTo>
                    <a:pt x="243" y="0"/>
                  </a:moveTo>
                  <a:lnTo>
                    <a:pt x="243" y="0"/>
                  </a:lnTo>
                  <a:lnTo>
                    <a:pt x="250" y="2"/>
                  </a:lnTo>
                  <a:lnTo>
                    <a:pt x="255" y="5"/>
                  </a:lnTo>
                  <a:lnTo>
                    <a:pt x="259" y="7"/>
                  </a:lnTo>
                  <a:lnTo>
                    <a:pt x="264" y="12"/>
                  </a:lnTo>
                  <a:lnTo>
                    <a:pt x="264" y="12"/>
                  </a:lnTo>
                  <a:lnTo>
                    <a:pt x="278" y="31"/>
                  </a:lnTo>
                  <a:lnTo>
                    <a:pt x="290" y="52"/>
                  </a:lnTo>
                  <a:lnTo>
                    <a:pt x="299" y="72"/>
                  </a:lnTo>
                  <a:lnTo>
                    <a:pt x="305" y="93"/>
                  </a:lnTo>
                  <a:lnTo>
                    <a:pt x="308" y="115"/>
                  </a:lnTo>
                  <a:lnTo>
                    <a:pt x="309" y="137"/>
                  </a:lnTo>
                  <a:lnTo>
                    <a:pt x="306" y="160"/>
                  </a:lnTo>
                  <a:lnTo>
                    <a:pt x="300" y="184"/>
                  </a:lnTo>
                  <a:lnTo>
                    <a:pt x="300" y="184"/>
                  </a:lnTo>
                  <a:lnTo>
                    <a:pt x="291" y="206"/>
                  </a:lnTo>
                  <a:lnTo>
                    <a:pt x="280" y="227"/>
                  </a:lnTo>
                  <a:lnTo>
                    <a:pt x="266" y="246"/>
                  </a:lnTo>
                  <a:lnTo>
                    <a:pt x="252" y="262"/>
                  </a:lnTo>
                  <a:lnTo>
                    <a:pt x="234" y="275"/>
                  </a:lnTo>
                  <a:lnTo>
                    <a:pt x="215" y="287"/>
                  </a:lnTo>
                  <a:lnTo>
                    <a:pt x="193" y="297"/>
                  </a:lnTo>
                  <a:lnTo>
                    <a:pt x="169" y="303"/>
                  </a:lnTo>
                  <a:lnTo>
                    <a:pt x="169" y="303"/>
                  </a:lnTo>
                  <a:lnTo>
                    <a:pt x="150" y="307"/>
                  </a:lnTo>
                  <a:lnTo>
                    <a:pt x="129" y="309"/>
                  </a:lnTo>
                  <a:lnTo>
                    <a:pt x="110" y="307"/>
                  </a:lnTo>
                  <a:lnTo>
                    <a:pt x="93" y="305"/>
                  </a:lnTo>
                  <a:lnTo>
                    <a:pt x="75" y="300"/>
                  </a:lnTo>
                  <a:lnTo>
                    <a:pt x="57" y="293"/>
                  </a:lnTo>
                  <a:lnTo>
                    <a:pt x="40" y="282"/>
                  </a:lnTo>
                  <a:lnTo>
                    <a:pt x="22" y="272"/>
                  </a:lnTo>
                  <a:lnTo>
                    <a:pt x="22" y="272"/>
                  </a:lnTo>
                  <a:lnTo>
                    <a:pt x="13" y="265"/>
                  </a:lnTo>
                  <a:lnTo>
                    <a:pt x="6" y="257"/>
                  </a:lnTo>
                  <a:lnTo>
                    <a:pt x="6" y="257"/>
                  </a:lnTo>
                  <a:lnTo>
                    <a:pt x="1" y="252"/>
                  </a:lnTo>
                  <a:lnTo>
                    <a:pt x="0" y="246"/>
                  </a:lnTo>
                  <a:lnTo>
                    <a:pt x="1" y="240"/>
                  </a:lnTo>
                  <a:lnTo>
                    <a:pt x="6" y="234"/>
                  </a:lnTo>
                  <a:lnTo>
                    <a:pt x="6" y="234"/>
                  </a:lnTo>
                  <a:lnTo>
                    <a:pt x="19" y="221"/>
                  </a:lnTo>
                  <a:lnTo>
                    <a:pt x="19" y="221"/>
                  </a:lnTo>
                  <a:lnTo>
                    <a:pt x="221" y="19"/>
                  </a:lnTo>
                  <a:lnTo>
                    <a:pt x="221" y="19"/>
                  </a:lnTo>
                  <a:lnTo>
                    <a:pt x="231" y="7"/>
                  </a:lnTo>
                  <a:lnTo>
                    <a:pt x="237" y="3"/>
                  </a:lnTo>
                  <a:lnTo>
                    <a:pt x="243" y="0"/>
                  </a:lnTo>
                  <a:lnTo>
                    <a:pt x="243" y="0"/>
                  </a:lnTo>
                  <a:close/>
                  <a:moveTo>
                    <a:pt x="37" y="241"/>
                  </a:moveTo>
                  <a:lnTo>
                    <a:pt x="37" y="241"/>
                  </a:lnTo>
                  <a:lnTo>
                    <a:pt x="47" y="250"/>
                  </a:lnTo>
                  <a:lnTo>
                    <a:pt x="57" y="257"/>
                  </a:lnTo>
                  <a:lnTo>
                    <a:pt x="68" y="263"/>
                  </a:lnTo>
                  <a:lnTo>
                    <a:pt x="81" y="268"/>
                  </a:lnTo>
                  <a:lnTo>
                    <a:pt x="93" y="272"/>
                  </a:lnTo>
                  <a:lnTo>
                    <a:pt x="106" y="275"/>
                  </a:lnTo>
                  <a:lnTo>
                    <a:pt x="119" y="277"/>
                  </a:lnTo>
                  <a:lnTo>
                    <a:pt x="132" y="277"/>
                  </a:lnTo>
                  <a:lnTo>
                    <a:pt x="146" y="277"/>
                  </a:lnTo>
                  <a:lnTo>
                    <a:pt x="160" y="275"/>
                  </a:lnTo>
                  <a:lnTo>
                    <a:pt x="174" y="271"/>
                  </a:lnTo>
                  <a:lnTo>
                    <a:pt x="187" y="266"/>
                  </a:lnTo>
                  <a:lnTo>
                    <a:pt x="200" y="260"/>
                  </a:lnTo>
                  <a:lnTo>
                    <a:pt x="213" y="253"/>
                  </a:lnTo>
                  <a:lnTo>
                    <a:pt x="225" y="244"/>
                  </a:lnTo>
                  <a:lnTo>
                    <a:pt x="236" y="234"/>
                  </a:lnTo>
                  <a:lnTo>
                    <a:pt x="236" y="234"/>
                  </a:lnTo>
                  <a:lnTo>
                    <a:pt x="246" y="224"/>
                  </a:lnTo>
                  <a:lnTo>
                    <a:pt x="253" y="212"/>
                  </a:lnTo>
                  <a:lnTo>
                    <a:pt x="261" y="200"/>
                  </a:lnTo>
                  <a:lnTo>
                    <a:pt x="266" y="188"/>
                  </a:lnTo>
                  <a:lnTo>
                    <a:pt x="271" y="177"/>
                  </a:lnTo>
                  <a:lnTo>
                    <a:pt x="274" y="165"/>
                  </a:lnTo>
                  <a:lnTo>
                    <a:pt x="277" y="152"/>
                  </a:lnTo>
                  <a:lnTo>
                    <a:pt x="278" y="138"/>
                  </a:lnTo>
                  <a:lnTo>
                    <a:pt x="278" y="125"/>
                  </a:lnTo>
                  <a:lnTo>
                    <a:pt x="277" y="112"/>
                  </a:lnTo>
                  <a:lnTo>
                    <a:pt x="274" y="100"/>
                  </a:lnTo>
                  <a:lnTo>
                    <a:pt x="271" y="87"/>
                  </a:lnTo>
                  <a:lnTo>
                    <a:pt x="266" y="75"/>
                  </a:lnTo>
                  <a:lnTo>
                    <a:pt x="261" y="63"/>
                  </a:lnTo>
                  <a:lnTo>
                    <a:pt x="253" y="52"/>
                  </a:lnTo>
                  <a:lnTo>
                    <a:pt x="244" y="40"/>
                  </a:lnTo>
                  <a:lnTo>
                    <a:pt x="244" y="40"/>
                  </a:lnTo>
                  <a:lnTo>
                    <a:pt x="231" y="53"/>
                  </a:lnTo>
                  <a:lnTo>
                    <a:pt x="231" y="53"/>
                  </a:lnTo>
                  <a:lnTo>
                    <a:pt x="243" y="72"/>
                  </a:lnTo>
                  <a:lnTo>
                    <a:pt x="250" y="93"/>
                  </a:lnTo>
                  <a:lnTo>
                    <a:pt x="253" y="103"/>
                  </a:lnTo>
                  <a:lnTo>
                    <a:pt x="256" y="113"/>
                  </a:lnTo>
                  <a:lnTo>
                    <a:pt x="256" y="125"/>
                  </a:lnTo>
                  <a:lnTo>
                    <a:pt x="256" y="135"/>
                  </a:lnTo>
                  <a:lnTo>
                    <a:pt x="256" y="135"/>
                  </a:lnTo>
                  <a:lnTo>
                    <a:pt x="256" y="147"/>
                  </a:lnTo>
                  <a:lnTo>
                    <a:pt x="253" y="159"/>
                  </a:lnTo>
                  <a:lnTo>
                    <a:pt x="250" y="169"/>
                  </a:lnTo>
                  <a:lnTo>
                    <a:pt x="247" y="180"/>
                  </a:lnTo>
                  <a:lnTo>
                    <a:pt x="241" y="190"/>
                  </a:lnTo>
                  <a:lnTo>
                    <a:pt x="237" y="199"/>
                  </a:lnTo>
                  <a:lnTo>
                    <a:pt x="230" y="209"/>
                  </a:lnTo>
                  <a:lnTo>
                    <a:pt x="222" y="218"/>
                  </a:lnTo>
                  <a:lnTo>
                    <a:pt x="222" y="218"/>
                  </a:lnTo>
                  <a:lnTo>
                    <a:pt x="208" y="231"/>
                  </a:lnTo>
                  <a:lnTo>
                    <a:pt x="190" y="241"/>
                  </a:lnTo>
                  <a:lnTo>
                    <a:pt x="171" y="250"/>
                  </a:lnTo>
                  <a:lnTo>
                    <a:pt x="152" y="255"/>
                  </a:lnTo>
                  <a:lnTo>
                    <a:pt x="152" y="255"/>
                  </a:lnTo>
                  <a:lnTo>
                    <a:pt x="138" y="256"/>
                  </a:lnTo>
                  <a:lnTo>
                    <a:pt x="125" y="256"/>
                  </a:lnTo>
                  <a:lnTo>
                    <a:pt x="112" y="256"/>
                  </a:lnTo>
                  <a:lnTo>
                    <a:pt x="100" y="253"/>
                  </a:lnTo>
                  <a:lnTo>
                    <a:pt x="88" y="249"/>
                  </a:lnTo>
                  <a:lnTo>
                    <a:pt x="75" y="243"/>
                  </a:lnTo>
                  <a:lnTo>
                    <a:pt x="51" y="231"/>
                  </a:lnTo>
                  <a:lnTo>
                    <a:pt x="51" y="231"/>
                  </a:lnTo>
                  <a:lnTo>
                    <a:pt x="37" y="241"/>
                  </a:lnTo>
                  <a:lnTo>
                    <a:pt x="37" y="241"/>
                  </a:lnTo>
                  <a:close/>
                  <a:moveTo>
                    <a:pt x="208" y="75"/>
                  </a:moveTo>
                  <a:lnTo>
                    <a:pt x="208" y="75"/>
                  </a:lnTo>
                  <a:lnTo>
                    <a:pt x="188" y="93"/>
                  </a:lnTo>
                  <a:lnTo>
                    <a:pt x="180" y="103"/>
                  </a:lnTo>
                  <a:lnTo>
                    <a:pt x="172" y="113"/>
                  </a:lnTo>
                  <a:lnTo>
                    <a:pt x="172" y="113"/>
                  </a:lnTo>
                  <a:lnTo>
                    <a:pt x="185" y="115"/>
                  </a:lnTo>
                  <a:lnTo>
                    <a:pt x="199" y="115"/>
                  </a:lnTo>
                  <a:lnTo>
                    <a:pt x="212" y="115"/>
                  </a:lnTo>
                  <a:lnTo>
                    <a:pt x="224" y="112"/>
                  </a:lnTo>
                  <a:lnTo>
                    <a:pt x="224" y="112"/>
                  </a:lnTo>
                  <a:lnTo>
                    <a:pt x="222" y="102"/>
                  </a:lnTo>
                  <a:lnTo>
                    <a:pt x="219" y="93"/>
                  </a:lnTo>
                  <a:lnTo>
                    <a:pt x="215" y="84"/>
                  </a:lnTo>
                  <a:lnTo>
                    <a:pt x="208" y="75"/>
                  </a:lnTo>
                  <a:lnTo>
                    <a:pt x="208" y="75"/>
                  </a:lnTo>
                  <a:close/>
                  <a:moveTo>
                    <a:pt x="185" y="207"/>
                  </a:moveTo>
                  <a:lnTo>
                    <a:pt x="185" y="207"/>
                  </a:lnTo>
                  <a:lnTo>
                    <a:pt x="168" y="188"/>
                  </a:lnTo>
                  <a:lnTo>
                    <a:pt x="157" y="180"/>
                  </a:lnTo>
                  <a:lnTo>
                    <a:pt x="146" y="172"/>
                  </a:lnTo>
                  <a:lnTo>
                    <a:pt x="146" y="172"/>
                  </a:lnTo>
                  <a:lnTo>
                    <a:pt x="146" y="209"/>
                  </a:lnTo>
                  <a:lnTo>
                    <a:pt x="146" y="209"/>
                  </a:lnTo>
                  <a:lnTo>
                    <a:pt x="149" y="224"/>
                  </a:lnTo>
                  <a:lnTo>
                    <a:pt x="149" y="224"/>
                  </a:lnTo>
                  <a:lnTo>
                    <a:pt x="157" y="221"/>
                  </a:lnTo>
                  <a:lnTo>
                    <a:pt x="166" y="219"/>
                  </a:lnTo>
                  <a:lnTo>
                    <a:pt x="175" y="215"/>
                  </a:lnTo>
                  <a:lnTo>
                    <a:pt x="185" y="207"/>
                  </a:lnTo>
                  <a:lnTo>
                    <a:pt x="185" y="207"/>
                  </a:lnTo>
                  <a:close/>
                  <a:moveTo>
                    <a:pt x="224" y="147"/>
                  </a:moveTo>
                  <a:lnTo>
                    <a:pt x="224" y="147"/>
                  </a:lnTo>
                  <a:lnTo>
                    <a:pt x="205" y="146"/>
                  </a:lnTo>
                  <a:lnTo>
                    <a:pt x="193" y="146"/>
                  </a:lnTo>
                  <a:lnTo>
                    <a:pt x="184" y="147"/>
                  </a:lnTo>
                  <a:lnTo>
                    <a:pt x="174" y="150"/>
                  </a:lnTo>
                  <a:lnTo>
                    <a:pt x="174" y="150"/>
                  </a:lnTo>
                  <a:lnTo>
                    <a:pt x="206" y="184"/>
                  </a:lnTo>
                  <a:lnTo>
                    <a:pt x="206" y="184"/>
                  </a:lnTo>
                  <a:lnTo>
                    <a:pt x="213" y="177"/>
                  </a:lnTo>
                  <a:lnTo>
                    <a:pt x="219" y="168"/>
                  </a:lnTo>
                  <a:lnTo>
                    <a:pt x="222" y="159"/>
                  </a:lnTo>
                  <a:lnTo>
                    <a:pt x="224" y="147"/>
                  </a:lnTo>
                  <a:lnTo>
                    <a:pt x="224" y="147"/>
                  </a:lnTo>
                  <a:close/>
                  <a:moveTo>
                    <a:pt x="113" y="171"/>
                  </a:moveTo>
                  <a:lnTo>
                    <a:pt x="113" y="171"/>
                  </a:lnTo>
                  <a:lnTo>
                    <a:pt x="91" y="190"/>
                  </a:lnTo>
                  <a:lnTo>
                    <a:pt x="84" y="199"/>
                  </a:lnTo>
                  <a:lnTo>
                    <a:pt x="76" y="209"/>
                  </a:lnTo>
                  <a:lnTo>
                    <a:pt x="76" y="209"/>
                  </a:lnTo>
                  <a:lnTo>
                    <a:pt x="85" y="215"/>
                  </a:lnTo>
                  <a:lnTo>
                    <a:pt x="94" y="219"/>
                  </a:lnTo>
                  <a:lnTo>
                    <a:pt x="103" y="221"/>
                  </a:lnTo>
                  <a:lnTo>
                    <a:pt x="112" y="222"/>
                  </a:lnTo>
                  <a:lnTo>
                    <a:pt x="112" y="222"/>
                  </a:lnTo>
                  <a:lnTo>
                    <a:pt x="115" y="210"/>
                  </a:lnTo>
                  <a:lnTo>
                    <a:pt x="115" y="199"/>
                  </a:lnTo>
                  <a:lnTo>
                    <a:pt x="113" y="171"/>
                  </a:lnTo>
                  <a:lnTo>
                    <a:pt x="113"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sp>
          <p:nvSpPr>
            <p:cNvPr id="47" name="Freeform 42">
              <a:extLst>
                <a:ext uri="{FF2B5EF4-FFF2-40B4-BE49-F238E27FC236}">
                  <a16:creationId xmlns:a16="http://schemas.microsoft.com/office/drawing/2014/main" id="{86E903B8-5362-02F8-B105-51D3A0209939}"/>
                </a:ext>
              </a:extLst>
            </p:cNvPr>
            <p:cNvSpPr>
              <a:spLocks noEditPoints="1"/>
            </p:cNvSpPr>
            <p:nvPr/>
          </p:nvSpPr>
          <p:spPr bwMode="auto">
            <a:xfrm>
              <a:off x="2038350" y="3600451"/>
              <a:ext cx="204788" cy="206375"/>
            </a:xfrm>
            <a:custGeom>
              <a:avLst/>
              <a:gdLst>
                <a:gd name="T0" fmla="*/ 1 w 257"/>
                <a:gd name="T1" fmla="*/ 50 h 259"/>
                <a:gd name="T2" fmla="*/ 5 w 257"/>
                <a:gd name="T3" fmla="*/ 18 h 259"/>
                <a:gd name="T4" fmla="*/ 16 w 257"/>
                <a:gd name="T5" fmla="*/ 6 h 259"/>
                <a:gd name="T6" fmla="*/ 55 w 257"/>
                <a:gd name="T7" fmla="*/ 2 h 259"/>
                <a:gd name="T8" fmla="*/ 131 w 257"/>
                <a:gd name="T9" fmla="*/ 6 h 259"/>
                <a:gd name="T10" fmla="*/ 164 w 257"/>
                <a:gd name="T11" fmla="*/ 17 h 259"/>
                <a:gd name="T12" fmla="*/ 212 w 257"/>
                <a:gd name="T13" fmla="*/ 46 h 259"/>
                <a:gd name="T14" fmla="*/ 241 w 257"/>
                <a:gd name="T15" fmla="*/ 92 h 259"/>
                <a:gd name="T16" fmla="*/ 251 w 257"/>
                <a:gd name="T17" fmla="*/ 125 h 259"/>
                <a:gd name="T18" fmla="*/ 257 w 257"/>
                <a:gd name="T19" fmla="*/ 171 h 259"/>
                <a:gd name="T20" fmla="*/ 254 w 257"/>
                <a:gd name="T21" fmla="*/ 233 h 259"/>
                <a:gd name="T22" fmla="*/ 241 w 257"/>
                <a:gd name="T23" fmla="*/ 252 h 259"/>
                <a:gd name="T24" fmla="*/ 195 w 257"/>
                <a:gd name="T25" fmla="*/ 258 h 259"/>
                <a:gd name="T26" fmla="*/ 141 w 257"/>
                <a:gd name="T27" fmla="*/ 256 h 259"/>
                <a:gd name="T28" fmla="*/ 88 w 257"/>
                <a:gd name="T29" fmla="*/ 242 h 259"/>
                <a:gd name="T30" fmla="*/ 63 w 257"/>
                <a:gd name="T31" fmla="*/ 228 h 259"/>
                <a:gd name="T32" fmla="*/ 33 w 257"/>
                <a:gd name="T33" fmla="*/ 199 h 259"/>
                <a:gd name="T34" fmla="*/ 13 w 257"/>
                <a:gd name="T35" fmla="*/ 162 h 259"/>
                <a:gd name="T36" fmla="*/ 2 w 257"/>
                <a:gd name="T37" fmla="*/ 118 h 259"/>
                <a:gd name="T38" fmla="*/ 0 w 257"/>
                <a:gd name="T39" fmla="*/ 72 h 259"/>
                <a:gd name="T40" fmla="*/ 51 w 257"/>
                <a:gd name="T41" fmla="*/ 115 h 259"/>
                <a:gd name="T42" fmla="*/ 85 w 257"/>
                <a:gd name="T43" fmla="*/ 111 h 259"/>
                <a:gd name="T44" fmla="*/ 81 w 257"/>
                <a:gd name="T45" fmla="*/ 100 h 259"/>
                <a:gd name="T46" fmla="*/ 81 w 257"/>
                <a:gd name="T47" fmla="*/ 86 h 259"/>
                <a:gd name="T48" fmla="*/ 89 w 257"/>
                <a:gd name="T49" fmla="*/ 78 h 259"/>
                <a:gd name="T50" fmla="*/ 103 w 257"/>
                <a:gd name="T51" fmla="*/ 83 h 259"/>
                <a:gd name="T52" fmla="*/ 131 w 257"/>
                <a:gd name="T53" fmla="*/ 111 h 259"/>
                <a:gd name="T54" fmla="*/ 150 w 257"/>
                <a:gd name="T55" fmla="*/ 105 h 259"/>
                <a:gd name="T56" fmla="*/ 148 w 257"/>
                <a:gd name="T57" fmla="*/ 46 h 259"/>
                <a:gd name="T58" fmla="*/ 109 w 257"/>
                <a:gd name="T59" fmla="*/ 34 h 259"/>
                <a:gd name="T60" fmla="*/ 64 w 257"/>
                <a:gd name="T61" fmla="*/ 31 h 259"/>
                <a:gd name="T62" fmla="*/ 35 w 257"/>
                <a:gd name="T63" fmla="*/ 36 h 259"/>
                <a:gd name="T64" fmla="*/ 30 w 257"/>
                <a:gd name="T65" fmla="*/ 94 h 259"/>
                <a:gd name="T66" fmla="*/ 42 w 257"/>
                <a:gd name="T67" fmla="*/ 146 h 259"/>
                <a:gd name="T68" fmla="*/ 53 w 257"/>
                <a:gd name="T69" fmla="*/ 171 h 259"/>
                <a:gd name="T70" fmla="*/ 73 w 257"/>
                <a:gd name="T71" fmla="*/ 199 h 259"/>
                <a:gd name="T72" fmla="*/ 106 w 257"/>
                <a:gd name="T73" fmla="*/ 217 h 259"/>
                <a:gd name="T74" fmla="*/ 148 w 257"/>
                <a:gd name="T75" fmla="*/ 227 h 259"/>
                <a:gd name="T76" fmla="*/ 191 w 257"/>
                <a:gd name="T77" fmla="*/ 228 h 259"/>
                <a:gd name="T78" fmla="*/ 200 w 257"/>
                <a:gd name="T79" fmla="*/ 222 h 259"/>
                <a:gd name="T80" fmla="*/ 123 w 257"/>
                <a:gd name="T81" fmla="*/ 146 h 259"/>
                <a:gd name="T82" fmla="*/ 226 w 257"/>
                <a:gd name="T83" fmla="*/ 200 h 259"/>
                <a:gd name="T84" fmla="*/ 226 w 257"/>
                <a:gd name="T85" fmla="*/ 162 h 259"/>
                <a:gd name="T86" fmla="*/ 222 w 257"/>
                <a:gd name="T87" fmla="*/ 128 h 259"/>
                <a:gd name="T88" fmla="*/ 204 w 257"/>
                <a:gd name="T89" fmla="*/ 86 h 259"/>
                <a:gd name="T90" fmla="*/ 190 w 257"/>
                <a:gd name="T91" fmla="*/ 68 h 259"/>
                <a:gd name="T92" fmla="*/ 182 w 257"/>
                <a:gd name="T93" fmla="*/ 68 h 259"/>
                <a:gd name="T94" fmla="*/ 181 w 257"/>
                <a:gd name="T95" fmla="*/ 156 h 259"/>
                <a:gd name="T96" fmla="*/ 184 w 257"/>
                <a:gd name="T97" fmla="*/ 164 h 259"/>
                <a:gd name="T98" fmla="*/ 201 w 257"/>
                <a:gd name="T99" fmla="*/ 181 h 259"/>
                <a:gd name="T100" fmla="*/ 226 w 257"/>
                <a:gd name="T101" fmla="*/ 200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7" h="259">
                  <a:moveTo>
                    <a:pt x="0" y="72"/>
                  </a:moveTo>
                  <a:lnTo>
                    <a:pt x="0" y="72"/>
                  </a:lnTo>
                  <a:lnTo>
                    <a:pt x="1" y="50"/>
                  </a:lnTo>
                  <a:lnTo>
                    <a:pt x="2" y="28"/>
                  </a:lnTo>
                  <a:lnTo>
                    <a:pt x="2" y="28"/>
                  </a:lnTo>
                  <a:lnTo>
                    <a:pt x="5" y="18"/>
                  </a:lnTo>
                  <a:lnTo>
                    <a:pt x="8" y="11"/>
                  </a:lnTo>
                  <a:lnTo>
                    <a:pt x="11" y="8"/>
                  </a:lnTo>
                  <a:lnTo>
                    <a:pt x="16" y="6"/>
                  </a:lnTo>
                  <a:lnTo>
                    <a:pt x="26" y="5"/>
                  </a:lnTo>
                  <a:lnTo>
                    <a:pt x="26" y="5"/>
                  </a:lnTo>
                  <a:lnTo>
                    <a:pt x="55" y="2"/>
                  </a:lnTo>
                  <a:lnTo>
                    <a:pt x="86" y="0"/>
                  </a:lnTo>
                  <a:lnTo>
                    <a:pt x="116" y="3"/>
                  </a:lnTo>
                  <a:lnTo>
                    <a:pt x="131" y="6"/>
                  </a:lnTo>
                  <a:lnTo>
                    <a:pt x="145" y="9"/>
                  </a:lnTo>
                  <a:lnTo>
                    <a:pt x="145" y="9"/>
                  </a:lnTo>
                  <a:lnTo>
                    <a:pt x="164" y="17"/>
                  </a:lnTo>
                  <a:lnTo>
                    <a:pt x="182" y="24"/>
                  </a:lnTo>
                  <a:lnTo>
                    <a:pt x="197" y="34"/>
                  </a:lnTo>
                  <a:lnTo>
                    <a:pt x="212" y="46"/>
                  </a:lnTo>
                  <a:lnTo>
                    <a:pt x="223" y="59"/>
                  </a:lnTo>
                  <a:lnTo>
                    <a:pt x="232" y="74"/>
                  </a:lnTo>
                  <a:lnTo>
                    <a:pt x="241" y="92"/>
                  </a:lnTo>
                  <a:lnTo>
                    <a:pt x="248" y="109"/>
                  </a:lnTo>
                  <a:lnTo>
                    <a:pt x="248" y="109"/>
                  </a:lnTo>
                  <a:lnTo>
                    <a:pt x="251" y="125"/>
                  </a:lnTo>
                  <a:lnTo>
                    <a:pt x="254" y="140"/>
                  </a:lnTo>
                  <a:lnTo>
                    <a:pt x="256" y="155"/>
                  </a:lnTo>
                  <a:lnTo>
                    <a:pt x="257" y="171"/>
                  </a:lnTo>
                  <a:lnTo>
                    <a:pt x="257" y="202"/>
                  </a:lnTo>
                  <a:lnTo>
                    <a:pt x="254" y="233"/>
                  </a:lnTo>
                  <a:lnTo>
                    <a:pt x="254" y="233"/>
                  </a:lnTo>
                  <a:lnTo>
                    <a:pt x="253" y="242"/>
                  </a:lnTo>
                  <a:lnTo>
                    <a:pt x="248" y="247"/>
                  </a:lnTo>
                  <a:lnTo>
                    <a:pt x="241" y="252"/>
                  </a:lnTo>
                  <a:lnTo>
                    <a:pt x="232" y="255"/>
                  </a:lnTo>
                  <a:lnTo>
                    <a:pt x="232" y="255"/>
                  </a:lnTo>
                  <a:lnTo>
                    <a:pt x="195" y="258"/>
                  </a:lnTo>
                  <a:lnTo>
                    <a:pt x="178" y="259"/>
                  </a:lnTo>
                  <a:lnTo>
                    <a:pt x="160" y="258"/>
                  </a:lnTo>
                  <a:lnTo>
                    <a:pt x="141" y="256"/>
                  </a:lnTo>
                  <a:lnTo>
                    <a:pt x="123" y="253"/>
                  </a:lnTo>
                  <a:lnTo>
                    <a:pt x="106" y="247"/>
                  </a:lnTo>
                  <a:lnTo>
                    <a:pt x="88" y="242"/>
                  </a:lnTo>
                  <a:lnTo>
                    <a:pt x="88" y="242"/>
                  </a:lnTo>
                  <a:lnTo>
                    <a:pt x="75" y="236"/>
                  </a:lnTo>
                  <a:lnTo>
                    <a:pt x="63" y="228"/>
                  </a:lnTo>
                  <a:lnTo>
                    <a:pt x="51" y="219"/>
                  </a:lnTo>
                  <a:lnTo>
                    <a:pt x="42" y="209"/>
                  </a:lnTo>
                  <a:lnTo>
                    <a:pt x="33" y="199"/>
                  </a:lnTo>
                  <a:lnTo>
                    <a:pt x="26" y="187"/>
                  </a:lnTo>
                  <a:lnTo>
                    <a:pt x="19" y="175"/>
                  </a:lnTo>
                  <a:lnTo>
                    <a:pt x="13" y="162"/>
                  </a:lnTo>
                  <a:lnTo>
                    <a:pt x="13" y="162"/>
                  </a:lnTo>
                  <a:lnTo>
                    <a:pt x="7" y="140"/>
                  </a:lnTo>
                  <a:lnTo>
                    <a:pt x="2" y="118"/>
                  </a:lnTo>
                  <a:lnTo>
                    <a:pt x="0" y="96"/>
                  </a:lnTo>
                  <a:lnTo>
                    <a:pt x="0" y="72"/>
                  </a:lnTo>
                  <a:lnTo>
                    <a:pt x="0" y="72"/>
                  </a:lnTo>
                  <a:close/>
                  <a:moveTo>
                    <a:pt x="35" y="112"/>
                  </a:moveTo>
                  <a:lnTo>
                    <a:pt x="35" y="112"/>
                  </a:lnTo>
                  <a:lnTo>
                    <a:pt x="51" y="115"/>
                  </a:lnTo>
                  <a:lnTo>
                    <a:pt x="63" y="115"/>
                  </a:lnTo>
                  <a:lnTo>
                    <a:pt x="73" y="114"/>
                  </a:lnTo>
                  <a:lnTo>
                    <a:pt x="85" y="111"/>
                  </a:lnTo>
                  <a:lnTo>
                    <a:pt x="85" y="111"/>
                  </a:lnTo>
                  <a:lnTo>
                    <a:pt x="81" y="100"/>
                  </a:lnTo>
                  <a:lnTo>
                    <a:pt x="81" y="100"/>
                  </a:lnTo>
                  <a:lnTo>
                    <a:pt x="78" y="94"/>
                  </a:lnTo>
                  <a:lnTo>
                    <a:pt x="78" y="90"/>
                  </a:lnTo>
                  <a:lnTo>
                    <a:pt x="81" y="86"/>
                  </a:lnTo>
                  <a:lnTo>
                    <a:pt x="85" y="81"/>
                  </a:lnTo>
                  <a:lnTo>
                    <a:pt x="85" y="81"/>
                  </a:lnTo>
                  <a:lnTo>
                    <a:pt x="89" y="78"/>
                  </a:lnTo>
                  <a:lnTo>
                    <a:pt x="92" y="78"/>
                  </a:lnTo>
                  <a:lnTo>
                    <a:pt x="97" y="80"/>
                  </a:lnTo>
                  <a:lnTo>
                    <a:pt x="103" y="83"/>
                  </a:lnTo>
                  <a:lnTo>
                    <a:pt x="103" y="83"/>
                  </a:lnTo>
                  <a:lnTo>
                    <a:pt x="131" y="111"/>
                  </a:lnTo>
                  <a:lnTo>
                    <a:pt x="131" y="111"/>
                  </a:lnTo>
                  <a:lnTo>
                    <a:pt x="147" y="125"/>
                  </a:lnTo>
                  <a:lnTo>
                    <a:pt x="147" y="125"/>
                  </a:lnTo>
                  <a:lnTo>
                    <a:pt x="150" y="105"/>
                  </a:lnTo>
                  <a:lnTo>
                    <a:pt x="150" y="84"/>
                  </a:lnTo>
                  <a:lnTo>
                    <a:pt x="148" y="46"/>
                  </a:lnTo>
                  <a:lnTo>
                    <a:pt x="148" y="46"/>
                  </a:lnTo>
                  <a:lnTo>
                    <a:pt x="136" y="40"/>
                  </a:lnTo>
                  <a:lnTo>
                    <a:pt x="123" y="36"/>
                  </a:lnTo>
                  <a:lnTo>
                    <a:pt x="109" y="34"/>
                  </a:lnTo>
                  <a:lnTo>
                    <a:pt x="94" y="31"/>
                  </a:lnTo>
                  <a:lnTo>
                    <a:pt x="79" y="31"/>
                  </a:lnTo>
                  <a:lnTo>
                    <a:pt x="64" y="31"/>
                  </a:lnTo>
                  <a:lnTo>
                    <a:pt x="50" y="33"/>
                  </a:lnTo>
                  <a:lnTo>
                    <a:pt x="35" y="36"/>
                  </a:lnTo>
                  <a:lnTo>
                    <a:pt x="35" y="36"/>
                  </a:lnTo>
                  <a:lnTo>
                    <a:pt x="30" y="55"/>
                  </a:lnTo>
                  <a:lnTo>
                    <a:pt x="29" y="75"/>
                  </a:lnTo>
                  <a:lnTo>
                    <a:pt x="30" y="94"/>
                  </a:lnTo>
                  <a:lnTo>
                    <a:pt x="35" y="112"/>
                  </a:lnTo>
                  <a:lnTo>
                    <a:pt x="35" y="112"/>
                  </a:lnTo>
                  <a:close/>
                  <a:moveTo>
                    <a:pt x="42" y="146"/>
                  </a:moveTo>
                  <a:lnTo>
                    <a:pt x="42" y="146"/>
                  </a:lnTo>
                  <a:lnTo>
                    <a:pt x="47" y="159"/>
                  </a:lnTo>
                  <a:lnTo>
                    <a:pt x="53" y="171"/>
                  </a:lnTo>
                  <a:lnTo>
                    <a:pt x="58" y="181"/>
                  </a:lnTo>
                  <a:lnTo>
                    <a:pt x="66" y="190"/>
                  </a:lnTo>
                  <a:lnTo>
                    <a:pt x="73" y="199"/>
                  </a:lnTo>
                  <a:lnTo>
                    <a:pt x="83" y="205"/>
                  </a:lnTo>
                  <a:lnTo>
                    <a:pt x="94" y="211"/>
                  </a:lnTo>
                  <a:lnTo>
                    <a:pt x="106" y="217"/>
                  </a:lnTo>
                  <a:lnTo>
                    <a:pt x="106" y="217"/>
                  </a:lnTo>
                  <a:lnTo>
                    <a:pt x="126" y="222"/>
                  </a:lnTo>
                  <a:lnTo>
                    <a:pt x="148" y="227"/>
                  </a:lnTo>
                  <a:lnTo>
                    <a:pt x="170" y="228"/>
                  </a:lnTo>
                  <a:lnTo>
                    <a:pt x="191" y="228"/>
                  </a:lnTo>
                  <a:lnTo>
                    <a:pt x="191" y="228"/>
                  </a:lnTo>
                  <a:lnTo>
                    <a:pt x="195" y="227"/>
                  </a:lnTo>
                  <a:lnTo>
                    <a:pt x="200" y="222"/>
                  </a:lnTo>
                  <a:lnTo>
                    <a:pt x="200" y="222"/>
                  </a:lnTo>
                  <a:lnTo>
                    <a:pt x="162" y="184"/>
                  </a:lnTo>
                  <a:lnTo>
                    <a:pt x="123" y="146"/>
                  </a:lnTo>
                  <a:lnTo>
                    <a:pt x="123" y="146"/>
                  </a:lnTo>
                  <a:lnTo>
                    <a:pt x="42" y="146"/>
                  </a:lnTo>
                  <a:lnTo>
                    <a:pt x="42" y="146"/>
                  </a:lnTo>
                  <a:close/>
                  <a:moveTo>
                    <a:pt x="226" y="200"/>
                  </a:moveTo>
                  <a:lnTo>
                    <a:pt x="226" y="200"/>
                  </a:lnTo>
                  <a:lnTo>
                    <a:pt x="228" y="181"/>
                  </a:lnTo>
                  <a:lnTo>
                    <a:pt x="226" y="162"/>
                  </a:lnTo>
                  <a:lnTo>
                    <a:pt x="225" y="144"/>
                  </a:lnTo>
                  <a:lnTo>
                    <a:pt x="222" y="128"/>
                  </a:lnTo>
                  <a:lnTo>
                    <a:pt x="222" y="128"/>
                  </a:lnTo>
                  <a:lnTo>
                    <a:pt x="217" y="114"/>
                  </a:lnTo>
                  <a:lnTo>
                    <a:pt x="212" y="99"/>
                  </a:lnTo>
                  <a:lnTo>
                    <a:pt x="204" y="86"/>
                  </a:lnTo>
                  <a:lnTo>
                    <a:pt x="195" y="72"/>
                  </a:lnTo>
                  <a:lnTo>
                    <a:pt x="195" y="72"/>
                  </a:lnTo>
                  <a:lnTo>
                    <a:pt x="190" y="68"/>
                  </a:lnTo>
                  <a:lnTo>
                    <a:pt x="187" y="67"/>
                  </a:lnTo>
                  <a:lnTo>
                    <a:pt x="182" y="68"/>
                  </a:lnTo>
                  <a:lnTo>
                    <a:pt x="182" y="68"/>
                  </a:lnTo>
                  <a:lnTo>
                    <a:pt x="181" y="90"/>
                  </a:lnTo>
                  <a:lnTo>
                    <a:pt x="181" y="112"/>
                  </a:lnTo>
                  <a:lnTo>
                    <a:pt x="181" y="156"/>
                  </a:lnTo>
                  <a:lnTo>
                    <a:pt x="181" y="156"/>
                  </a:lnTo>
                  <a:lnTo>
                    <a:pt x="182" y="161"/>
                  </a:lnTo>
                  <a:lnTo>
                    <a:pt x="184" y="164"/>
                  </a:lnTo>
                  <a:lnTo>
                    <a:pt x="184" y="164"/>
                  </a:lnTo>
                  <a:lnTo>
                    <a:pt x="191" y="171"/>
                  </a:lnTo>
                  <a:lnTo>
                    <a:pt x="201" y="181"/>
                  </a:lnTo>
                  <a:lnTo>
                    <a:pt x="215" y="192"/>
                  </a:lnTo>
                  <a:lnTo>
                    <a:pt x="226" y="200"/>
                  </a:lnTo>
                  <a:lnTo>
                    <a:pt x="226"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sp>
          <p:nvSpPr>
            <p:cNvPr id="59" name="Freeform 43">
              <a:extLst>
                <a:ext uri="{FF2B5EF4-FFF2-40B4-BE49-F238E27FC236}">
                  <a16:creationId xmlns:a16="http://schemas.microsoft.com/office/drawing/2014/main" id="{A68B193E-1E45-153D-4DFD-383CD886E831}"/>
                </a:ext>
              </a:extLst>
            </p:cNvPr>
            <p:cNvSpPr>
              <a:spLocks noEditPoints="1"/>
            </p:cNvSpPr>
            <p:nvPr/>
          </p:nvSpPr>
          <p:spPr bwMode="auto">
            <a:xfrm>
              <a:off x="2387600" y="3468688"/>
              <a:ext cx="206375" cy="204788"/>
            </a:xfrm>
            <a:custGeom>
              <a:avLst/>
              <a:gdLst>
                <a:gd name="T0" fmla="*/ 256 w 259"/>
                <a:gd name="T1" fmla="*/ 102 h 258"/>
                <a:gd name="T2" fmla="*/ 249 w 259"/>
                <a:gd name="T3" fmla="*/ 146 h 258"/>
                <a:gd name="T4" fmla="*/ 234 w 259"/>
                <a:gd name="T5" fmla="*/ 184 h 258"/>
                <a:gd name="T6" fmla="*/ 212 w 259"/>
                <a:gd name="T7" fmla="*/ 212 h 258"/>
                <a:gd name="T8" fmla="*/ 185 w 259"/>
                <a:gd name="T9" fmla="*/ 233 h 258"/>
                <a:gd name="T10" fmla="*/ 124 w 259"/>
                <a:gd name="T11" fmla="*/ 255 h 258"/>
                <a:gd name="T12" fmla="*/ 75 w 259"/>
                <a:gd name="T13" fmla="*/ 258 h 258"/>
                <a:gd name="T14" fmla="*/ 28 w 259"/>
                <a:gd name="T15" fmla="*/ 255 h 258"/>
                <a:gd name="T16" fmla="*/ 7 w 259"/>
                <a:gd name="T17" fmla="*/ 246 h 258"/>
                <a:gd name="T18" fmla="*/ 3 w 259"/>
                <a:gd name="T19" fmla="*/ 233 h 258"/>
                <a:gd name="T20" fmla="*/ 3 w 259"/>
                <a:gd name="T21" fmla="*/ 144 h 258"/>
                <a:gd name="T22" fmla="*/ 7 w 259"/>
                <a:gd name="T23" fmla="*/ 115 h 258"/>
                <a:gd name="T24" fmla="*/ 32 w 259"/>
                <a:gd name="T25" fmla="*/ 60 h 258"/>
                <a:gd name="T26" fmla="*/ 74 w 259"/>
                <a:gd name="T27" fmla="*/ 24 h 258"/>
                <a:gd name="T28" fmla="*/ 110 w 259"/>
                <a:gd name="T29" fmla="*/ 9 h 258"/>
                <a:gd name="T30" fmla="*/ 171 w 259"/>
                <a:gd name="T31" fmla="*/ 0 h 258"/>
                <a:gd name="T32" fmla="*/ 231 w 259"/>
                <a:gd name="T33" fmla="*/ 3 h 258"/>
                <a:gd name="T34" fmla="*/ 249 w 259"/>
                <a:gd name="T35" fmla="*/ 9 h 258"/>
                <a:gd name="T36" fmla="*/ 255 w 259"/>
                <a:gd name="T37" fmla="*/ 27 h 258"/>
                <a:gd name="T38" fmla="*/ 259 w 259"/>
                <a:gd name="T39" fmla="*/ 77 h 258"/>
                <a:gd name="T40" fmla="*/ 144 w 259"/>
                <a:gd name="T41" fmla="*/ 85 h 258"/>
                <a:gd name="T42" fmla="*/ 163 w 259"/>
                <a:gd name="T43" fmla="*/ 80 h 258"/>
                <a:gd name="T44" fmla="*/ 177 w 259"/>
                <a:gd name="T45" fmla="*/ 84 h 258"/>
                <a:gd name="T46" fmla="*/ 178 w 259"/>
                <a:gd name="T47" fmla="*/ 97 h 258"/>
                <a:gd name="T48" fmla="*/ 171 w 259"/>
                <a:gd name="T49" fmla="*/ 109 h 258"/>
                <a:gd name="T50" fmla="*/ 143 w 259"/>
                <a:gd name="T51" fmla="*/ 137 h 258"/>
                <a:gd name="T52" fmla="*/ 138 w 259"/>
                <a:gd name="T53" fmla="*/ 147 h 258"/>
                <a:gd name="T54" fmla="*/ 180 w 259"/>
                <a:gd name="T55" fmla="*/ 150 h 258"/>
                <a:gd name="T56" fmla="*/ 215 w 259"/>
                <a:gd name="T57" fmla="*/ 147 h 258"/>
                <a:gd name="T58" fmla="*/ 227 w 259"/>
                <a:gd name="T59" fmla="*/ 105 h 258"/>
                <a:gd name="T60" fmla="*/ 227 w 259"/>
                <a:gd name="T61" fmla="*/ 60 h 258"/>
                <a:gd name="T62" fmla="*/ 221 w 259"/>
                <a:gd name="T63" fmla="*/ 35 h 258"/>
                <a:gd name="T64" fmla="*/ 162 w 259"/>
                <a:gd name="T65" fmla="*/ 33 h 258"/>
                <a:gd name="T66" fmla="*/ 144 w 259"/>
                <a:gd name="T67" fmla="*/ 85 h 258"/>
                <a:gd name="T68" fmla="*/ 112 w 259"/>
                <a:gd name="T69" fmla="*/ 46 h 258"/>
                <a:gd name="T70" fmla="*/ 100 w 259"/>
                <a:gd name="T71" fmla="*/ 46 h 258"/>
                <a:gd name="T72" fmla="*/ 82 w 259"/>
                <a:gd name="T73" fmla="*/ 55 h 258"/>
                <a:gd name="T74" fmla="*/ 62 w 259"/>
                <a:gd name="T75" fmla="*/ 72 h 258"/>
                <a:gd name="T76" fmla="*/ 46 w 259"/>
                <a:gd name="T77" fmla="*/ 97 h 258"/>
                <a:gd name="T78" fmla="*/ 32 w 259"/>
                <a:gd name="T79" fmla="*/ 147 h 258"/>
                <a:gd name="T80" fmla="*/ 29 w 259"/>
                <a:gd name="T81" fmla="*/ 181 h 258"/>
                <a:gd name="T82" fmla="*/ 32 w 259"/>
                <a:gd name="T83" fmla="*/ 197 h 258"/>
                <a:gd name="T84" fmla="*/ 40 w 259"/>
                <a:gd name="T85" fmla="*/ 197 h 258"/>
                <a:gd name="T86" fmla="*/ 109 w 259"/>
                <a:gd name="T87" fmla="*/ 127 h 258"/>
                <a:gd name="T88" fmla="*/ 113 w 259"/>
                <a:gd name="T89" fmla="*/ 109 h 258"/>
                <a:gd name="T90" fmla="*/ 113 w 259"/>
                <a:gd name="T91" fmla="*/ 55 h 258"/>
                <a:gd name="T92" fmla="*/ 112 w 259"/>
                <a:gd name="T93" fmla="*/ 46 h 258"/>
                <a:gd name="T94" fmla="*/ 183 w 259"/>
                <a:gd name="T95" fmla="*/ 181 h 258"/>
                <a:gd name="T96" fmla="*/ 143 w 259"/>
                <a:gd name="T97" fmla="*/ 181 h 258"/>
                <a:gd name="T98" fmla="*/ 97 w 259"/>
                <a:gd name="T99" fmla="*/ 184 h 258"/>
                <a:gd name="T100" fmla="*/ 81 w 259"/>
                <a:gd name="T101" fmla="*/ 197 h 258"/>
                <a:gd name="T102" fmla="*/ 60 w 259"/>
                <a:gd name="T103" fmla="*/ 219 h 258"/>
                <a:gd name="T104" fmla="*/ 62 w 259"/>
                <a:gd name="T105" fmla="*/ 227 h 258"/>
                <a:gd name="T106" fmla="*/ 115 w 259"/>
                <a:gd name="T107" fmla="*/ 224 h 258"/>
                <a:gd name="T108" fmla="*/ 166 w 259"/>
                <a:gd name="T109" fmla="*/ 208 h 258"/>
                <a:gd name="T110" fmla="*/ 199 w 259"/>
                <a:gd name="T111" fmla="*/ 183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9" h="258">
                  <a:moveTo>
                    <a:pt x="259" y="77"/>
                  </a:moveTo>
                  <a:lnTo>
                    <a:pt x="259" y="77"/>
                  </a:lnTo>
                  <a:lnTo>
                    <a:pt x="256" y="102"/>
                  </a:lnTo>
                  <a:lnTo>
                    <a:pt x="252" y="131"/>
                  </a:lnTo>
                  <a:lnTo>
                    <a:pt x="252" y="131"/>
                  </a:lnTo>
                  <a:lnTo>
                    <a:pt x="249" y="146"/>
                  </a:lnTo>
                  <a:lnTo>
                    <a:pt x="244" y="160"/>
                  </a:lnTo>
                  <a:lnTo>
                    <a:pt x="240" y="172"/>
                  </a:lnTo>
                  <a:lnTo>
                    <a:pt x="234" y="184"/>
                  </a:lnTo>
                  <a:lnTo>
                    <a:pt x="227" y="194"/>
                  </a:lnTo>
                  <a:lnTo>
                    <a:pt x="219" y="205"/>
                  </a:lnTo>
                  <a:lnTo>
                    <a:pt x="212" y="212"/>
                  </a:lnTo>
                  <a:lnTo>
                    <a:pt x="205" y="221"/>
                  </a:lnTo>
                  <a:lnTo>
                    <a:pt x="196" y="227"/>
                  </a:lnTo>
                  <a:lnTo>
                    <a:pt x="185" y="233"/>
                  </a:lnTo>
                  <a:lnTo>
                    <a:pt x="166" y="241"/>
                  </a:lnTo>
                  <a:lnTo>
                    <a:pt x="146" y="249"/>
                  </a:lnTo>
                  <a:lnTo>
                    <a:pt x="124" y="255"/>
                  </a:lnTo>
                  <a:lnTo>
                    <a:pt x="124" y="255"/>
                  </a:lnTo>
                  <a:lnTo>
                    <a:pt x="99" y="258"/>
                  </a:lnTo>
                  <a:lnTo>
                    <a:pt x="75" y="258"/>
                  </a:lnTo>
                  <a:lnTo>
                    <a:pt x="51" y="258"/>
                  </a:lnTo>
                  <a:lnTo>
                    <a:pt x="28" y="255"/>
                  </a:lnTo>
                  <a:lnTo>
                    <a:pt x="28" y="255"/>
                  </a:lnTo>
                  <a:lnTo>
                    <a:pt x="16" y="252"/>
                  </a:lnTo>
                  <a:lnTo>
                    <a:pt x="10" y="249"/>
                  </a:lnTo>
                  <a:lnTo>
                    <a:pt x="7" y="246"/>
                  </a:lnTo>
                  <a:lnTo>
                    <a:pt x="6" y="241"/>
                  </a:lnTo>
                  <a:lnTo>
                    <a:pt x="3" y="233"/>
                  </a:lnTo>
                  <a:lnTo>
                    <a:pt x="3" y="233"/>
                  </a:lnTo>
                  <a:lnTo>
                    <a:pt x="0" y="203"/>
                  </a:lnTo>
                  <a:lnTo>
                    <a:pt x="0" y="174"/>
                  </a:lnTo>
                  <a:lnTo>
                    <a:pt x="3" y="144"/>
                  </a:lnTo>
                  <a:lnTo>
                    <a:pt x="4" y="130"/>
                  </a:lnTo>
                  <a:lnTo>
                    <a:pt x="7" y="115"/>
                  </a:lnTo>
                  <a:lnTo>
                    <a:pt x="7" y="115"/>
                  </a:lnTo>
                  <a:lnTo>
                    <a:pt x="15" y="94"/>
                  </a:lnTo>
                  <a:lnTo>
                    <a:pt x="22" y="77"/>
                  </a:lnTo>
                  <a:lnTo>
                    <a:pt x="32" y="60"/>
                  </a:lnTo>
                  <a:lnTo>
                    <a:pt x="44" y="47"/>
                  </a:lnTo>
                  <a:lnTo>
                    <a:pt x="57" y="34"/>
                  </a:lnTo>
                  <a:lnTo>
                    <a:pt x="74" y="24"/>
                  </a:lnTo>
                  <a:lnTo>
                    <a:pt x="91" y="15"/>
                  </a:lnTo>
                  <a:lnTo>
                    <a:pt x="110" y="9"/>
                  </a:lnTo>
                  <a:lnTo>
                    <a:pt x="110" y="9"/>
                  </a:lnTo>
                  <a:lnTo>
                    <a:pt x="127" y="6"/>
                  </a:lnTo>
                  <a:lnTo>
                    <a:pt x="141" y="3"/>
                  </a:lnTo>
                  <a:lnTo>
                    <a:pt x="171" y="0"/>
                  </a:lnTo>
                  <a:lnTo>
                    <a:pt x="202" y="0"/>
                  </a:lnTo>
                  <a:lnTo>
                    <a:pt x="231" y="3"/>
                  </a:lnTo>
                  <a:lnTo>
                    <a:pt x="231" y="3"/>
                  </a:lnTo>
                  <a:lnTo>
                    <a:pt x="241" y="6"/>
                  </a:lnTo>
                  <a:lnTo>
                    <a:pt x="246" y="8"/>
                  </a:lnTo>
                  <a:lnTo>
                    <a:pt x="249" y="9"/>
                  </a:lnTo>
                  <a:lnTo>
                    <a:pt x="250" y="12"/>
                  </a:lnTo>
                  <a:lnTo>
                    <a:pt x="252" y="16"/>
                  </a:lnTo>
                  <a:lnTo>
                    <a:pt x="255" y="27"/>
                  </a:lnTo>
                  <a:lnTo>
                    <a:pt x="255" y="27"/>
                  </a:lnTo>
                  <a:lnTo>
                    <a:pt x="256" y="50"/>
                  </a:lnTo>
                  <a:lnTo>
                    <a:pt x="259" y="77"/>
                  </a:lnTo>
                  <a:lnTo>
                    <a:pt x="259" y="77"/>
                  </a:lnTo>
                  <a:close/>
                  <a:moveTo>
                    <a:pt x="144" y="85"/>
                  </a:moveTo>
                  <a:lnTo>
                    <a:pt x="144" y="85"/>
                  </a:lnTo>
                  <a:lnTo>
                    <a:pt x="155" y="81"/>
                  </a:lnTo>
                  <a:lnTo>
                    <a:pt x="163" y="80"/>
                  </a:lnTo>
                  <a:lnTo>
                    <a:pt x="163" y="80"/>
                  </a:lnTo>
                  <a:lnTo>
                    <a:pt x="168" y="78"/>
                  </a:lnTo>
                  <a:lnTo>
                    <a:pt x="171" y="80"/>
                  </a:lnTo>
                  <a:lnTo>
                    <a:pt x="177" y="84"/>
                  </a:lnTo>
                  <a:lnTo>
                    <a:pt x="180" y="90"/>
                  </a:lnTo>
                  <a:lnTo>
                    <a:pt x="180" y="94"/>
                  </a:lnTo>
                  <a:lnTo>
                    <a:pt x="178" y="97"/>
                  </a:lnTo>
                  <a:lnTo>
                    <a:pt x="178" y="97"/>
                  </a:lnTo>
                  <a:lnTo>
                    <a:pt x="175" y="103"/>
                  </a:lnTo>
                  <a:lnTo>
                    <a:pt x="171" y="109"/>
                  </a:lnTo>
                  <a:lnTo>
                    <a:pt x="171" y="109"/>
                  </a:lnTo>
                  <a:lnTo>
                    <a:pt x="143" y="137"/>
                  </a:lnTo>
                  <a:lnTo>
                    <a:pt x="143" y="137"/>
                  </a:lnTo>
                  <a:lnTo>
                    <a:pt x="138" y="141"/>
                  </a:lnTo>
                  <a:lnTo>
                    <a:pt x="137" y="144"/>
                  </a:lnTo>
                  <a:lnTo>
                    <a:pt x="138" y="147"/>
                  </a:lnTo>
                  <a:lnTo>
                    <a:pt x="138" y="147"/>
                  </a:lnTo>
                  <a:lnTo>
                    <a:pt x="159" y="150"/>
                  </a:lnTo>
                  <a:lnTo>
                    <a:pt x="180" y="150"/>
                  </a:lnTo>
                  <a:lnTo>
                    <a:pt x="199" y="149"/>
                  </a:lnTo>
                  <a:lnTo>
                    <a:pt x="215" y="147"/>
                  </a:lnTo>
                  <a:lnTo>
                    <a:pt x="215" y="147"/>
                  </a:lnTo>
                  <a:lnTo>
                    <a:pt x="219" y="133"/>
                  </a:lnTo>
                  <a:lnTo>
                    <a:pt x="224" y="119"/>
                  </a:lnTo>
                  <a:lnTo>
                    <a:pt x="227" y="105"/>
                  </a:lnTo>
                  <a:lnTo>
                    <a:pt x="228" y="88"/>
                  </a:lnTo>
                  <a:lnTo>
                    <a:pt x="228" y="74"/>
                  </a:lnTo>
                  <a:lnTo>
                    <a:pt x="227" y="60"/>
                  </a:lnTo>
                  <a:lnTo>
                    <a:pt x="225" y="47"/>
                  </a:lnTo>
                  <a:lnTo>
                    <a:pt x="221" y="35"/>
                  </a:lnTo>
                  <a:lnTo>
                    <a:pt x="221" y="35"/>
                  </a:lnTo>
                  <a:lnTo>
                    <a:pt x="199" y="31"/>
                  </a:lnTo>
                  <a:lnTo>
                    <a:pt x="180" y="30"/>
                  </a:lnTo>
                  <a:lnTo>
                    <a:pt x="162" y="33"/>
                  </a:lnTo>
                  <a:lnTo>
                    <a:pt x="144" y="37"/>
                  </a:lnTo>
                  <a:lnTo>
                    <a:pt x="144" y="37"/>
                  </a:lnTo>
                  <a:lnTo>
                    <a:pt x="144" y="85"/>
                  </a:lnTo>
                  <a:lnTo>
                    <a:pt x="144" y="85"/>
                  </a:lnTo>
                  <a:close/>
                  <a:moveTo>
                    <a:pt x="112" y="46"/>
                  </a:moveTo>
                  <a:lnTo>
                    <a:pt x="112" y="46"/>
                  </a:lnTo>
                  <a:lnTo>
                    <a:pt x="107" y="43"/>
                  </a:lnTo>
                  <a:lnTo>
                    <a:pt x="107" y="43"/>
                  </a:lnTo>
                  <a:lnTo>
                    <a:pt x="100" y="46"/>
                  </a:lnTo>
                  <a:lnTo>
                    <a:pt x="100" y="46"/>
                  </a:lnTo>
                  <a:lnTo>
                    <a:pt x="91" y="50"/>
                  </a:lnTo>
                  <a:lnTo>
                    <a:pt x="82" y="55"/>
                  </a:lnTo>
                  <a:lnTo>
                    <a:pt x="75" y="59"/>
                  </a:lnTo>
                  <a:lnTo>
                    <a:pt x="68" y="66"/>
                  </a:lnTo>
                  <a:lnTo>
                    <a:pt x="62" y="72"/>
                  </a:lnTo>
                  <a:lnTo>
                    <a:pt x="56" y="80"/>
                  </a:lnTo>
                  <a:lnTo>
                    <a:pt x="46" y="97"/>
                  </a:lnTo>
                  <a:lnTo>
                    <a:pt x="46" y="97"/>
                  </a:lnTo>
                  <a:lnTo>
                    <a:pt x="40" y="113"/>
                  </a:lnTo>
                  <a:lnTo>
                    <a:pt x="35" y="130"/>
                  </a:lnTo>
                  <a:lnTo>
                    <a:pt x="32" y="147"/>
                  </a:lnTo>
                  <a:lnTo>
                    <a:pt x="31" y="165"/>
                  </a:lnTo>
                  <a:lnTo>
                    <a:pt x="31" y="165"/>
                  </a:lnTo>
                  <a:lnTo>
                    <a:pt x="29" y="181"/>
                  </a:lnTo>
                  <a:lnTo>
                    <a:pt x="31" y="190"/>
                  </a:lnTo>
                  <a:lnTo>
                    <a:pt x="32" y="197"/>
                  </a:lnTo>
                  <a:lnTo>
                    <a:pt x="32" y="197"/>
                  </a:lnTo>
                  <a:lnTo>
                    <a:pt x="37" y="197"/>
                  </a:lnTo>
                  <a:lnTo>
                    <a:pt x="40" y="197"/>
                  </a:lnTo>
                  <a:lnTo>
                    <a:pt x="40" y="197"/>
                  </a:lnTo>
                  <a:lnTo>
                    <a:pt x="106" y="131"/>
                  </a:lnTo>
                  <a:lnTo>
                    <a:pt x="106" y="131"/>
                  </a:lnTo>
                  <a:lnTo>
                    <a:pt x="109" y="127"/>
                  </a:lnTo>
                  <a:lnTo>
                    <a:pt x="112" y="121"/>
                  </a:lnTo>
                  <a:lnTo>
                    <a:pt x="113" y="115"/>
                  </a:lnTo>
                  <a:lnTo>
                    <a:pt x="113" y="109"/>
                  </a:lnTo>
                  <a:lnTo>
                    <a:pt x="113" y="109"/>
                  </a:lnTo>
                  <a:lnTo>
                    <a:pt x="113" y="55"/>
                  </a:lnTo>
                  <a:lnTo>
                    <a:pt x="113" y="55"/>
                  </a:lnTo>
                  <a:lnTo>
                    <a:pt x="113" y="50"/>
                  </a:lnTo>
                  <a:lnTo>
                    <a:pt x="112" y="46"/>
                  </a:lnTo>
                  <a:lnTo>
                    <a:pt x="112" y="46"/>
                  </a:lnTo>
                  <a:close/>
                  <a:moveTo>
                    <a:pt x="199" y="183"/>
                  </a:moveTo>
                  <a:lnTo>
                    <a:pt x="199" y="183"/>
                  </a:lnTo>
                  <a:lnTo>
                    <a:pt x="183" y="181"/>
                  </a:lnTo>
                  <a:lnTo>
                    <a:pt x="168" y="181"/>
                  </a:lnTo>
                  <a:lnTo>
                    <a:pt x="143" y="181"/>
                  </a:lnTo>
                  <a:lnTo>
                    <a:pt x="143" y="181"/>
                  </a:lnTo>
                  <a:lnTo>
                    <a:pt x="119" y="180"/>
                  </a:lnTo>
                  <a:lnTo>
                    <a:pt x="107" y="181"/>
                  </a:lnTo>
                  <a:lnTo>
                    <a:pt x="97" y="184"/>
                  </a:lnTo>
                  <a:lnTo>
                    <a:pt x="97" y="184"/>
                  </a:lnTo>
                  <a:lnTo>
                    <a:pt x="88" y="190"/>
                  </a:lnTo>
                  <a:lnTo>
                    <a:pt x="81" y="197"/>
                  </a:lnTo>
                  <a:lnTo>
                    <a:pt x="65" y="213"/>
                  </a:lnTo>
                  <a:lnTo>
                    <a:pt x="65" y="213"/>
                  </a:lnTo>
                  <a:lnTo>
                    <a:pt x="60" y="219"/>
                  </a:lnTo>
                  <a:lnTo>
                    <a:pt x="60" y="222"/>
                  </a:lnTo>
                  <a:lnTo>
                    <a:pt x="62" y="227"/>
                  </a:lnTo>
                  <a:lnTo>
                    <a:pt x="62" y="227"/>
                  </a:lnTo>
                  <a:lnTo>
                    <a:pt x="79" y="227"/>
                  </a:lnTo>
                  <a:lnTo>
                    <a:pt x="97" y="227"/>
                  </a:lnTo>
                  <a:lnTo>
                    <a:pt x="115" y="224"/>
                  </a:lnTo>
                  <a:lnTo>
                    <a:pt x="132" y="221"/>
                  </a:lnTo>
                  <a:lnTo>
                    <a:pt x="150" y="215"/>
                  </a:lnTo>
                  <a:lnTo>
                    <a:pt x="166" y="208"/>
                  </a:lnTo>
                  <a:lnTo>
                    <a:pt x="183" y="197"/>
                  </a:lnTo>
                  <a:lnTo>
                    <a:pt x="199" y="183"/>
                  </a:lnTo>
                  <a:lnTo>
                    <a:pt x="199"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sp>
          <p:nvSpPr>
            <p:cNvPr id="60" name="Freeform 48">
              <a:extLst>
                <a:ext uri="{FF2B5EF4-FFF2-40B4-BE49-F238E27FC236}">
                  <a16:creationId xmlns:a16="http://schemas.microsoft.com/office/drawing/2014/main" id="{A20881B9-24C8-38F2-0C7A-336FD4C96D4C}"/>
                </a:ext>
              </a:extLst>
            </p:cNvPr>
            <p:cNvSpPr>
              <a:spLocks noEditPoints="1"/>
            </p:cNvSpPr>
            <p:nvPr/>
          </p:nvSpPr>
          <p:spPr bwMode="auto">
            <a:xfrm>
              <a:off x="2170113" y="3424238"/>
              <a:ext cx="193675" cy="192088"/>
            </a:xfrm>
            <a:custGeom>
              <a:avLst/>
              <a:gdLst>
                <a:gd name="T0" fmla="*/ 110 w 243"/>
                <a:gd name="T1" fmla="*/ 200 h 243"/>
                <a:gd name="T2" fmla="*/ 96 w 243"/>
                <a:gd name="T3" fmla="*/ 214 h 243"/>
                <a:gd name="T4" fmla="*/ 75 w 243"/>
                <a:gd name="T5" fmla="*/ 221 h 243"/>
                <a:gd name="T6" fmla="*/ 54 w 243"/>
                <a:gd name="T7" fmla="*/ 219 h 243"/>
                <a:gd name="T8" fmla="*/ 35 w 243"/>
                <a:gd name="T9" fmla="*/ 208 h 243"/>
                <a:gd name="T10" fmla="*/ 7 w 243"/>
                <a:gd name="T11" fmla="*/ 171 h 243"/>
                <a:gd name="T12" fmla="*/ 0 w 243"/>
                <a:gd name="T13" fmla="*/ 149 h 243"/>
                <a:gd name="T14" fmla="*/ 1 w 243"/>
                <a:gd name="T15" fmla="*/ 124 h 243"/>
                <a:gd name="T16" fmla="*/ 10 w 243"/>
                <a:gd name="T17" fmla="*/ 91 h 243"/>
                <a:gd name="T18" fmla="*/ 26 w 243"/>
                <a:gd name="T19" fmla="*/ 61 h 243"/>
                <a:gd name="T20" fmla="*/ 68 w 243"/>
                <a:gd name="T21" fmla="*/ 22 h 243"/>
                <a:gd name="T22" fmla="*/ 99 w 243"/>
                <a:gd name="T23" fmla="*/ 8 h 243"/>
                <a:gd name="T24" fmla="*/ 121 w 243"/>
                <a:gd name="T25" fmla="*/ 2 h 243"/>
                <a:gd name="T26" fmla="*/ 153 w 243"/>
                <a:gd name="T27" fmla="*/ 0 h 243"/>
                <a:gd name="T28" fmla="*/ 181 w 243"/>
                <a:gd name="T29" fmla="*/ 12 h 243"/>
                <a:gd name="T30" fmla="*/ 197 w 243"/>
                <a:gd name="T31" fmla="*/ 27 h 243"/>
                <a:gd name="T32" fmla="*/ 212 w 243"/>
                <a:gd name="T33" fmla="*/ 40 h 243"/>
                <a:gd name="T34" fmla="*/ 221 w 243"/>
                <a:gd name="T35" fmla="*/ 62 h 243"/>
                <a:gd name="T36" fmla="*/ 218 w 243"/>
                <a:gd name="T37" fmla="*/ 86 h 243"/>
                <a:gd name="T38" fmla="*/ 211 w 243"/>
                <a:gd name="T39" fmla="*/ 100 h 243"/>
                <a:gd name="T40" fmla="*/ 190 w 243"/>
                <a:gd name="T41" fmla="*/ 121 h 243"/>
                <a:gd name="T42" fmla="*/ 222 w 243"/>
                <a:gd name="T43" fmla="*/ 144 h 243"/>
                <a:gd name="T44" fmla="*/ 240 w 243"/>
                <a:gd name="T45" fmla="*/ 168 h 243"/>
                <a:gd name="T46" fmla="*/ 243 w 243"/>
                <a:gd name="T47" fmla="*/ 183 h 243"/>
                <a:gd name="T48" fmla="*/ 231 w 243"/>
                <a:gd name="T49" fmla="*/ 211 h 243"/>
                <a:gd name="T50" fmla="*/ 199 w 243"/>
                <a:gd name="T51" fmla="*/ 237 h 243"/>
                <a:gd name="T52" fmla="*/ 180 w 243"/>
                <a:gd name="T53" fmla="*/ 243 h 243"/>
                <a:gd name="T54" fmla="*/ 160 w 243"/>
                <a:gd name="T55" fmla="*/ 236 h 243"/>
                <a:gd name="T56" fmla="*/ 146 w 243"/>
                <a:gd name="T57" fmla="*/ 222 h 243"/>
                <a:gd name="T58" fmla="*/ 31 w 243"/>
                <a:gd name="T59" fmla="*/ 134 h 243"/>
                <a:gd name="T60" fmla="*/ 34 w 243"/>
                <a:gd name="T61" fmla="*/ 158 h 243"/>
                <a:gd name="T62" fmla="*/ 46 w 243"/>
                <a:gd name="T63" fmla="*/ 175 h 243"/>
                <a:gd name="T64" fmla="*/ 65 w 243"/>
                <a:gd name="T65" fmla="*/ 190 h 243"/>
                <a:gd name="T66" fmla="*/ 81 w 243"/>
                <a:gd name="T67" fmla="*/ 187 h 243"/>
                <a:gd name="T68" fmla="*/ 93 w 243"/>
                <a:gd name="T69" fmla="*/ 172 h 243"/>
                <a:gd name="T70" fmla="*/ 150 w 243"/>
                <a:gd name="T71" fmla="*/ 111 h 243"/>
                <a:gd name="T72" fmla="*/ 181 w 243"/>
                <a:gd name="T73" fmla="*/ 86 h 243"/>
                <a:gd name="T74" fmla="*/ 190 w 243"/>
                <a:gd name="T75" fmla="*/ 71 h 243"/>
                <a:gd name="T76" fmla="*/ 190 w 243"/>
                <a:gd name="T77" fmla="*/ 64 h 243"/>
                <a:gd name="T78" fmla="*/ 168 w 243"/>
                <a:gd name="T79" fmla="*/ 40 h 243"/>
                <a:gd name="T80" fmla="*/ 147 w 243"/>
                <a:gd name="T81" fmla="*/ 31 h 243"/>
                <a:gd name="T82" fmla="*/ 125 w 243"/>
                <a:gd name="T83" fmla="*/ 31 h 243"/>
                <a:gd name="T84" fmla="*/ 94 w 243"/>
                <a:gd name="T85" fmla="*/ 41 h 243"/>
                <a:gd name="T86" fmla="*/ 68 w 243"/>
                <a:gd name="T87" fmla="*/ 59 h 243"/>
                <a:gd name="T88" fmla="*/ 40 w 243"/>
                <a:gd name="T89" fmla="*/ 100 h 243"/>
                <a:gd name="T90" fmla="*/ 31 w 243"/>
                <a:gd name="T91" fmla="*/ 134 h 243"/>
                <a:gd name="T92" fmla="*/ 140 w 243"/>
                <a:gd name="T93" fmla="*/ 162 h 243"/>
                <a:gd name="T94" fmla="*/ 168 w 243"/>
                <a:gd name="T95" fmla="*/ 200 h 243"/>
                <a:gd name="T96" fmla="*/ 183 w 243"/>
                <a:gd name="T97" fmla="*/ 211 h 243"/>
                <a:gd name="T98" fmla="*/ 197 w 243"/>
                <a:gd name="T99" fmla="*/ 202 h 243"/>
                <a:gd name="T100" fmla="*/ 208 w 243"/>
                <a:gd name="T101" fmla="*/ 190 h 243"/>
                <a:gd name="T102" fmla="*/ 212 w 243"/>
                <a:gd name="T103" fmla="*/ 180 h 243"/>
                <a:gd name="T104" fmla="*/ 206 w 243"/>
                <a:gd name="T105" fmla="*/ 171 h 243"/>
                <a:gd name="T106" fmla="*/ 160 w 243"/>
                <a:gd name="T107" fmla="*/ 140 h 243"/>
                <a:gd name="T108" fmla="*/ 140 w 243"/>
                <a:gd name="T109" fmla="*/ 162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3" h="243">
                  <a:moveTo>
                    <a:pt x="121" y="189"/>
                  </a:moveTo>
                  <a:lnTo>
                    <a:pt x="121" y="189"/>
                  </a:lnTo>
                  <a:lnTo>
                    <a:pt x="110" y="200"/>
                  </a:lnTo>
                  <a:lnTo>
                    <a:pt x="102" y="209"/>
                  </a:lnTo>
                  <a:lnTo>
                    <a:pt x="102" y="209"/>
                  </a:lnTo>
                  <a:lnTo>
                    <a:pt x="96" y="214"/>
                  </a:lnTo>
                  <a:lnTo>
                    <a:pt x="88" y="216"/>
                  </a:lnTo>
                  <a:lnTo>
                    <a:pt x="82" y="219"/>
                  </a:lnTo>
                  <a:lnTo>
                    <a:pt x="75" y="221"/>
                  </a:lnTo>
                  <a:lnTo>
                    <a:pt x="68" y="221"/>
                  </a:lnTo>
                  <a:lnTo>
                    <a:pt x="62" y="221"/>
                  </a:lnTo>
                  <a:lnTo>
                    <a:pt x="54" y="219"/>
                  </a:lnTo>
                  <a:lnTo>
                    <a:pt x="49" y="216"/>
                  </a:lnTo>
                  <a:lnTo>
                    <a:pt x="49" y="216"/>
                  </a:lnTo>
                  <a:lnTo>
                    <a:pt x="35" y="208"/>
                  </a:lnTo>
                  <a:lnTo>
                    <a:pt x="25" y="197"/>
                  </a:lnTo>
                  <a:lnTo>
                    <a:pt x="15" y="186"/>
                  </a:lnTo>
                  <a:lnTo>
                    <a:pt x="7" y="171"/>
                  </a:lnTo>
                  <a:lnTo>
                    <a:pt x="7" y="171"/>
                  </a:lnTo>
                  <a:lnTo>
                    <a:pt x="3" y="161"/>
                  </a:lnTo>
                  <a:lnTo>
                    <a:pt x="0" y="149"/>
                  </a:lnTo>
                  <a:lnTo>
                    <a:pt x="0" y="137"/>
                  </a:lnTo>
                  <a:lnTo>
                    <a:pt x="1" y="124"/>
                  </a:lnTo>
                  <a:lnTo>
                    <a:pt x="1" y="124"/>
                  </a:lnTo>
                  <a:lnTo>
                    <a:pt x="3" y="114"/>
                  </a:lnTo>
                  <a:lnTo>
                    <a:pt x="6" y="102"/>
                  </a:lnTo>
                  <a:lnTo>
                    <a:pt x="10" y="91"/>
                  </a:lnTo>
                  <a:lnTo>
                    <a:pt x="15" y="81"/>
                  </a:lnTo>
                  <a:lnTo>
                    <a:pt x="21" y="71"/>
                  </a:lnTo>
                  <a:lnTo>
                    <a:pt x="26" y="61"/>
                  </a:lnTo>
                  <a:lnTo>
                    <a:pt x="41" y="43"/>
                  </a:lnTo>
                  <a:lnTo>
                    <a:pt x="57" y="28"/>
                  </a:lnTo>
                  <a:lnTo>
                    <a:pt x="68" y="22"/>
                  </a:lnTo>
                  <a:lnTo>
                    <a:pt x="77" y="16"/>
                  </a:lnTo>
                  <a:lnTo>
                    <a:pt x="87" y="12"/>
                  </a:lnTo>
                  <a:lnTo>
                    <a:pt x="99" y="8"/>
                  </a:lnTo>
                  <a:lnTo>
                    <a:pt x="109" y="5"/>
                  </a:lnTo>
                  <a:lnTo>
                    <a:pt x="121" y="2"/>
                  </a:lnTo>
                  <a:lnTo>
                    <a:pt x="121" y="2"/>
                  </a:lnTo>
                  <a:lnTo>
                    <a:pt x="131" y="0"/>
                  </a:lnTo>
                  <a:lnTo>
                    <a:pt x="143" y="0"/>
                  </a:lnTo>
                  <a:lnTo>
                    <a:pt x="153" y="0"/>
                  </a:lnTo>
                  <a:lnTo>
                    <a:pt x="162" y="3"/>
                  </a:lnTo>
                  <a:lnTo>
                    <a:pt x="172" y="6"/>
                  </a:lnTo>
                  <a:lnTo>
                    <a:pt x="181" y="12"/>
                  </a:lnTo>
                  <a:lnTo>
                    <a:pt x="190" y="18"/>
                  </a:lnTo>
                  <a:lnTo>
                    <a:pt x="197" y="27"/>
                  </a:lnTo>
                  <a:lnTo>
                    <a:pt x="197" y="27"/>
                  </a:lnTo>
                  <a:lnTo>
                    <a:pt x="205" y="33"/>
                  </a:lnTo>
                  <a:lnTo>
                    <a:pt x="212" y="40"/>
                  </a:lnTo>
                  <a:lnTo>
                    <a:pt x="212" y="40"/>
                  </a:lnTo>
                  <a:lnTo>
                    <a:pt x="216" y="47"/>
                  </a:lnTo>
                  <a:lnTo>
                    <a:pt x="219" y="55"/>
                  </a:lnTo>
                  <a:lnTo>
                    <a:pt x="221" y="62"/>
                  </a:lnTo>
                  <a:lnTo>
                    <a:pt x="221" y="71"/>
                  </a:lnTo>
                  <a:lnTo>
                    <a:pt x="221" y="78"/>
                  </a:lnTo>
                  <a:lnTo>
                    <a:pt x="218" y="86"/>
                  </a:lnTo>
                  <a:lnTo>
                    <a:pt x="215" y="93"/>
                  </a:lnTo>
                  <a:lnTo>
                    <a:pt x="211" y="100"/>
                  </a:lnTo>
                  <a:lnTo>
                    <a:pt x="211" y="100"/>
                  </a:lnTo>
                  <a:lnTo>
                    <a:pt x="200" y="109"/>
                  </a:lnTo>
                  <a:lnTo>
                    <a:pt x="200" y="109"/>
                  </a:lnTo>
                  <a:lnTo>
                    <a:pt x="190" y="121"/>
                  </a:lnTo>
                  <a:lnTo>
                    <a:pt x="190" y="121"/>
                  </a:lnTo>
                  <a:lnTo>
                    <a:pt x="222" y="144"/>
                  </a:lnTo>
                  <a:lnTo>
                    <a:pt x="222" y="144"/>
                  </a:lnTo>
                  <a:lnTo>
                    <a:pt x="230" y="152"/>
                  </a:lnTo>
                  <a:lnTo>
                    <a:pt x="236" y="159"/>
                  </a:lnTo>
                  <a:lnTo>
                    <a:pt x="240" y="168"/>
                  </a:lnTo>
                  <a:lnTo>
                    <a:pt x="243" y="178"/>
                  </a:lnTo>
                  <a:lnTo>
                    <a:pt x="243" y="178"/>
                  </a:lnTo>
                  <a:lnTo>
                    <a:pt x="243" y="183"/>
                  </a:lnTo>
                  <a:lnTo>
                    <a:pt x="241" y="189"/>
                  </a:lnTo>
                  <a:lnTo>
                    <a:pt x="239" y="199"/>
                  </a:lnTo>
                  <a:lnTo>
                    <a:pt x="231" y="211"/>
                  </a:lnTo>
                  <a:lnTo>
                    <a:pt x="221" y="221"/>
                  </a:lnTo>
                  <a:lnTo>
                    <a:pt x="211" y="230"/>
                  </a:lnTo>
                  <a:lnTo>
                    <a:pt x="199" y="237"/>
                  </a:lnTo>
                  <a:lnTo>
                    <a:pt x="188" y="241"/>
                  </a:lnTo>
                  <a:lnTo>
                    <a:pt x="184" y="243"/>
                  </a:lnTo>
                  <a:lnTo>
                    <a:pt x="180" y="243"/>
                  </a:lnTo>
                  <a:lnTo>
                    <a:pt x="180" y="243"/>
                  </a:lnTo>
                  <a:lnTo>
                    <a:pt x="169" y="240"/>
                  </a:lnTo>
                  <a:lnTo>
                    <a:pt x="160" y="236"/>
                  </a:lnTo>
                  <a:lnTo>
                    <a:pt x="153" y="230"/>
                  </a:lnTo>
                  <a:lnTo>
                    <a:pt x="146" y="222"/>
                  </a:lnTo>
                  <a:lnTo>
                    <a:pt x="146" y="222"/>
                  </a:lnTo>
                  <a:lnTo>
                    <a:pt x="121" y="189"/>
                  </a:lnTo>
                  <a:lnTo>
                    <a:pt x="121" y="189"/>
                  </a:lnTo>
                  <a:close/>
                  <a:moveTo>
                    <a:pt x="31" y="134"/>
                  </a:moveTo>
                  <a:lnTo>
                    <a:pt x="31" y="134"/>
                  </a:lnTo>
                  <a:lnTo>
                    <a:pt x="32" y="147"/>
                  </a:lnTo>
                  <a:lnTo>
                    <a:pt x="34" y="158"/>
                  </a:lnTo>
                  <a:lnTo>
                    <a:pt x="38" y="166"/>
                  </a:lnTo>
                  <a:lnTo>
                    <a:pt x="46" y="175"/>
                  </a:lnTo>
                  <a:lnTo>
                    <a:pt x="46" y="175"/>
                  </a:lnTo>
                  <a:lnTo>
                    <a:pt x="53" y="183"/>
                  </a:lnTo>
                  <a:lnTo>
                    <a:pt x="60" y="187"/>
                  </a:lnTo>
                  <a:lnTo>
                    <a:pt x="65" y="190"/>
                  </a:lnTo>
                  <a:lnTo>
                    <a:pt x="71" y="191"/>
                  </a:lnTo>
                  <a:lnTo>
                    <a:pt x="75" y="190"/>
                  </a:lnTo>
                  <a:lnTo>
                    <a:pt x="81" y="187"/>
                  </a:lnTo>
                  <a:lnTo>
                    <a:pt x="85" y="181"/>
                  </a:lnTo>
                  <a:lnTo>
                    <a:pt x="93" y="172"/>
                  </a:lnTo>
                  <a:lnTo>
                    <a:pt x="93" y="172"/>
                  </a:lnTo>
                  <a:lnTo>
                    <a:pt x="110" y="150"/>
                  </a:lnTo>
                  <a:lnTo>
                    <a:pt x="130" y="130"/>
                  </a:lnTo>
                  <a:lnTo>
                    <a:pt x="150" y="111"/>
                  </a:lnTo>
                  <a:lnTo>
                    <a:pt x="174" y="93"/>
                  </a:lnTo>
                  <a:lnTo>
                    <a:pt x="174" y="93"/>
                  </a:lnTo>
                  <a:lnTo>
                    <a:pt x="181" y="86"/>
                  </a:lnTo>
                  <a:lnTo>
                    <a:pt x="188" y="78"/>
                  </a:lnTo>
                  <a:lnTo>
                    <a:pt x="188" y="78"/>
                  </a:lnTo>
                  <a:lnTo>
                    <a:pt x="190" y="71"/>
                  </a:lnTo>
                  <a:lnTo>
                    <a:pt x="190" y="66"/>
                  </a:lnTo>
                  <a:lnTo>
                    <a:pt x="190" y="64"/>
                  </a:lnTo>
                  <a:lnTo>
                    <a:pt x="190" y="64"/>
                  </a:lnTo>
                  <a:lnTo>
                    <a:pt x="180" y="50"/>
                  </a:lnTo>
                  <a:lnTo>
                    <a:pt x="174" y="44"/>
                  </a:lnTo>
                  <a:lnTo>
                    <a:pt x="168" y="40"/>
                  </a:lnTo>
                  <a:lnTo>
                    <a:pt x="162" y="36"/>
                  </a:lnTo>
                  <a:lnTo>
                    <a:pt x="155" y="33"/>
                  </a:lnTo>
                  <a:lnTo>
                    <a:pt x="147" y="31"/>
                  </a:lnTo>
                  <a:lnTo>
                    <a:pt x="138" y="30"/>
                  </a:lnTo>
                  <a:lnTo>
                    <a:pt x="138" y="30"/>
                  </a:lnTo>
                  <a:lnTo>
                    <a:pt x="125" y="31"/>
                  </a:lnTo>
                  <a:lnTo>
                    <a:pt x="115" y="34"/>
                  </a:lnTo>
                  <a:lnTo>
                    <a:pt x="105" y="37"/>
                  </a:lnTo>
                  <a:lnTo>
                    <a:pt x="94" y="41"/>
                  </a:lnTo>
                  <a:lnTo>
                    <a:pt x="84" y="47"/>
                  </a:lnTo>
                  <a:lnTo>
                    <a:pt x="75" y="53"/>
                  </a:lnTo>
                  <a:lnTo>
                    <a:pt x="68" y="59"/>
                  </a:lnTo>
                  <a:lnTo>
                    <a:pt x="60" y="66"/>
                  </a:lnTo>
                  <a:lnTo>
                    <a:pt x="49" y="83"/>
                  </a:lnTo>
                  <a:lnTo>
                    <a:pt x="40" y="100"/>
                  </a:lnTo>
                  <a:lnTo>
                    <a:pt x="34" y="118"/>
                  </a:lnTo>
                  <a:lnTo>
                    <a:pt x="32" y="125"/>
                  </a:lnTo>
                  <a:lnTo>
                    <a:pt x="31" y="134"/>
                  </a:lnTo>
                  <a:lnTo>
                    <a:pt x="31" y="134"/>
                  </a:lnTo>
                  <a:close/>
                  <a:moveTo>
                    <a:pt x="140" y="162"/>
                  </a:moveTo>
                  <a:lnTo>
                    <a:pt x="140" y="162"/>
                  </a:lnTo>
                  <a:lnTo>
                    <a:pt x="162" y="193"/>
                  </a:lnTo>
                  <a:lnTo>
                    <a:pt x="162" y="193"/>
                  </a:lnTo>
                  <a:lnTo>
                    <a:pt x="168" y="200"/>
                  </a:lnTo>
                  <a:lnTo>
                    <a:pt x="172" y="206"/>
                  </a:lnTo>
                  <a:lnTo>
                    <a:pt x="178" y="209"/>
                  </a:lnTo>
                  <a:lnTo>
                    <a:pt x="183" y="211"/>
                  </a:lnTo>
                  <a:lnTo>
                    <a:pt x="187" y="211"/>
                  </a:lnTo>
                  <a:lnTo>
                    <a:pt x="193" y="206"/>
                  </a:lnTo>
                  <a:lnTo>
                    <a:pt x="197" y="202"/>
                  </a:lnTo>
                  <a:lnTo>
                    <a:pt x="205" y="194"/>
                  </a:lnTo>
                  <a:lnTo>
                    <a:pt x="205" y="194"/>
                  </a:lnTo>
                  <a:lnTo>
                    <a:pt x="208" y="190"/>
                  </a:lnTo>
                  <a:lnTo>
                    <a:pt x="208" y="190"/>
                  </a:lnTo>
                  <a:lnTo>
                    <a:pt x="211" y="186"/>
                  </a:lnTo>
                  <a:lnTo>
                    <a:pt x="212" y="180"/>
                  </a:lnTo>
                  <a:lnTo>
                    <a:pt x="209" y="175"/>
                  </a:lnTo>
                  <a:lnTo>
                    <a:pt x="206" y="171"/>
                  </a:lnTo>
                  <a:lnTo>
                    <a:pt x="206" y="171"/>
                  </a:lnTo>
                  <a:lnTo>
                    <a:pt x="184" y="155"/>
                  </a:lnTo>
                  <a:lnTo>
                    <a:pt x="174" y="147"/>
                  </a:lnTo>
                  <a:lnTo>
                    <a:pt x="160" y="140"/>
                  </a:lnTo>
                  <a:lnTo>
                    <a:pt x="160" y="140"/>
                  </a:lnTo>
                  <a:lnTo>
                    <a:pt x="140" y="162"/>
                  </a:lnTo>
                  <a:lnTo>
                    <a:pt x="140" y="1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sp>
          <p:nvSpPr>
            <p:cNvPr id="61" name="Freeform 67">
              <a:extLst>
                <a:ext uri="{FF2B5EF4-FFF2-40B4-BE49-F238E27FC236}">
                  <a16:creationId xmlns:a16="http://schemas.microsoft.com/office/drawing/2014/main" id="{88648795-7C89-6875-4F8F-79DA338E4352}"/>
                </a:ext>
              </a:extLst>
            </p:cNvPr>
            <p:cNvSpPr>
              <a:spLocks/>
            </p:cNvSpPr>
            <p:nvPr/>
          </p:nvSpPr>
          <p:spPr bwMode="auto">
            <a:xfrm>
              <a:off x="2570163" y="4051301"/>
              <a:ext cx="141288" cy="169863"/>
            </a:xfrm>
            <a:custGeom>
              <a:avLst/>
              <a:gdLst>
                <a:gd name="T0" fmla="*/ 13 w 178"/>
                <a:gd name="T1" fmla="*/ 213 h 213"/>
                <a:gd name="T2" fmla="*/ 13 w 178"/>
                <a:gd name="T3" fmla="*/ 213 h 213"/>
                <a:gd name="T4" fmla="*/ 6 w 178"/>
                <a:gd name="T5" fmla="*/ 209 h 213"/>
                <a:gd name="T6" fmla="*/ 3 w 178"/>
                <a:gd name="T7" fmla="*/ 207 h 213"/>
                <a:gd name="T8" fmla="*/ 1 w 178"/>
                <a:gd name="T9" fmla="*/ 204 h 213"/>
                <a:gd name="T10" fmla="*/ 1 w 178"/>
                <a:gd name="T11" fmla="*/ 204 h 213"/>
                <a:gd name="T12" fmla="*/ 0 w 178"/>
                <a:gd name="T13" fmla="*/ 199 h 213"/>
                <a:gd name="T14" fmla="*/ 0 w 178"/>
                <a:gd name="T15" fmla="*/ 194 h 213"/>
                <a:gd name="T16" fmla="*/ 0 w 178"/>
                <a:gd name="T17" fmla="*/ 191 h 213"/>
                <a:gd name="T18" fmla="*/ 0 w 178"/>
                <a:gd name="T19" fmla="*/ 191 h 213"/>
                <a:gd name="T20" fmla="*/ 6 w 178"/>
                <a:gd name="T21" fmla="*/ 185 h 213"/>
                <a:gd name="T22" fmla="*/ 11 w 178"/>
                <a:gd name="T23" fmla="*/ 179 h 213"/>
                <a:gd name="T24" fmla="*/ 11 w 178"/>
                <a:gd name="T25" fmla="*/ 179 h 213"/>
                <a:gd name="T26" fmla="*/ 36 w 178"/>
                <a:gd name="T27" fmla="*/ 157 h 213"/>
                <a:gd name="T28" fmla="*/ 61 w 178"/>
                <a:gd name="T29" fmla="*/ 134 h 213"/>
                <a:gd name="T30" fmla="*/ 61 w 178"/>
                <a:gd name="T31" fmla="*/ 134 h 213"/>
                <a:gd name="T32" fmla="*/ 85 w 178"/>
                <a:gd name="T33" fmla="*/ 109 h 213"/>
                <a:gd name="T34" fmla="*/ 107 w 178"/>
                <a:gd name="T35" fmla="*/ 81 h 213"/>
                <a:gd name="T36" fmla="*/ 126 w 178"/>
                <a:gd name="T37" fmla="*/ 52 h 213"/>
                <a:gd name="T38" fmla="*/ 144 w 178"/>
                <a:gd name="T39" fmla="*/ 21 h 213"/>
                <a:gd name="T40" fmla="*/ 144 w 178"/>
                <a:gd name="T41" fmla="*/ 21 h 213"/>
                <a:gd name="T42" fmla="*/ 151 w 178"/>
                <a:gd name="T43" fmla="*/ 6 h 213"/>
                <a:gd name="T44" fmla="*/ 151 w 178"/>
                <a:gd name="T45" fmla="*/ 6 h 213"/>
                <a:gd name="T46" fmla="*/ 156 w 178"/>
                <a:gd name="T47" fmla="*/ 2 h 213"/>
                <a:gd name="T48" fmla="*/ 160 w 178"/>
                <a:gd name="T49" fmla="*/ 0 h 213"/>
                <a:gd name="T50" fmla="*/ 166 w 178"/>
                <a:gd name="T51" fmla="*/ 0 h 213"/>
                <a:gd name="T52" fmla="*/ 170 w 178"/>
                <a:gd name="T53" fmla="*/ 2 h 213"/>
                <a:gd name="T54" fmla="*/ 170 w 178"/>
                <a:gd name="T55" fmla="*/ 2 h 213"/>
                <a:gd name="T56" fmla="*/ 175 w 178"/>
                <a:gd name="T57" fmla="*/ 4 h 213"/>
                <a:gd name="T58" fmla="*/ 178 w 178"/>
                <a:gd name="T59" fmla="*/ 9 h 213"/>
                <a:gd name="T60" fmla="*/ 178 w 178"/>
                <a:gd name="T61" fmla="*/ 13 h 213"/>
                <a:gd name="T62" fmla="*/ 178 w 178"/>
                <a:gd name="T63" fmla="*/ 18 h 213"/>
                <a:gd name="T64" fmla="*/ 178 w 178"/>
                <a:gd name="T65" fmla="*/ 18 h 213"/>
                <a:gd name="T66" fmla="*/ 172 w 178"/>
                <a:gd name="T67" fmla="*/ 31 h 213"/>
                <a:gd name="T68" fmla="*/ 172 w 178"/>
                <a:gd name="T69" fmla="*/ 31 h 213"/>
                <a:gd name="T70" fmla="*/ 159 w 178"/>
                <a:gd name="T71" fmla="*/ 56 h 213"/>
                <a:gd name="T72" fmla="*/ 144 w 178"/>
                <a:gd name="T73" fmla="*/ 81 h 213"/>
                <a:gd name="T74" fmla="*/ 128 w 178"/>
                <a:gd name="T75" fmla="*/ 104 h 213"/>
                <a:gd name="T76" fmla="*/ 110 w 178"/>
                <a:gd name="T77" fmla="*/ 127 h 213"/>
                <a:gd name="T78" fmla="*/ 91 w 178"/>
                <a:gd name="T79" fmla="*/ 147 h 213"/>
                <a:gd name="T80" fmla="*/ 72 w 178"/>
                <a:gd name="T81" fmla="*/ 168 h 213"/>
                <a:gd name="T82" fmla="*/ 50 w 178"/>
                <a:gd name="T83" fmla="*/ 187 h 213"/>
                <a:gd name="T84" fmla="*/ 28 w 178"/>
                <a:gd name="T85" fmla="*/ 204 h 213"/>
                <a:gd name="T86" fmla="*/ 28 w 178"/>
                <a:gd name="T87" fmla="*/ 204 h 213"/>
                <a:gd name="T88" fmla="*/ 20 w 178"/>
                <a:gd name="T89" fmla="*/ 209 h 213"/>
                <a:gd name="T90" fmla="*/ 13 w 178"/>
                <a:gd name="T91" fmla="*/ 213 h 213"/>
                <a:gd name="T92" fmla="*/ 13 w 178"/>
                <a:gd name="T93"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8" h="213">
                  <a:moveTo>
                    <a:pt x="13" y="213"/>
                  </a:moveTo>
                  <a:lnTo>
                    <a:pt x="13" y="213"/>
                  </a:lnTo>
                  <a:lnTo>
                    <a:pt x="6" y="209"/>
                  </a:lnTo>
                  <a:lnTo>
                    <a:pt x="3" y="207"/>
                  </a:lnTo>
                  <a:lnTo>
                    <a:pt x="1" y="204"/>
                  </a:lnTo>
                  <a:lnTo>
                    <a:pt x="1" y="204"/>
                  </a:lnTo>
                  <a:lnTo>
                    <a:pt x="0" y="199"/>
                  </a:lnTo>
                  <a:lnTo>
                    <a:pt x="0" y="194"/>
                  </a:lnTo>
                  <a:lnTo>
                    <a:pt x="0" y="191"/>
                  </a:lnTo>
                  <a:lnTo>
                    <a:pt x="0" y="191"/>
                  </a:lnTo>
                  <a:lnTo>
                    <a:pt x="6" y="185"/>
                  </a:lnTo>
                  <a:lnTo>
                    <a:pt x="11" y="179"/>
                  </a:lnTo>
                  <a:lnTo>
                    <a:pt x="11" y="179"/>
                  </a:lnTo>
                  <a:lnTo>
                    <a:pt x="36" y="157"/>
                  </a:lnTo>
                  <a:lnTo>
                    <a:pt x="61" y="134"/>
                  </a:lnTo>
                  <a:lnTo>
                    <a:pt x="61" y="134"/>
                  </a:lnTo>
                  <a:lnTo>
                    <a:pt x="85" y="109"/>
                  </a:lnTo>
                  <a:lnTo>
                    <a:pt x="107" y="81"/>
                  </a:lnTo>
                  <a:lnTo>
                    <a:pt x="126" y="52"/>
                  </a:lnTo>
                  <a:lnTo>
                    <a:pt x="144" y="21"/>
                  </a:lnTo>
                  <a:lnTo>
                    <a:pt x="144" y="21"/>
                  </a:lnTo>
                  <a:lnTo>
                    <a:pt x="151" y="6"/>
                  </a:lnTo>
                  <a:lnTo>
                    <a:pt x="151" y="6"/>
                  </a:lnTo>
                  <a:lnTo>
                    <a:pt x="156" y="2"/>
                  </a:lnTo>
                  <a:lnTo>
                    <a:pt x="160" y="0"/>
                  </a:lnTo>
                  <a:lnTo>
                    <a:pt x="166" y="0"/>
                  </a:lnTo>
                  <a:lnTo>
                    <a:pt x="170" y="2"/>
                  </a:lnTo>
                  <a:lnTo>
                    <a:pt x="170" y="2"/>
                  </a:lnTo>
                  <a:lnTo>
                    <a:pt x="175" y="4"/>
                  </a:lnTo>
                  <a:lnTo>
                    <a:pt x="178" y="9"/>
                  </a:lnTo>
                  <a:lnTo>
                    <a:pt x="178" y="13"/>
                  </a:lnTo>
                  <a:lnTo>
                    <a:pt x="178" y="18"/>
                  </a:lnTo>
                  <a:lnTo>
                    <a:pt x="178" y="18"/>
                  </a:lnTo>
                  <a:lnTo>
                    <a:pt x="172" y="31"/>
                  </a:lnTo>
                  <a:lnTo>
                    <a:pt x="172" y="31"/>
                  </a:lnTo>
                  <a:lnTo>
                    <a:pt x="159" y="56"/>
                  </a:lnTo>
                  <a:lnTo>
                    <a:pt x="144" y="81"/>
                  </a:lnTo>
                  <a:lnTo>
                    <a:pt x="128" y="104"/>
                  </a:lnTo>
                  <a:lnTo>
                    <a:pt x="110" y="127"/>
                  </a:lnTo>
                  <a:lnTo>
                    <a:pt x="91" y="147"/>
                  </a:lnTo>
                  <a:lnTo>
                    <a:pt x="72" y="168"/>
                  </a:lnTo>
                  <a:lnTo>
                    <a:pt x="50" y="187"/>
                  </a:lnTo>
                  <a:lnTo>
                    <a:pt x="28" y="204"/>
                  </a:lnTo>
                  <a:lnTo>
                    <a:pt x="28" y="204"/>
                  </a:lnTo>
                  <a:lnTo>
                    <a:pt x="20" y="209"/>
                  </a:lnTo>
                  <a:lnTo>
                    <a:pt x="13" y="213"/>
                  </a:lnTo>
                  <a:lnTo>
                    <a:pt x="13"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sp>
          <p:nvSpPr>
            <p:cNvPr id="62" name="Freeform 68">
              <a:extLst>
                <a:ext uri="{FF2B5EF4-FFF2-40B4-BE49-F238E27FC236}">
                  <a16:creationId xmlns:a16="http://schemas.microsoft.com/office/drawing/2014/main" id="{9E89E4D5-A8C3-DA66-2DF0-98DF90B107A1}"/>
                </a:ext>
              </a:extLst>
            </p:cNvPr>
            <p:cNvSpPr>
              <a:spLocks/>
            </p:cNvSpPr>
            <p:nvPr/>
          </p:nvSpPr>
          <p:spPr bwMode="auto">
            <a:xfrm>
              <a:off x="2471738" y="4225926"/>
              <a:ext cx="76200" cy="53975"/>
            </a:xfrm>
            <a:custGeom>
              <a:avLst/>
              <a:gdLst>
                <a:gd name="T0" fmla="*/ 98 w 98"/>
                <a:gd name="T1" fmla="*/ 17 h 67"/>
                <a:gd name="T2" fmla="*/ 98 w 98"/>
                <a:gd name="T3" fmla="*/ 17 h 67"/>
                <a:gd name="T4" fmla="*/ 95 w 98"/>
                <a:gd name="T5" fmla="*/ 22 h 67"/>
                <a:gd name="T6" fmla="*/ 93 w 98"/>
                <a:gd name="T7" fmla="*/ 25 h 67"/>
                <a:gd name="T8" fmla="*/ 90 w 98"/>
                <a:gd name="T9" fmla="*/ 26 h 67"/>
                <a:gd name="T10" fmla="*/ 90 w 98"/>
                <a:gd name="T11" fmla="*/ 26 h 67"/>
                <a:gd name="T12" fmla="*/ 20 w 98"/>
                <a:gd name="T13" fmla="*/ 66 h 67"/>
                <a:gd name="T14" fmla="*/ 20 w 98"/>
                <a:gd name="T15" fmla="*/ 66 h 67"/>
                <a:gd name="T16" fmla="*/ 15 w 98"/>
                <a:gd name="T17" fmla="*/ 67 h 67"/>
                <a:gd name="T18" fmla="*/ 9 w 98"/>
                <a:gd name="T19" fmla="*/ 66 h 67"/>
                <a:gd name="T20" fmla="*/ 6 w 98"/>
                <a:gd name="T21" fmla="*/ 63 h 67"/>
                <a:gd name="T22" fmla="*/ 2 w 98"/>
                <a:gd name="T23" fmla="*/ 58 h 67"/>
                <a:gd name="T24" fmla="*/ 2 w 98"/>
                <a:gd name="T25" fmla="*/ 58 h 67"/>
                <a:gd name="T26" fmla="*/ 0 w 98"/>
                <a:gd name="T27" fmla="*/ 54 h 67"/>
                <a:gd name="T28" fmla="*/ 0 w 98"/>
                <a:gd name="T29" fmla="*/ 50 h 67"/>
                <a:gd name="T30" fmla="*/ 2 w 98"/>
                <a:gd name="T31" fmla="*/ 45 h 67"/>
                <a:gd name="T32" fmla="*/ 6 w 98"/>
                <a:gd name="T33" fmla="*/ 41 h 67"/>
                <a:gd name="T34" fmla="*/ 6 w 98"/>
                <a:gd name="T35" fmla="*/ 41 h 67"/>
                <a:gd name="T36" fmla="*/ 14 w 98"/>
                <a:gd name="T37" fmla="*/ 36 h 67"/>
                <a:gd name="T38" fmla="*/ 14 w 98"/>
                <a:gd name="T39" fmla="*/ 36 h 67"/>
                <a:gd name="T40" fmla="*/ 73 w 98"/>
                <a:gd name="T41" fmla="*/ 4 h 67"/>
                <a:gd name="T42" fmla="*/ 73 w 98"/>
                <a:gd name="T43" fmla="*/ 4 h 67"/>
                <a:gd name="T44" fmla="*/ 80 w 98"/>
                <a:gd name="T45" fmla="*/ 0 h 67"/>
                <a:gd name="T46" fmla="*/ 80 w 98"/>
                <a:gd name="T47" fmla="*/ 0 h 67"/>
                <a:gd name="T48" fmla="*/ 86 w 98"/>
                <a:gd name="T49" fmla="*/ 1 h 67"/>
                <a:gd name="T50" fmla="*/ 92 w 98"/>
                <a:gd name="T51" fmla="*/ 4 h 67"/>
                <a:gd name="T52" fmla="*/ 96 w 98"/>
                <a:gd name="T53" fmla="*/ 10 h 67"/>
                <a:gd name="T54" fmla="*/ 98 w 98"/>
                <a:gd name="T55" fmla="*/ 17 h 67"/>
                <a:gd name="T56" fmla="*/ 98 w 98"/>
                <a:gd name="T57" fmla="*/ 1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8" h="67">
                  <a:moveTo>
                    <a:pt x="98" y="17"/>
                  </a:moveTo>
                  <a:lnTo>
                    <a:pt x="98" y="17"/>
                  </a:lnTo>
                  <a:lnTo>
                    <a:pt x="95" y="22"/>
                  </a:lnTo>
                  <a:lnTo>
                    <a:pt x="93" y="25"/>
                  </a:lnTo>
                  <a:lnTo>
                    <a:pt x="90" y="26"/>
                  </a:lnTo>
                  <a:lnTo>
                    <a:pt x="90" y="26"/>
                  </a:lnTo>
                  <a:lnTo>
                    <a:pt x="20" y="66"/>
                  </a:lnTo>
                  <a:lnTo>
                    <a:pt x="20" y="66"/>
                  </a:lnTo>
                  <a:lnTo>
                    <a:pt x="15" y="67"/>
                  </a:lnTo>
                  <a:lnTo>
                    <a:pt x="9" y="66"/>
                  </a:lnTo>
                  <a:lnTo>
                    <a:pt x="6" y="63"/>
                  </a:lnTo>
                  <a:lnTo>
                    <a:pt x="2" y="58"/>
                  </a:lnTo>
                  <a:lnTo>
                    <a:pt x="2" y="58"/>
                  </a:lnTo>
                  <a:lnTo>
                    <a:pt x="0" y="54"/>
                  </a:lnTo>
                  <a:lnTo>
                    <a:pt x="0" y="50"/>
                  </a:lnTo>
                  <a:lnTo>
                    <a:pt x="2" y="45"/>
                  </a:lnTo>
                  <a:lnTo>
                    <a:pt x="6" y="41"/>
                  </a:lnTo>
                  <a:lnTo>
                    <a:pt x="6" y="41"/>
                  </a:lnTo>
                  <a:lnTo>
                    <a:pt x="14" y="36"/>
                  </a:lnTo>
                  <a:lnTo>
                    <a:pt x="14" y="36"/>
                  </a:lnTo>
                  <a:lnTo>
                    <a:pt x="73" y="4"/>
                  </a:lnTo>
                  <a:lnTo>
                    <a:pt x="73" y="4"/>
                  </a:lnTo>
                  <a:lnTo>
                    <a:pt x="80" y="0"/>
                  </a:lnTo>
                  <a:lnTo>
                    <a:pt x="80" y="0"/>
                  </a:lnTo>
                  <a:lnTo>
                    <a:pt x="86" y="1"/>
                  </a:lnTo>
                  <a:lnTo>
                    <a:pt x="92" y="4"/>
                  </a:lnTo>
                  <a:lnTo>
                    <a:pt x="96" y="10"/>
                  </a:lnTo>
                  <a:lnTo>
                    <a:pt x="98" y="17"/>
                  </a:lnTo>
                  <a:lnTo>
                    <a:pt x="9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595959"/>
                </a:solidFill>
                <a:effectLst/>
                <a:uLnTx/>
                <a:uFillTx/>
                <a:latin typeface="Arial Black" panose="020B0A04020102020204"/>
                <a:ea typeface="+mn-ea"/>
                <a:cs typeface="+mn-cs"/>
                <a:sym typeface="Calibri"/>
              </a:endParaRPr>
            </a:p>
          </p:txBody>
        </p:sp>
      </p:grpSp>
      <p:sp>
        <p:nvSpPr>
          <p:cNvPr id="17" name="TextBox 16">
            <a:extLst>
              <a:ext uri="{FF2B5EF4-FFF2-40B4-BE49-F238E27FC236}">
                <a16:creationId xmlns:a16="http://schemas.microsoft.com/office/drawing/2014/main" id="{383B4A26-C5C2-87DF-7D02-DE7080C39205}"/>
              </a:ext>
            </a:extLst>
          </p:cNvPr>
          <p:cNvSpPr txBox="1"/>
          <p:nvPr/>
        </p:nvSpPr>
        <p:spPr>
          <a:xfrm>
            <a:off x="9117891" y="1234015"/>
            <a:ext cx="1197383" cy="408435"/>
          </a:xfrm>
          <a:prstGeom prst="rect">
            <a:avLst/>
          </a:prstGeom>
          <a:noFill/>
        </p:spPr>
        <p:txBody>
          <a:bodyPr wrap="square" rtlCol="0">
            <a:noAutofit/>
          </a:bodyPr>
          <a:lstStyle/>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Unable to eat properly</a:t>
            </a:r>
          </a:p>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a:t>
            </a: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xx%, xxx) </a:t>
            </a:r>
            <a:endPar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endParaRPr>
          </a:p>
        </p:txBody>
      </p:sp>
      <p:sp>
        <p:nvSpPr>
          <p:cNvPr id="18" name="TextBox 17">
            <a:extLst>
              <a:ext uri="{FF2B5EF4-FFF2-40B4-BE49-F238E27FC236}">
                <a16:creationId xmlns:a16="http://schemas.microsoft.com/office/drawing/2014/main" id="{496C28C6-C8CC-19DC-9387-AF32E19CD2FD}"/>
              </a:ext>
            </a:extLst>
          </p:cNvPr>
          <p:cNvSpPr txBox="1"/>
          <p:nvPr/>
        </p:nvSpPr>
        <p:spPr>
          <a:xfrm>
            <a:off x="10773243" y="1299592"/>
            <a:ext cx="1371763" cy="464556"/>
          </a:xfrm>
          <a:prstGeom prst="rect">
            <a:avLst/>
          </a:prstGeom>
          <a:noFill/>
        </p:spPr>
        <p:txBody>
          <a:bodyPr wrap="square" rtlCol="0">
            <a:noAutofit/>
          </a:bodyPr>
          <a:lstStyle/>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Seasonal changes</a:t>
            </a:r>
          </a:p>
          <a:p>
            <a:pPr marL="0" marR="0" lvl="0" indent="0" algn="ctr" defTabSz="914400" rtl="0" eaLnBrk="1" fontAlgn="auto" latinLnBrk="0" hangingPunct="0">
              <a:lnSpc>
                <a:spcPct val="100000"/>
              </a:lnSpc>
              <a:spcBef>
                <a:spcPts val="0"/>
              </a:spcBef>
              <a:spcAft>
                <a:spcPts val="300"/>
              </a:spcAft>
              <a:buClrTx/>
              <a:buSzTx/>
              <a:buFontTx/>
              <a:buNone/>
              <a:tabLst/>
              <a:defRPr/>
            </a:pPr>
            <a:r>
              <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a:t>
            </a:r>
            <a:r>
              <a:rPr kumimoji="0" lang="en-US" sz="1100" b="1"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rPr>
              <a:t>xx%, xxx) </a:t>
            </a:r>
            <a:endParaRPr kumimoji="0" lang="en-US" sz="1100" b="0" i="0" u="none" strike="noStrike" kern="0" cap="none" spc="0" normalizeH="0" baseline="0" noProof="0" dirty="0">
              <a:ln>
                <a:noFill/>
              </a:ln>
              <a:solidFill>
                <a:srgbClr val="BD582C"/>
              </a:solidFill>
              <a:effectLst/>
              <a:uLnTx/>
              <a:uFillTx/>
              <a:latin typeface="Tenorite" panose="00000500000000000000" pitchFamily="2" charset="0"/>
              <a:ea typeface="+mn-ea"/>
              <a:cs typeface="+mn-cs"/>
              <a:sym typeface="Calibri"/>
            </a:endParaRPr>
          </a:p>
        </p:txBody>
      </p:sp>
      <p:pic>
        <p:nvPicPr>
          <p:cNvPr id="26" name="Graphic 25" descr="Maple Leaf outline">
            <a:extLst>
              <a:ext uri="{FF2B5EF4-FFF2-40B4-BE49-F238E27FC236}">
                <a16:creationId xmlns:a16="http://schemas.microsoft.com/office/drawing/2014/main" id="{01747479-06AD-E5EB-3101-3278BA64BC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15953" y="1235479"/>
            <a:ext cx="688469" cy="688469"/>
          </a:xfrm>
          <a:prstGeom prst="rect">
            <a:avLst/>
          </a:prstGeom>
        </p:spPr>
      </p:pic>
      <p:pic>
        <p:nvPicPr>
          <p:cNvPr id="57" name="Graphic 56" descr="Homeopathy outline">
            <a:extLst>
              <a:ext uri="{FF2B5EF4-FFF2-40B4-BE49-F238E27FC236}">
                <a16:creationId xmlns:a16="http://schemas.microsoft.com/office/drawing/2014/main" id="{580F7661-4EFD-718D-B7FD-C6ABAE4E7D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396" y="-51901"/>
            <a:ext cx="914399" cy="914399"/>
          </a:xfrm>
          <a:prstGeom prst="rect">
            <a:avLst/>
          </a:prstGeom>
        </p:spPr>
      </p:pic>
      <p:pic>
        <p:nvPicPr>
          <p:cNvPr id="65" name="Graphic 64" descr="Care outline">
            <a:extLst>
              <a:ext uri="{FF2B5EF4-FFF2-40B4-BE49-F238E27FC236}">
                <a16:creationId xmlns:a16="http://schemas.microsoft.com/office/drawing/2014/main" id="{E2D481DF-732C-E658-E887-A14E11B6B15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0572" y="1118394"/>
            <a:ext cx="698363" cy="698363"/>
          </a:xfrm>
          <a:prstGeom prst="rect">
            <a:avLst/>
          </a:prstGeom>
        </p:spPr>
      </p:pic>
      <p:pic>
        <p:nvPicPr>
          <p:cNvPr id="67" name="Graphic 66" descr="Travel outline">
            <a:extLst>
              <a:ext uri="{FF2B5EF4-FFF2-40B4-BE49-F238E27FC236}">
                <a16:creationId xmlns:a16="http://schemas.microsoft.com/office/drawing/2014/main" id="{13807188-0F5A-E2F0-9216-6F9EE943F2A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48828" y="1130136"/>
            <a:ext cx="752204" cy="752204"/>
          </a:xfrm>
          <a:prstGeom prst="rect">
            <a:avLst/>
          </a:prstGeom>
        </p:spPr>
      </p:pic>
      <p:pic>
        <p:nvPicPr>
          <p:cNvPr id="69" name="Graphic 68" descr="Dim (Medium Sun) outline">
            <a:extLst>
              <a:ext uri="{FF2B5EF4-FFF2-40B4-BE49-F238E27FC236}">
                <a16:creationId xmlns:a16="http://schemas.microsoft.com/office/drawing/2014/main" id="{6A3B0F26-1627-D4D6-A35C-B81A6C84118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89085" y="1066951"/>
            <a:ext cx="777240" cy="777240"/>
          </a:xfrm>
          <a:prstGeom prst="rect">
            <a:avLst/>
          </a:prstGeom>
        </p:spPr>
      </p:pic>
      <p:sp>
        <p:nvSpPr>
          <p:cNvPr id="70" name="TextBox 69">
            <a:extLst>
              <a:ext uri="{FF2B5EF4-FFF2-40B4-BE49-F238E27FC236}">
                <a16:creationId xmlns:a16="http://schemas.microsoft.com/office/drawing/2014/main" id="{22FEA62B-D80A-8FD8-9C57-12E3F14ED4B0}"/>
              </a:ext>
            </a:extLst>
          </p:cNvPr>
          <p:cNvSpPr txBox="1"/>
          <p:nvPr/>
        </p:nvSpPr>
        <p:spPr>
          <a:xfrm>
            <a:off x="661328" y="5417734"/>
            <a:ext cx="3061387" cy="877010"/>
          </a:xfrm>
          <a:prstGeom prst="rect">
            <a:avLst/>
          </a:prstGeom>
          <a:noFill/>
        </p:spPr>
        <p:txBody>
          <a:bodyPr wrap="square" rtlCol="0">
            <a:noAutofit/>
          </a:bodyPr>
          <a:lstStyle/>
          <a:p>
            <a:pPr marL="0" marR="0" lvl="0" indent="0" algn="l" defTabSz="914400" rtl="0" eaLnBrk="1" fontAlgn="auto" latinLnBrk="0" hangingPunct="0">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Avenir Next LT Pro" panose="020B0504020202020204" pitchFamily="34" charset="0"/>
                <a:ea typeface="+mn-ea"/>
                <a:cs typeface="Calibri" panose="020F0502020204030204" pitchFamily="34" charset="0"/>
                <a:sym typeface="Calibri"/>
              </a:rPr>
              <a:t>POSITIVE ATTITUDES</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rPr>
              <a:t>Confident working as claimed</a:t>
            </a:r>
            <a:r>
              <a:rPr lang="en-US" sz="1100" kern="0" dirty="0">
                <a:solidFill>
                  <a:schemeClr val="accent2"/>
                </a:solidFill>
                <a:latin typeface="Tenorite" panose="00000500000000000000" pitchFamily="2" charset="0"/>
                <a:sym typeface="Calibri"/>
              </a:rPr>
              <a:t> (79%)</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rPr>
              <a:t>Gives </a:t>
            </a:r>
            <a:r>
              <a:rPr lang="en-US" sz="1100" kern="0" dirty="0">
                <a:solidFill>
                  <a:schemeClr val="accent2"/>
                </a:solidFill>
                <a:latin typeface="Tenorite" panose="00000500000000000000" pitchFamily="2" charset="0"/>
                <a:sym typeface="Calibri"/>
              </a:rPr>
              <a:t>peace of mind (78%)</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rPr>
              <a:t>Essential for good health (75%)</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lang="en-US" sz="1100" kern="0" dirty="0">
                <a:solidFill>
                  <a:schemeClr val="accent2"/>
                </a:solidFill>
                <a:latin typeface="Tenorite" panose="00000500000000000000" pitchFamily="2" charset="0"/>
                <a:sym typeface="Calibri"/>
              </a:rPr>
              <a:t>Makes me feel empowered (70%)</a:t>
            </a:r>
            <a:endPar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endParaRPr>
          </a:p>
        </p:txBody>
      </p:sp>
      <p:sp>
        <p:nvSpPr>
          <p:cNvPr id="78" name="TextBox 77">
            <a:extLst>
              <a:ext uri="{FF2B5EF4-FFF2-40B4-BE49-F238E27FC236}">
                <a16:creationId xmlns:a16="http://schemas.microsoft.com/office/drawing/2014/main" id="{E62D66E4-A682-8056-92B6-201E9622E574}"/>
              </a:ext>
            </a:extLst>
          </p:cNvPr>
          <p:cNvSpPr txBox="1"/>
          <p:nvPr/>
        </p:nvSpPr>
        <p:spPr>
          <a:xfrm>
            <a:off x="4722169" y="5425533"/>
            <a:ext cx="3061387" cy="877010"/>
          </a:xfrm>
          <a:prstGeom prst="rect">
            <a:avLst/>
          </a:prstGeom>
          <a:noFill/>
        </p:spPr>
        <p:txBody>
          <a:bodyPr wrap="square" rtlCol="0">
            <a:noAutofit/>
          </a:bodyPr>
          <a:lstStyle/>
          <a:p>
            <a:pPr marL="0" marR="0" lvl="0" indent="0" algn="l" defTabSz="914400" rtl="0" eaLnBrk="1" fontAlgn="auto" latinLnBrk="0" hangingPunct="0">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Avenir Next LT Pro" panose="020B0504020202020204" pitchFamily="34" charset="0"/>
                <a:ea typeface="+mn-ea"/>
                <a:cs typeface="Calibri" panose="020F0502020204030204" pitchFamily="34" charset="0"/>
                <a:sym typeface="Calibri"/>
              </a:rPr>
              <a:t>N</a:t>
            </a:r>
            <a:r>
              <a:rPr lang="en-US" sz="1400" b="1" dirty="0">
                <a:solidFill>
                  <a:schemeClr val="accent2"/>
                </a:solidFill>
                <a:latin typeface="Avenir Next LT Pro" panose="020B0504020202020204" pitchFamily="34" charset="0"/>
                <a:cs typeface="Calibri" panose="020F0502020204030204" pitchFamily="34" charset="0"/>
                <a:sym typeface="Calibri"/>
              </a:rPr>
              <a:t>EGATIVE ATTITUDES</a:t>
            </a:r>
            <a:endParaRPr kumimoji="0" lang="en-US" sz="1400" b="1" i="0" u="none" strike="noStrike" kern="1200" cap="none" spc="0" normalizeH="0" baseline="0" noProof="0" dirty="0">
              <a:ln>
                <a:noFill/>
              </a:ln>
              <a:solidFill>
                <a:schemeClr val="accent2"/>
              </a:solidFill>
              <a:effectLst/>
              <a:uLnTx/>
              <a:uFillTx/>
              <a:latin typeface="Avenir Next LT Pro" panose="020B0504020202020204" pitchFamily="34" charset="0"/>
              <a:ea typeface="+mn-ea"/>
              <a:cs typeface="Calibri" panose="020F0502020204030204" pitchFamily="34" charset="0"/>
              <a:sym typeface="Calibri"/>
            </a:endParaRP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rPr>
              <a:t>Too expensive (52%)</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lang="en-US" sz="1100" kern="0" dirty="0">
                <a:solidFill>
                  <a:schemeClr val="accent2"/>
                </a:solidFill>
                <a:latin typeface="Tenorite" panose="00000500000000000000" pitchFamily="2" charset="0"/>
                <a:sym typeface="Calibri"/>
              </a:rPr>
              <a:t>Category is complex/overwhelming (48%)</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rPr>
              <a:t>Most brands are basically the same (39%)</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lang="en-US" sz="1100" kern="0" dirty="0">
                <a:solidFill>
                  <a:schemeClr val="accent2"/>
                </a:solidFill>
                <a:latin typeface="Tenorite" panose="00000500000000000000" pitchFamily="2" charset="0"/>
                <a:sym typeface="Calibri"/>
              </a:rPr>
              <a:t>Worry about the safety (32%)</a:t>
            </a:r>
            <a:endPar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endParaRPr>
          </a:p>
        </p:txBody>
      </p:sp>
      <p:pic>
        <p:nvPicPr>
          <p:cNvPr id="6" name="Graphic 5" descr="Stethoscope outline">
            <a:extLst>
              <a:ext uri="{FF2B5EF4-FFF2-40B4-BE49-F238E27FC236}">
                <a16:creationId xmlns:a16="http://schemas.microsoft.com/office/drawing/2014/main" id="{DE2ED6A5-74F4-AE51-CE0A-22EA46432D8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81069" y="1161164"/>
            <a:ext cx="641646" cy="641646"/>
          </a:xfrm>
          <a:prstGeom prst="rect">
            <a:avLst/>
          </a:prstGeom>
        </p:spPr>
      </p:pic>
      <p:sp>
        <p:nvSpPr>
          <p:cNvPr id="3" name="TextBox 2">
            <a:extLst>
              <a:ext uri="{FF2B5EF4-FFF2-40B4-BE49-F238E27FC236}">
                <a16:creationId xmlns:a16="http://schemas.microsoft.com/office/drawing/2014/main" id="{64532657-665C-E5CC-3B9B-954C66AA46E1}"/>
              </a:ext>
            </a:extLst>
          </p:cNvPr>
          <p:cNvSpPr txBox="1"/>
          <p:nvPr/>
        </p:nvSpPr>
        <p:spPr>
          <a:xfrm>
            <a:off x="8397737" y="5425533"/>
            <a:ext cx="3255958" cy="877010"/>
          </a:xfrm>
          <a:prstGeom prst="rect">
            <a:avLst/>
          </a:prstGeom>
          <a:noFill/>
        </p:spPr>
        <p:txBody>
          <a:bodyPr wrap="square" rtlCol="0">
            <a:noAutofit/>
          </a:bodyPr>
          <a:lstStyle/>
          <a:p>
            <a:pPr marL="0" marR="0" lvl="0" indent="0" algn="l" defTabSz="914400" rtl="0" eaLnBrk="1" fontAlgn="auto" latinLnBrk="0" hangingPunct="0">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Avenir Next LT Pro" panose="020B0504020202020204" pitchFamily="34" charset="0"/>
                <a:ea typeface="+mn-ea"/>
                <a:cs typeface="Calibri" panose="020F0502020204030204" pitchFamily="34" charset="0"/>
                <a:sym typeface="Calibri"/>
              </a:rPr>
              <a:t>BRANDS REGULARLY PURCHASED</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rPr>
              <a:t>XX</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lang="en-US" sz="1100" kern="0" dirty="0">
                <a:solidFill>
                  <a:schemeClr val="accent2"/>
                </a:solidFill>
                <a:latin typeface="Tenorite" panose="00000500000000000000" pitchFamily="2" charset="0"/>
                <a:sym typeface="Calibri"/>
              </a:rPr>
              <a:t>XX</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rPr>
              <a:t>XX</a:t>
            </a:r>
          </a:p>
          <a:p>
            <a:pPr marL="171450" marR="0" lvl="0" indent="-171450" algn="l" defTabSz="914400" rtl="0" eaLnBrk="1" fontAlgn="auto" latinLnBrk="0" hangingPunct="0">
              <a:lnSpc>
                <a:spcPct val="100000"/>
              </a:lnSpc>
              <a:spcBef>
                <a:spcPts val="0"/>
              </a:spcBef>
              <a:spcAft>
                <a:spcPts val="300"/>
              </a:spcAft>
              <a:buClrTx/>
              <a:buSzTx/>
              <a:buFont typeface="Arial" panose="020B0604020202020204" pitchFamily="34" charset="0"/>
              <a:buChar char="•"/>
              <a:tabLst/>
              <a:defRPr/>
            </a:pPr>
            <a:r>
              <a:rPr lang="en-US" sz="1100" kern="0" dirty="0">
                <a:solidFill>
                  <a:schemeClr val="accent2"/>
                </a:solidFill>
                <a:latin typeface="Tenorite" panose="00000500000000000000" pitchFamily="2" charset="0"/>
                <a:sym typeface="Calibri"/>
              </a:rPr>
              <a:t>XX</a:t>
            </a:r>
            <a:endParaRPr kumimoji="0" lang="en-US" sz="1100" b="0" i="0" u="none" strike="noStrike" kern="0" cap="none" spc="0" normalizeH="0" baseline="0" noProof="0" dirty="0">
              <a:ln>
                <a:noFill/>
              </a:ln>
              <a:solidFill>
                <a:schemeClr val="accent2"/>
              </a:solidFill>
              <a:effectLst/>
              <a:uLnTx/>
              <a:uFillTx/>
              <a:latin typeface="Tenorite" panose="00000500000000000000" pitchFamily="2" charset="0"/>
              <a:ea typeface="+mn-ea"/>
              <a:cs typeface="+mn-cs"/>
              <a:sym typeface="Calibri"/>
            </a:endParaRPr>
          </a:p>
        </p:txBody>
      </p:sp>
      <p:sp>
        <p:nvSpPr>
          <p:cNvPr id="7" name="TextBox 6">
            <a:extLst>
              <a:ext uri="{FF2B5EF4-FFF2-40B4-BE49-F238E27FC236}">
                <a16:creationId xmlns:a16="http://schemas.microsoft.com/office/drawing/2014/main" id="{A5AC899D-3D0D-9D47-08EF-A00C8120A860}"/>
              </a:ext>
            </a:extLst>
          </p:cNvPr>
          <p:cNvSpPr txBox="1"/>
          <p:nvPr/>
        </p:nvSpPr>
        <p:spPr>
          <a:xfrm>
            <a:off x="5040511" y="3382512"/>
            <a:ext cx="2424702" cy="369332"/>
          </a:xfrm>
          <a:prstGeom prst="rect">
            <a:avLst/>
          </a:prstGeom>
          <a:solidFill>
            <a:srgbClr val="FFFF00"/>
          </a:solidFill>
        </p:spPr>
        <p:txBody>
          <a:bodyPr wrap="square" rtlCol="0">
            <a:spAutoFit/>
          </a:bodyPr>
          <a:lstStyle/>
          <a:p>
            <a:r>
              <a:rPr lang="en-US" dirty="0"/>
              <a:t>Work in progress</a:t>
            </a:r>
          </a:p>
        </p:txBody>
      </p:sp>
    </p:spTree>
    <p:extLst>
      <p:ext uri="{BB962C8B-B14F-4D97-AF65-F5344CB8AC3E}">
        <p14:creationId xmlns:p14="http://schemas.microsoft.com/office/powerpoint/2010/main" val="3951057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8C0E0-853A-2173-FE8E-FD487013A9E4}"/>
            </a:ext>
          </a:extLst>
        </p:cNvPr>
        <p:cNvGrpSpPr/>
        <p:nvPr/>
      </p:nvGrpSpPr>
      <p:grpSpPr>
        <a:xfrm>
          <a:off x="0" y="0"/>
          <a:ext cx="0" cy="0"/>
          <a:chOff x="0" y="0"/>
          <a:chExt cx="0" cy="0"/>
        </a:xfrm>
      </p:grpSpPr>
      <p:pic>
        <p:nvPicPr>
          <p:cNvPr id="8" name="Picture 7" descr="A close-up of pills&#10;&#10;AI-generated content may be incorrect.">
            <a:extLst>
              <a:ext uri="{FF2B5EF4-FFF2-40B4-BE49-F238E27FC236}">
                <a16:creationId xmlns:a16="http://schemas.microsoft.com/office/drawing/2014/main" id="{84910EA2-71BF-B466-A0A0-33059871696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0"/>
            <a:ext cx="13001624" cy="6858000"/>
          </a:xfrm>
          <a:prstGeom prst="rect">
            <a:avLst/>
          </a:prstGeom>
          <a:solidFill>
            <a:srgbClr val="FFFF00"/>
          </a:solidFill>
        </p:spPr>
      </p:pic>
      <p:sp>
        <p:nvSpPr>
          <p:cNvPr id="2" name="Title 1">
            <a:extLst>
              <a:ext uri="{FF2B5EF4-FFF2-40B4-BE49-F238E27FC236}">
                <a16:creationId xmlns:a16="http://schemas.microsoft.com/office/drawing/2014/main" id="{0B4BB229-1088-68DB-2655-9850CD9C31C8}"/>
              </a:ext>
            </a:extLst>
          </p:cNvPr>
          <p:cNvSpPr>
            <a:spLocks noGrp="1"/>
          </p:cNvSpPr>
          <p:nvPr>
            <p:ph type="title"/>
          </p:nvPr>
        </p:nvSpPr>
        <p:spPr>
          <a:xfrm>
            <a:off x="265073" y="5691370"/>
            <a:ext cx="10113264" cy="822960"/>
          </a:xfrm>
        </p:spPr>
        <p:txBody>
          <a:bodyPr/>
          <a:lstStyle/>
          <a:p>
            <a:r>
              <a:rPr lang="en-US" sz="6000" b="1" dirty="0">
                <a:solidFill>
                  <a:schemeClr val="accent2">
                    <a:lumMod val="75000"/>
                  </a:schemeClr>
                </a:solidFill>
              </a:rPr>
              <a:t>The Segments</a:t>
            </a:r>
          </a:p>
        </p:txBody>
      </p:sp>
    </p:spTree>
    <p:extLst>
      <p:ext uri="{BB962C8B-B14F-4D97-AF65-F5344CB8AC3E}">
        <p14:creationId xmlns:p14="http://schemas.microsoft.com/office/powerpoint/2010/main" val="4054621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22A2F-A81E-81A6-C136-266C0898282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BEF24D0-D2CF-4C86-DD82-A25EAE25C5C7}"/>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sp>
        <p:nvSpPr>
          <p:cNvPr id="3" name="Footer Placeholder 2">
            <a:extLst>
              <a:ext uri="{FF2B5EF4-FFF2-40B4-BE49-F238E27FC236}">
                <a16:creationId xmlns:a16="http://schemas.microsoft.com/office/drawing/2014/main" id="{C42A2FE0-90D8-22DC-BDE7-DAB0BDA22E47}"/>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4" name="Slide Number Placeholder 3">
            <a:extLst>
              <a:ext uri="{FF2B5EF4-FFF2-40B4-BE49-F238E27FC236}">
                <a16:creationId xmlns:a16="http://schemas.microsoft.com/office/drawing/2014/main" id="{0E5F9CB7-C674-BB3E-7ADD-F57961E0C32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FABF7648-E0E9-E6C7-4F20-F527A6F188C5}"/>
              </a:ext>
            </a:extLst>
          </p:cNvPr>
          <p:cNvSpPr txBox="1">
            <a:spLocks/>
          </p:cNvSpPr>
          <p:nvPr/>
        </p:nvSpPr>
        <p:spPr>
          <a:xfrm>
            <a:off x="528886" y="651556"/>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6 meaningful segments emerged</a:t>
            </a:r>
          </a:p>
        </p:txBody>
      </p:sp>
      <p:graphicFrame>
        <p:nvGraphicFramePr>
          <p:cNvPr id="8" name="Chart 7">
            <a:extLst>
              <a:ext uri="{FF2B5EF4-FFF2-40B4-BE49-F238E27FC236}">
                <a16:creationId xmlns:a16="http://schemas.microsoft.com/office/drawing/2014/main" id="{8786352F-AAC9-2F96-9C71-3292863F332A}"/>
              </a:ext>
            </a:extLst>
          </p:cNvPr>
          <p:cNvGraphicFramePr/>
          <p:nvPr>
            <p:extLst>
              <p:ext uri="{D42A27DB-BD31-4B8C-83A1-F6EECF244321}">
                <p14:modId xmlns:p14="http://schemas.microsoft.com/office/powerpoint/2010/main" val="2989491994"/>
              </p:ext>
            </p:extLst>
          </p:nvPr>
        </p:nvGraphicFramePr>
        <p:xfrm>
          <a:off x="0" y="1459924"/>
          <a:ext cx="7112001" cy="4585777"/>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a:extLst>
              <a:ext uri="{FF2B5EF4-FFF2-40B4-BE49-F238E27FC236}">
                <a16:creationId xmlns:a16="http://schemas.microsoft.com/office/drawing/2014/main" id="{AC9AF489-504E-C7D0-3B48-4C838B5FCA61}"/>
              </a:ext>
            </a:extLst>
          </p:cNvPr>
          <p:cNvSpPr/>
          <p:nvPr/>
        </p:nvSpPr>
        <p:spPr bwMode="gray">
          <a:xfrm>
            <a:off x="7481573" y="651556"/>
            <a:ext cx="3477268" cy="304354"/>
          </a:xfrm>
          <a:prstGeom prst="rect">
            <a:avLst/>
          </a:prstGeom>
          <a:solidFill>
            <a:srgbClr val="FFFF00"/>
          </a:solidFill>
          <a:ln>
            <a:noFill/>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lumMod val="50000"/>
                  </a:srgbClr>
                </a:solidFill>
                <a:effectLst/>
                <a:uLnTx/>
                <a:uFillTx/>
                <a:latin typeface="Arial"/>
                <a:ea typeface="+mn-ea"/>
                <a:cs typeface="+mn-cs"/>
              </a:rPr>
              <a:t>ADD BRIEF DESCRIPTION OF EACH SEGMENT</a:t>
            </a:r>
          </a:p>
        </p:txBody>
      </p:sp>
      <p:sp>
        <p:nvSpPr>
          <p:cNvPr id="10" name="Rectangle 9">
            <a:extLst>
              <a:ext uri="{FF2B5EF4-FFF2-40B4-BE49-F238E27FC236}">
                <a16:creationId xmlns:a16="http://schemas.microsoft.com/office/drawing/2014/main" id="{6817D9D1-A6FA-287F-CF31-4A22CC64129D}"/>
              </a:ext>
            </a:extLst>
          </p:cNvPr>
          <p:cNvSpPr/>
          <p:nvPr/>
        </p:nvSpPr>
        <p:spPr bwMode="gray">
          <a:xfrm>
            <a:off x="6650046" y="1459924"/>
            <a:ext cx="1920240" cy="502702"/>
          </a:xfrm>
          <a:prstGeom prst="rect">
            <a:avLst/>
          </a:prstGeom>
        </p:spPr>
        <p:txBody>
          <a:bodyPr wrap="square" lIns="0">
            <a:spAutoFit/>
          </a:bodyPr>
          <a:lstStyle/>
          <a:p>
            <a:pPr marL="0" marR="0" lvl="0" indent="0" algn="l" defTabSz="914400" rtl="0" eaLnBrk="0" fontAlgn="base" latinLnBrk="0" hangingPunct="0">
              <a:lnSpc>
                <a:spcPts val="1600"/>
              </a:lnSpc>
              <a:spcBef>
                <a:spcPct val="0"/>
              </a:spcBef>
              <a:spcAft>
                <a:spcPct val="0"/>
              </a:spcAft>
              <a:buClrTx/>
              <a:buSzTx/>
              <a:buFontTx/>
              <a:buNone/>
              <a:tabLst/>
              <a:defRPr/>
            </a:pPr>
            <a:r>
              <a:rPr kumimoji="0" lang="en-US" sz="1600" b="1" i="0" u="none" strike="noStrike" kern="1200" cap="none" spc="-50" normalizeH="0" baseline="0" noProof="0" dirty="0">
                <a:ln>
                  <a:noFill/>
                </a:ln>
                <a:solidFill>
                  <a:srgbClr val="E48312"/>
                </a:solidFill>
                <a:effectLst/>
                <a:uLnTx/>
                <a:uFillTx/>
                <a:latin typeface="Arial"/>
                <a:ea typeface="Segoe UI" pitchFamily="34" charset="0"/>
                <a:cs typeface="Segoe UI" pitchFamily="34" charset="0"/>
              </a:rPr>
              <a:t>GOAL-ORIENTED PLANNERS</a:t>
            </a:r>
          </a:p>
        </p:txBody>
      </p:sp>
      <p:sp>
        <p:nvSpPr>
          <p:cNvPr id="12" name="Rectangle 11">
            <a:extLst>
              <a:ext uri="{FF2B5EF4-FFF2-40B4-BE49-F238E27FC236}">
                <a16:creationId xmlns:a16="http://schemas.microsoft.com/office/drawing/2014/main" id="{B03B88A4-39FB-E3FF-B4BF-83134CDB9EBC}"/>
              </a:ext>
            </a:extLst>
          </p:cNvPr>
          <p:cNvSpPr/>
          <p:nvPr/>
        </p:nvSpPr>
        <p:spPr bwMode="gray">
          <a:xfrm>
            <a:off x="6650046" y="2226757"/>
            <a:ext cx="1920240" cy="502702"/>
          </a:xfrm>
          <a:prstGeom prst="rect">
            <a:avLst/>
          </a:prstGeom>
          <a:noFill/>
        </p:spPr>
        <p:txBody>
          <a:bodyPr wrap="square" lIns="0">
            <a:spAutoFit/>
          </a:bodyPr>
          <a:lstStyle/>
          <a:p>
            <a:pPr marL="0" marR="0" lvl="0" indent="0" algn="l" defTabSz="914400" rtl="0" eaLnBrk="0" fontAlgn="base" latinLnBrk="0" hangingPunct="0">
              <a:lnSpc>
                <a:spcPts val="1600"/>
              </a:lnSpc>
              <a:spcBef>
                <a:spcPct val="0"/>
              </a:spcBef>
              <a:spcAft>
                <a:spcPct val="0"/>
              </a:spcAft>
              <a:buClrTx/>
              <a:buSzTx/>
              <a:buFontTx/>
              <a:buNone/>
              <a:tabLst/>
              <a:defRPr/>
            </a:pPr>
            <a:r>
              <a:rPr kumimoji="0" lang="en-US" sz="1600" b="1" i="0" u="none" strike="noStrike" kern="1200" cap="none" spc="-50" normalizeH="0" baseline="0" noProof="0" dirty="0">
                <a:ln>
                  <a:noFill/>
                </a:ln>
                <a:solidFill>
                  <a:srgbClr val="BD582C"/>
                </a:solidFill>
                <a:effectLst/>
                <a:uLnTx/>
                <a:uFillTx/>
                <a:latin typeface="Arial"/>
                <a:ea typeface="Segoe UI" pitchFamily="34" charset="0"/>
                <a:cs typeface="Segoe UI" pitchFamily="34" charset="0"/>
              </a:rPr>
              <a:t>PRACTICAL MINIMALISTS</a:t>
            </a:r>
          </a:p>
        </p:txBody>
      </p:sp>
      <p:sp>
        <p:nvSpPr>
          <p:cNvPr id="15" name="Rectangle 14">
            <a:extLst>
              <a:ext uri="{FF2B5EF4-FFF2-40B4-BE49-F238E27FC236}">
                <a16:creationId xmlns:a16="http://schemas.microsoft.com/office/drawing/2014/main" id="{E263D415-7E20-C4FF-B060-E7FAC8FEB2A8}"/>
              </a:ext>
            </a:extLst>
          </p:cNvPr>
          <p:cNvSpPr/>
          <p:nvPr/>
        </p:nvSpPr>
        <p:spPr bwMode="gray">
          <a:xfrm>
            <a:off x="6650046" y="3009243"/>
            <a:ext cx="1920240" cy="502702"/>
          </a:xfrm>
          <a:prstGeom prst="rect">
            <a:avLst/>
          </a:prstGeom>
          <a:noFill/>
        </p:spPr>
        <p:txBody>
          <a:bodyPr wrap="square" lIns="0">
            <a:spAutoFit/>
          </a:bodyPr>
          <a:lstStyle/>
          <a:p>
            <a:pPr marL="0" marR="0" lvl="0" indent="0" algn="l" defTabSz="914400" rtl="0" eaLnBrk="0" fontAlgn="base" latinLnBrk="0" hangingPunct="0">
              <a:lnSpc>
                <a:spcPts val="1600"/>
              </a:lnSpc>
              <a:spcBef>
                <a:spcPct val="0"/>
              </a:spcBef>
              <a:spcAft>
                <a:spcPct val="0"/>
              </a:spcAft>
              <a:buClrTx/>
              <a:buSzTx/>
              <a:buFontTx/>
              <a:buNone/>
              <a:tabLst/>
              <a:defRPr/>
            </a:pPr>
            <a:r>
              <a:rPr kumimoji="0" lang="en-US" sz="1600" b="1" i="0" u="none" strike="noStrike" kern="1200" cap="none" spc="-50" normalizeH="0" baseline="0" noProof="0" dirty="0">
                <a:ln>
                  <a:noFill/>
                </a:ln>
                <a:solidFill>
                  <a:srgbClr val="865640"/>
                </a:solidFill>
                <a:effectLst/>
                <a:uLnTx/>
                <a:uFillTx/>
                <a:latin typeface="Arial"/>
                <a:ea typeface="Segoe UI" pitchFamily="34" charset="0"/>
                <a:cs typeface="Segoe UI" pitchFamily="34" charset="0"/>
              </a:rPr>
              <a:t>IMPACT </a:t>
            </a:r>
          </a:p>
          <a:p>
            <a:pPr marL="0" marR="0" lvl="0" indent="0" algn="l" defTabSz="914400" rtl="0" eaLnBrk="0" fontAlgn="base" latinLnBrk="0" hangingPunct="0">
              <a:lnSpc>
                <a:spcPts val="1600"/>
              </a:lnSpc>
              <a:spcBef>
                <a:spcPct val="0"/>
              </a:spcBef>
              <a:spcAft>
                <a:spcPct val="0"/>
              </a:spcAft>
              <a:buClrTx/>
              <a:buSzTx/>
              <a:buFontTx/>
              <a:buNone/>
              <a:tabLst/>
              <a:defRPr/>
            </a:pPr>
            <a:r>
              <a:rPr kumimoji="0" lang="en-US" sz="1600" b="1" i="0" u="none" strike="noStrike" kern="1200" cap="none" spc="-50" normalizeH="0" baseline="0" noProof="0" dirty="0">
                <a:ln>
                  <a:noFill/>
                </a:ln>
                <a:solidFill>
                  <a:srgbClr val="865640"/>
                </a:solidFill>
                <a:effectLst/>
                <a:uLnTx/>
                <a:uFillTx/>
                <a:latin typeface="Arial"/>
                <a:ea typeface="Segoe UI" pitchFamily="34" charset="0"/>
                <a:cs typeface="Segoe UI" pitchFamily="34" charset="0"/>
              </a:rPr>
              <a:t>SEEKERS</a:t>
            </a:r>
          </a:p>
        </p:txBody>
      </p:sp>
      <p:sp>
        <p:nvSpPr>
          <p:cNvPr id="18" name="Rectangle 17">
            <a:extLst>
              <a:ext uri="{FF2B5EF4-FFF2-40B4-BE49-F238E27FC236}">
                <a16:creationId xmlns:a16="http://schemas.microsoft.com/office/drawing/2014/main" id="{545E59A5-377B-E60E-B476-5C9D630D15C0}"/>
              </a:ext>
            </a:extLst>
          </p:cNvPr>
          <p:cNvSpPr/>
          <p:nvPr/>
        </p:nvSpPr>
        <p:spPr bwMode="gray">
          <a:xfrm>
            <a:off x="6650046" y="3705208"/>
            <a:ext cx="1920240" cy="502702"/>
          </a:xfrm>
          <a:prstGeom prst="rect">
            <a:avLst/>
          </a:prstGeom>
          <a:noFill/>
        </p:spPr>
        <p:txBody>
          <a:bodyPr wrap="square" lIns="0">
            <a:spAutoFit/>
          </a:bodyPr>
          <a:lstStyle/>
          <a:p>
            <a:pPr marL="0" marR="0" lvl="0" indent="0" algn="l" defTabSz="914400" rtl="0" eaLnBrk="0" fontAlgn="base" latinLnBrk="0" hangingPunct="0">
              <a:lnSpc>
                <a:spcPts val="1600"/>
              </a:lnSpc>
              <a:spcBef>
                <a:spcPct val="0"/>
              </a:spcBef>
              <a:spcAft>
                <a:spcPct val="0"/>
              </a:spcAft>
              <a:buClrTx/>
              <a:buSzTx/>
              <a:buFontTx/>
              <a:buNone/>
              <a:tabLst/>
              <a:defRPr/>
            </a:pPr>
            <a:r>
              <a:rPr kumimoji="0" lang="en-US" sz="1600" b="1" i="0" u="none" strike="noStrike" kern="1200" cap="none" spc="-50" normalizeH="0" baseline="0" noProof="0" dirty="0">
                <a:ln>
                  <a:noFill/>
                </a:ln>
                <a:solidFill>
                  <a:srgbClr val="9B8357"/>
                </a:solidFill>
                <a:effectLst/>
                <a:uLnTx/>
                <a:uFillTx/>
                <a:latin typeface="Arial"/>
                <a:ea typeface="Segoe UI" pitchFamily="34" charset="0"/>
                <a:cs typeface="Segoe UI" pitchFamily="34" charset="0"/>
              </a:rPr>
              <a:t>SET IT AND FORGET IT</a:t>
            </a:r>
          </a:p>
        </p:txBody>
      </p:sp>
      <p:sp>
        <p:nvSpPr>
          <p:cNvPr id="21" name="Rectangle 20">
            <a:extLst>
              <a:ext uri="{FF2B5EF4-FFF2-40B4-BE49-F238E27FC236}">
                <a16:creationId xmlns:a16="http://schemas.microsoft.com/office/drawing/2014/main" id="{83714134-6B4E-5CBB-6D5E-0E441952C493}"/>
              </a:ext>
            </a:extLst>
          </p:cNvPr>
          <p:cNvSpPr/>
          <p:nvPr/>
        </p:nvSpPr>
        <p:spPr bwMode="gray">
          <a:xfrm>
            <a:off x="6650046" y="4401173"/>
            <a:ext cx="1920240" cy="502702"/>
          </a:xfrm>
          <a:prstGeom prst="rect">
            <a:avLst/>
          </a:prstGeom>
        </p:spPr>
        <p:txBody>
          <a:bodyPr wrap="square" lIns="0">
            <a:spAutoFit/>
          </a:bodyPr>
          <a:lstStyle/>
          <a:p>
            <a:pPr marL="0" marR="0" lvl="0" indent="0" algn="l" defTabSz="914400" rtl="0" eaLnBrk="0" fontAlgn="base" latinLnBrk="0" hangingPunct="0">
              <a:lnSpc>
                <a:spcPts val="1600"/>
              </a:lnSpc>
              <a:spcBef>
                <a:spcPct val="0"/>
              </a:spcBef>
              <a:spcAft>
                <a:spcPct val="0"/>
              </a:spcAft>
              <a:buClrTx/>
              <a:buSzTx/>
              <a:buFontTx/>
              <a:buNone/>
              <a:tabLst/>
              <a:defRPr/>
            </a:pPr>
            <a:r>
              <a:rPr kumimoji="0" lang="en-US" sz="1600" b="1" i="0" u="none" strike="noStrike" kern="1200" cap="none" spc="-50" normalizeH="0" baseline="0" noProof="0" dirty="0">
                <a:ln>
                  <a:noFill/>
                </a:ln>
                <a:solidFill>
                  <a:srgbClr val="C2BC80"/>
                </a:solidFill>
                <a:effectLst/>
                <a:uLnTx/>
                <a:uFillTx/>
                <a:latin typeface="Arial"/>
                <a:ea typeface="Segoe UI" pitchFamily="34" charset="0"/>
                <a:cs typeface="Segoe UI" pitchFamily="34" charset="0"/>
              </a:rPr>
              <a:t>WELLNESS OPTIMIZERS</a:t>
            </a:r>
          </a:p>
        </p:txBody>
      </p:sp>
      <p:sp>
        <p:nvSpPr>
          <p:cNvPr id="23" name="Rectangle 22">
            <a:extLst>
              <a:ext uri="{FF2B5EF4-FFF2-40B4-BE49-F238E27FC236}">
                <a16:creationId xmlns:a16="http://schemas.microsoft.com/office/drawing/2014/main" id="{D543A28B-9FD5-A316-0934-1453FB18F10C}"/>
              </a:ext>
            </a:extLst>
          </p:cNvPr>
          <p:cNvSpPr/>
          <p:nvPr/>
        </p:nvSpPr>
        <p:spPr bwMode="gray">
          <a:xfrm>
            <a:off x="6626016" y="5169199"/>
            <a:ext cx="1920240" cy="502702"/>
          </a:xfrm>
          <a:prstGeom prst="rect">
            <a:avLst/>
          </a:prstGeom>
        </p:spPr>
        <p:txBody>
          <a:bodyPr wrap="square" lIns="0">
            <a:spAutoFit/>
          </a:bodyPr>
          <a:lstStyle/>
          <a:p>
            <a:pPr marL="0" marR="0" lvl="0" indent="0" algn="l" defTabSz="914400" rtl="0" eaLnBrk="0" fontAlgn="base" latinLnBrk="0" hangingPunct="0">
              <a:lnSpc>
                <a:spcPts val="1600"/>
              </a:lnSpc>
              <a:spcBef>
                <a:spcPct val="0"/>
              </a:spcBef>
              <a:spcAft>
                <a:spcPct val="0"/>
              </a:spcAft>
              <a:buClrTx/>
              <a:buSzTx/>
              <a:buFontTx/>
              <a:buNone/>
              <a:tabLst/>
              <a:defRPr/>
            </a:pPr>
            <a:r>
              <a:rPr kumimoji="0" lang="en-US" sz="1600" b="1" i="0" u="none" strike="noStrike" kern="1200" cap="none" spc="-50" normalizeH="0" baseline="0" noProof="0" dirty="0">
                <a:ln>
                  <a:noFill/>
                </a:ln>
                <a:solidFill>
                  <a:srgbClr val="94A088"/>
                </a:solidFill>
                <a:effectLst/>
                <a:uLnTx/>
                <a:uFillTx/>
                <a:latin typeface="Arial"/>
                <a:ea typeface="Segoe UI" pitchFamily="34" charset="0"/>
                <a:cs typeface="Segoe UI" pitchFamily="34" charset="0"/>
              </a:rPr>
              <a:t>CONFLICTED EXPERIMENTERS</a:t>
            </a:r>
          </a:p>
        </p:txBody>
      </p:sp>
      <p:sp>
        <p:nvSpPr>
          <p:cNvPr id="34" name="TextBox 33">
            <a:extLst>
              <a:ext uri="{FF2B5EF4-FFF2-40B4-BE49-F238E27FC236}">
                <a16:creationId xmlns:a16="http://schemas.microsoft.com/office/drawing/2014/main" id="{589178D7-4E7D-8024-03F5-F2E90C615E57}"/>
              </a:ext>
            </a:extLst>
          </p:cNvPr>
          <p:cNvSpPr txBox="1"/>
          <p:nvPr/>
        </p:nvSpPr>
        <p:spPr>
          <a:xfrm>
            <a:off x="92672" y="6083333"/>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*Purchased either Dietary Supplements, Functional Foods, of Functional Beverages in the past 3 months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and </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use at least one of the three categories once/week+ </a:t>
            </a:r>
          </a:p>
        </p:txBody>
      </p:sp>
      <p:sp>
        <p:nvSpPr>
          <p:cNvPr id="6" name="Right Brace 5">
            <a:extLst>
              <a:ext uri="{FF2B5EF4-FFF2-40B4-BE49-F238E27FC236}">
                <a16:creationId xmlns:a16="http://schemas.microsoft.com/office/drawing/2014/main" id="{58030D04-3A54-7C03-36D7-CE676F6AE02F}"/>
              </a:ext>
            </a:extLst>
          </p:cNvPr>
          <p:cNvSpPr/>
          <p:nvPr/>
        </p:nvSpPr>
        <p:spPr>
          <a:xfrm>
            <a:off x="8188503" y="2478108"/>
            <a:ext cx="381783" cy="154926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3866C387-A862-F261-4620-E43EEC0B87B8}"/>
              </a:ext>
            </a:extLst>
          </p:cNvPr>
          <p:cNvSpPr txBox="1"/>
          <p:nvPr/>
        </p:nvSpPr>
        <p:spPr>
          <a:xfrm>
            <a:off x="8968958" y="2912253"/>
            <a:ext cx="1863000" cy="646331"/>
          </a:xfrm>
          <a:prstGeom prst="rect">
            <a:avLst/>
          </a:prstGeom>
          <a:noFill/>
        </p:spPr>
        <p:txBody>
          <a:bodyPr wrap="square" rtlCol="0">
            <a:spAutoFit/>
          </a:bodyPr>
          <a:lstStyle/>
          <a:p>
            <a:r>
              <a:rPr lang="en-US" dirty="0"/>
              <a:t>Likely name changes</a:t>
            </a:r>
          </a:p>
        </p:txBody>
      </p:sp>
    </p:spTree>
    <p:extLst>
      <p:ext uri="{BB962C8B-B14F-4D97-AF65-F5344CB8AC3E}">
        <p14:creationId xmlns:p14="http://schemas.microsoft.com/office/powerpoint/2010/main" val="31007497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A96426-FD2D-6B5A-6E1D-63EEED21BD7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66C8F6-966E-1C61-CF5D-CB474253820A}"/>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0C72E58F-9C7C-39B8-CFB9-D355289C447D}"/>
              </a:ext>
            </a:extLst>
          </p:cNvPr>
          <p:cNvSpPr>
            <a:spLocks noGrp="1"/>
          </p:cNvSpPr>
          <p:nvPr>
            <p:ph type="dt" sz="half" idx="4294967295"/>
          </p:nvPr>
        </p:nvSpPr>
        <p:spPr>
          <a:xfrm>
            <a:off x="0" y="6459538"/>
            <a:ext cx="2473325"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12/30/2025</a:t>
            </a:r>
          </a:p>
        </p:txBody>
      </p:sp>
      <p:sp>
        <p:nvSpPr>
          <p:cNvPr id="3" name="Footer Placeholder 2">
            <a:extLst>
              <a:ext uri="{FF2B5EF4-FFF2-40B4-BE49-F238E27FC236}">
                <a16:creationId xmlns:a16="http://schemas.microsoft.com/office/drawing/2014/main" id="{889403B0-2729-E3E8-AB1A-21384A990C72}"/>
              </a:ext>
            </a:extLst>
          </p:cNvPr>
          <p:cNvSpPr>
            <a:spLocks noGrp="1"/>
          </p:cNvSpPr>
          <p:nvPr>
            <p:ph type="ftr" sz="quarter" idx="4294967295"/>
          </p:nvPr>
        </p:nvSpPr>
        <p:spPr>
          <a:xfrm>
            <a:off x="7369175" y="6459538"/>
            <a:ext cx="482282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5" name="Table 4">
            <a:extLst>
              <a:ext uri="{FF2B5EF4-FFF2-40B4-BE49-F238E27FC236}">
                <a16:creationId xmlns:a16="http://schemas.microsoft.com/office/drawing/2014/main" id="{9656912D-5939-005A-4393-491AE634AA7C}"/>
              </a:ext>
            </a:extLst>
          </p:cNvPr>
          <p:cNvGraphicFramePr>
            <a:graphicFrameLocks noGrp="1"/>
          </p:cNvGraphicFramePr>
          <p:nvPr>
            <p:extLst>
              <p:ext uri="{D42A27DB-BD31-4B8C-83A1-F6EECF244321}">
                <p14:modId xmlns:p14="http://schemas.microsoft.com/office/powerpoint/2010/main" val="4177312372"/>
              </p:ext>
            </p:extLst>
          </p:nvPr>
        </p:nvGraphicFramePr>
        <p:xfrm>
          <a:off x="106680" y="243840"/>
          <a:ext cx="11978640" cy="637032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1491888095"/>
                    </a:ext>
                  </a:extLst>
                </a:gridCol>
                <a:gridCol w="1828800">
                  <a:extLst>
                    <a:ext uri="{9D8B030D-6E8A-4147-A177-3AD203B41FA5}">
                      <a16:colId xmlns:a16="http://schemas.microsoft.com/office/drawing/2014/main" val="1859764775"/>
                    </a:ext>
                  </a:extLst>
                </a:gridCol>
                <a:gridCol w="1828800">
                  <a:extLst>
                    <a:ext uri="{9D8B030D-6E8A-4147-A177-3AD203B41FA5}">
                      <a16:colId xmlns:a16="http://schemas.microsoft.com/office/drawing/2014/main" val="2476367028"/>
                    </a:ext>
                  </a:extLst>
                </a:gridCol>
                <a:gridCol w="1828800">
                  <a:extLst>
                    <a:ext uri="{9D8B030D-6E8A-4147-A177-3AD203B41FA5}">
                      <a16:colId xmlns:a16="http://schemas.microsoft.com/office/drawing/2014/main" val="163904482"/>
                    </a:ext>
                  </a:extLst>
                </a:gridCol>
                <a:gridCol w="1828800">
                  <a:extLst>
                    <a:ext uri="{9D8B030D-6E8A-4147-A177-3AD203B41FA5}">
                      <a16:colId xmlns:a16="http://schemas.microsoft.com/office/drawing/2014/main" val="3732191007"/>
                    </a:ext>
                  </a:extLst>
                </a:gridCol>
                <a:gridCol w="1828800">
                  <a:extLst>
                    <a:ext uri="{9D8B030D-6E8A-4147-A177-3AD203B41FA5}">
                      <a16:colId xmlns:a16="http://schemas.microsoft.com/office/drawing/2014/main" val="1870381982"/>
                    </a:ext>
                  </a:extLst>
                </a:gridCol>
                <a:gridCol w="1828800">
                  <a:extLst>
                    <a:ext uri="{9D8B030D-6E8A-4147-A177-3AD203B41FA5}">
                      <a16:colId xmlns:a16="http://schemas.microsoft.com/office/drawing/2014/main" val="3834641749"/>
                    </a:ext>
                  </a:extLst>
                </a:gridCol>
              </a:tblGrid>
              <a:tr h="370840">
                <a:tc>
                  <a:txBody>
                    <a:bodyPr/>
                    <a:lstStyle/>
                    <a:p>
                      <a:pPr algn="ctr"/>
                      <a:endParaRPr lang="en-US" sz="1200" dirty="0"/>
                    </a:p>
                  </a:txBody>
                  <a:tcPr/>
                </a:tc>
                <a:tc>
                  <a:txBody>
                    <a:bodyPr/>
                    <a:lstStyle/>
                    <a:p>
                      <a:pPr algn="ctr"/>
                      <a:r>
                        <a:rPr lang="en-US" sz="1200" dirty="0"/>
                        <a:t>Impact Seekers</a:t>
                      </a:r>
                    </a:p>
                    <a:p>
                      <a:pPr algn="ctr"/>
                      <a:r>
                        <a:rPr lang="en-US" sz="1200" dirty="0"/>
                        <a:t>19%</a:t>
                      </a:r>
                    </a:p>
                  </a:txBody>
                  <a:tcPr anchor="ctr"/>
                </a:tc>
                <a:tc>
                  <a:txBody>
                    <a:bodyPr/>
                    <a:lstStyle/>
                    <a:p>
                      <a:pPr algn="ctr"/>
                      <a:r>
                        <a:rPr lang="en-US" sz="1200" dirty="0"/>
                        <a:t>Practical Minimalists</a:t>
                      </a:r>
                    </a:p>
                    <a:p>
                      <a:pPr algn="ctr"/>
                      <a:r>
                        <a:rPr lang="en-US" sz="1200" dirty="0"/>
                        <a:t>20%</a:t>
                      </a:r>
                    </a:p>
                  </a:txBody>
                  <a:tcPr anchor="ctr"/>
                </a:tc>
                <a:tc>
                  <a:txBody>
                    <a:bodyPr/>
                    <a:lstStyle/>
                    <a:p>
                      <a:pPr algn="ctr"/>
                      <a:r>
                        <a:rPr lang="en-US" sz="1200" dirty="0"/>
                        <a:t>Conflicted Experimenters</a:t>
                      </a:r>
                    </a:p>
                    <a:p>
                      <a:pPr algn="ctr"/>
                      <a:r>
                        <a:rPr lang="en-US" sz="1200" dirty="0"/>
                        <a:t>12%</a:t>
                      </a:r>
                    </a:p>
                  </a:txBody>
                  <a:tcPr anchor="ctr"/>
                </a:tc>
                <a:tc>
                  <a:txBody>
                    <a:bodyPr/>
                    <a:lstStyle/>
                    <a:p>
                      <a:pPr algn="ctr"/>
                      <a:r>
                        <a:rPr lang="en-US" sz="1200" dirty="0"/>
                        <a:t>Set it and Forget it</a:t>
                      </a:r>
                    </a:p>
                    <a:p>
                      <a:pPr algn="ctr"/>
                      <a:r>
                        <a:rPr lang="en-US" sz="1200" dirty="0"/>
                        <a:t>16%</a:t>
                      </a:r>
                    </a:p>
                  </a:txBody>
                  <a:tcPr anchor="ctr"/>
                </a:tc>
                <a:tc>
                  <a:txBody>
                    <a:bodyPr/>
                    <a:lstStyle/>
                    <a:p>
                      <a:pPr algn="ctr"/>
                      <a:r>
                        <a:rPr lang="en-US" sz="1200" dirty="0"/>
                        <a:t>Goal-Oriented Planners</a:t>
                      </a:r>
                    </a:p>
                    <a:p>
                      <a:pPr algn="ctr"/>
                      <a:r>
                        <a:rPr lang="en-US" sz="1200" dirty="0"/>
                        <a:t>21%</a:t>
                      </a:r>
                    </a:p>
                  </a:txBody>
                  <a:tcPr anchor="ctr"/>
                </a:tc>
                <a:tc>
                  <a:txBody>
                    <a:bodyPr/>
                    <a:lstStyle/>
                    <a:p>
                      <a:pPr algn="ctr"/>
                      <a:r>
                        <a:rPr lang="en-US" sz="1200" dirty="0"/>
                        <a:t>Wellness Optimizers</a:t>
                      </a:r>
                    </a:p>
                    <a:p>
                      <a:pPr algn="ctr"/>
                      <a:r>
                        <a:rPr lang="en-US" sz="1200" dirty="0"/>
                        <a:t>13%</a:t>
                      </a:r>
                    </a:p>
                  </a:txBody>
                  <a:tcPr anchor="ctr"/>
                </a:tc>
                <a:extLst>
                  <a:ext uri="{0D108BD9-81ED-4DB2-BD59-A6C34878D82A}">
                    <a16:rowId xmlns:a16="http://schemas.microsoft.com/office/drawing/2014/main" val="2992283357"/>
                  </a:ext>
                </a:extLst>
              </a:tr>
              <a:tr h="370840">
                <a:tc>
                  <a:txBody>
                    <a:bodyPr/>
                    <a:lstStyle/>
                    <a:p>
                      <a:r>
                        <a:rPr lang="en-US" sz="1200" b="1" dirty="0"/>
                        <a:t>Health and Wellness is…</a:t>
                      </a:r>
                    </a:p>
                  </a:txBody>
                  <a:tcPr/>
                </a:tc>
                <a:tc>
                  <a:txBody>
                    <a:bodyPr/>
                    <a:lstStyle/>
                    <a:p>
                      <a:pPr marL="0" indent="0" algn="ctr">
                        <a:buFont typeface="Arial" panose="020B0604020202020204" pitchFamily="34" charset="0"/>
                        <a:buNone/>
                      </a:pPr>
                      <a:r>
                        <a:rPr lang="en-US" sz="1000" b="1" dirty="0"/>
                        <a:t>Essential/Very Important (split)</a:t>
                      </a:r>
                    </a:p>
                  </a:txBody>
                  <a:tcPr/>
                </a:tc>
                <a:tc>
                  <a:txBody>
                    <a:bodyPr/>
                    <a:lstStyle/>
                    <a:p>
                      <a:pPr marL="0" indent="0" algn="ctr">
                        <a:buFont typeface="Arial" panose="020B0604020202020204" pitchFamily="34" charset="0"/>
                        <a:buNone/>
                      </a:pPr>
                      <a:r>
                        <a:rPr lang="en-US" sz="1000" b="1" dirty="0">
                          <a:solidFill>
                            <a:srgbClr val="00B050"/>
                          </a:solidFill>
                        </a:rPr>
                        <a:t>Everything in Moderation</a:t>
                      </a:r>
                    </a:p>
                  </a:txBody>
                  <a:tcPr/>
                </a:tc>
                <a:tc>
                  <a:txBody>
                    <a:bodyPr/>
                    <a:lstStyle/>
                    <a:p>
                      <a:pPr marL="0" indent="0" algn="ctr">
                        <a:buFont typeface="Arial" panose="020B0604020202020204" pitchFamily="34" charset="0"/>
                        <a:buNone/>
                      </a:pPr>
                      <a:r>
                        <a:rPr lang="en-US" sz="1000" b="1" dirty="0"/>
                        <a:t>Very Important</a:t>
                      </a:r>
                    </a:p>
                  </a:txBody>
                  <a:tcPr/>
                </a:tc>
                <a:tc>
                  <a:txBody>
                    <a:bodyPr/>
                    <a:lstStyle/>
                    <a:p>
                      <a:pPr marL="0" indent="0" algn="ctr">
                        <a:buFont typeface="Arial" panose="020B0604020202020204" pitchFamily="34" charset="0"/>
                        <a:buNone/>
                      </a:pPr>
                      <a:r>
                        <a:rPr lang="en-US" sz="1000" b="1" dirty="0"/>
                        <a:t>Essential</a:t>
                      </a:r>
                    </a:p>
                  </a:txBody>
                  <a:tcPr/>
                </a:tc>
                <a:tc>
                  <a:txBody>
                    <a:bodyPr/>
                    <a:lstStyle/>
                    <a:p>
                      <a:pPr marL="0" indent="0" algn="ctr">
                        <a:buFont typeface="Arial" panose="020B0604020202020204" pitchFamily="34" charset="0"/>
                        <a:buNone/>
                      </a:pPr>
                      <a:r>
                        <a:rPr lang="en-US" sz="1000" b="1" dirty="0"/>
                        <a:t>Very Important</a:t>
                      </a:r>
                    </a:p>
                  </a:txBody>
                  <a:tcPr/>
                </a:tc>
                <a:tc>
                  <a:txBody>
                    <a:bodyPr/>
                    <a:lstStyle/>
                    <a:p>
                      <a:pPr marL="0" indent="0" algn="ctr">
                        <a:buFont typeface="Arial" panose="020B0604020202020204" pitchFamily="34" charset="0"/>
                        <a:buNone/>
                      </a:pPr>
                      <a:r>
                        <a:rPr lang="en-US" sz="1000" b="1" dirty="0">
                          <a:solidFill>
                            <a:srgbClr val="00B050"/>
                          </a:solidFill>
                        </a:rPr>
                        <a:t>Essential</a:t>
                      </a:r>
                    </a:p>
                  </a:txBody>
                  <a:tcPr/>
                </a:tc>
                <a:extLst>
                  <a:ext uri="{0D108BD9-81ED-4DB2-BD59-A6C34878D82A}">
                    <a16:rowId xmlns:a16="http://schemas.microsoft.com/office/drawing/2014/main" val="85432139"/>
                  </a:ext>
                </a:extLst>
              </a:tr>
              <a:tr h="370840">
                <a:tc>
                  <a:txBody>
                    <a:bodyPr/>
                    <a:lstStyle/>
                    <a:p>
                      <a:r>
                        <a:rPr lang="en-US" sz="1200" b="1" dirty="0"/>
                        <a:t>Health &amp; Wellness</a:t>
                      </a:r>
                    </a:p>
                  </a:txBody>
                  <a:tcPr/>
                </a:tc>
                <a:tc>
                  <a:txBody>
                    <a:bodyPr/>
                    <a:lstStyle/>
                    <a:p>
                      <a:pPr marL="171450" indent="-171450">
                        <a:buFont typeface="Arial" panose="020B0604020202020204" pitchFamily="34" charset="0"/>
                        <a:buChar char="•"/>
                      </a:pPr>
                      <a:r>
                        <a:rPr lang="en-US" sz="1000" b="0" dirty="0">
                          <a:solidFill>
                            <a:srgbClr val="00B050"/>
                          </a:solidFill>
                        </a:rPr>
                        <a:t>H&amp;W is more due to chance</a:t>
                      </a:r>
                    </a:p>
                    <a:p>
                      <a:pPr marL="171450" indent="-171450">
                        <a:buFont typeface="Arial" panose="020B0604020202020204" pitchFamily="34" charset="0"/>
                        <a:buChar char="•"/>
                      </a:pPr>
                      <a:r>
                        <a:rPr lang="en-US" sz="1000" b="0" dirty="0">
                          <a:solidFill>
                            <a:srgbClr val="00B050"/>
                          </a:solidFill>
                        </a:rPr>
                        <a:t>More focus on how they look (vs. how they feel)</a:t>
                      </a:r>
                    </a:p>
                    <a:p>
                      <a:pPr marL="171450" indent="-171450">
                        <a:buFont typeface="Arial" panose="020B0604020202020204" pitchFamily="34" charset="0"/>
                        <a:buChar char="•"/>
                      </a:pPr>
                      <a:r>
                        <a:rPr lang="en-US" sz="1000" b="0" dirty="0"/>
                        <a:t>More focused on immediate needs/goals (vs. long-term)</a:t>
                      </a:r>
                    </a:p>
                    <a:p>
                      <a:pPr marL="171450" indent="-171450">
                        <a:buFont typeface="Arial" panose="020B0604020202020204" pitchFamily="34" charset="0"/>
                        <a:buChar char="•"/>
                      </a:pPr>
                      <a:r>
                        <a:rPr lang="en-US" sz="1000" b="0" dirty="0"/>
                        <a:t>Like to experiment with new approaches</a:t>
                      </a:r>
                    </a:p>
                    <a:p>
                      <a:pPr marL="171450" indent="-171450">
                        <a:buFont typeface="Arial" panose="020B0604020202020204" pitchFamily="34" charset="0"/>
                        <a:buChar char="•"/>
                      </a:pPr>
                      <a:r>
                        <a:rPr lang="en-US" sz="1000" b="0" dirty="0"/>
                        <a:t>Shares their journey with a community</a:t>
                      </a:r>
                    </a:p>
                    <a:p>
                      <a:pPr marL="171450" indent="-171450">
                        <a:buFont typeface="Arial" panose="020B0604020202020204" pitchFamily="34" charset="0"/>
                        <a:buChar char="•"/>
                      </a:pPr>
                      <a:r>
                        <a:rPr lang="en-US" sz="1000" b="0" dirty="0">
                          <a:solidFill>
                            <a:srgbClr val="00B050"/>
                          </a:solidFill>
                        </a:rPr>
                        <a:t>Fewer goals and behaviors than average</a:t>
                      </a:r>
                    </a:p>
                    <a:p>
                      <a:pPr marL="171450" indent="-171450">
                        <a:buFont typeface="Arial" panose="020B0604020202020204" pitchFamily="34" charset="0"/>
                        <a:buChar char="•"/>
                      </a:pPr>
                      <a:r>
                        <a:rPr lang="en-US" sz="1000" b="0" dirty="0"/>
                        <a:t>Less trust in experts</a:t>
                      </a:r>
                    </a:p>
                  </a:txBody>
                  <a:tcPr/>
                </a:tc>
                <a:tc>
                  <a:txBody>
                    <a:bodyPr/>
                    <a:lstStyle/>
                    <a:p>
                      <a:pPr marL="171450" indent="-171450">
                        <a:buFont typeface="Arial" panose="020B0604020202020204" pitchFamily="34" charset="0"/>
                        <a:buChar char="•"/>
                      </a:pPr>
                      <a:r>
                        <a:rPr lang="en-US" sz="1000" b="0" dirty="0">
                          <a:solidFill>
                            <a:schemeClr val="tx1"/>
                          </a:solidFill>
                        </a:rPr>
                        <a:t>Health is holistic</a:t>
                      </a:r>
                    </a:p>
                    <a:p>
                      <a:pPr marL="171450" indent="-171450">
                        <a:buFont typeface="Arial" panose="020B0604020202020204" pitchFamily="34" charset="0"/>
                        <a:buChar char="•"/>
                      </a:pPr>
                      <a:r>
                        <a:rPr lang="en-US" sz="1000" b="0" dirty="0">
                          <a:solidFill>
                            <a:srgbClr val="00B050"/>
                          </a:solidFill>
                        </a:rPr>
                        <a:t>Want H&amp;W to be easy</a:t>
                      </a:r>
                    </a:p>
                    <a:p>
                      <a:pPr marL="171450" indent="-171450">
                        <a:buFont typeface="Arial" panose="020B0604020202020204" pitchFamily="34" charset="0"/>
                        <a:buChar char="•"/>
                      </a:pPr>
                      <a:r>
                        <a:rPr lang="en-US" sz="1000" b="0" dirty="0">
                          <a:solidFill>
                            <a:srgbClr val="00B050"/>
                          </a:solidFill>
                        </a:rPr>
                        <a:t>Take common sense approaches and stick to what works</a:t>
                      </a:r>
                    </a:p>
                    <a:p>
                      <a:pPr marL="171450" indent="-171450">
                        <a:buFont typeface="Arial" panose="020B0604020202020204" pitchFamily="34" charset="0"/>
                        <a:buChar char="•"/>
                      </a:pPr>
                      <a:r>
                        <a:rPr lang="en-US" sz="1000" b="0" dirty="0">
                          <a:solidFill>
                            <a:schemeClr val="tx1"/>
                          </a:solidFill>
                        </a:rPr>
                        <a:t>Approach is spontaneous</a:t>
                      </a:r>
                    </a:p>
                    <a:p>
                      <a:pPr marL="171450" indent="-171450">
                        <a:buFont typeface="Arial" panose="020B0604020202020204" pitchFamily="34" charset="0"/>
                        <a:buChar char="•"/>
                      </a:pPr>
                      <a:r>
                        <a:rPr lang="en-US" sz="1000" b="0" dirty="0">
                          <a:solidFill>
                            <a:srgbClr val="00B050"/>
                          </a:solidFill>
                        </a:rPr>
                        <a:t>Journey is personal</a:t>
                      </a:r>
                    </a:p>
                    <a:p>
                      <a:pPr marL="171450" indent="-171450">
                        <a:buFont typeface="Arial" panose="020B0604020202020204" pitchFamily="34" charset="0"/>
                        <a:buChar char="•"/>
                      </a:pPr>
                      <a:r>
                        <a:rPr lang="en-US" sz="1000" b="0" dirty="0">
                          <a:solidFill>
                            <a:srgbClr val="00B050"/>
                          </a:solidFill>
                        </a:rPr>
                        <a:t>Seek advice from others</a:t>
                      </a:r>
                    </a:p>
                    <a:p>
                      <a:pPr marL="171450" indent="-171450">
                        <a:buFont typeface="Arial" panose="020B0604020202020204" pitchFamily="34" charset="0"/>
                        <a:buChar char="•"/>
                      </a:pPr>
                      <a:r>
                        <a:rPr lang="en-US" sz="1000" b="0" dirty="0">
                          <a:solidFill>
                            <a:srgbClr val="00B050"/>
                          </a:solidFill>
                        </a:rPr>
                        <a:t>Find it difficult to stay motivated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solidFill>
                            <a:srgbClr val="00B050"/>
                          </a:solidFill>
                        </a:rPr>
                        <a:t>Experience many barriers to maintaining good health and wellness</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solidFill>
                            <a:srgbClr val="00B050"/>
                          </a:solidFill>
                        </a:rPr>
                        <a:t>Focused on a wide variety of health needs/goals</a:t>
                      </a:r>
                    </a:p>
                    <a:p>
                      <a:pPr marL="171450" indent="-171450">
                        <a:buFont typeface="Arial" panose="020B0604020202020204" pitchFamily="34" charset="0"/>
                        <a:buChar char="•"/>
                      </a:pPr>
                      <a:r>
                        <a:rPr lang="en-US" sz="1000" b="0" dirty="0">
                          <a:solidFill>
                            <a:srgbClr val="00B050"/>
                          </a:solidFill>
                        </a:rPr>
                        <a:t>Engaged in a wide variety of H&amp;W behaviors</a:t>
                      </a:r>
                    </a:p>
                    <a:p>
                      <a:pPr marL="171450" indent="-171450">
                        <a:buFont typeface="Arial" panose="020B0604020202020204" pitchFamily="34" charset="0"/>
                        <a:buChar char="•"/>
                      </a:pPr>
                      <a:r>
                        <a:rPr lang="en-US" sz="1000" b="0" dirty="0"/>
                        <a:t>More focus on how they look (vs. how they feel)</a:t>
                      </a:r>
                    </a:p>
                    <a:p>
                      <a:pPr marL="171450" indent="-171450">
                        <a:buFont typeface="Arial" panose="020B0604020202020204" pitchFamily="34" charset="0"/>
                        <a:buChar char="•"/>
                      </a:pPr>
                      <a:r>
                        <a:rPr lang="en-US" sz="1000" b="0" dirty="0"/>
                        <a:t>Experiment with new approaches</a:t>
                      </a:r>
                    </a:p>
                    <a:p>
                      <a:pPr marL="171450" indent="-171450">
                        <a:buFont typeface="Arial" panose="020B0604020202020204" pitchFamily="34" charset="0"/>
                        <a:buChar char="•"/>
                      </a:pPr>
                      <a:r>
                        <a:rPr lang="en-US" sz="1000" b="0" dirty="0"/>
                        <a:t>Find it difficult to stay motivated</a:t>
                      </a:r>
                    </a:p>
                    <a:p>
                      <a:pPr marL="171450" indent="-171450">
                        <a:buFont typeface="Arial" panose="020B0604020202020204" pitchFamily="34" charset="0"/>
                        <a:buChar char="•"/>
                      </a:pPr>
                      <a:r>
                        <a:rPr lang="en-US" sz="1000" b="0" dirty="0">
                          <a:solidFill>
                            <a:srgbClr val="00B050"/>
                          </a:solidFill>
                        </a:rPr>
                        <a:t>Experience many barriers to maintaining good health and wellness</a:t>
                      </a:r>
                    </a:p>
                  </a:txBody>
                  <a:tcPr/>
                </a:tc>
                <a:tc>
                  <a:txBody>
                    <a:bodyPr/>
                    <a:lstStyle/>
                    <a:p>
                      <a:pPr marL="171450" indent="-171450">
                        <a:buFont typeface="Arial" panose="020B0604020202020204" pitchFamily="34" charset="0"/>
                        <a:buChar char="•"/>
                      </a:pPr>
                      <a:r>
                        <a:rPr lang="en-US" sz="1000" b="0" dirty="0">
                          <a:solidFill>
                            <a:schemeClr val="tx1"/>
                          </a:solidFill>
                        </a:rPr>
                        <a:t>Take a discipline, common sense approach to H&amp;W</a:t>
                      </a:r>
                    </a:p>
                    <a:p>
                      <a:pPr marL="171450" indent="-171450">
                        <a:buFont typeface="Arial" panose="020B0604020202020204" pitchFamily="34" charset="0"/>
                        <a:buChar char="•"/>
                      </a:pPr>
                      <a:r>
                        <a:rPr lang="en-US" sz="1000" b="0" dirty="0">
                          <a:solidFill>
                            <a:schemeClr val="tx1"/>
                          </a:solidFill>
                        </a:rPr>
                        <a:t>Stick to what works</a:t>
                      </a:r>
                    </a:p>
                    <a:p>
                      <a:pPr marL="171450" indent="-171450">
                        <a:buFont typeface="Arial" panose="020B0604020202020204" pitchFamily="34" charset="0"/>
                        <a:buChar char="•"/>
                      </a:pPr>
                      <a:r>
                        <a:rPr lang="en-US" sz="1000" b="0" dirty="0"/>
                        <a:t>Not highly engaged in health maintaining behaviors</a:t>
                      </a:r>
                    </a:p>
                    <a:p>
                      <a:pPr marL="171450" indent="-171450">
                        <a:buFont typeface="Arial" panose="020B0604020202020204" pitchFamily="34" charset="0"/>
                        <a:buChar char="•"/>
                      </a:pPr>
                      <a:r>
                        <a:rPr lang="en-US" sz="1000" b="0" dirty="0"/>
                        <a:t>Experience fewer barriers to maintaining H&amp;W</a:t>
                      </a:r>
                    </a:p>
                    <a:p>
                      <a:pPr marL="0" indent="0">
                        <a:buFont typeface="Arial" panose="020B0604020202020204" pitchFamily="34" charset="0"/>
                        <a:buNone/>
                      </a:pPr>
                      <a:endParaRPr lang="en-US" sz="1000" b="0" dirty="0"/>
                    </a:p>
                    <a:p>
                      <a:pPr marL="171450" indent="-171450">
                        <a:buFont typeface="Arial" panose="020B0604020202020204" pitchFamily="34" charset="0"/>
                        <a:buChar char="•"/>
                      </a:pPr>
                      <a:endParaRPr lang="en-US" sz="1000" b="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solidFill>
                            <a:srgbClr val="00B050"/>
                          </a:solidFill>
                        </a:rPr>
                        <a:t>Put significant effort into their H&amp;W routine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t>Take a disciplined approach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t>Pay attention to findings and adjust</a:t>
                      </a:r>
                    </a:p>
                    <a:p>
                      <a:pPr marL="171450" indent="-171450">
                        <a:buFont typeface="Arial" panose="020B0604020202020204" pitchFamily="34" charset="0"/>
                        <a:buChar char="•"/>
                      </a:pPr>
                      <a:r>
                        <a:rPr lang="en-US" sz="1000" b="0" dirty="0">
                          <a:solidFill>
                            <a:srgbClr val="00B050"/>
                          </a:solidFill>
                        </a:rPr>
                        <a:t>Prioritize diet and exercise over other health behaviors</a:t>
                      </a:r>
                    </a:p>
                    <a:p>
                      <a:pPr marL="171450" indent="-171450">
                        <a:buFont typeface="Arial" panose="020B0604020202020204" pitchFamily="34" charset="0"/>
                        <a:buChar char="•"/>
                      </a:pPr>
                      <a:r>
                        <a:rPr lang="en-US" sz="1000" b="0" dirty="0"/>
                        <a:t>Look for scientific evidence</a:t>
                      </a:r>
                    </a:p>
                    <a:p>
                      <a:pPr marL="171450" indent="-171450">
                        <a:buFont typeface="Arial" panose="020B0604020202020204" pitchFamily="34" charset="0"/>
                        <a:buChar char="•"/>
                      </a:pPr>
                      <a:r>
                        <a:rPr lang="en-US" sz="1000" b="0" dirty="0">
                          <a:solidFill>
                            <a:srgbClr val="00B050"/>
                          </a:solidFill>
                        </a:rPr>
                        <a:t>Set specific health and wellness goals and create a plan to achieve</a:t>
                      </a:r>
                    </a:p>
                    <a:p>
                      <a:pPr marL="171450" indent="-171450">
                        <a:buFont typeface="Arial" panose="020B0604020202020204" pitchFamily="34" charset="0"/>
                        <a:buChar char="•"/>
                      </a:pPr>
                      <a:r>
                        <a:rPr lang="en-US" sz="1000" b="0" dirty="0"/>
                        <a:t>Experience fewer barriers to maintaining H&amp;W</a:t>
                      </a:r>
                    </a:p>
                  </a:txBody>
                  <a:tcPr/>
                </a:tc>
                <a:tc>
                  <a:txBody>
                    <a:bodyPr/>
                    <a:lstStyle/>
                    <a:p>
                      <a:pPr marL="171450" indent="-171450">
                        <a:buFont typeface="Arial" panose="020B0604020202020204" pitchFamily="34" charset="0"/>
                        <a:buChar char="•"/>
                      </a:pPr>
                      <a:r>
                        <a:rPr lang="en-US" sz="1000" b="0" dirty="0"/>
                        <a:t>Health is holistic</a:t>
                      </a:r>
                    </a:p>
                    <a:p>
                      <a:pPr marL="171450" indent="-171450">
                        <a:buFont typeface="Arial" panose="020B0604020202020204" pitchFamily="34" charset="0"/>
                        <a:buChar char="•"/>
                      </a:pPr>
                      <a:r>
                        <a:rPr lang="en-US" sz="1000" b="0" dirty="0">
                          <a:solidFill>
                            <a:srgbClr val="00B050"/>
                          </a:solidFill>
                        </a:rPr>
                        <a:t>Focused on a wide variety of health needs/goals</a:t>
                      </a:r>
                    </a:p>
                    <a:p>
                      <a:pPr marL="171450" indent="-171450">
                        <a:buFont typeface="Arial" panose="020B0604020202020204" pitchFamily="34" charset="0"/>
                        <a:buChar char="•"/>
                      </a:pPr>
                      <a:r>
                        <a:rPr lang="en-US" sz="1000" b="0" dirty="0">
                          <a:solidFill>
                            <a:srgbClr val="00B050"/>
                          </a:solidFill>
                        </a:rPr>
                        <a:t>Engaged in a wide variety of H&amp;W behaviors, health tech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solidFill>
                            <a:srgbClr val="00B050"/>
                          </a:solidFill>
                        </a:rPr>
                        <a:t>Pay attention to findings and adjust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t>Put significant effort into their H&amp;W routine and take a disciplined approach</a:t>
                      </a:r>
                    </a:p>
                    <a:p>
                      <a:pPr marL="171450" indent="-171450">
                        <a:buFont typeface="Arial" panose="020B0604020202020204" pitchFamily="34" charset="0"/>
                        <a:buChar char="•"/>
                      </a:pPr>
                      <a:r>
                        <a:rPr lang="en-US" sz="1000" b="0" dirty="0"/>
                        <a:t>Shares their journey with a community</a:t>
                      </a:r>
                    </a:p>
                    <a:p>
                      <a:pPr marL="171450" indent="-171450">
                        <a:buFont typeface="Arial" panose="020B0604020202020204" pitchFamily="34" charset="0"/>
                        <a:buChar char="•"/>
                      </a:pPr>
                      <a:r>
                        <a:rPr lang="en-US" sz="1000" b="0" dirty="0"/>
                        <a:t>Others seek their advice</a:t>
                      </a:r>
                    </a:p>
                    <a:p>
                      <a:pPr marL="171450" indent="-171450">
                        <a:buFont typeface="Arial" panose="020B0604020202020204" pitchFamily="34" charset="0"/>
                        <a:buChar char="•"/>
                      </a:pPr>
                      <a:r>
                        <a:rPr lang="en-US" sz="1000" b="0" dirty="0"/>
                        <a:t>Less trust in experts</a:t>
                      </a:r>
                    </a:p>
                    <a:p>
                      <a:pPr marL="171450" indent="-171450">
                        <a:buFont typeface="Arial" panose="020B0604020202020204" pitchFamily="34" charset="0"/>
                        <a:buChar char="•"/>
                      </a:pPr>
                      <a:r>
                        <a:rPr lang="en-US" sz="1000" b="0" dirty="0"/>
                        <a:t>Seek more personalized solutions</a:t>
                      </a:r>
                    </a:p>
                  </a:txBody>
                  <a:tcPr/>
                </a:tc>
                <a:extLst>
                  <a:ext uri="{0D108BD9-81ED-4DB2-BD59-A6C34878D82A}">
                    <a16:rowId xmlns:a16="http://schemas.microsoft.com/office/drawing/2014/main" val="132091360"/>
                  </a:ext>
                </a:extLst>
              </a:tr>
              <a:tr h="370840">
                <a:tc>
                  <a:txBody>
                    <a:bodyPr/>
                    <a:lstStyle/>
                    <a:p>
                      <a:r>
                        <a:rPr lang="en-US" sz="1200" b="1" dirty="0"/>
                        <a:t>Functional Nutrition</a:t>
                      </a:r>
                    </a:p>
                  </a:txBody>
                  <a:tcPr/>
                </a:tc>
                <a:tc>
                  <a:txBody>
                    <a:bodyPr/>
                    <a:lstStyle/>
                    <a:p>
                      <a:pPr marL="171450" indent="-171450">
                        <a:buFont typeface="Arial" panose="020B0604020202020204" pitchFamily="34" charset="0"/>
                        <a:buChar char="•"/>
                      </a:pPr>
                      <a:r>
                        <a:rPr lang="en-US" sz="1000" b="0" dirty="0"/>
                        <a:t>Experiment with new FN products</a:t>
                      </a:r>
                    </a:p>
                    <a:p>
                      <a:pPr marL="171450" indent="-171450">
                        <a:buFont typeface="Arial" panose="020B0604020202020204" pitchFamily="34" charset="0"/>
                        <a:buChar char="•"/>
                      </a:pPr>
                      <a:r>
                        <a:rPr lang="en-US" sz="1000" b="0" dirty="0">
                          <a:solidFill>
                            <a:srgbClr val="00B050"/>
                          </a:solidFill>
                        </a:rPr>
                        <a:t>Try new products based on hype</a:t>
                      </a:r>
                    </a:p>
                    <a:p>
                      <a:pPr marL="171450" indent="-171450">
                        <a:buFont typeface="Arial" panose="020B0604020202020204" pitchFamily="34" charset="0"/>
                        <a:buChar char="•"/>
                      </a:pPr>
                      <a:r>
                        <a:rPr lang="en-US" sz="1000" b="0" dirty="0">
                          <a:solidFill>
                            <a:srgbClr val="00B050"/>
                          </a:solidFill>
                        </a:rPr>
                        <a:t>Seek immediate solutions</a:t>
                      </a:r>
                    </a:p>
                    <a:p>
                      <a:pPr marL="171450" indent="-171450">
                        <a:buFont typeface="Arial" panose="020B0604020202020204" pitchFamily="34" charset="0"/>
                        <a:buChar char="•"/>
                      </a:pPr>
                      <a:r>
                        <a:rPr lang="en-US" sz="1000" b="0" dirty="0"/>
                        <a:t>Seek values alignment</a:t>
                      </a:r>
                    </a:p>
                    <a:p>
                      <a:pPr marL="171450" indent="-171450">
                        <a:buFont typeface="Arial" panose="020B0604020202020204" pitchFamily="34" charset="0"/>
                        <a:buChar char="•"/>
                      </a:pPr>
                      <a:r>
                        <a:rPr lang="en-US" sz="1000" b="0" dirty="0"/>
                        <a:t>Price sensitive, but spend more than average on supplements</a:t>
                      </a:r>
                    </a:p>
                  </a:txBody>
                  <a:tcPr/>
                </a:tc>
                <a:tc>
                  <a:txBody>
                    <a:bodyPr/>
                    <a:lstStyle/>
                    <a:p>
                      <a:pPr marL="171450" indent="-171450">
                        <a:buFont typeface="Arial" panose="020B0604020202020204" pitchFamily="34" charset="0"/>
                        <a:buChar char="•"/>
                      </a:pPr>
                      <a:r>
                        <a:rPr lang="en-US" sz="1000" b="0" dirty="0"/>
                        <a:t>Buy out of habit</a:t>
                      </a:r>
                    </a:p>
                    <a:p>
                      <a:pPr marL="171450" indent="-171450">
                        <a:buFont typeface="Arial" panose="020B0604020202020204" pitchFamily="34" charset="0"/>
                        <a:buChar char="•"/>
                      </a:pPr>
                      <a:r>
                        <a:rPr lang="en-US" sz="1000" b="0" dirty="0"/>
                        <a:t>Stick to the tried and true</a:t>
                      </a:r>
                    </a:p>
                    <a:p>
                      <a:pPr marL="171450" indent="-171450">
                        <a:buFont typeface="Arial" panose="020B0604020202020204" pitchFamily="34" charset="0"/>
                        <a:buChar char="•"/>
                      </a:pPr>
                      <a:r>
                        <a:rPr lang="en-US" sz="1000" b="0" dirty="0"/>
                        <a:t>Seek immediate solutions</a:t>
                      </a:r>
                    </a:p>
                    <a:p>
                      <a:pPr marL="171450" indent="-171450">
                        <a:buFont typeface="Arial" panose="020B0604020202020204" pitchFamily="34" charset="0"/>
                        <a:buChar char="•"/>
                      </a:pPr>
                      <a:r>
                        <a:rPr lang="en-US" sz="1000" b="0" dirty="0">
                          <a:solidFill>
                            <a:srgbClr val="00B050"/>
                          </a:solidFill>
                        </a:rPr>
                        <a:t>Don’t care about sourcing</a:t>
                      </a:r>
                    </a:p>
                    <a:p>
                      <a:pPr marL="171450" indent="-171450">
                        <a:buFont typeface="Arial" panose="020B0604020202020204" pitchFamily="34" charset="0"/>
                        <a:buChar char="•"/>
                      </a:pPr>
                      <a:r>
                        <a:rPr lang="en-US" sz="1000" b="0" dirty="0">
                          <a:solidFill>
                            <a:srgbClr val="00B050"/>
                          </a:solidFill>
                        </a:rPr>
                        <a:t>Price sensitive</a:t>
                      </a:r>
                    </a:p>
                    <a:p>
                      <a:pPr marL="171450" indent="-171450">
                        <a:buFont typeface="Arial" panose="020B0604020202020204" pitchFamily="34" charset="0"/>
                        <a:buChar char="•"/>
                      </a:pPr>
                      <a:r>
                        <a:rPr lang="en-US" sz="1000" b="0" dirty="0"/>
                        <a:t>Spend less than average on supplements</a:t>
                      </a:r>
                    </a:p>
                  </a:txBody>
                  <a:tcPr/>
                </a:tc>
                <a:tc>
                  <a:txBody>
                    <a:bodyPr/>
                    <a:lstStyle/>
                    <a:p>
                      <a:pPr marL="171450" indent="-171450">
                        <a:buFont typeface="Arial" panose="020B0604020202020204" pitchFamily="34" charset="0"/>
                        <a:buChar char="•"/>
                      </a:pPr>
                      <a:r>
                        <a:rPr lang="en-US" sz="1000" b="0" dirty="0"/>
                        <a:t>Actively evaluate options every time</a:t>
                      </a:r>
                    </a:p>
                    <a:p>
                      <a:pPr marL="171450" indent="-171450">
                        <a:buFont typeface="Arial" panose="020B0604020202020204" pitchFamily="34" charset="0"/>
                        <a:buChar char="•"/>
                      </a:pPr>
                      <a:r>
                        <a:rPr lang="en-US" sz="1000" b="0" dirty="0"/>
                        <a:t>Experiment with new FN products</a:t>
                      </a:r>
                    </a:p>
                    <a:p>
                      <a:pPr marL="171450" indent="-171450">
                        <a:buFont typeface="Arial" panose="020B0604020202020204" pitchFamily="34" charset="0"/>
                        <a:buChar char="•"/>
                      </a:pPr>
                      <a:r>
                        <a:rPr lang="en-US" sz="1000" b="0" dirty="0"/>
                        <a:t>Seek fortification</a:t>
                      </a:r>
                    </a:p>
                  </a:txBody>
                  <a:tcPr/>
                </a:tc>
                <a:tc>
                  <a:txBody>
                    <a:bodyPr/>
                    <a:lstStyle/>
                    <a:p>
                      <a:pPr marL="171450" indent="-171450">
                        <a:buFont typeface="Arial" panose="020B0604020202020204" pitchFamily="34" charset="0"/>
                        <a:buChar char="•"/>
                      </a:pPr>
                      <a:r>
                        <a:rPr lang="en-US" sz="1000" b="0" dirty="0"/>
                        <a:t>Buy out of habit</a:t>
                      </a:r>
                    </a:p>
                    <a:p>
                      <a:pPr marL="171450" indent="-171450">
                        <a:buFont typeface="Arial" panose="020B0604020202020204" pitchFamily="34" charset="0"/>
                        <a:buChar char="•"/>
                      </a:pPr>
                      <a:r>
                        <a:rPr lang="en-US" sz="1000" b="0" dirty="0">
                          <a:solidFill>
                            <a:srgbClr val="00B050"/>
                          </a:solidFill>
                        </a:rPr>
                        <a:t>Stick to the tried and true</a:t>
                      </a:r>
                    </a:p>
                    <a:p>
                      <a:pPr marL="171450" indent="-171450">
                        <a:buFont typeface="Arial" panose="020B0604020202020204" pitchFamily="34" charset="0"/>
                        <a:buChar char="•"/>
                      </a:pPr>
                      <a:r>
                        <a:rPr lang="en-US" sz="1000" b="0" dirty="0"/>
                        <a:t>Seek naturally-occurring benefits</a:t>
                      </a:r>
                    </a:p>
                    <a:p>
                      <a:pPr marL="171450" indent="-171450">
                        <a:buFont typeface="Arial" panose="020B0604020202020204" pitchFamily="34" charset="0"/>
                        <a:buChar char="•"/>
                      </a:pPr>
                      <a:r>
                        <a:rPr lang="en-US" sz="1000" b="0" dirty="0"/>
                        <a:t>Spend less than average on supplements</a:t>
                      </a:r>
                    </a:p>
                    <a:p>
                      <a:pPr marL="0" indent="0">
                        <a:buFont typeface="Arial" panose="020B0604020202020204" pitchFamily="34" charset="0"/>
                        <a:buNone/>
                      </a:pPr>
                      <a:endParaRPr lang="en-US" sz="1000" b="0" dirty="0"/>
                    </a:p>
                  </a:txBody>
                  <a:tcPr/>
                </a:tc>
                <a:tc>
                  <a:txBody>
                    <a:bodyPr/>
                    <a:lstStyle/>
                    <a:p>
                      <a:pPr marL="171450" indent="-171450">
                        <a:buFont typeface="Arial" panose="020B0604020202020204" pitchFamily="34" charset="0"/>
                        <a:buChar char="•"/>
                      </a:pPr>
                      <a:r>
                        <a:rPr lang="en-US" sz="1000" b="0" dirty="0"/>
                        <a:t>Actively evaluate options </a:t>
                      </a:r>
                      <a:r>
                        <a:rPr lang="en-US" sz="1000" b="0" dirty="0">
                          <a:solidFill>
                            <a:srgbClr val="00B050"/>
                          </a:solidFill>
                        </a:rPr>
                        <a:t>Use FN products for long-term health</a:t>
                      </a:r>
                    </a:p>
                    <a:p>
                      <a:pPr marL="171450" indent="-171450">
                        <a:buFont typeface="Arial" panose="020B0604020202020204" pitchFamily="34" charset="0"/>
                        <a:buChar char="•"/>
                      </a:pPr>
                      <a:r>
                        <a:rPr lang="en-US" sz="1000" b="0" dirty="0"/>
                        <a:t>Pay more for quality</a:t>
                      </a:r>
                    </a:p>
                  </a:txBody>
                  <a:tcPr/>
                </a:tc>
                <a:tc>
                  <a:txBody>
                    <a:bodyPr/>
                    <a:lstStyle/>
                    <a:p>
                      <a:pPr marL="171450" indent="-171450">
                        <a:buFont typeface="Arial" panose="020B0604020202020204" pitchFamily="34" charset="0"/>
                        <a:buChar char="•"/>
                      </a:pPr>
                      <a:r>
                        <a:rPr lang="en-US" sz="1000" b="0" dirty="0">
                          <a:solidFill>
                            <a:srgbClr val="00B050"/>
                          </a:solidFill>
                        </a:rPr>
                        <a:t>Actively evaluates options</a:t>
                      </a:r>
                    </a:p>
                    <a:p>
                      <a:pPr marL="171450" indent="-171450">
                        <a:buFont typeface="Arial" panose="020B0604020202020204" pitchFamily="34" charset="0"/>
                        <a:buChar char="•"/>
                      </a:pPr>
                      <a:r>
                        <a:rPr lang="en-US" sz="1000" b="0" dirty="0"/>
                        <a:t>Experiment with new FN products</a:t>
                      </a:r>
                    </a:p>
                    <a:p>
                      <a:pPr marL="171450" indent="-171450">
                        <a:buFont typeface="Arial" panose="020B0604020202020204" pitchFamily="34" charset="0"/>
                        <a:buChar char="•"/>
                      </a:pPr>
                      <a:r>
                        <a:rPr lang="en-US" sz="1000" b="0" dirty="0">
                          <a:solidFill>
                            <a:srgbClr val="00B050"/>
                          </a:solidFill>
                        </a:rPr>
                        <a:t>Seek fortification</a:t>
                      </a:r>
                    </a:p>
                    <a:p>
                      <a:pPr marL="171450" indent="-171450">
                        <a:buFont typeface="Arial" panose="020B0604020202020204" pitchFamily="34" charset="0"/>
                        <a:buChar char="•"/>
                      </a:pPr>
                      <a:r>
                        <a:rPr lang="en-US" sz="1000" b="0" dirty="0">
                          <a:solidFill>
                            <a:srgbClr val="00B050"/>
                          </a:solidFill>
                        </a:rPr>
                        <a:t>Seek values alignment</a:t>
                      </a:r>
                    </a:p>
                    <a:p>
                      <a:pPr marL="171450" indent="-171450">
                        <a:buFont typeface="Arial" panose="020B0604020202020204" pitchFamily="34" charset="0"/>
                        <a:buChar char="•"/>
                      </a:pPr>
                      <a:r>
                        <a:rPr lang="en-US" sz="1000" b="0" dirty="0"/>
                        <a:t>Pay more for quality</a:t>
                      </a:r>
                    </a:p>
                    <a:p>
                      <a:pPr marL="171450" indent="-171450">
                        <a:buFont typeface="Arial" panose="020B0604020202020204" pitchFamily="34" charset="0"/>
                        <a:buChar char="•"/>
                      </a:pPr>
                      <a:r>
                        <a:rPr lang="en-US" sz="1000" b="0" dirty="0">
                          <a:solidFill>
                            <a:srgbClr val="00B050"/>
                          </a:solidFill>
                        </a:rPr>
                        <a:t>Care about sourcing</a:t>
                      </a:r>
                    </a:p>
                    <a:p>
                      <a:pPr marL="171450" indent="-171450">
                        <a:buFont typeface="Arial" panose="020B0604020202020204" pitchFamily="34" charset="0"/>
                        <a:buChar char="•"/>
                      </a:pPr>
                      <a:r>
                        <a:rPr lang="en-US" sz="1000" b="0" dirty="0">
                          <a:solidFill>
                            <a:srgbClr val="00B050"/>
                          </a:solidFill>
                        </a:rPr>
                        <a:t>Spend more than average on dietary supplements</a:t>
                      </a:r>
                    </a:p>
                  </a:txBody>
                  <a:tcPr/>
                </a:tc>
                <a:extLst>
                  <a:ext uri="{0D108BD9-81ED-4DB2-BD59-A6C34878D82A}">
                    <a16:rowId xmlns:a16="http://schemas.microsoft.com/office/drawing/2014/main" val="106287091"/>
                  </a:ext>
                </a:extLst>
              </a:tr>
              <a:tr h="370840">
                <a:tc>
                  <a:txBody>
                    <a:bodyPr/>
                    <a:lstStyle/>
                    <a:p>
                      <a:r>
                        <a:rPr lang="en-US" sz="1000" b="1" dirty="0"/>
                        <a:t>Psychographics</a:t>
                      </a:r>
                    </a:p>
                  </a:txBody>
                  <a:tcPr/>
                </a:tc>
                <a:tc>
                  <a:txBody>
                    <a:bodyPr/>
                    <a:lstStyle/>
                    <a:p>
                      <a:pPr marL="171450" indent="-171450">
                        <a:buFont typeface="Arial" panose="020B0604020202020204" pitchFamily="34" charset="0"/>
                        <a:buChar char="•"/>
                      </a:pPr>
                      <a:r>
                        <a:rPr lang="en-US" sz="1000" b="0" dirty="0">
                          <a:solidFill>
                            <a:srgbClr val="00B050"/>
                          </a:solidFill>
                        </a:rPr>
                        <a:t>Go with the flow</a:t>
                      </a:r>
                    </a:p>
                    <a:p>
                      <a:pPr marL="171450" indent="-171450">
                        <a:buFont typeface="Arial" panose="020B0604020202020204" pitchFamily="34" charset="0"/>
                        <a:buChar char="•"/>
                      </a:pPr>
                      <a:r>
                        <a:rPr lang="en-US" sz="1000" b="0" dirty="0">
                          <a:solidFill>
                            <a:srgbClr val="00B050"/>
                          </a:solidFill>
                        </a:rPr>
                        <a:t>Live for today</a:t>
                      </a:r>
                    </a:p>
                    <a:p>
                      <a:pPr marL="171450" indent="-171450">
                        <a:buFont typeface="Arial" panose="020B0604020202020204" pitchFamily="34" charset="0"/>
                        <a:buChar char="•"/>
                      </a:pPr>
                      <a:r>
                        <a:rPr lang="en-US" sz="1000" b="0" dirty="0"/>
                        <a:t>Enjoy the moment</a:t>
                      </a:r>
                    </a:p>
                    <a:p>
                      <a:pPr marL="171450" indent="-171450">
                        <a:buFont typeface="Arial" panose="020B0604020202020204" pitchFamily="34" charset="0"/>
                        <a:buChar char="•"/>
                      </a:pPr>
                      <a:r>
                        <a:rPr lang="en-US" sz="1000" b="0" dirty="0">
                          <a:solidFill>
                            <a:srgbClr val="00B050"/>
                          </a:solidFill>
                        </a:rPr>
                        <a:t>Set big, aspirational goals (even if unattainable)</a:t>
                      </a:r>
                    </a:p>
                  </a:txBody>
                  <a:tcPr/>
                </a:tc>
                <a:tc>
                  <a:txBody>
                    <a:bodyPr/>
                    <a:lstStyle/>
                    <a:p>
                      <a:pPr marL="171450" indent="-171450">
                        <a:buFont typeface="Arial" panose="020B0604020202020204" pitchFamily="34" charset="0"/>
                        <a:buChar char="•"/>
                      </a:pPr>
                      <a:r>
                        <a:rPr lang="en-US" sz="1000" b="0" dirty="0"/>
                        <a:t>Go with the flow, live for today</a:t>
                      </a:r>
                    </a:p>
                    <a:p>
                      <a:pPr marL="171450" indent="-171450">
                        <a:buFont typeface="Arial" panose="020B0604020202020204" pitchFamily="34" charset="0"/>
                        <a:buChar char="•"/>
                      </a:pPr>
                      <a:r>
                        <a:rPr lang="en-US" sz="1000" b="0" dirty="0">
                          <a:solidFill>
                            <a:srgbClr val="00B050"/>
                          </a:solidFill>
                        </a:rPr>
                        <a:t>Set small, achievable goals</a:t>
                      </a:r>
                    </a:p>
                    <a:p>
                      <a:pPr marL="171450" indent="-171450">
                        <a:buFont typeface="Arial" panose="020B0604020202020204" pitchFamily="34" charset="0"/>
                        <a:buChar char="•"/>
                      </a:pPr>
                      <a:r>
                        <a:rPr lang="en-US" sz="1000" b="0" dirty="0"/>
                        <a:t>Prefer routine and the status quo</a:t>
                      </a:r>
                    </a:p>
                    <a:p>
                      <a:pPr marL="171450" indent="-171450">
                        <a:buFont typeface="Arial" panose="020B0604020202020204" pitchFamily="34" charset="0"/>
                        <a:buChar char="•"/>
                      </a:pPr>
                      <a:r>
                        <a:rPr lang="en-US" sz="1000" b="0" dirty="0">
                          <a:solidFill>
                            <a:srgbClr val="00B050"/>
                          </a:solidFill>
                        </a:rPr>
                        <a:t>Avoids risks and standing out</a:t>
                      </a:r>
                    </a:p>
                    <a:p>
                      <a:pPr marL="171450" indent="-171450">
                        <a:buFont typeface="Arial" panose="020B0604020202020204" pitchFamily="34" charset="0"/>
                        <a:buChar char="•"/>
                      </a:pPr>
                      <a:r>
                        <a:rPr lang="en-US" sz="1000" b="0" dirty="0">
                          <a:solidFill>
                            <a:srgbClr val="00B050"/>
                          </a:solidFill>
                        </a:rPr>
                        <a:t>Follows others’ lead</a:t>
                      </a:r>
                    </a:p>
                    <a:p>
                      <a:pPr marL="171450" indent="-171450">
                        <a:buFont typeface="Arial" panose="020B0604020202020204" pitchFamily="34" charset="0"/>
                        <a:buChar char="•"/>
                      </a:pPr>
                      <a:r>
                        <a:rPr lang="en-US" sz="1000" b="0" dirty="0"/>
                        <a:t>Stressed/stretched too thin</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t>Express individuality</a:t>
                      </a:r>
                    </a:p>
                    <a:p>
                      <a:pPr marL="171450" indent="-171450">
                        <a:buFont typeface="Arial" panose="020B0604020202020204" pitchFamily="34" charset="0"/>
                        <a:buChar char="•"/>
                      </a:pPr>
                      <a:r>
                        <a:rPr lang="en-US" sz="1000" b="0" dirty="0"/>
                        <a:t>Stressed/stretched too thin</a:t>
                      </a:r>
                    </a:p>
                  </a:txBody>
                  <a:tcPr/>
                </a:tc>
                <a:tc>
                  <a:txBody>
                    <a:bodyPr/>
                    <a:lstStyle/>
                    <a:p>
                      <a:pPr marL="171450" indent="-171450">
                        <a:buFont typeface="Arial" panose="020B0604020202020204" pitchFamily="34" charset="0"/>
                        <a:buChar char="•"/>
                      </a:pPr>
                      <a:r>
                        <a:rPr lang="en-US" sz="1000" b="0" dirty="0">
                          <a:solidFill>
                            <a:srgbClr val="00B050"/>
                          </a:solidFill>
                        </a:rPr>
                        <a:t>Feel balanced and relaxed</a:t>
                      </a:r>
                    </a:p>
                    <a:p>
                      <a:pPr marL="171450" indent="-171450">
                        <a:buFont typeface="Arial" panose="020B0604020202020204" pitchFamily="34" charset="0"/>
                        <a:buChar char="•"/>
                      </a:pPr>
                      <a:r>
                        <a:rPr lang="en-US" sz="1000" b="0" dirty="0"/>
                        <a:t>Prefer routine and the status quo</a:t>
                      </a:r>
                    </a:p>
                  </a:txBody>
                  <a:tcPr/>
                </a:tc>
                <a:tc>
                  <a:txBody>
                    <a:bodyPr/>
                    <a:lstStyle/>
                    <a:p>
                      <a:pPr marL="171450" indent="-171450">
                        <a:buFont typeface="Arial" panose="020B0604020202020204" pitchFamily="34" charset="0"/>
                        <a:buChar char="•"/>
                      </a:pPr>
                      <a:r>
                        <a:rPr lang="en-US" sz="1000" b="0" dirty="0">
                          <a:solidFill>
                            <a:srgbClr val="00B050"/>
                          </a:solidFill>
                        </a:rPr>
                        <a:t>Plan for the future</a:t>
                      </a:r>
                    </a:p>
                    <a:p>
                      <a:pPr marL="171450" indent="-171450">
                        <a:buFont typeface="Arial" panose="020B0604020202020204" pitchFamily="34" charset="0"/>
                        <a:buChar char="•"/>
                      </a:pPr>
                      <a:r>
                        <a:rPr lang="en-US" sz="1000" b="0" dirty="0">
                          <a:solidFill>
                            <a:srgbClr val="00B050"/>
                          </a:solidFill>
                        </a:rPr>
                        <a:t>Sacrifice for long-term goals</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solidFill>
                            <a:schemeClr val="tx1"/>
                          </a:solidFill>
                        </a:rPr>
                        <a:t>Set big, aspirational goals (even if unattainable)</a:t>
                      </a:r>
                    </a:p>
                    <a:p>
                      <a:pPr marL="171450" indent="-171450">
                        <a:buFont typeface="Arial" panose="020B0604020202020204" pitchFamily="34" charset="0"/>
                        <a:buChar char="•"/>
                      </a:pPr>
                      <a:r>
                        <a:rPr lang="en-US" sz="1000" b="0" dirty="0"/>
                        <a:t>See themselves as leaders</a:t>
                      </a:r>
                    </a:p>
                    <a:p>
                      <a:pPr marL="171450" indent="-171450">
                        <a:buFont typeface="Arial" panose="020B0604020202020204" pitchFamily="34" charset="0"/>
                        <a:buChar char="•"/>
                      </a:pPr>
                      <a:r>
                        <a:rPr lang="en-US" sz="1000" b="0" dirty="0">
                          <a:solidFill>
                            <a:srgbClr val="00B050"/>
                          </a:solidFill>
                        </a:rPr>
                        <a:t>Enjoy change and take chances</a:t>
                      </a:r>
                    </a:p>
                    <a:p>
                      <a:pPr marL="171450" indent="-171450">
                        <a:buFont typeface="Arial" panose="020B0604020202020204" pitchFamily="34" charset="0"/>
                        <a:buChar char="•"/>
                      </a:pPr>
                      <a:r>
                        <a:rPr lang="en-US" sz="1000" b="0" dirty="0">
                          <a:solidFill>
                            <a:srgbClr val="00B050"/>
                          </a:solidFill>
                        </a:rPr>
                        <a:t>Express individuality</a:t>
                      </a:r>
                    </a:p>
                    <a:p>
                      <a:pPr marL="171450" indent="-171450">
                        <a:buFont typeface="Arial" panose="020B0604020202020204" pitchFamily="34" charset="0"/>
                        <a:buChar char="•"/>
                      </a:pPr>
                      <a:r>
                        <a:rPr lang="en-US" sz="1000" b="0" dirty="0">
                          <a:solidFill>
                            <a:srgbClr val="00B050"/>
                          </a:solidFill>
                        </a:rPr>
                        <a:t>Seek excitement</a:t>
                      </a:r>
                    </a:p>
                  </a:txBody>
                  <a:tcPr/>
                </a:tc>
                <a:extLst>
                  <a:ext uri="{0D108BD9-81ED-4DB2-BD59-A6C34878D82A}">
                    <a16:rowId xmlns:a16="http://schemas.microsoft.com/office/drawing/2014/main" val="1648931807"/>
                  </a:ext>
                </a:extLst>
              </a:tr>
            </a:tbl>
          </a:graphicData>
        </a:graphic>
      </p:graphicFrame>
    </p:spTree>
    <p:extLst>
      <p:ext uri="{BB962C8B-B14F-4D97-AF65-F5344CB8AC3E}">
        <p14:creationId xmlns:p14="http://schemas.microsoft.com/office/powerpoint/2010/main" val="3293797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53F64-45B4-071E-ED33-1AF83A2250D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C2F8-1B12-EF5C-32B9-233352DF4CBD}"/>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3" name="Footer Placeholder 2">
            <a:extLst>
              <a:ext uri="{FF2B5EF4-FFF2-40B4-BE49-F238E27FC236}">
                <a16:creationId xmlns:a16="http://schemas.microsoft.com/office/drawing/2014/main" id="{337ABE17-8A81-A0D2-E63C-6BD390965D01}"/>
              </a:ext>
            </a:extLst>
          </p:cNvPr>
          <p:cNvSpPr>
            <a:spLocks noGrp="1"/>
          </p:cNvSpPr>
          <p:nvPr>
            <p:ph type="ftr" sz="quarter" idx="4294967295"/>
          </p:nvPr>
        </p:nvSpPr>
        <p:spPr>
          <a:xfrm>
            <a:off x="7369175" y="6459538"/>
            <a:ext cx="4822825"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9" name="Table 8">
            <a:extLst>
              <a:ext uri="{FF2B5EF4-FFF2-40B4-BE49-F238E27FC236}">
                <a16:creationId xmlns:a16="http://schemas.microsoft.com/office/drawing/2014/main" id="{DF4439D4-74ED-8D30-A37B-47918C547D83}"/>
              </a:ext>
            </a:extLst>
          </p:cNvPr>
          <p:cNvGraphicFramePr>
            <a:graphicFrameLocks noGrp="1"/>
          </p:cNvGraphicFramePr>
          <p:nvPr>
            <p:extLst>
              <p:ext uri="{D42A27DB-BD31-4B8C-83A1-F6EECF244321}">
                <p14:modId xmlns:p14="http://schemas.microsoft.com/office/powerpoint/2010/main" val="781421883"/>
              </p:ext>
            </p:extLst>
          </p:nvPr>
        </p:nvGraphicFramePr>
        <p:xfrm>
          <a:off x="83820" y="2739953"/>
          <a:ext cx="12024360" cy="3107256"/>
        </p:xfrm>
        <a:graphic>
          <a:graphicData uri="http://schemas.openxmlformats.org/drawingml/2006/table">
            <a:tbl>
              <a:tblPr>
                <a:tableStyleId>{3B4B98B0-60AC-42C2-AFA5-B58CD77FA1E5}</a:tableStyleId>
              </a:tblPr>
              <a:tblGrid>
                <a:gridCol w="32004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100" b="1" i="0" u="none" strike="noStrike" dirty="0">
                          <a:solidFill>
                            <a:schemeClr val="bg1"/>
                          </a:solidFill>
                          <a:effectLst/>
                          <a:latin typeface="Arial" panose="020B0604020202020204" pitchFamily="34" charset="0"/>
                        </a:rPr>
                        <a:t>Importance of Health &amp; Wellness</a:t>
                      </a:r>
                    </a:p>
                    <a:p>
                      <a:pPr algn="ctr" fontAlgn="b">
                        <a:buNone/>
                      </a:pPr>
                      <a:r>
                        <a:rPr lang="en-US" sz="1100" b="0" i="0" u="none" strike="noStrike" dirty="0">
                          <a:solidFill>
                            <a:schemeClr val="bg1"/>
                          </a:solidFill>
                          <a:effectLst/>
                          <a:latin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Total</a:t>
                      </a:r>
                      <a:endParaRPr lang="en-US" sz="105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kern="1200" dirty="0">
                          <a:solidFill>
                            <a:schemeClr val="tx1"/>
                          </a:solidFill>
                          <a:effectLst/>
                          <a:latin typeface="+mn-lt"/>
                          <a:ea typeface="+mn-ea"/>
                          <a:cs typeface="+mn-cs"/>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dirty="0">
                          <a:effectLst/>
                        </a:rPr>
                        <a:t>Index to Total</a:t>
                      </a: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mn-lt"/>
                          <a:ea typeface="+mn-ea"/>
                          <a:cs typeface="+mn-cs"/>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457200">
                <a:tc>
                  <a:txBody>
                    <a:bodyPr/>
                    <a:lstStyle/>
                    <a:p>
                      <a:pPr algn="l" fontAlgn="b">
                        <a:buNone/>
                      </a:pPr>
                      <a:r>
                        <a:rPr lang="en-US" sz="1050" b="0" i="0" u="none" strike="noStrike" dirty="0">
                          <a:effectLst/>
                          <a:latin typeface="Arial" panose="020B0604020202020204" pitchFamily="34" charset="0"/>
                        </a:rPr>
                        <a:t>Focusing on health and wellness is essential to how I live my life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5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rPr>
                        <a:t>136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9C0006"/>
                          </a:solidFill>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9C0006"/>
                          </a:solidFill>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rPr>
                        <a:t>143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9C0006"/>
                          </a:solidFill>
                          <a:effectLst/>
                          <a:latin typeface="Arial" panose="020B0604020202020204" pitchFamily="34" charset="0"/>
                        </a:rPr>
                        <a:t>36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79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rPr>
                        <a:t>287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28676805"/>
                  </a:ext>
                </a:extLst>
              </a:tr>
              <a:tr h="457200">
                <a:tc>
                  <a:txBody>
                    <a:bodyPr/>
                    <a:lstStyle/>
                    <a:p>
                      <a:pPr algn="l" fontAlgn="b">
                        <a:buNone/>
                      </a:pPr>
                      <a:r>
                        <a:rPr lang="en-US" sz="1050" b="0" i="0" u="none" strike="noStrike" dirty="0">
                          <a:effectLst/>
                          <a:latin typeface="Arial" panose="020B0604020202020204" pitchFamily="34" charset="0"/>
                        </a:rPr>
                        <a:t>Health and wellness is very important, and I prioritize it most of the time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5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88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006100"/>
                          </a:solidFill>
                          <a:effectLst/>
                          <a:latin typeface="Arial" panose="020B0604020202020204" pitchFamily="34" charset="0"/>
                        </a:rPr>
                        <a:t>218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86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solidFill>
                            <a:srgbClr val="006100"/>
                          </a:solidFill>
                          <a:effectLst/>
                          <a:latin typeface="Arial" panose="020B0604020202020204" pitchFamily="34" charset="0"/>
                        </a:rPr>
                        <a:t>211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3294444547"/>
                  </a:ext>
                </a:extLst>
              </a:tr>
              <a:tr h="457200">
                <a:tc>
                  <a:txBody>
                    <a:bodyPr/>
                    <a:lstStyle/>
                    <a:p>
                      <a:pPr algn="l" fontAlgn="b">
                        <a:buNone/>
                      </a:pPr>
                      <a:r>
                        <a:rPr lang="en-US" sz="1050" b="0" i="0" u="none" strike="noStrike" dirty="0">
                          <a:effectLst/>
                          <a:latin typeface="Arial" panose="020B0604020202020204" pitchFamily="34" charset="0"/>
                        </a:rPr>
                        <a:t>Health and wellness is important, but I take more of an “everything in moderation” approach</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5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006100"/>
                          </a:solidFill>
                          <a:effectLst/>
                          <a:latin typeface="Arial" panose="020B0604020202020204" pitchFamily="34" charset="0"/>
                        </a:rPr>
                        <a:t>253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006100"/>
                          </a:solidFill>
                          <a:effectLst/>
                          <a:latin typeface="Arial" panose="020B0604020202020204" pitchFamily="34" charset="0"/>
                        </a:rPr>
                        <a:t>180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807090806"/>
                  </a:ext>
                </a:extLst>
              </a:tr>
              <a:tr h="457200">
                <a:tc>
                  <a:txBody>
                    <a:bodyPr/>
                    <a:lstStyle/>
                    <a:p>
                      <a:pPr algn="l" fontAlgn="b">
                        <a:buNone/>
                      </a:pPr>
                      <a:r>
                        <a:rPr lang="en-US" sz="1050" b="0" i="0" u="none" strike="noStrike" dirty="0">
                          <a:effectLst/>
                          <a:latin typeface="Arial" panose="020B0604020202020204" pitchFamily="34" charset="0"/>
                        </a:rPr>
                        <a:t>Health and wellness is not a big priority - I do what I can, when I can</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50" b="0" i="0" u="none" strike="noStrike" dirty="0">
                          <a:effectLst/>
                          <a:latin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006100"/>
                          </a:solidFill>
                          <a:effectLst/>
                          <a:latin typeface="Arial" panose="020B0604020202020204" pitchFamily="34" charset="0"/>
                        </a:rPr>
                        <a:t>156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006100"/>
                          </a:solidFill>
                          <a:effectLst/>
                          <a:latin typeface="Arial" panose="020B0604020202020204" pitchFamily="34" charset="0"/>
                        </a:rPr>
                        <a:t>327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51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050239563"/>
                  </a:ext>
                </a:extLst>
              </a:tr>
              <a:tr h="457200">
                <a:tc>
                  <a:txBody>
                    <a:bodyPr/>
                    <a:lstStyle/>
                    <a:p>
                      <a:pPr algn="l" fontAlgn="b">
                        <a:buNone/>
                      </a:pPr>
                      <a:r>
                        <a:rPr lang="en-US" sz="1050" b="0" i="0" u="none" strike="noStrike" dirty="0">
                          <a:effectLst/>
                          <a:latin typeface="Arial" panose="020B0604020202020204" pitchFamily="34" charset="0"/>
                        </a:rPr>
                        <a:t>I don't really think about health and wellness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50" b="0" i="0" u="none" strike="noStrike" dirty="0">
                          <a:effectLst/>
                          <a:latin typeface="Arial" panose="020B0604020202020204" pitchFamily="34" charset="0"/>
                        </a:rPr>
                        <a:t>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9C0006"/>
                          </a:solidFill>
                          <a:effectLst/>
                          <a:latin typeface="Arial" panose="020B0604020202020204" pitchFamily="34" charset="0"/>
                        </a:rPr>
                        <a:t>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006100"/>
                          </a:solidFill>
                          <a:effectLst/>
                          <a:latin typeface="Arial" panose="020B0604020202020204" pitchFamily="34" charset="0"/>
                        </a:rPr>
                        <a:t>289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006100"/>
                          </a:solidFill>
                          <a:effectLst/>
                          <a:latin typeface="Arial" panose="020B0604020202020204" pitchFamily="34" charset="0"/>
                        </a:rPr>
                        <a:t>125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rPr>
                        <a:t>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777060894"/>
                  </a:ext>
                </a:extLst>
              </a:tr>
            </a:tbl>
          </a:graphicData>
        </a:graphic>
      </p:graphicFrame>
      <p:sp>
        <p:nvSpPr>
          <p:cNvPr id="6" name="Title 4">
            <a:extLst>
              <a:ext uri="{FF2B5EF4-FFF2-40B4-BE49-F238E27FC236}">
                <a16:creationId xmlns:a16="http://schemas.microsoft.com/office/drawing/2014/main" id="{71538D52-97F7-38C0-9963-8CAB0014E1C1}"/>
              </a:ext>
            </a:extLst>
          </p:cNvPr>
          <p:cNvSpPr txBox="1">
            <a:spLocks/>
          </p:cNvSpPr>
          <p:nvPr/>
        </p:nvSpPr>
        <p:spPr>
          <a:xfrm>
            <a:off x="383684" y="483517"/>
            <a:ext cx="9726087"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dirty="0"/>
              <a:t>Wellness Optimizers are by far the most likely to believe that health and wellness is “essential to how they live their lives</a:t>
            </a:r>
            <a:endPar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7" name="TextBox 6">
            <a:extLst>
              <a:ext uri="{FF2B5EF4-FFF2-40B4-BE49-F238E27FC236}">
                <a16:creationId xmlns:a16="http://schemas.microsoft.com/office/drawing/2014/main" id="{47786E7A-7C6B-CF64-5FE4-3F5881996628}"/>
              </a:ext>
            </a:extLst>
          </p:cNvPr>
          <p:cNvSpPr txBox="1"/>
          <p:nvPr/>
        </p:nvSpPr>
        <p:spPr>
          <a:xfrm>
            <a:off x="383684" y="1479681"/>
            <a:ext cx="10474735" cy="1077218"/>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Conflicted Experimenters and Goal-Oriented Planners see health and wellness as an important priority, while Practical Minimalists take an “everything in moderation” approach</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Impact Seekers see it as important or essential, while Set It and Forget It are split being seeing it as essential and taking “everything in moderation” approach</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40676281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FE98CA-1001-D507-315B-897991458D6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32A07E-981E-B7FB-0B16-6D07EB15B61D}"/>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DC00E684-BBD2-E1E2-851A-81EF9FCB1200}"/>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sp>
        <p:nvSpPr>
          <p:cNvPr id="3" name="Footer Placeholder 2">
            <a:extLst>
              <a:ext uri="{FF2B5EF4-FFF2-40B4-BE49-F238E27FC236}">
                <a16:creationId xmlns:a16="http://schemas.microsoft.com/office/drawing/2014/main" id="{15C9676D-0CAA-29DC-8CC1-F09053CD5FB4}"/>
              </a:ext>
            </a:extLst>
          </p:cNvPr>
          <p:cNvSpPr>
            <a:spLocks noGrp="1"/>
          </p:cNvSpPr>
          <p:nvPr>
            <p:ph type="ftr" sz="quarter" idx="4294967295"/>
          </p:nvPr>
        </p:nvSpPr>
        <p:spPr>
          <a:xfrm>
            <a:off x="7369175" y="6459538"/>
            <a:ext cx="4822825"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9" name="Table 8">
            <a:extLst>
              <a:ext uri="{FF2B5EF4-FFF2-40B4-BE49-F238E27FC236}">
                <a16:creationId xmlns:a16="http://schemas.microsoft.com/office/drawing/2014/main" id="{6F5AFD08-7E46-0003-92BF-43BCA62ED58C}"/>
              </a:ext>
            </a:extLst>
          </p:cNvPr>
          <p:cNvGraphicFramePr>
            <a:graphicFrameLocks noGrp="1"/>
          </p:cNvGraphicFramePr>
          <p:nvPr>
            <p:extLst>
              <p:ext uri="{D42A27DB-BD31-4B8C-83A1-F6EECF244321}">
                <p14:modId xmlns:p14="http://schemas.microsoft.com/office/powerpoint/2010/main" val="2002829208"/>
              </p:ext>
            </p:extLst>
          </p:nvPr>
        </p:nvGraphicFramePr>
        <p:xfrm>
          <a:off x="152400" y="465672"/>
          <a:ext cx="11887200" cy="5926656"/>
        </p:xfrm>
        <a:graphic>
          <a:graphicData uri="http://schemas.openxmlformats.org/drawingml/2006/table">
            <a:tbl>
              <a:tblPr>
                <a:tableStyleId>{3B4B98B0-60AC-42C2-AFA5-B58CD77FA1E5}</a:tableStyleId>
              </a:tblPr>
              <a:tblGrid>
                <a:gridCol w="36576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40080">
                  <a:extLst>
                    <a:ext uri="{9D8B030D-6E8A-4147-A177-3AD203B41FA5}">
                      <a16:colId xmlns:a16="http://schemas.microsoft.com/office/drawing/2014/main" val="1799647169"/>
                    </a:ext>
                  </a:extLst>
                </a:gridCol>
                <a:gridCol w="640080">
                  <a:extLst>
                    <a:ext uri="{9D8B030D-6E8A-4147-A177-3AD203B41FA5}">
                      <a16:colId xmlns:a16="http://schemas.microsoft.com/office/drawing/2014/main" val="1381748258"/>
                    </a:ext>
                  </a:extLst>
                </a:gridCol>
                <a:gridCol w="640080">
                  <a:extLst>
                    <a:ext uri="{9D8B030D-6E8A-4147-A177-3AD203B41FA5}">
                      <a16:colId xmlns:a16="http://schemas.microsoft.com/office/drawing/2014/main" val="3956343915"/>
                    </a:ext>
                  </a:extLst>
                </a:gridCol>
                <a:gridCol w="640080">
                  <a:extLst>
                    <a:ext uri="{9D8B030D-6E8A-4147-A177-3AD203B41FA5}">
                      <a16:colId xmlns:a16="http://schemas.microsoft.com/office/drawing/2014/main" val="2197625001"/>
                    </a:ext>
                  </a:extLst>
                </a:gridCol>
                <a:gridCol w="640080">
                  <a:extLst>
                    <a:ext uri="{9D8B030D-6E8A-4147-A177-3AD203B41FA5}">
                      <a16:colId xmlns:a16="http://schemas.microsoft.com/office/drawing/2014/main" val="2797358484"/>
                    </a:ext>
                  </a:extLst>
                </a:gridCol>
                <a:gridCol w="640080">
                  <a:extLst>
                    <a:ext uri="{9D8B030D-6E8A-4147-A177-3AD203B41FA5}">
                      <a16:colId xmlns:a16="http://schemas.microsoft.com/office/drawing/2014/main" val="2867094755"/>
                    </a:ext>
                  </a:extLst>
                </a:gridCol>
                <a:gridCol w="640080">
                  <a:extLst>
                    <a:ext uri="{9D8B030D-6E8A-4147-A177-3AD203B41FA5}">
                      <a16:colId xmlns:a16="http://schemas.microsoft.com/office/drawing/2014/main" val="703738329"/>
                    </a:ext>
                  </a:extLst>
                </a:gridCol>
                <a:gridCol w="640080">
                  <a:extLst>
                    <a:ext uri="{9D8B030D-6E8A-4147-A177-3AD203B41FA5}">
                      <a16:colId xmlns:a16="http://schemas.microsoft.com/office/drawing/2014/main" val="3655167997"/>
                    </a:ext>
                  </a:extLst>
                </a:gridCol>
                <a:gridCol w="640080">
                  <a:extLst>
                    <a:ext uri="{9D8B030D-6E8A-4147-A177-3AD203B41FA5}">
                      <a16:colId xmlns:a16="http://schemas.microsoft.com/office/drawing/2014/main" val="2545100148"/>
                    </a:ext>
                  </a:extLst>
                </a:gridCol>
                <a:gridCol w="640080">
                  <a:extLst>
                    <a:ext uri="{9D8B030D-6E8A-4147-A177-3AD203B41FA5}">
                      <a16:colId xmlns:a16="http://schemas.microsoft.com/office/drawing/2014/main" val="2788384120"/>
                    </a:ext>
                  </a:extLst>
                </a:gridCol>
                <a:gridCol w="640080">
                  <a:extLst>
                    <a:ext uri="{9D8B030D-6E8A-4147-A177-3AD203B41FA5}">
                      <a16:colId xmlns:a16="http://schemas.microsoft.com/office/drawing/2014/main" val="2429126570"/>
                    </a:ext>
                  </a:extLst>
                </a:gridCol>
                <a:gridCol w="640080">
                  <a:extLst>
                    <a:ext uri="{9D8B030D-6E8A-4147-A177-3AD203B41FA5}">
                      <a16:colId xmlns:a16="http://schemas.microsoft.com/office/drawing/2014/main" val="2722809999"/>
                    </a:ext>
                  </a:extLst>
                </a:gridCol>
              </a:tblGrid>
              <a:tr h="0">
                <a:tc gridSpan="14">
                  <a:txBody>
                    <a:bodyPr/>
                    <a:lstStyle/>
                    <a:p>
                      <a:pPr algn="ctr" fontAlgn="b">
                        <a:buNone/>
                      </a:pPr>
                      <a:r>
                        <a:rPr lang="en-US" sz="1100" b="1" i="0" u="none" strike="noStrike" dirty="0">
                          <a:solidFill>
                            <a:schemeClr val="bg1"/>
                          </a:solidFill>
                          <a:effectLst/>
                          <a:latin typeface="Arial" panose="020B0604020202020204" pitchFamily="34" charset="0"/>
                        </a:rPr>
                        <a:t>Health and Wellness Attitudes </a:t>
                      </a:r>
                    </a:p>
                    <a:p>
                      <a:pPr algn="ctr" fontAlgn="b">
                        <a:buNone/>
                      </a:pPr>
                      <a:r>
                        <a:rPr lang="en-US" sz="1100" b="0" i="0" u="none" strike="noStrike" dirty="0">
                          <a:solidFill>
                            <a:schemeClr val="bg1"/>
                          </a:solidFill>
                          <a:effectLst/>
                          <a:latin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9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Total</a:t>
                      </a:r>
                      <a:endParaRPr lang="en-US" sz="105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kern="1200" dirty="0">
                          <a:solidFill>
                            <a:schemeClr val="tx1"/>
                          </a:solidFill>
                          <a:effectLst/>
                          <a:latin typeface="+mn-lt"/>
                          <a:ea typeface="+mn-ea"/>
                          <a:cs typeface="+mn-cs"/>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dirty="0">
                          <a:effectLst/>
                        </a:rPr>
                        <a:t>Index to Total</a:t>
                      </a: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mn-lt"/>
                          <a:ea typeface="+mn-ea"/>
                          <a:cs typeface="+mn-cs"/>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mn-lt"/>
                          <a:ea typeface="+mn-ea"/>
                          <a:cs typeface="+mn-cs"/>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0">
                <a:tc>
                  <a:txBody>
                    <a:bodyPr/>
                    <a:lstStyle/>
                    <a:p>
                      <a:pPr algn="l" fontAlgn="b">
                        <a:buNone/>
                      </a:pPr>
                      <a:r>
                        <a:rPr lang="en-US" sz="900" b="0" i="0" u="none" strike="noStrike" dirty="0">
                          <a:effectLst/>
                          <a:latin typeface="Arial" panose="020B0604020202020204" pitchFamily="34" charset="0"/>
                        </a:rPr>
                        <a:t>I focus on my diet and exercise to stay healthy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0">
                <a:tc>
                  <a:txBody>
                    <a:bodyPr/>
                    <a:lstStyle/>
                    <a:p>
                      <a:pPr algn="l" fontAlgn="b">
                        <a:buNone/>
                      </a:pPr>
                      <a:r>
                        <a:rPr lang="en-US" sz="900" b="0" i="0" u="none" strike="noStrike" dirty="0">
                          <a:effectLst/>
                          <a:latin typeface="Arial" panose="020B0604020202020204" pitchFamily="34" charset="0"/>
                        </a:rPr>
                        <a:t>For me, health is holistic - I focus on keeping my mind, body and spirit all in balance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876608458"/>
                  </a:ext>
                </a:extLst>
              </a:tr>
              <a:tr h="0">
                <a:tc>
                  <a:txBody>
                    <a:bodyPr/>
                    <a:lstStyle/>
                    <a:p>
                      <a:pPr algn="l" fontAlgn="b">
                        <a:buNone/>
                      </a:pPr>
                      <a:r>
                        <a:rPr lang="en-US" sz="900" b="0" i="0" u="none" strike="noStrike" dirty="0">
                          <a:effectLst/>
                          <a:latin typeface="Arial" panose="020B0604020202020204" pitchFamily="34" charset="0"/>
                        </a:rPr>
                        <a:t>Maintaining my health and well-being is within my control</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2111632653"/>
                  </a:ext>
                </a:extLst>
              </a:tr>
              <a:tr h="0">
                <a:tc>
                  <a:txBody>
                    <a:bodyPr/>
                    <a:lstStyle/>
                    <a:p>
                      <a:pPr algn="l" fontAlgn="b">
                        <a:buNone/>
                      </a:pPr>
                      <a:r>
                        <a:rPr lang="en-US" sz="900" b="0" i="0" u="none" strike="noStrike" dirty="0">
                          <a:effectLst/>
                          <a:latin typeface="Arial" panose="020B0604020202020204" pitchFamily="34" charset="0"/>
                        </a:rPr>
                        <a:t>Good health and well-being largely occur by chance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254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76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21732023"/>
                  </a:ext>
                </a:extLst>
              </a:tr>
              <a:tr h="0">
                <a:tc>
                  <a:txBody>
                    <a:bodyPr/>
                    <a:lstStyle/>
                    <a:p>
                      <a:pPr algn="l" fontAlgn="b">
                        <a:buNone/>
                      </a:pPr>
                      <a:r>
                        <a:rPr lang="en-US" sz="900" b="0" i="0" u="none" strike="noStrike" dirty="0">
                          <a:effectLst/>
                          <a:latin typeface="Arial" panose="020B0604020202020204" pitchFamily="34" charset="0"/>
                        </a:rPr>
                        <a:t>I am more concerned about how I look and feel today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161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2736805662"/>
                  </a:ext>
                </a:extLst>
              </a:tr>
              <a:tr h="0">
                <a:tc>
                  <a:txBody>
                    <a:bodyPr/>
                    <a:lstStyle/>
                    <a:p>
                      <a:pPr algn="l" fontAlgn="b">
                        <a:buNone/>
                      </a:pPr>
                      <a:r>
                        <a:rPr lang="en-US" sz="900" b="0" i="0" u="none" strike="noStrike" dirty="0">
                          <a:effectLst/>
                          <a:latin typeface="Arial" panose="020B0604020202020204" pitchFamily="34" charset="0"/>
                        </a:rPr>
                        <a:t>I am more concerned about protecting my health for the future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77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538418263"/>
                  </a:ext>
                </a:extLst>
              </a:tr>
              <a:tr h="0">
                <a:tc>
                  <a:txBody>
                    <a:bodyPr/>
                    <a:lstStyle/>
                    <a:p>
                      <a:pPr algn="l" fontAlgn="b">
                        <a:buNone/>
                      </a:pPr>
                      <a:r>
                        <a:rPr lang="en-US" sz="900" b="0" i="0" u="none" strike="noStrike" dirty="0">
                          <a:effectLst/>
                          <a:latin typeface="Arial" panose="020B0604020202020204" pitchFamily="34" charset="0"/>
                        </a:rPr>
                        <a:t>I am willing to put significant effort into improving my health and wellness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142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2590775765"/>
                  </a:ext>
                </a:extLst>
              </a:tr>
              <a:tr h="0">
                <a:tc>
                  <a:txBody>
                    <a:bodyPr/>
                    <a:lstStyle/>
                    <a:p>
                      <a:pPr algn="l" fontAlgn="b">
                        <a:buNone/>
                      </a:pPr>
                      <a:r>
                        <a:rPr lang="en-US" sz="900" b="0" i="0" u="none" strike="noStrike" dirty="0">
                          <a:effectLst/>
                          <a:latin typeface="Arial" panose="020B0604020202020204" pitchFamily="34" charset="0"/>
                        </a:rPr>
                        <a:t>I want improving my health and wellness to be easy and effortless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62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02086971"/>
                  </a:ext>
                </a:extLst>
              </a:tr>
              <a:tr h="0">
                <a:tc>
                  <a:txBody>
                    <a:bodyPr/>
                    <a:lstStyle/>
                    <a:p>
                      <a:pPr algn="l" fontAlgn="b">
                        <a:buNone/>
                      </a:pPr>
                      <a:r>
                        <a:rPr lang="en-US" sz="900" b="0" i="0" u="none" strike="noStrike" dirty="0">
                          <a:effectLst/>
                          <a:latin typeface="Arial" panose="020B0604020202020204" pitchFamily="34" charset="0"/>
                        </a:rPr>
                        <a:t>I focus on health and wellness to look better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141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748460207"/>
                  </a:ext>
                </a:extLst>
              </a:tr>
              <a:tr h="0">
                <a:tc>
                  <a:txBody>
                    <a:bodyPr/>
                    <a:lstStyle/>
                    <a:p>
                      <a:pPr algn="l" fontAlgn="b">
                        <a:buNone/>
                      </a:pPr>
                      <a:r>
                        <a:rPr lang="en-US" sz="900" b="0" i="0" u="none" strike="noStrike" dirty="0">
                          <a:effectLst/>
                          <a:latin typeface="Arial" panose="020B0604020202020204" pitchFamily="34" charset="0"/>
                        </a:rPr>
                        <a:t>I focus on health and wellness to feel better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401959365"/>
                  </a:ext>
                </a:extLst>
              </a:tr>
              <a:tr h="0">
                <a:tc>
                  <a:txBody>
                    <a:bodyPr/>
                    <a:lstStyle/>
                    <a:p>
                      <a:pPr algn="l" fontAlgn="b">
                        <a:buNone/>
                      </a:pPr>
                      <a:r>
                        <a:rPr lang="en-US" sz="900" b="0" i="0" u="none" strike="noStrike" dirty="0">
                          <a:effectLst/>
                          <a:latin typeface="Arial" panose="020B0604020202020204" pitchFamily="34" charset="0"/>
                        </a:rPr>
                        <a:t>I pay close attention to the latest findings about health and wellness and adjust my approach accordingly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48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142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758693019"/>
                  </a:ext>
                </a:extLst>
              </a:tr>
              <a:tr h="0">
                <a:tc>
                  <a:txBody>
                    <a:bodyPr/>
                    <a:lstStyle/>
                    <a:p>
                      <a:pPr algn="l" fontAlgn="b">
                        <a:buNone/>
                      </a:pPr>
                      <a:r>
                        <a:rPr lang="en-US" sz="900" b="0" i="0" u="none" strike="noStrike" dirty="0">
                          <a:effectLst/>
                          <a:latin typeface="Arial" panose="020B0604020202020204" pitchFamily="34" charset="0"/>
                        </a:rPr>
                        <a:t>Experts are always changing their minds, so I stick to what works for me and ignore the latest news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152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36145058"/>
                  </a:ext>
                </a:extLst>
              </a:tr>
              <a:tr h="0">
                <a:tc>
                  <a:txBody>
                    <a:bodyPr/>
                    <a:lstStyle/>
                    <a:p>
                      <a:pPr algn="l" fontAlgn="b">
                        <a:buNone/>
                      </a:pPr>
                      <a:r>
                        <a:rPr lang="en-US" sz="900" b="0" i="0" u="none" strike="noStrike" dirty="0">
                          <a:effectLst/>
                          <a:latin typeface="Arial" panose="020B0604020202020204" pitchFamily="34" charset="0"/>
                        </a:rPr>
                        <a:t>I rely on common sense for health and wellness decisions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79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3698754229"/>
                  </a:ext>
                </a:extLst>
              </a:tr>
              <a:tr h="0">
                <a:tc>
                  <a:txBody>
                    <a:bodyPr/>
                    <a:lstStyle/>
                    <a:p>
                      <a:pPr algn="l" fontAlgn="b">
                        <a:buNone/>
                      </a:pPr>
                      <a:r>
                        <a:rPr lang="en-US" sz="900" b="0" i="0" u="none" strike="noStrike" dirty="0">
                          <a:effectLst/>
                          <a:latin typeface="Arial" panose="020B0604020202020204" pitchFamily="34" charset="0"/>
                        </a:rPr>
                        <a:t>I rely on scientific evidence for health and wellness decisions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118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125803448"/>
                  </a:ext>
                </a:extLst>
              </a:tr>
              <a:tr h="0">
                <a:tc>
                  <a:txBody>
                    <a:bodyPr/>
                    <a:lstStyle/>
                    <a:p>
                      <a:pPr algn="l" fontAlgn="b">
                        <a:buNone/>
                      </a:pPr>
                      <a:r>
                        <a:rPr lang="en-US" sz="900" b="0" i="0" u="none" strike="noStrike" dirty="0">
                          <a:effectLst/>
                          <a:latin typeface="Arial" panose="020B0604020202020204" pitchFamily="34" charset="0"/>
                        </a:rPr>
                        <a:t>I am disciplined about sticking to my health and wellness routine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39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01209055"/>
                  </a:ext>
                </a:extLst>
              </a:tr>
              <a:tr h="0">
                <a:tc>
                  <a:txBody>
                    <a:bodyPr/>
                    <a:lstStyle/>
                    <a:p>
                      <a:pPr algn="l" fontAlgn="b">
                        <a:buNone/>
                      </a:pPr>
                      <a:r>
                        <a:rPr lang="en-US" sz="900" b="0" i="0" u="none" strike="noStrike" dirty="0">
                          <a:effectLst/>
                          <a:latin typeface="Arial" panose="020B0604020202020204" pitchFamily="34" charset="0"/>
                        </a:rPr>
                        <a:t>I find it difficult to stay motivated when it comes to focusing on my health and well-being</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209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06003603"/>
                  </a:ext>
                </a:extLst>
              </a:tr>
              <a:tr h="0">
                <a:tc>
                  <a:txBody>
                    <a:bodyPr/>
                    <a:lstStyle/>
                    <a:p>
                      <a:pPr algn="l" fontAlgn="b">
                        <a:buNone/>
                      </a:pPr>
                      <a:r>
                        <a:rPr lang="en-US" sz="900" b="0" i="0" u="none" strike="noStrike" dirty="0">
                          <a:effectLst/>
                          <a:latin typeface="Arial" panose="020B0604020202020204" pitchFamily="34" charset="0"/>
                        </a:rPr>
                        <a:t>I take a spontaneous approach to health and wellness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161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36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403944672"/>
                  </a:ext>
                </a:extLst>
              </a:tr>
              <a:tr h="0">
                <a:tc>
                  <a:txBody>
                    <a:bodyPr/>
                    <a:lstStyle/>
                    <a:p>
                      <a:pPr algn="l" fontAlgn="b">
                        <a:buNone/>
                      </a:pPr>
                      <a:r>
                        <a:rPr lang="en-US" sz="900" b="0" i="0" u="none" strike="noStrike" dirty="0">
                          <a:effectLst/>
                          <a:latin typeface="Arial" panose="020B0604020202020204" pitchFamily="34" charset="0"/>
                        </a:rPr>
                        <a:t>I set specific health and wellness goals and create a plan for how to achieve them</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683680058"/>
                  </a:ext>
                </a:extLst>
              </a:tr>
              <a:tr h="0">
                <a:tc>
                  <a:txBody>
                    <a:bodyPr/>
                    <a:lstStyle/>
                    <a:p>
                      <a:pPr algn="l" fontAlgn="b">
                        <a:buNone/>
                      </a:pPr>
                      <a:r>
                        <a:rPr lang="en-US" sz="900" b="0" i="0" u="none" strike="noStrike" dirty="0">
                          <a:effectLst/>
                          <a:latin typeface="Arial" panose="020B0604020202020204" pitchFamily="34" charset="0"/>
                        </a:rPr>
                        <a:t>Once I find a health and wellness product that works, I stick with it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426820299"/>
                  </a:ext>
                </a:extLst>
              </a:tr>
              <a:tr h="0">
                <a:tc>
                  <a:txBody>
                    <a:bodyPr/>
                    <a:lstStyle/>
                    <a:p>
                      <a:pPr algn="l" fontAlgn="b">
                        <a:buNone/>
                      </a:pPr>
                      <a:r>
                        <a:rPr lang="en-US" sz="900" b="0" i="0" u="none" strike="noStrike" dirty="0">
                          <a:effectLst/>
                          <a:latin typeface="Arial" panose="020B0604020202020204" pitchFamily="34" charset="0"/>
                        </a:rPr>
                        <a:t>I like trying and experimenting with new health and wellness products regularly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148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144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153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43361016"/>
                  </a:ext>
                </a:extLst>
              </a:tr>
              <a:tr h="0">
                <a:tc>
                  <a:txBody>
                    <a:bodyPr/>
                    <a:lstStyle/>
                    <a:p>
                      <a:pPr algn="l" fontAlgn="b">
                        <a:buNone/>
                      </a:pPr>
                      <a:r>
                        <a:rPr lang="en-US" sz="900" b="0" i="0" u="none" strike="noStrike" dirty="0">
                          <a:effectLst/>
                          <a:latin typeface="Arial" panose="020B0604020202020204" pitchFamily="34" charset="0"/>
                        </a:rPr>
                        <a:t>I enjoy being part of health wellness communities and sharing my journey with others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25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55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156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950852417"/>
                  </a:ext>
                </a:extLst>
              </a:tr>
              <a:tr h="0">
                <a:tc>
                  <a:txBody>
                    <a:bodyPr/>
                    <a:lstStyle/>
                    <a:p>
                      <a:pPr algn="l" fontAlgn="b">
                        <a:buNone/>
                      </a:pPr>
                      <a:r>
                        <a:rPr lang="en-US" sz="900" b="0" i="0" u="none" strike="noStrike" dirty="0">
                          <a:effectLst/>
                          <a:latin typeface="Arial" panose="020B0604020202020204" pitchFamily="34" charset="0"/>
                        </a:rPr>
                        <a:t>Health and wellness is a personal journey for me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79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94444547"/>
                  </a:ext>
                </a:extLst>
              </a:tr>
              <a:tr h="0">
                <a:tc>
                  <a:txBody>
                    <a:bodyPr/>
                    <a:lstStyle/>
                    <a:p>
                      <a:pPr algn="l" fontAlgn="b">
                        <a:buNone/>
                      </a:pPr>
                      <a:r>
                        <a:rPr lang="en-US" sz="900" b="0" i="0" u="none" strike="noStrike" dirty="0">
                          <a:effectLst/>
                          <a:latin typeface="Arial" panose="020B0604020202020204" pitchFamily="34" charset="0"/>
                        </a:rPr>
                        <a:t>I often seek advice about health and wellness products and brands from others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142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2050239563"/>
                  </a:ext>
                </a:extLst>
              </a:tr>
              <a:tr h="0">
                <a:tc>
                  <a:txBody>
                    <a:bodyPr/>
                    <a:lstStyle/>
                    <a:p>
                      <a:pPr algn="l" fontAlgn="b">
                        <a:buNone/>
                      </a:pPr>
                      <a:r>
                        <a:rPr lang="en-US" sz="900" b="0" i="0" u="none" strike="noStrike" dirty="0">
                          <a:effectLst/>
                          <a:latin typeface="Arial" panose="020B0604020202020204" pitchFamily="34" charset="0"/>
                        </a:rPr>
                        <a:t>People tend to come to me for advice about health and wellness products and brands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135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777060894"/>
                  </a:ext>
                </a:extLst>
              </a:tr>
            </a:tbl>
          </a:graphicData>
        </a:graphic>
      </p:graphicFrame>
    </p:spTree>
    <p:extLst>
      <p:ext uri="{BB962C8B-B14F-4D97-AF65-F5344CB8AC3E}">
        <p14:creationId xmlns:p14="http://schemas.microsoft.com/office/powerpoint/2010/main" val="3134133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27C57B-5CC8-1D49-0ABF-8DF088FB660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B3465A-717B-5D76-F423-8A179A33F11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32713968-771C-E39D-25D1-9A24048024D2}"/>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sp>
        <p:nvSpPr>
          <p:cNvPr id="3" name="Footer Placeholder 2">
            <a:extLst>
              <a:ext uri="{FF2B5EF4-FFF2-40B4-BE49-F238E27FC236}">
                <a16:creationId xmlns:a16="http://schemas.microsoft.com/office/drawing/2014/main" id="{240CACDD-28BD-2FE0-7AE0-5525BDB42830}"/>
              </a:ext>
            </a:extLst>
          </p:cNvPr>
          <p:cNvSpPr>
            <a:spLocks noGrp="1"/>
          </p:cNvSpPr>
          <p:nvPr>
            <p:ph type="ftr" sz="quarter" idx="4294967295"/>
          </p:nvPr>
        </p:nvSpPr>
        <p:spPr>
          <a:xfrm>
            <a:off x="7369175" y="6459538"/>
            <a:ext cx="4822825"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9" name="Table 8">
            <a:extLst>
              <a:ext uri="{FF2B5EF4-FFF2-40B4-BE49-F238E27FC236}">
                <a16:creationId xmlns:a16="http://schemas.microsoft.com/office/drawing/2014/main" id="{4236D7C7-1199-AD52-2B43-FA6B3B218222}"/>
              </a:ext>
            </a:extLst>
          </p:cNvPr>
          <p:cNvGraphicFramePr>
            <a:graphicFrameLocks noGrp="1"/>
          </p:cNvGraphicFramePr>
          <p:nvPr/>
        </p:nvGraphicFramePr>
        <p:xfrm>
          <a:off x="152400" y="238838"/>
          <a:ext cx="11887200" cy="6498156"/>
        </p:xfrm>
        <a:graphic>
          <a:graphicData uri="http://schemas.openxmlformats.org/drawingml/2006/table">
            <a:tbl>
              <a:tblPr>
                <a:tableStyleId>{3B4B98B0-60AC-42C2-AFA5-B58CD77FA1E5}</a:tableStyleId>
              </a:tblPr>
              <a:tblGrid>
                <a:gridCol w="36576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40080">
                  <a:extLst>
                    <a:ext uri="{9D8B030D-6E8A-4147-A177-3AD203B41FA5}">
                      <a16:colId xmlns:a16="http://schemas.microsoft.com/office/drawing/2014/main" val="1799647169"/>
                    </a:ext>
                  </a:extLst>
                </a:gridCol>
                <a:gridCol w="640080">
                  <a:extLst>
                    <a:ext uri="{9D8B030D-6E8A-4147-A177-3AD203B41FA5}">
                      <a16:colId xmlns:a16="http://schemas.microsoft.com/office/drawing/2014/main" val="1381748258"/>
                    </a:ext>
                  </a:extLst>
                </a:gridCol>
                <a:gridCol w="640080">
                  <a:extLst>
                    <a:ext uri="{9D8B030D-6E8A-4147-A177-3AD203B41FA5}">
                      <a16:colId xmlns:a16="http://schemas.microsoft.com/office/drawing/2014/main" val="3956343915"/>
                    </a:ext>
                  </a:extLst>
                </a:gridCol>
                <a:gridCol w="640080">
                  <a:extLst>
                    <a:ext uri="{9D8B030D-6E8A-4147-A177-3AD203B41FA5}">
                      <a16:colId xmlns:a16="http://schemas.microsoft.com/office/drawing/2014/main" val="2197625001"/>
                    </a:ext>
                  </a:extLst>
                </a:gridCol>
                <a:gridCol w="640080">
                  <a:extLst>
                    <a:ext uri="{9D8B030D-6E8A-4147-A177-3AD203B41FA5}">
                      <a16:colId xmlns:a16="http://schemas.microsoft.com/office/drawing/2014/main" val="2797358484"/>
                    </a:ext>
                  </a:extLst>
                </a:gridCol>
                <a:gridCol w="640080">
                  <a:extLst>
                    <a:ext uri="{9D8B030D-6E8A-4147-A177-3AD203B41FA5}">
                      <a16:colId xmlns:a16="http://schemas.microsoft.com/office/drawing/2014/main" val="2867094755"/>
                    </a:ext>
                  </a:extLst>
                </a:gridCol>
                <a:gridCol w="640080">
                  <a:extLst>
                    <a:ext uri="{9D8B030D-6E8A-4147-A177-3AD203B41FA5}">
                      <a16:colId xmlns:a16="http://schemas.microsoft.com/office/drawing/2014/main" val="703738329"/>
                    </a:ext>
                  </a:extLst>
                </a:gridCol>
                <a:gridCol w="640080">
                  <a:extLst>
                    <a:ext uri="{9D8B030D-6E8A-4147-A177-3AD203B41FA5}">
                      <a16:colId xmlns:a16="http://schemas.microsoft.com/office/drawing/2014/main" val="3655167997"/>
                    </a:ext>
                  </a:extLst>
                </a:gridCol>
                <a:gridCol w="640080">
                  <a:extLst>
                    <a:ext uri="{9D8B030D-6E8A-4147-A177-3AD203B41FA5}">
                      <a16:colId xmlns:a16="http://schemas.microsoft.com/office/drawing/2014/main" val="2545100148"/>
                    </a:ext>
                  </a:extLst>
                </a:gridCol>
                <a:gridCol w="640080">
                  <a:extLst>
                    <a:ext uri="{9D8B030D-6E8A-4147-A177-3AD203B41FA5}">
                      <a16:colId xmlns:a16="http://schemas.microsoft.com/office/drawing/2014/main" val="2788384120"/>
                    </a:ext>
                  </a:extLst>
                </a:gridCol>
                <a:gridCol w="640080">
                  <a:extLst>
                    <a:ext uri="{9D8B030D-6E8A-4147-A177-3AD203B41FA5}">
                      <a16:colId xmlns:a16="http://schemas.microsoft.com/office/drawing/2014/main" val="2429126570"/>
                    </a:ext>
                  </a:extLst>
                </a:gridCol>
                <a:gridCol w="640080">
                  <a:extLst>
                    <a:ext uri="{9D8B030D-6E8A-4147-A177-3AD203B41FA5}">
                      <a16:colId xmlns:a16="http://schemas.microsoft.com/office/drawing/2014/main" val="2722809999"/>
                    </a:ext>
                  </a:extLst>
                </a:gridCol>
              </a:tblGrid>
              <a:tr h="0">
                <a:tc gridSpan="14">
                  <a:txBody>
                    <a:bodyPr/>
                    <a:lstStyle/>
                    <a:p>
                      <a:pPr algn="ctr" fontAlgn="b">
                        <a:buNone/>
                      </a:pPr>
                      <a:r>
                        <a:rPr lang="en-US" sz="1100" b="1" i="0" u="none" strike="noStrike" dirty="0">
                          <a:solidFill>
                            <a:schemeClr val="bg1"/>
                          </a:solidFill>
                          <a:effectLst/>
                          <a:latin typeface="Arial" panose="020B0604020202020204" pitchFamily="34" charset="0"/>
                        </a:rPr>
                        <a:t>Functional Nutrition Attitudes</a:t>
                      </a:r>
                    </a:p>
                    <a:p>
                      <a:pPr algn="ctr" fontAlgn="b">
                        <a:buNone/>
                      </a:pPr>
                      <a:r>
                        <a:rPr lang="en-US" sz="1100" b="0" i="0" u="none" strike="noStrike" dirty="0">
                          <a:solidFill>
                            <a:schemeClr val="bg1"/>
                          </a:solidFill>
                          <a:effectLst/>
                          <a:latin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9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Total</a:t>
                      </a:r>
                      <a:endParaRPr lang="en-US" sz="105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kern="1200" dirty="0">
                          <a:solidFill>
                            <a:schemeClr val="tx1"/>
                          </a:solidFill>
                          <a:effectLst/>
                          <a:latin typeface="+mn-lt"/>
                          <a:ea typeface="+mn-ea"/>
                          <a:cs typeface="+mn-cs"/>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dirty="0">
                          <a:effectLst/>
                        </a:rPr>
                        <a:t>Index to Total</a:t>
                      </a: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mn-lt"/>
                          <a:ea typeface="+mn-ea"/>
                          <a:cs typeface="+mn-cs"/>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mn-lt"/>
                          <a:ea typeface="+mn-ea"/>
                          <a:cs typeface="+mn-cs"/>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0">
                <a:tc>
                  <a:txBody>
                    <a:bodyPr/>
                    <a:lstStyle/>
                    <a:p>
                      <a:pPr algn="l" fontAlgn="b">
                        <a:buNone/>
                      </a:pPr>
                      <a:r>
                        <a:rPr lang="en-US" sz="1000" b="0" i="0" u="none" strike="noStrike" dirty="0">
                          <a:effectLst/>
                          <a:latin typeface="Arial" panose="020B0604020202020204" pitchFamily="34" charset="0"/>
                        </a:rPr>
                        <a:t>I actively evaluate my options each time I purchase functional nutrition products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76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125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28676805"/>
                  </a:ext>
                </a:extLst>
              </a:tr>
              <a:tr h="0">
                <a:tc>
                  <a:txBody>
                    <a:bodyPr/>
                    <a:lstStyle/>
                    <a:p>
                      <a:pPr algn="l" fontAlgn="b">
                        <a:buNone/>
                      </a:pPr>
                      <a:r>
                        <a:rPr lang="en-US" sz="1000" b="0" i="0" u="none" strike="noStrike" dirty="0">
                          <a:effectLst/>
                          <a:latin typeface="Arial" panose="020B0604020202020204" pitchFamily="34" charset="0"/>
                        </a:rPr>
                        <a:t>I rely on habit when purchasing functional nutrition products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144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9558216"/>
                  </a:ext>
                </a:extLst>
              </a:tr>
              <a:tr h="0">
                <a:tc>
                  <a:txBody>
                    <a:bodyPr/>
                    <a:lstStyle/>
                    <a:p>
                      <a:pPr algn="l" fontAlgn="b">
                        <a:buNone/>
                      </a:pPr>
                      <a:r>
                        <a:rPr lang="en-US" sz="1000" b="0" i="0" u="none" strike="noStrike" dirty="0">
                          <a:effectLst/>
                          <a:latin typeface="Arial" panose="020B0604020202020204" pitchFamily="34" charset="0"/>
                        </a:rPr>
                        <a:t>I seek foods and beverages that are fortified with extra nutrients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2779322984"/>
                  </a:ext>
                </a:extLst>
              </a:tr>
              <a:tr h="0">
                <a:tc>
                  <a:txBody>
                    <a:bodyPr/>
                    <a:lstStyle/>
                    <a:p>
                      <a:pPr algn="l" fontAlgn="b">
                        <a:buNone/>
                      </a:pPr>
                      <a:r>
                        <a:rPr lang="en-US" sz="1000" b="0" i="0" u="none" strike="noStrike" dirty="0">
                          <a:effectLst/>
                          <a:latin typeface="Arial" panose="020B0604020202020204" pitchFamily="34" charset="0"/>
                        </a:rPr>
                        <a:t>I look to get my nutrition from the nutrients that naturally occur in foods and beverages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42191291"/>
                  </a:ext>
                </a:extLst>
              </a:tr>
              <a:tr h="0">
                <a:tc>
                  <a:txBody>
                    <a:bodyPr/>
                    <a:lstStyle/>
                    <a:p>
                      <a:pPr algn="l" fontAlgn="b">
                        <a:buNone/>
                      </a:pPr>
                      <a:r>
                        <a:rPr lang="en-US" sz="1000" b="0" i="0" u="none" strike="noStrike" dirty="0">
                          <a:effectLst/>
                          <a:latin typeface="Arial" panose="020B0604020202020204" pitchFamily="34" charset="0"/>
                        </a:rPr>
                        <a:t>When it comes to functional nutrition products, I don't trust any ingredient that I can't pronounce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876608458"/>
                  </a:ext>
                </a:extLst>
              </a:tr>
              <a:tr h="0">
                <a:tc>
                  <a:txBody>
                    <a:bodyPr/>
                    <a:lstStyle/>
                    <a:p>
                      <a:pPr algn="l" fontAlgn="b">
                        <a:buNone/>
                      </a:pPr>
                      <a:r>
                        <a:rPr lang="en-US" sz="1000" b="0" i="0" u="none" strike="noStrike" dirty="0">
                          <a:effectLst/>
                          <a:latin typeface="Arial" panose="020B0604020202020204" pitchFamily="34" charset="0"/>
                        </a:rPr>
                        <a:t>I am fine with any ingredients that the FDA has approved for use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111632653"/>
                  </a:ext>
                </a:extLst>
              </a:tr>
              <a:tr h="0">
                <a:tc>
                  <a:txBody>
                    <a:bodyPr/>
                    <a:lstStyle/>
                    <a:p>
                      <a:pPr algn="l" fontAlgn="b">
                        <a:buNone/>
                      </a:pPr>
                      <a:r>
                        <a:rPr lang="en-US" sz="1000" b="0" i="0" u="none" strike="noStrike" dirty="0">
                          <a:effectLst/>
                          <a:latin typeface="Arial" panose="020B0604020202020204" pitchFamily="34" charset="0"/>
                        </a:rPr>
                        <a:t>I look for evidence of effectiveness before trying new functional nutrition products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2736805662"/>
                  </a:ext>
                </a:extLst>
              </a:tr>
              <a:tr h="0">
                <a:tc>
                  <a:txBody>
                    <a:bodyPr/>
                    <a:lstStyle/>
                    <a:p>
                      <a:pPr algn="l" fontAlgn="b">
                        <a:buNone/>
                      </a:pPr>
                      <a:r>
                        <a:rPr lang="en-US" sz="1000" b="0" i="0" u="none" strike="noStrike" dirty="0">
                          <a:effectLst/>
                          <a:latin typeface="Arial" panose="020B0604020202020204" pitchFamily="34" charset="0"/>
                        </a:rPr>
                        <a:t>I often try new functional nutrition products based on the hype or buzz around them</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209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538418263"/>
                  </a:ext>
                </a:extLst>
              </a:tr>
              <a:tr h="0">
                <a:tc>
                  <a:txBody>
                    <a:bodyPr/>
                    <a:lstStyle/>
                    <a:p>
                      <a:pPr algn="l" fontAlgn="b">
                        <a:buNone/>
                      </a:pPr>
                      <a:r>
                        <a:rPr lang="en-US" sz="1000" b="0" i="0" u="none" strike="noStrike" dirty="0">
                          <a:effectLst/>
                          <a:latin typeface="Arial" panose="020B0604020202020204" pitchFamily="34" charset="0"/>
                        </a:rPr>
                        <a:t>I choose functional nutrition products to set me up for good health in the long-term</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79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202086971"/>
                  </a:ext>
                </a:extLst>
              </a:tr>
              <a:tr h="0">
                <a:tc>
                  <a:txBody>
                    <a:bodyPr/>
                    <a:lstStyle/>
                    <a:p>
                      <a:pPr algn="l" fontAlgn="b">
                        <a:buNone/>
                      </a:pPr>
                      <a:r>
                        <a:rPr lang="en-US" sz="1000" b="0" i="0" u="none" strike="noStrike" dirty="0">
                          <a:effectLst/>
                          <a:latin typeface="Arial" panose="020B0604020202020204" pitchFamily="34" charset="0"/>
                        </a:rPr>
                        <a:t>I choose functional nutrition products to address immediate needs and goals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154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48460207"/>
                  </a:ext>
                </a:extLst>
              </a:tr>
              <a:tr h="0">
                <a:tc>
                  <a:txBody>
                    <a:bodyPr/>
                    <a:lstStyle/>
                    <a:p>
                      <a:pPr algn="l" fontAlgn="b">
                        <a:buNone/>
                      </a:pPr>
                      <a:r>
                        <a:rPr lang="en-US" sz="1000" b="0" i="0" u="none" strike="noStrike" dirty="0">
                          <a:effectLst/>
                          <a:latin typeface="Arial" panose="020B0604020202020204" pitchFamily="34" charset="0"/>
                        </a:rPr>
                        <a:t>I tend to assume the functional nutrition products I use provide the claimed benefits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3758693019"/>
                  </a:ext>
                </a:extLst>
              </a:tr>
              <a:tr h="0">
                <a:tc>
                  <a:txBody>
                    <a:bodyPr/>
                    <a:lstStyle/>
                    <a:p>
                      <a:pPr algn="l" fontAlgn="b">
                        <a:buNone/>
                      </a:pPr>
                      <a:r>
                        <a:rPr lang="en-US" sz="1000" b="0" i="0" u="none" strike="noStrike" dirty="0">
                          <a:effectLst/>
                          <a:latin typeface="Arial" panose="020B0604020202020204" pitchFamily="34" charset="0"/>
                        </a:rPr>
                        <a:t>I need to feel or see the impact of functional nutrition products to trust that they are working</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036145058"/>
                  </a:ext>
                </a:extLst>
              </a:tr>
              <a:tr h="0">
                <a:tc>
                  <a:txBody>
                    <a:bodyPr/>
                    <a:lstStyle/>
                    <a:p>
                      <a:pPr algn="l" fontAlgn="b">
                        <a:buNone/>
                      </a:pPr>
                      <a:r>
                        <a:rPr lang="en-US" sz="1000" b="0" i="0" u="none" strike="noStrike" dirty="0">
                          <a:effectLst/>
                          <a:latin typeface="Arial" panose="020B0604020202020204" pitchFamily="34" charset="0"/>
                        </a:rPr>
                        <a:t>I frequently experiment with functional nutrition products to find the ones that best meet my needs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148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153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25803448"/>
                  </a:ext>
                </a:extLst>
              </a:tr>
              <a:tr h="0">
                <a:tc>
                  <a:txBody>
                    <a:bodyPr/>
                    <a:lstStyle/>
                    <a:p>
                      <a:pPr algn="l" fontAlgn="b">
                        <a:buNone/>
                      </a:pPr>
                      <a:r>
                        <a:rPr lang="en-US" sz="1000" b="0" i="0" u="none" strike="noStrike" dirty="0">
                          <a:effectLst/>
                          <a:latin typeface="Arial" panose="020B0604020202020204" pitchFamily="34" charset="0"/>
                        </a:rPr>
                        <a:t>I tend to stick to tried-and-true functional nutrition products - the ones I know work for me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141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1209055"/>
                  </a:ext>
                </a:extLst>
              </a:tr>
              <a:tr h="0">
                <a:tc>
                  <a:txBody>
                    <a:bodyPr/>
                    <a:lstStyle/>
                    <a:p>
                      <a:pPr algn="l" fontAlgn="b">
                        <a:buNone/>
                      </a:pPr>
                      <a:r>
                        <a:rPr lang="en-US" sz="1000" b="0" i="0" u="none" strike="noStrike" dirty="0">
                          <a:effectLst/>
                          <a:latin typeface="Arial" panose="020B0604020202020204" pitchFamily="34" charset="0"/>
                        </a:rPr>
                        <a:t>I expect the functional nutrition products I use to align with and reflect my values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70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134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403944672"/>
                  </a:ext>
                </a:extLst>
              </a:tr>
              <a:tr h="0">
                <a:tc>
                  <a:txBody>
                    <a:bodyPr/>
                    <a:lstStyle/>
                    <a:p>
                      <a:pPr algn="l" fontAlgn="b">
                        <a:buNone/>
                      </a:pPr>
                      <a:r>
                        <a:rPr lang="en-US" sz="1000" b="0" i="0" u="none" strike="noStrike" dirty="0">
                          <a:effectLst/>
                          <a:latin typeface="Arial" panose="020B0604020202020204" pitchFamily="34" charset="0"/>
                        </a:rPr>
                        <a:t>I don't expect functional nutrition brands to take a stand</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83680058"/>
                  </a:ext>
                </a:extLst>
              </a:tr>
              <a:tr h="0">
                <a:tc>
                  <a:txBody>
                    <a:bodyPr/>
                    <a:lstStyle/>
                    <a:p>
                      <a:pPr algn="l" fontAlgn="b">
                        <a:buNone/>
                      </a:pPr>
                      <a:r>
                        <a:rPr lang="en-US" sz="1000" b="0" i="0" u="none" strike="noStrike" dirty="0">
                          <a:effectLst/>
                          <a:latin typeface="Arial" panose="020B0604020202020204" pitchFamily="34" charset="0"/>
                        </a:rPr>
                        <a:t>I look for the lowest price when it comes to functional nutrition products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158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53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43361016"/>
                  </a:ext>
                </a:extLst>
              </a:tr>
              <a:tr h="0">
                <a:tc>
                  <a:txBody>
                    <a:bodyPr/>
                    <a:lstStyle/>
                    <a:p>
                      <a:pPr algn="l" fontAlgn="b">
                        <a:buNone/>
                      </a:pPr>
                      <a:r>
                        <a:rPr lang="en-US" sz="1000" b="0" i="0" u="none" strike="noStrike" dirty="0">
                          <a:effectLst/>
                          <a:latin typeface="Arial" panose="020B0604020202020204" pitchFamily="34" charset="0"/>
                        </a:rPr>
                        <a:t>I'm willing to pay more for products with key benefits or higher quality ingredients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950852417"/>
                  </a:ext>
                </a:extLst>
              </a:tr>
              <a:tr h="0">
                <a:tc>
                  <a:txBody>
                    <a:bodyPr/>
                    <a:lstStyle/>
                    <a:p>
                      <a:pPr algn="l" fontAlgn="b">
                        <a:buNone/>
                      </a:pPr>
                      <a:r>
                        <a:rPr lang="en-US" sz="1000" b="0" i="0" u="none" strike="noStrike" dirty="0">
                          <a:effectLst/>
                          <a:latin typeface="Arial" panose="020B0604020202020204" pitchFamily="34" charset="0"/>
                        </a:rPr>
                        <a:t>I rarely think about where the functional nutrition products I buy come from</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152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39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2050239563"/>
                  </a:ext>
                </a:extLst>
              </a:tr>
              <a:tr h="0">
                <a:tc>
                  <a:txBody>
                    <a:bodyPr/>
                    <a:lstStyle/>
                    <a:p>
                      <a:pPr algn="l" fontAlgn="b">
                        <a:buNone/>
                      </a:pPr>
                      <a:r>
                        <a:rPr lang="en-US" sz="1000" b="0" i="0" u="none" strike="noStrike" dirty="0">
                          <a:effectLst/>
                          <a:latin typeface="Arial" panose="020B0604020202020204" pitchFamily="34" charset="0"/>
                        </a:rPr>
                        <a:t>I care deeply about how the ingredients are sourced and the products are produced</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142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777060894"/>
                  </a:ext>
                </a:extLst>
              </a:tr>
            </a:tbl>
          </a:graphicData>
        </a:graphic>
      </p:graphicFrame>
    </p:spTree>
    <p:extLst>
      <p:ext uri="{BB962C8B-B14F-4D97-AF65-F5344CB8AC3E}">
        <p14:creationId xmlns:p14="http://schemas.microsoft.com/office/powerpoint/2010/main" val="2443424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0339F0-44E0-DFC2-3A3E-56CAF19FE9E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86F9C1-58C1-C923-DBD9-EC9A47574F96}"/>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0647F226-35B5-C001-416B-E8BE56188B67}"/>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sp>
        <p:nvSpPr>
          <p:cNvPr id="3" name="Footer Placeholder 2">
            <a:extLst>
              <a:ext uri="{FF2B5EF4-FFF2-40B4-BE49-F238E27FC236}">
                <a16:creationId xmlns:a16="http://schemas.microsoft.com/office/drawing/2014/main" id="{A12A9AAE-FF79-20DB-02AA-714FE2312EB4}"/>
              </a:ext>
            </a:extLst>
          </p:cNvPr>
          <p:cNvSpPr>
            <a:spLocks noGrp="1"/>
          </p:cNvSpPr>
          <p:nvPr>
            <p:ph type="ftr" sz="quarter" idx="4294967295"/>
          </p:nvPr>
        </p:nvSpPr>
        <p:spPr>
          <a:xfrm>
            <a:off x="7369175" y="6459538"/>
            <a:ext cx="4822825"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9" name="Table 8">
            <a:extLst>
              <a:ext uri="{FF2B5EF4-FFF2-40B4-BE49-F238E27FC236}">
                <a16:creationId xmlns:a16="http://schemas.microsoft.com/office/drawing/2014/main" id="{9C9DEC92-AC94-3354-FFA2-100C363FB13F}"/>
              </a:ext>
            </a:extLst>
          </p:cNvPr>
          <p:cNvGraphicFramePr>
            <a:graphicFrameLocks noGrp="1"/>
          </p:cNvGraphicFramePr>
          <p:nvPr>
            <p:extLst>
              <p:ext uri="{D42A27DB-BD31-4B8C-83A1-F6EECF244321}">
                <p14:modId xmlns:p14="http://schemas.microsoft.com/office/powerpoint/2010/main" val="431353081"/>
              </p:ext>
            </p:extLst>
          </p:nvPr>
        </p:nvGraphicFramePr>
        <p:xfrm>
          <a:off x="152400" y="269674"/>
          <a:ext cx="11887200" cy="6372426"/>
        </p:xfrm>
        <a:graphic>
          <a:graphicData uri="http://schemas.openxmlformats.org/drawingml/2006/table">
            <a:tbl>
              <a:tblPr>
                <a:tableStyleId>{3B4B98B0-60AC-42C2-AFA5-B58CD77FA1E5}</a:tableStyleId>
              </a:tblPr>
              <a:tblGrid>
                <a:gridCol w="36576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40080">
                  <a:extLst>
                    <a:ext uri="{9D8B030D-6E8A-4147-A177-3AD203B41FA5}">
                      <a16:colId xmlns:a16="http://schemas.microsoft.com/office/drawing/2014/main" val="1799647169"/>
                    </a:ext>
                  </a:extLst>
                </a:gridCol>
                <a:gridCol w="640080">
                  <a:extLst>
                    <a:ext uri="{9D8B030D-6E8A-4147-A177-3AD203B41FA5}">
                      <a16:colId xmlns:a16="http://schemas.microsoft.com/office/drawing/2014/main" val="1381748258"/>
                    </a:ext>
                  </a:extLst>
                </a:gridCol>
                <a:gridCol w="640080">
                  <a:extLst>
                    <a:ext uri="{9D8B030D-6E8A-4147-A177-3AD203B41FA5}">
                      <a16:colId xmlns:a16="http://schemas.microsoft.com/office/drawing/2014/main" val="3956343915"/>
                    </a:ext>
                  </a:extLst>
                </a:gridCol>
                <a:gridCol w="640080">
                  <a:extLst>
                    <a:ext uri="{9D8B030D-6E8A-4147-A177-3AD203B41FA5}">
                      <a16:colId xmlns:a16="http://schemas.microsoft.com/office/drawing/2014/main" val="2197625001"/>
                    </a:ext>
                  </a:extLst>
                </a:gridCol>
                <a:gridCol w="640080">
                  <a:extLst>
                    <a:ext uri="{9D8B030D-6E8A-4147-A177-3AD203B41FA5}">
                      <a16:colId xmlns:a16="http://schemas.microsoft.com/office/drawing/2014/main" val="2797358484"/>
                    </a:ext>
                  </a:extLst>
                </a:gridCol>
                <a:gridCol w="640080">
                  <a:extLst>
                    <a:ext uri="{9D8B030D-6E8A-4147-A177-3AD203B41FA5}">
                      <a16:colId xmlns:a16="http://schemas.microsoft.com/office/drawing/2014/main" val="2867094755"/>
                    </a:ext>
                  </a:extLst>
                </a:gridCol>
                <a:gridCol w="640080">
                  <a:extLst>
                    <a:ext uri="{9D8B030D-6E8A-4147-A177-3AD203B41FA5}">
                      <a16:colId xmlns:a16="http://schemas.microsoft.com/office/drawing/2014/main" val="703738329"/>
                    </a:ext>
                  </a:extLst>
                </a:gridCol>
                <a:gridCol w="640080">
                  <a:extLst>
                    <a:ext uri="{9D8B030D-6E8A-4147-A177-3AD203B41FA5}">
                      <a16:colId xmlns:a16="http://schemas.microsoft.com/office/drawing/2014/main" val="3655167997"/>
                    </a:ext>
                  </a:extLst>
                </a:gridCol>
                <a:gridCol w="640080">
                  <a:extLst>
                    <a:ext uri="{9D8B030D-6E8A-4147-A177-3AD203B41FA5}">
                      <a16:colId xmlns:a16="http://schemas.microsoft.com/office/drawing/2014/main" val="2545100148"/>
                    </a:ext>
                  </a:extLst>
                </a:gridCol>
                <a:gridCol w="640080">
                  <a:extLst>
                    <a:ext uri="{9D8B030D-6E8A-4147-A177-3AD203B41FA5}">
                      <a16:colId xmlns:a16="http://schemas.microsoft.com/office/drawing/2014/main" val="2788384120"/>
                    </a:ext>
                  </a:extLst>
                </a:gridCol>
                <a:gridCol w="640080">
                  <a:extLst>
                    <a:ext uri="{9D8B030D-6E8A-4147-A177-3AD203B41FA5}">
                      <a16:colId xmlns:a16="http://schemas.microsoft.com/office/drawing/2014/main" val="2429126570"/>
                    </a:ext>
                  </a:extLst>
                </a:gridCol>
                <a:gridCol w="640080">
                  <a:extLst>
                    <a:ext uri="{9D8B030D-6E8A-4147-A177-3AD203B41FA5}">
                      <a16:colId xmlns:a16="http://schemas.microsoft.com/office/drawing/2014/main" val="2722809999"/>
                    </a:ext>
                  </a:extLst>
                </a:gridCol>
              </a:tblGrid>
              <a:tr h="0">
                <a:tc gridSpan="14">
                  <a:txBody>
                    <a:bodyPr/>
                    <a:lstStyle/>
                    <a:p>
                      <a:pPr algn="ctr" fontAlgn="b">
                        <a:buNone/>
                      </a:pPr>
                      <a:r>
                        <a:rPr lang="en-US" sz="1050" b="1" i="0" u="none" strike="noStrike" dirty="0">
                          <a:solidFill>
                            <a:schemeClr val="bg1"/>
                          </a:solidFill>
                          <a:effectLst/>
                          <a:latin typeface="Arial" panose="020B0604020202020204" pitchFamily="34" charset="0"/>
                        </a:rPr>
                        <a:t>Lifestyle attitudes</a:t>
                      </a:r>
                    </a:p>
                    <a:p>
                      <a:pPr algn="ctr" fontAlgn="b">
                        <a:buNone/>
                      </a:pPr>
                      <a:r>
                        <a:rPr lang="en-US" sz="1050" b="0" i="0" u="none" strike="noStrike" dirty="0">
                          <a:solidFill>
                            <a:schemeClr val="bg1"/>
                          </a:solidFill>
                          <a:effectLst/>
                          <a:latin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9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Total</a:t>
                      </a:r>
                      <a:endParaRPr lang="en-US" sz="105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kern="1200" dirty="0">
                          <a:solidFill>
                            <a:schemeClr val="tx1"/>
                          </a:solidFill>
                          <a:effectLst/>
                          <a:latin typeface="+mn-lt"/>
                          <a:ea typeface="+mn-ea"/>
                          <a:cs typeface="+mn-cs"/>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dirty="0">
                          <a:effectLst/>
                        </a:rPr>
                        <a:t>Index to Total</a:t>
                      </a: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mn-lt"/>
                          <a:ea typeface="+mn-ea"/>
                          <a:cs typeface="+mn-cs"/>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mn-lt"/>
                          <a:ea typeface="+mn-ea"/>
                          <a:cs typeface="+mn-cs"/>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74320">
                <a:tc>
                  <a:txBody>
                    <a:bodyPr/>
                    <a:lstStyle/>
                    <a:p>
                      <a:pPr algn="l" fontAlgn="b">
                        <a:buNone/>
                      </a:pPr>
                      <a:r>
                        <a:rPr lang="en-US" sz="1000" b="0" i="0" u="none" strike="noStrike" dirty="0">
                          <a:effectLst/>
                          <a:latin typeface="Arial" panose="020B0604020202020204" pitchFamily="34" charset="0"/>
                        </a:rPr>
                        <a:t>I mostly go with the flow in life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28676805"/>
                  </a:ext>
                </a:extLst>
              </a:tr>
              <a:tr h="274320">
                <a:tc>
                  <a:txBody>
                    <a:bodyPr/>
                    <a:lstStyle/>
                    <a:p>
                      <a:pPr algn="l" fontAlgn="b">
                        <a:buNone/>
                      </a:pPr>
                      <a:r>
                        <a:rPr lang="en-US" sz="1000" b="0" i="0" u="none" strike="noStrike" dirty="0">
                          <a:effectLst/>
                          <a:latin typeface="Arial" panose="020B0604020202020204" pitchFamily="34" charset="0"/>
                        </a:rPr>
                        <a:t>I like to plan and take control of my life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chemeClr val="tx1"/>
                          </a:solidFill>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708284385"/>
                  </a:ext>
                </a:extLst>
              </a:tr>
              <a:tr h="274320">
                <a:tc>
                  <a:txBody>
                    <a:bodyPr/>
                    <a:lstStyle/>
                    <a:p>
                      <a:pPr algn="l" fontAlgn="b">
                        <a:buNone/>
                      </a:pPr>
                      <a:r>
                        <a:rPr lang="en-US" sz="1000" b="0" i="0" u="none" strike="noStrike" dirty="0">
                          <a:effectLst/>
                          <a:latin typeface="Arial" panose="020B0604020202020204" pitchFamily="34" charset="0"/>
                        </a:rPr>
                        <a:t>I live life for today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174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51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303091774"/>
                  </a:ext>
                </a:extLst>
              </a:tr>
              <a:tr h="274320">
                <a:tc>
                  <a:txBody>
                    <a:bodyPr/>
                    <a:lstStyle/>
                    <a:p>
                      <a:pPr algn="l" fontAlgn="b">
                        <a:buNone/>
                      </a:pPr>
                      <a:r>
                        <a:rPr lang="en-US" sz="1000" b="0" i="0" u="none" strike="noStrike" dirty="0">
                          <a:effectLst/>
                          <a:latin typeface="Arial" panose="020B0604020202020204" pitchFamily="34" charset="0"/>
                        </a:rPr>
                        <a:t>I actively plan for the future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75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621240724"/>
                  </a:ext>
                </a:extLst>
              </a:tr>
              <a:tr h="274320">
                <a:tc>
                  <a:txBody>
                    <a:bodyPr/>
                    <a:lstStyle/>
                    <a:p>
                      <a:pPr algn="l" fontAlgn="b">
                        <a:buNone/>
                      </a:pPr>
                      <a:r>
                        <a:rPr lang="en-US" sz="1000" b="0" i="0" u="none" strike="noStrike" dirty="0">
                          <a:effectLst/>
                          <a:latin typeface="Arial" panose="020B0604020202020204" pitchFamily="34" charset="0"/>
                        </a:rPr>
                        <a:t>I am willing to make sacrifices to achieve long-term goals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755579221"/>
                  </a:ext>
                </a:extLst>
              </a:tr>
              <a:tr h="274320">
                <a:tc>
                  <a:txBody>
                    <a:bodyPr/>
                    <a:lstStyle/>
                    <a:p>
                      <a:pPr algn="l" fontAlgn="b">
                        <a:buNone/>
                      </a:pPr>
                      <a:r>
                        <a:rPr lang="en-US" sz="1000" b="0" i="0" u="none" strike="noStrike" dirty="0">
                          <a:effectLst/>
                          <a:latin typeface="Arial" panose="020B0604020202020204" pitchFamily="34" charset="0"/>
                        </a:rPr>
                        <a:t>I focus on enjoying life in the moment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603945469"/>
                  </a:ext>
                </a:extLst>
              </a:tr>
              <a:tr h="274320">
                <a:tc>
                  <a:txBody>
                    <a:bodyPr/>
                    <a:lstStyle/>
                    <a:p>
                      <a:pPr algn="l" fontAlgn="b">
                        <a:buNone/>
                      </a:pPr>
                      <a:r>
                        <a:rPr lang="en-US" sz="1000" b="0" i="0" u="none" strike="noStrike" dirty="0">
                          <a:effectLst/>
                          <a:latin typeface="Arial" panose="020B0604020202020204" pitchFamily="34" charset="0"/>
                        </a:rPr>
                        <a:t>I enjoy change and trying new things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chemeClr val="tx1"/>
                          </a:solidFill>
                          <a:effectLst/>
                          <a:latin typeface="Arial" panose="020B0604020202020204" pitchFamily="34" charset="0"/>
                        </a:rPr>
                        <a:t>119</a:t>
                      </a:r>
                      <a:r>
                        <a:rPr lang="en-US" sz="1000" b="0" i="0" u="none" strike="noStrike" dirty="0">
                          <a:solidFill>
                            <a:srgbClr val="006100"/>
                          </a:solidFill>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132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751659507"/>
                  </a:ext>
                </a:extLst>
              </a:tr>
              <a:tr h="274320">
                <a:tc>
                  <a:txBody>
                    <a:bodyPr/>
                    <a:lstStyle/>
                    <a:p>
                      <a:pPr algn="l" fontAlgn="b">
                        <a:buNone/>
                      </a:pPr>
                      <a:r>
                        <a:rPr lang="en-US" sz="1000" b="0" i="0" u="none" strike="noStrike" dirty="0">
                          <a:effectLst/>
                          <a:latin typeface="Arial" panose="020B0604020202020204" pitchFamily="34" charset="0"/>
                        </a:rPr>
                        <a:t>I prefer familiar routines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9558216"/>
                  </a:ext>
                </a:extLst>
              </a:tr>
              <a:tr h="274320">
                <a:tc>
                  <a:txBody>
                    <a:bodyPr/>
                    <a:lstStyle/>
                    <a:p>
                      <a:pPr algn="l" fontAlgn="b">
                        <a:buNone/>
                      </a:pPr>
                      <a:r>
                        <a:rPr lang="en-US" sz="1000" b="0" i="0" u="none" strike="noStrike" dirty="0">
                          <a:effectLst/>
                          <a:latin typeface="Arial" panose="020B0604020202020204" pitchFamily="34" charset="0"/>
                        </a:rPr>
                        <a:t>I set small goals that I know I can reach</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542191291"/>
                  </a:ext>
                </a:extLst>
              </a:tr>
              <a:tr h="274320">
                <a:tc>
                  <a:txBody>
                    <a:bodyPr/>
                    <a:lstStyle/>
                    <a:p>
                      <a:pPr algn="l" fontAlgn="b">
                        <a:buNone/>
                      </a:pPr>
                      <a:r>
                        <a:rPr lang="en-US" sz="1000" b="0" i="0" u="none" strike="noStrike" dirty="0">
                          <a:effectLst/>
                          <a:latin typeface="Arial" panose="020B0604020202020204" pitchFamily="34" charset="0"/>
                        </a:rPr>
                        <a:t>I set big goals that may not be attainable but are something to strive for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141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876608458"/>
                  </a:ext>
                </a:extLst>
              </a:tr>
              <a:tr h="274320">
                <a:tc>
                  <a:txBody>
                    <a:bodyPr/>
                    <a:lstStyle/>
                    <a:p>
                      <a:pPr algn="l" fontAlgn="b">
                        <a:buNone/>
                      </a:pPr>
                      <a:r>
                        <a:rPr lang="en-US" sz="1000" b="0" i="0" u="none" strike="noStrike" dirty="0">
                          <a:effectLst/>
                          <a:latin typeface="Arial" panose="020B0604020202020204" pitchFamily="34" charset="0"/>
                        </a:rPr>
                        <a:t>People typically consider me a leader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2736805662"/>
                  </a:ext>
                </a:extLst>
              </a:tr>
              <a:tr h="274320">
                <a:tc>
                  <a:txBody>
                    <a:bodyPr/>
                    <a:lstStyle/>
                    <a:p>
                      <a:pPr algn="l" fontAlgn="b">
                        <a:buNone/>
                      </a:pPr>
                      <a:r>
                        <a:rPr lang="en-US" sz="1000" b="0" i="0" u="none" strike="noStrike" dirty="0">
                          <a:effectLst/>
                          <a:latin typeface="Arial" panose="020B0604020202020204" pitchFamily="34" charset="0"/>
                        </a:rPr>
                        <a:t>I am comfortable following someone else's lead</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B w="6350" cap="flat" cmpd="sng" algn="ctr">
                      <a:solidFill>
                        <a:schemeClr val="accent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538418263"/>
                  </a:ext>
                </a:extLst>
              </a:tr>
              <a:tr h="274320">
                <a:tc>
                  <a:txBody>
                    <a:bodyPr/>
                    <a:lstStyle/>
                    <a:p>
                      <a:pPr algn="l" fontAlgn="b">
                        <a:buNone/>
                      </a:pPr>
                      <a:r>
                        <a:rPr lang="en-US" sz="1000" b="0" i="0" u="none" strike="noStrike" dirty="0">
                          <a:effectLst/>
                          <a:latin typeface="Arial" panose="020B0604020202020204" pitchFamily="34" charset="0"/>
                        </a:rPr>
                        <a:t>I mostly avoid taking any risks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48460207"/>
                  </a:ext>
                </a:extLst>
              </a:tr>
              <a:tr h="274320">
                <a:tc>
                  <a:txBody>
                    <a:bodyPr/>
                    <a:lstStyle/>
                    <a:p>
                      <a:pPr algn="l" fontAlgn="b">
                        <a:buNone/>
                      </a:pPr>
                      <a:r>
                        <a:rPr lang="en-US" sz="1000" b="0" i="0" u="none" strike="noStrike" dirty="0">
                          <a:effectLst/>
                          <a:latin typeface="Arial" panose="020B0604020202020204" pitchFamily="34" charset="0"/>
                        </a:rPr>
                        <a:t>I often take chances to get what I want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131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58693019"/>
                  </a:ext>
                </a:extLst>
              </a:tr>
              <a:tr h="274320">
                <a:tc>
                  <a:txBody>
                    <a:bodyPr/>
                    <a:lstStyle/>
                    <a:p>
                      <a:pPr algn="l" fontAlgn="b">
                        <a:buNone/>
                      </a:pPr>
                      <a:r>
                        <a:rPr lang="en-US" sz="1000" b="0" i="0" u="none" strike="noStrike" dirty="0">
                          <a:effectLst/>
                          <a:latin typeface="Arial" panose="020B0604020202020204" pitchFamily="34" charset="0"/>
                        </a:rPr>
                        <a:t>I avoid standing out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chemeClr val="tx1"/>
                          </a:solidFill>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125803448"/>
                  </a:ext>
                </a:extLst>
              </a:tr>
              <a:tr h="274320">
                <a:tc>
                  <a:txBody>
                    <a:bodyPr/>
                    <a:lstStyle/>
                    <a:p>
                      <a:pPr algn="l" fontAlgn="b">
                        <a:buNone/>
                      </a:pPr>
                      <a:r>
                        <a:rPr lang="en-US" sz="1000" b="0" i="0" u="none" strike="noStrike" dirty="0">
                          <a:effectLst/>
                          <a:latin typeface="Arial" panose="020B0604020202020204" pitchFamily="34" charset="0"/>
                        </a:rPr>
                        <a:t>I like to express my individuality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135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01209055"/>
                  </a:ext>
                </a:extLst>
              </a:tr>
              <a:tr h="274320">
                <a:tc>
                  <a:txBody>
                    <a:bodyPr/>
                    <a:lstStyle/>
                    <a:p>
                      <a:pPr algn="l" fontAlgn="b">
                        <a:buNone/>
                      </a:pPr>
                      <a:r>
                        <a:rPr lang="en-US" sz="1000" b="0" i="0" u="none" strike="noStrike" dirty="0">
                          <a:effectLst/>
                          <a:latin typeface="Arial" panose="020B0604020202020204" pitchFamily="34" charset="0"/>
                        </a:rPr>
                        <a:t>I feel balanced and relaxed most of the time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77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72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683680058"/>
                  </a:ext>
                </a:extLst>
              </a:tr>
              <a:tr h="274320">
                <a:tc>
                  <a:txBody>
                    <a:bodyPr/>
                    <a:lstStyle/>
                    <a:p>
                      <a:pPr algn="l" fontAlgn="b">
                        <a:buNone/>
                      </a:pPr>
                      <a:r>
                        <a:rPr lang="en-US" sz="1000" b="0" i="0" u="none" strike="noStrike" dirty="0">
                          <a:effectLst/>
                          <a:latin typeface="Arial" panose="020B0604020202020204" pitchFamily="34" charset="0"/>
                        </a:rPr>
                        <a:t>I often feel stressed or stretched too thin</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154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154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43361016"/>
                  </a:ext>
                </a:extLst>
              </a:tr>
              <a:tr h="274320">
                <a:tc>
                  <a:txBody>
                    <a:bodyPr/>
                    <a:lstStyle/>
                    <a:p>
                      <a:pPr algn="l" fontAlgn="b">
                        <a:buNone/>
                      </a:pPr>
                      <a:r>
                        <a:rPr lang="en-US" sz="1000" b="0" i="0" u="none" strike="noStrike" dirty="0">
                          <a:effectLst/>
                          <a:latin typeface="Arial" panose="020B0604020202020204" pitchFamily="34" charset="0"/>
                        </a:rPr>
                        <a:t>I am constantly seeking ways to add more excitement and adventure to my life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chemeClr val="tx1"/>
                          </a:solidFill>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2050239563"/>
                  </a:ext>
                </a:extLst>
              </a:tr>
              <a:tr h="274320">
                <a:tc>
                  <a:txBody>
                    <a:bodyPr/>
                    <a:lstStyle/>
                    <a:p>
                      <a:pPr algn="l" fontAlgn="b">
                        <a:buNone/>
                      </a:pPr>
                      <a:r>
                        <a:rPr lang="en-US" sz="1000" b="0" i="0" u="none" strike="noStrike" dirty="0">
                          <a:effectLst/>
                          <a:latin typeface="Arial" panose="020B0604020202020204" pitchFamily="34" charset="0"/>
                        </a:rPr>
                        <a:t>I am content with the status quo</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3777060894"/>
                  </a:ext>
                </a:extLst>
              </a:tr>
            </a:tbl>
          </a:graphicData>
        </a:graphic>
      </p:graphicFrame>
    </p:spTree>
    <p:extLst>
      <p:ext uri="{BB962C8B-B14F-4D97-AF65-F5344CB8AC3E}">
        <p14:creationId xmlns:p14="http://schemas.microsoft.com/office/powerpoint/2010/main" val="8916414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C543198-6052-A96A-1E53-33FF2A04064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34B33D-3F0E-2253-D571-31AD9145CA8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DD5A6F81-866D-612E-C056-8105713B66C7}"/>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sp>
        <p:nvSpPr>
          <p:cNvPr id="3" name="Footer Placeholder 2">
            <a:extLst>
              <a:ext uri="{FF2B5EF4-FFF2-40B4-BE49-F238E27FC236}">
                <a16:creationId xmlns:a16="http://schemas.microsoft.com/office/drawing/2014/main" id="{2CD80596-E095-13EB-B374-832D540B597A}"/>
              </a:ext>
            </a:extLst>
          </p:cNvPr>
          <p:cNvSpPr>
            <a:spLocks noGrp="1"/>
          </p:cNvSpPr>
          <p:nvPr>
            <p:ph type="ftr" sz="quarter" idx="4294967295"/>
          </p:nvPr>
        </p:nvSpPr>
        <p:spPr>
          <a:xfrm>
            <a:off x="7369175" y="6459538"/>
            <a:ext cx="4822825"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9" name="Table 8">
            <a:extLst>
              <a:ext uri="{FF2B5EF4-FFF2-40B4-BE49-F238E27FC236}">
                <a16:creationId xmlns:a16="http://schemas.microsoft.com/office/drawing/2014/main" id="{21C11A95-5BF0-3C6B-8DE8-26E0661B2048}"/>
              </a:ext>
            </a:extLst>
          </p:cNvPr>
          <p:cNvGraphicFramePr>
            <a:graphicFrameLocks noGrp="1"/>
          </p:cNvGraphicFramePr>
          <p:nvPr>
            <p:extLst>
              <p:ext uri="{D42A27DB-BD31-4B8C-83A1-F6EECF244321}">
                <p14:modId xmlns:p14="http://schemas.microsoft.com/office/powerpoint/2010/main" val="495552392"/>
              </p:ext>
            </p:extLst>
          </p:nvPr>
        </p:nvGraphicFramePr>
        <p:xfrm>
          <a:off x="83820" y="744154"/>
          <a:ext cx="12024360" cy="5941896"/>
        </p:xfrm>
        <a:graphic>
          <a:graphicData uri="http://schemas.openxmlformats.org/drawingml/2006/table">
            <a:tbl>
              <a:tblPr>
                <a:tableStyleId>{3B4B98B0-60AC-42C2-AFA5-B58CD77FA1E5}</a:tableStyleId>
              </a:tblPr>
              <a:tblGrid>
                <a:gridCol w="32004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100" b="1" i="0" u="none" strike="noStrike" dirty="0">
                          <a:solidFill>
                            <a:schemeClr val="bg1"/>
                          </a:solidFill>
                          <a:effectLst/>
                          <a:latin typeface="Arial" panose="020B0604020202020204" pitchFamily="34" charset="0"/>
                        </a:rPr>
                        <a:t>Current Health and Wellness Goals</a:t>
                      </a:r>
                    </a:p>
                    <a:p>
                      <a:pPr algn="ctr" fontAlgn="b">
                        <a:buNone/>
                      </a:pPr>
                      <a:r>
                        <a:rPr lang="en-US" sz="1100" b="0" i="0" u="none" strike="noStrike" dirty="0">
                          <a:solidFill>
                            <a:schemeClr val="bg1"/>
                          </a:solidFill>
                          <a:effectLst/>
                          <a:latin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Total</a:t>
                      </a:r>
                      <a:endParaRPr lang="en-US" sz="105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kern="1200" dirty="0">
                          <a:solidFill>
                            <a:schemeClr val="tx1"/>
                          </a:solidFill>
                          <a:effectLst/>
                          <a:latin typeface="+mn-lt"/>
                          <a:ea typeface="+mn-ea"/>
                          <a:cs typeface="+mn-cs"/>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u="none" strike="noStrike" dirty="0">
                          <a:effectLst/>
                        </a:rPr>
                        <a:t>Index to Total</a:t>
                      </a: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mn-lt"/>
                          <a:ea typeface="+mn-ea"/>
                          <a:cs typeface="+mn-cs"/>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182880">
                <a:tc>
                  <a:txBody>
                    <a:bodyPr/>
                    <a:lstStyle/>
                    <a:p>
                      <a:pPr algn="l" fontAlgn="b">
                        <a:buNone/>
                      </a:pPr>
                      <a:r>
                        <a:rPr lang="en-US" sz="1000" b="0" i="0" u="none" strike="noStrike" dirty="0">
                          <a:effectLst/>
                          <a:latin typeface="Arial" panose="020B0604020202020204" pitchFamily="34" charset="0"/>
                        </a:rPr>
                        <a:t>Improving overall/general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77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28676805"/>
                  </a:ext>
                </a:extLst>
              </a:tr>
              <a:tr h="182880">
                <a:tc>
                  <a:txBody>
                    <a:bodyPr/>
                    <a:lstStyle/>
                    <a:p>
                      <a:pPr algn="l" fontAlgn="b">
                        <a:buNone/>
                      </a:pPr>
                      <a:r>
                        <a:rPr lang="en-US" sz="1000" b="0" i="0" u="none" strike="noStrike" dirty="0">
                          <a:effectLst/>
                          <a:latin typeface="Arial" panose="020B0604020202020204" pitchFamily="34" charset="0"/>
                        </a:rPr>
                        <a:t>Healthy aging/longevity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850573762"/>
                  </a:ext>
                </a:extLst>
              </a:tr>
              <a:tr h="182880">
                <a:tc>
                  <a:txBody>
                    <a:bodyPr/>
                    <a:lstStyle/>
                    <a:p>
                      <a:pPr algn="l" fontAlgn="b">
                        <a:buNone/>
                      </a:pPr>
                      <a:r>
                        <a:rPr lang="en-US" sz="1000" b="0" i="0" u="none" strike="noStrike" dirty="0">
                          <a:effectLst/>
                          <a:latin typeface="Arial" panose="020B0604020202020204" pitchFamily="34" charset="0"/>
                        </a:rPr>
                        <a:t>Improving overall fitness level</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137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780497209"/>
                  </a:ext>
                </a:extLst>
              </a:tr>
              <a:tr h="182880">
                <a:tc>
                  <a:txBody>
                    <a:bodyPr/>
                    <a:lstStyle/>
                    <a:p>
                      <a:pPr algn="l" fontAlgn="b">
                        <a:buNone/>
                      </a:pPr>
                      <a:r>
                        <a:rPr lang="en-US" sz="1000" b="0" i="0" u="none" strike="noStrike" dirty="0">
                          <a:effectLst/>
                          <a:latin typeface="Arial" panose="020B0604020202020204" pitchFamily="34" charset="0"/>
                        </a:rPr>
                        <a:t>Reducing stress/anxiety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139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31310492"/>
                  </a:ext>
                </a:extLst>
              </a:tr>
              <a:tr h="182880">
                <a:tc>
                  <a:txBody>
                    <a:bodyPr/>
                    <a:lstStyle/>
                    <a:p>
                      <a:pPr algn="l" fontAlgn="b">
                        <a:buNone/>
                      </a:pPr>
                      <a:r>
                        <a:rPr lang="en-US" sz="1000" b="0" i="0" u="none" strike="noStrike" dirty="0">
                          <a:effectLst/>
                          <a:latin typeface="Arial" panose="020B0604020202020204" pitchFamily="34" charset="0"/>
                        </a:rPr>
                        <a:t>Managing weight</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066417305"/>
                  </a:ext>
                </a:extLst>
              </a:tr>
              <a:tr h="182880">
                <a:tc>
                  <a:txBody>
                    <a:bodyPr/>
                    <a:lstStyle/>
                    <a:p>
                      <a:pPr algn="l" fontAlgn="b">
                        <a:buNone/>
                      </a:pPr>
                      <a:r>
                        <a:rPr lang="en-US" sz="1000" b="0" i="0" u="none" strike="noStrike" dirty="0">
                          <a:effectLst/>
                          <a:latin typeface="Arial" panose="020B0604020202020204" pitchFamily="34" charset="0"/>
                        </a:rPr>
                        <a:t>Improving physical energy levels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148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939554723"/>
                  </a:ext>
                </a:extLst>
              </a:tr>
              <a:tr h="182880">
                <a:tc>
                  <a:txBody>
                    <a:bodyPr/>
                    <a:lstStyle/>
                    <a:p>
                      <a:pPr algn="l" fontAlgn="b">
                        <a:buNone/>
                      </a:pPr>
                      <a:r>
                        <a:rPr lang="en-US" sz="1000" b="0" i="0" u="none" strike="noStrike" dirty="0">
                          <a:effectLst/>
                          <a:latin typeface="Arial" panose="020B0604020202020204" pitchFamily="34" charset="0"/>
                        </a:rPr>
                        <a:t>Improving sleep</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140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489156379"/>
                  </a:ext>
                </a:extLst>
              </a:tr>
              <a:tr h="182880">
                <a:tc>
                  <a:txBody>
                    <a:bodyPr/>
                    <a:lstStyle/>
                    <a:p>
                      <a:pPr algn="l" fontAlgn="b">
                        <a:buNone/>
                      </a:pPr>
                      <a:r>
                        <a:rPr lang="en-US" sz="1000" b="0" i="0" u="none" strike="noStrike" dirty="0">
                          <a:effectLst/>
                          <a:latin typeface="Arial" panose="020B0604020202020204" pitchFamily="34" charset="0"/>
                        </a:rPr>
                        <a:t>Improving overall mental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152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674580844"/>
                  </a:ext>
                </a:extLst>
              </a:tr>
              <a:tr h="182880">
                <a:tc>
                  <a:txBody>
                    <a:bodyPr/>
                    <a:lstStyle/>
                    <a:p>
                      <a:pPr algn="l" fontAlgn="b">
                        <a:buNone/>
                      </a:pPr>
                      <a:r>
                        <a:rPr lang="en-US" sz="1000" b="0" i="0" u="none" strike="noStrike" dirty="0">
                          <a:effectLst/>
                          <a:latin typeface="Arial" panose="020B0604020202020204" pitchFamily="34" charset="0"/>
                        </a:rPr>
                        <a:t>Building muscle/strength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146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698751614"/>
                  </a:ext>
                </a:extLst>
              </a:tr>
              <a:tr h="182880">
                <a:tc>
                  <a:txBody>
                    <a:bodyPr/>
                    <a:lstStyle/>
                    <a:p>
                      <a:pPr algn="l" fontAlgn="b">
                        <a:buNone/>
                      </a:pPr>
                      <a:r>
                        <a:rPr lang="en-US" sz="1000" b="0" i="0" u="none" strike="noStrike" dirty="0">
                          <a:effectLst/>
                          <a:latin typeface="Arial" panose="020B0604020202020204" pitchFamily="34" charset="0"/>
                        </a:rPr>
                        <a:t>Improving mood/emotional well-being</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169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745935399"/>
                  </a:ext>
                </a:extLst>
              </a:tr>
              <a:tr h="182880">
                <a:tc>
                  <a:txBody>
                    <a:bodyPr/>
                    <a:lstStyle/>
                    <a:p>
                      <a:pPr algn="l" fontAlgn="b">
                        <a:buNone/>
                      </a:pPr>
                      <a:r>
                        <a:rPr lang="en-US" sz="1000" b="0" i="0" u="none" strike="noStrike" dirty="0">
                          <a:effectLst/>
                          <a:latin typeface="Arial" panose="020B0604020202020204" pitchFamily="34" charset="0"/>
                        </a:rPr>
                        <a:t>Improving cognition/mental energy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187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376645660"/>
                  </a:ext>
                </a:extLst>
              </a:tr>
              <a:tr h="182880">
                <a:tc>
                  <a:txBody>
                    <a:bodyPr/>
                    <a:lstStyle/>
                    <a:p>
                      <a:pPr algn="l" fontAlgn="b">
                        <a:buNone/>
                      </a:pPr>
                      <a:r>
                        <a:rPr lang="en-US" sz="1000" b="0" i="0" u="none" strike="noStrike" dirty="0">
                          <a:effectLst/>
                          <a:latin typeface="Arial" panose="020B0604020202020204" pitchFamily="34" charset="0"/>
                        </a:rPr>
                        <a:t>Improving appearance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175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085322168"/>
                  </a:ext>
                </a:extLst>
              </a:tr>
              <a:tr h="182880">
                <a:tc>
                  <a:txBody>
                    <a:bodyPr/>
                    <a:lstStyle/>
                    <a:p>
                      <a:pPr algn="l" fontAlgn="b">
                        <a:buNone/>
                      </a:pPr>
                      <a:r>
                        <a:rPr lang="en-US" sz="1000" b="0" i="0" u="none" strike="noStrike" dirty="0">
                          <a:effectLst/>
                          <a:latin typeface="Arial" panose="020B0604020202020204" pitchFamily="34" charset="0"/>
                        </a:rPr>
                        <a:t>Boosting immunity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176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179289564"/>
                  </a:ext>
                </a:extLst>
              </a:tr>
              <a:tr h="182880">
                <a:tc>
                  <a:txBody>
                    <a:bodyPr/>
                    <a:lstStyle/>
                    <a:p>
                      <a:pPr algn="l" fontAlgn="b">
                        <a:buNone/>
                      </a:pPr>
                      <a:r>
                        <a:rPr lang="en-US" sz="1000" b="0" i="0" u="none" strike="noStrike" dirty="0">
                          <a:effectLst/>
                          <a:latin typeface="Arial" panose="020B0604020202020204" pitchFamily="34" charset="0"/>
                        </a:rPr>
                        <a:t>Improving my heart/cardiovascular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656826372"/>
                  </a:ext>
                </a:extLst>
              </a:tr>
              <a:tr h="182880">
                <a:tc>
                  <a:txBody>
                    <a:bodyPr/>
                    <a:lstStyle/>
                    <a:p>
                      <a:pPr algn="l" fontAlgn="b">
                        <a:buNone/>
                      </a:pPr>
                      <a:r>
                        <a:rPr lang="en-US" sz="1000" b="0" i="0" u="none" strike="noStrike" dirty="0">
                          <a:effectLst/>
                          <a:latin typeface="Arial" panose="020B0604020202020204" pitchFamily="34" charset="0"/>
                        </a:rPr>
                        <a:t>Improving gut/gastrointestinal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183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691124215"/>
                  </a:ext>
                </a:extLst>
              </a:tr>
              <a:tr h="182880">
                <a:tc>
                  <a:txBody>
                    <a:bodyPr/>
                    <a:lstStyle/>
                    <a:p>
                      <a:pPr algn="l" fontAlgn="b">
                        <a:buNone/>
                      </a:pPr>
                      <a:r>
                        <a:rPr lang="en-US" sz="1000" b="0" i="0" u="none" strike="noStrike" dirty="0">
                          <a:effectLst/>
                          <a:latin typeface="Arial" panose="020B0604020202020204" pitchFamily="34" charset="0"/>
                        </a:rPr>
                        <a:t>Improving brain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167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533457366"/>
                  </a:ext>
                </a:extLst>
              </a:tr>
              <a:tr h="182880">
                <a:tc>
                  <a:txBody>
                    <a:bodyPr/>
                    <a:lstStyle/>
                    <a:p>
                      <a:pPr algn="l" fontAlgn="b">
                        <a:buNone/>
                      </a:pPr>
                      <a:r>
                        <a:rPr lang="en-US" sz="1000" b="0" i="0" u="none" strike="noStrike" dirty="0">
                          <a:effectLst/>
                          <a:latin typeface="Arial" panose="020B0604020202020204" pitchFamily="34" charset="0"/>
                        </a:rPr>
                        <a:t>Improving bone or joint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266442"/>
                  </a:ext>
                </a:extLst>
              </a:tr>
              <a:tr h="182880">
                <a:tc>
                  <a:txBody>
                    <a:bodyPr/>
                    <a:lstStyle/>
                    <a:p>
                      <a:pPr algn="l" fontAlgn="b">
                        <a:buNone/>
                      </a:pPr>
                      <a:r>
                        <a:rPr lang="en-US" sz="1000" b="0" i="0" u="none" strike="noStrike" dirty="0">
                          <a:effectLst/>
                          <a:latin typeface="Arial" panose="020B0604020202020204" pitchFamily="34" charset="0"/>
                        </a:rPr>
                        <a:t>Reducing inflammation</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177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572824558"/>
                  </a:ext>
                </a:extLst>
              </a:tr>
              <a:tr h="182880">
                <a:tc>
                  <a:txBody>
                    <a:bodyPr/>
                    <a:lstStyle/>
                    <a:p>
                      <a:pPr algn="l" fontAlgn="b">
                        <a:buNone/>
                      </a:pPr>
                      <a:r>
                        <a:rPr lang="en-US" sz="1000" b="0" i="0" u="none" strike="noStrike" dirty="0">
                          <a:effectLst/>
                          <a:latin typeface="Arial" panose="020B0604020202020204" pitchFamily="34" charset="0"/>
                        </a:rPr>
                        <a:t>Managing blood sugar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180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440402774"/>
                  </a:ext>
                </a:extLst>
              </a:tr>
              <a:tr h="182880">
                <a:tc>
                  <a:txBody>
                    <a:bodyPr/>
                    <a:lstStyle/>
                    <a:p>
                      <a:pPr algn="l" fontAlgn="b">
                        <a:buNone/>
                      </a:pPr>
                      <a:r>
                        <a:rPr lang="en-US" sz="1000" b="0" i="0" u="none" strike="noStrike" dirty="0">
                          <a:effectLst/>
                          <a:latin typeface="Arial" panose="020B0604020202020204" pitchFamily="34" charset="0"/>
                        </a:rPr>
                        <a:t>Improving eye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194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391056604"/>
                  </a:ext>
                </a:extLst>
              </a:tr>
              <a:tr h="182880">
                <a:tc>
                  <a:txBody>
                    <a:bodyPr/>
                    <a:lstStyle/>
                    <a:p>
                      <a:pPr algn="l" fontAlgn="b">
                        <a:buNone/>
                      </a:pPr>
                      <a:r>
                        <a:rPr lang="en-US" sz="1000" b="0" i="0" u="none" strike="noStrike" dirty="0">
                          <a:effectLst/>
                          <a:latin typeface="Arial" panose="020B0604020202020204" pitchFamily="34" charset="0"/>
                        </a:rPr>
                        <a:t>Managing a diagnosed medical condition</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165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184012062"/>
                  </a:ext>
                </a:extLst>
              </a:tr>
              <a:tr h="182880">
                <a:tc>
                  <a:txBody>
                    <a:bodyPr/>
                    <a:lstStyle/>
                    <a:p>
                      <a:pPr algn="l" fontAlgn="b">
                        <a:buNone/>
                      </a:pPr>
                      <a:r>
                        <a:rPr lang="en-US" sz="1000" b="0" i="0" u="none" strike="noStrike" dirty="0">
                          <a:effectLst/>
                          <a:latin typeface="Arial" panose="020B0604020202020204" pitchFamily="34" charset="0"/>
                        </a:rPr>
                        <a:t>Improving sexual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195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566318044"/>
                  </a:ext>
                </a:extLst>
              </a:tr>
              <a:tr h="182880">
                <a:tc>
                  <a:txBody>
                    <a:bodyPr/>
                    <a:lstStyle/>
                    <a:p>
                      <a:pPr algn="l" fontAlgn="b">
                        <a:buNone/>
                      </a:pPr>
                      <a:r>
                        <a:rPr lang="en-US" sz="1000" b="0" i="0" u="none" strike="noStrike" dirty="0">
                          <a:effectLst/>
                          <a:latin typeface="Arial" panose="020B0604020202020204" pitchFamily="34" charset="0"/>
                        </a:rPr>
                        <a:t>Cleansing/detox</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236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731175107"/>
                  </a:ext>
                </a:extLst>
              </a:tr>
              <a:tr h="182880">
                <a:tc>
                  <a:txBody>
                    <a:bodyPr/>
                    <a:lstStyle/>
                    <a:p>
                      <a:pPr algn="l" fontAlgn="b">
                        <a:buNone/>
                      </a:pPr>
                      <a:r>
                        <a:rPr lang="en-US" sz="1000" b="0" i="0" u="none" strike="noStrike" dirty="0">
                          <a:effectLst/>
                          <a:latin typeface="Arial" panose="020B0604020202020204" pitchFamily="34" charset="0"/>
                        </a:rPr>
                        <a:t>Addressing a nutrient gap/deficiency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204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294444547"/>
                  </a:ext>
                </a:extLst>
              </a:tr>
              <a:tr h="182880">
                <a:tc>
                  <a:txBody>
                    <a:bodyPr/>
                    <a:lstStyle/>
                    <a:p>
                      <a:pPr algn="l" fontAlgn="b">
                        <a:buNone/>
                      </a:pPr>
                      <a:r>
                        <a:rPr lang="en-US" sz="1000" b="0" i="0" u="none" strike="noStrike" dirty="0">
                          <a:effectLst/>
                          <a:latin typeface="Arial" panose="020B0604020202020204" pitchFamily="34" charset="0"/>
                        </a:rPr>
                        <a:t>Hormonal/metabolism support</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221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807090806"/>
                  </a:ext>
                </a:extLst>
              </a:tr>
              <a:tr h="182880">
                <a:tc>
                  <a:txBody>
                    <a:bodyPr/>
                    <a:lstStyle/>
                    <a:p>
                      <a:pPr algn="l" fontAlgn="b">
                        <a:buNone/>
                      </a:pPr>
                      <a:r>
                        <a:rPr lang="en-US" sz="1000" b="0" i="0" u="none" strike="noStrike" dirty="0">
                          <a:effectLst/>
                          <a:latin typeface="Arial" panose="020B0604020202020204" pitchFamily="34" charset="0"/>
                        </a:rPr>
                        <a:t>Improving liver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37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219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050239563"/>
                  </a:ext>
                </a:extLst>
              </a:tr>
              <a:tr h="182880">
                <a:tc>
                  <a:txBody>
                    <a:bodyPr/>
                    <a:lstStyle/>
                    <a:p>
                      <a:pPr algn="l" fontAlgn="b">
                        <a:buNone/>
                      </a:pPr>
                      <a:r>
                        <a:rPr lang="en-US" sz="1000" b="0" i="0" u="none" strike="noStrike" dirty="0">
                          <a:effectLst/>
                          <a:latin typeface="Arial" panose="020B0604020202020204" pitchFamily="34" charset="0"/>
                        </a:rPr>
                        <a:t>Managing perimenopause/menopause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160 </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77060894"/>
                  </a:ext>
                </a:extLst>
              </a:tr>
              <a:tr h="182880">
                <a:tc>
                  <a:txBody>
                    <a:bodyPr/>
                    <a:lstStyle/>
                    <a:p>
                      <a:pPr algn="l" fontAlgn="b">
                        <a:buNone/>
                      </a:pPr>
                      <a:r>
                        <a:rPr lang="en-US" sz="1000" b="0" i="0" u="none" strike="noStrike" dirty="0">
                          <a:effectLst/>
                          <a:latin typeface="Arial" panose="020B0604020202020204" pitchFamily="34" charset="0"/>
                        </a:rPr>
                        <a:t>Mean number of goals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9.8</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7.0</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9.2</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12.6</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7.0</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9.8</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15.5</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159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2553808713"/>
                  </a:ext>
                </a:extLst>
              </a:tr>
            </a:tbl>
          </a:graphicData>
        </a:graphic>
      </p:graphicFrame>
      <p:sp>
        <p:nvSpPr>
          <p:cNvPr id="6" name="TextBox 5">
            <a:extLst>
              <a:ext uri="{FF2B5EF4-FFF2-40B4-BE49-F238E27FC236}">
                <a16:creationId xmlns:a16="http://schemas.microsoft.com/office/drawing/2014/main" id="{7FB5D06C-9483-DCDD-9F2D-636FFBA0C50E}"/>
              </a:ext>
            </a:extLst>
          </p:cNvPr>
          <p:cNvSpPr txBox="1"/>
          <p:nvPr/>
        </p:nvSpPr>
        <p:spPr>
          <a:xfrm>
            <a:off x="17357" y="6642100"/>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H2. Which of the following health and wellness goals are you currently pursuing?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8F139E8A-715B-3DA5-6104-965FAF57EA0A}"/>
              </a:ext>
            </a:extLst>
          </p:cNvPr>
          <p:cNvSpPr txBox="1">
            <a:spLocks/>
          </p:cNvSpPr>
          <p:nvPr/>
        </p:nvSpPr>
        <p:spPr>
          <a:xfrm>
            <a:off x="83820" y="161042"/>
            <a:ext cx="11688647"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000" dirty="0"/>
              <a:t>Wellness Optimizers and Conflicted Experimenters are pursing significantly more health and wellness goals versus average and the other segments ; Goal-Oriented planners are more focused on fitness and heart health than average</a:t>
            </a:r>
            <a:endParaRPr kumimoji="0" lang="en-US" sz="20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10387898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6B47952-8E6C-95C1-9BF9-877FEAEE0C3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7FD550-0FF0-B6A4-F440-C24FF3403713}"/>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729573C2-7ACB-F59F-DCF1-34BCEB03413C}"/>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graphicFrame>
        <p:nvGraphicFramePr>
          <p:cNvPr id="9" name="Table 8">
            <a:extLst>
              <a:ext uri="{FF2B5EF4-FFF2-40B4-BE49-F238E27FC236}">
                <a16:creationId xmlns:a16="http://schemas.microsoft.com/office/drawing/2014/main" id="{049B1ADC-AEAF-86CF-D354-EA3A0F695EA1}"/>
              </a:ext>
            </a:extLst>
          </p:cNvPr>
          <p:cNvGraphicFramePr>
            <a:graphicFrameLocks noGrp="1"/>
          </p:cNvGraphicFramePr>
          <p:nvPr>
            <p:extLst>
              <p:ext uri="{D42A27DB-BD31-4B8C-83A1-F6EECF244321}">
                <p14:modId xmlns:p14="http://schemas.microsoft.com/office/powerpoint/2010/main" val="1611382486"/>
              </p:ext>
            </p:extLst>
          </p:nvPr>
        </p:nvGraphicFramePr>
        <p:xfrm>
          <a:off x="83820" y="1796352"/>
          <a:ext cx="12024360" cy="4771464"/>
        </p:xfrm>
        <a:graphic>
          <a:graphicData uri="http://schemas.openxmlformats.org/drawingml/2006/table">
            <a:tbl>
              <a:tblPr>
                <a:tableStyleId>{3B4B98B0-60AC-42C2-AFA5-B58CD77FA1E5}</a:tableStyleId>
              </a:tblPr>
              <a:tblGrid>
                <a:gridCol w="32004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100" b="1" i="0" u="none" strike="noStrike" dirty="0">
                          <a:solidFill>
                            <a:schemeClr val="bg1"/>
                          </a:solidFill>
                          <a:effectLst/>
                          <a:latin typeface="Arial" panose="020B0604020202020204" pitchFamily="34" charset="0"/>
                        </a:rPr>
                        <a:t>Core Health and Wellness Behaviors</a:t>
                      </a:r>
                    </a:p>
                    <a:p>
                      <a:pPr algn="ctr" fontAlgn="b">
                        <a:buNone/>
                      </a:pPr>
                      <a:r>
                        <a:rPr lang="en-US" sz="1100" b="0" i="0" u="none" strike="noStrike" dirty="0">
                          <a:solidFill>
                            <a:schemeClr val="bg1"/>
                          </a:solidFill>
                          <a:effectLst/>
                          <a:latin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Total</a:t>
                      </a:r>
                      <a:endParaRPr lang="en-US" sz="105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kern="1200" dirty="0">
                          <a:solidFill>
                            <a:schemeClr val="tx1"/>
                          </a:solidFill>
                          <a:effectLst/>
                          <a:latin typeface="+mn-lt"/>
                          <a:ea typeface="+mn-ea"/>
                          <a:cs typeface="+mn-cs"/>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dirty="0">
                          <a:effectLst/>
                        </a:rPr>
                        <a:t>Index to Total</a:t>
                      </a: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mn-lt"/>
                          <a:ea typeface="+mn-ea"/>
                          <a:cs typeface="+mn-cs"/>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46888">
                <a:tc>
                  <a:txBody>
                    <a:bodyPr/>
                    <a:lstStyle/>
                    <a:p>
                      <a:pPr algn="l" fontAlgn="b">
                        <a:buNone/>
                      </a:pPr>
                      <a:r>
                        <a:rPr lang="en-US" sz="1000" b="0" i="0" u="none" strike="noStrike" dirty="0">
                          <a:effectLst/>
                          <a:latin typeface="Arial" panose="020B0604020202020204" pitchFamily="34" charset="0"/>
                        </a:rPr>
                        <a:t>Eating a healthy diet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133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28676805"/>
                  </a:ext>
                </a:extLst>
              </a:tr>
              <a:tr h="246888">
                <a:tc>
                  <a:txBody>
                    <a:bodyPr/>
                    <a:lstStyle/>
                    <a:p>
                      <a:pPr algn="l" fontAlgn="b">
                        <a:buNone/>
                      </a:pPr>
                      <a:r>
                        <a:rPr lang="en-US" sz="1000" b="0" i="0" u="none" strike="noStrike" dirty="0">
                          <a:effectLst/>
                          <a:latin typeface="Arial" panose="020B0604020202020204" pitchFamily="34" charset="0"/>
                        </a:rPr>
                        <a:t>Prioritizing exercise/physical fitness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138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850573762"/>
                  </a:ext>
                </a:extLst>
              </a:tr>
              <a:tr h="246888">
                <a:tc>
                  <a:txBody>
                    <a:bodyPr/>
                    <a:lstStyle/>
                    <a:p>
                      <a:pPr algn="l" fontAlgn="b">
                        <a:buNone/>
                      </a:pPr>
                      <a:r>
                        <a:rPr lang="en-US" sz="1000" b="0" i="0" u="none" strike="noStrike" dirty="0">
                          <a:effectLst/>
                          <a:latin typeface="Arial" panose="020B0604020202020204" pitchFamily="34" charset="0"/>
                        </a:rPr>
                        <a:t>Prioritizing sleep</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138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780497209"/>
                  </a:ext>
                </a:extLst>
              </a:tr>
              <a:tr h="246888">
                <a:tc>
                  <a:txBody>
                    <a:bodyPr/>
                    <a:lstStyle/>
                    <a:p>
                      <a:pPr algn="l" fontAlgn="b">
                        <a:buNone/>
                      </a:pPr>
                      <a:r>
                        <a:rPr lang="en-US" sz="1000" b="0" i="0" u="none" strike="noStrike" dirty="0">
                          <a:effectLst/>
                          <a:latin typeface="Arial" panose="020B0604020202020204" pitchFamily="34" charset="0"/>
                        </a:rPr>
                        <a:t>Taking dietary supplements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146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31310492"/>
                  </a:ext>
                </a:extLst>
              </a:tr>
              <a:tr h="246888">
                <a:tc>
                  <a:txBody>
                    <a:bodyPr/>
                    <a:lstStyle/>
                    <a:p>
                      <a:pPr algn="l" fontAlgn="b">
                        <a:buNone/>
                      </a:pPr>
                      <a:r>
                        <a:rPr lang="en-US" sz="1000" b="0" i="0" u="none" strike="noStrike" dirty="0">
                          <a:effectLst/>
                          <a:latin typeface="Arial" panose="020B0604020202020204" pitchFamily="34" charset="0"/>
                        </a:rPr>
                        <a:t>Spending time outdoors/in nature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150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066417305"/>
                  </a:ext>
                </a:extLst>
              </a:tr>
              <a:tr h="246888">
                <a:tc>
                  <a:txBody>
                    <a:bodyPr/>
                    <a:lstStyle/>
                    <a:p>
                      <a:pPr algn="l" fontAlgn="b">
                        <a:buNone/>
                      </a:pPr>
                      <a:r>
                        <a:rPr lang="en-US" sz="1000" b="0" i="0" u="none" strike="noStrike" dirty="0">
                          <a:effectLst/>
                          <a:latin typeface="Arial" panose="020B0604020202020204" pitchFamily="34" charset="0"/>
                        </a:rPr>
                        <a:t>Consuming functional foods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194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939554723"/>
                  </a:ext>
                </a:extLst>
              </a:tr>
              <a:tr h="246888">
                <a:tc>
                  <a:txBody>
                    <a:bodyPr/>
                    <a:lstStyle/>
                    <a:p>
                      <a:pPr algn="l" fontAlgn="b">
                        <a:buNone/>
                      </a:pPr>
                      <a:r>
                        <a:rPr lang="en-US" sz="1000" b="0" i="0" u="none" strike="noStrike" dirty="0">
                          <a:effectLst/>
                          <a:latin typeface="Arial" panose="020B0604020202020204" pitchFamily="34" charset="0"/>
                        </a:rPr>
                        <a:t>Consuming functional beverages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200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489156379"/>
                  </a:ext>
                </a:extLst>
              </a:tr>
              <a:tr h="246888">
                <a:tc>
                  <a:txBody>
                    <a:bodyPr/>
                    <a:lstStyle/>
                    <a:p>
                      <a:pPr algn="l" fontAlgn="b">
                        <a:buNone/>
                      </a:pPr>
                      <a:r>
                        <a:rPr lang="en-US" sz="1000" b="0" i="0" u="none" strike="noStrike" dirty="0">
                          <a:effectLst/>
                          <a:latin typeface="Arial" panose="020B0604020202020204" pitchFamily="34" charset="0"/>
                        </a:rPr>
                        <a:t>Emotional well-being/mindfulness practices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220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674580844"/>
                  </a:ext>
                </a:extLst>
              </a:tr>
              <a:tr h="246888">
                <a:tc>
                  <a:txBody>
                    <a:bodyPr/>
                    <a:lstStyle/>
                    <a:p>
                      <a:pPr algn="l" fontAlgn="b">
                        <a:buNone/>
                      </a:pPr>
                      <a:r>
                        <a:rPr lang="en-US" sz="1000" b="0" i="0" u="none" strike="noStrike" dirty="0">
                          <a:effectLst/>
                          <a:latin typeface="Arial" panose="020B0604020202020204" pitchFamily="34" charset="0"/>
                        </a:rPr>
                        <a:t>Researching/learning about health and wellness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219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698751614"/>
                  </a:ext>
                </a:extLst>
              </a:tr>
              <a:tr h="246888">
                <a:tc>
                  <a:txBody>
                    <a:bodyPr/>
                    <a:lstStyle/>
                    <a:p>
                      <a:pPr algn="l" fontAlgn="b">
                        <a:buNone/>
                      </a:pPr>
                      <a:r>
                        <a:rPr lang="en-US" sz="1000" b="0" i="0" u="none" strike="noStrike" dirty="0">
                          <a:effectLst/>
                          <a:latin typeface="Arial" panose="020B0604020202020204" pitchFamily="34" charset="0"/>
                        </a:rPr>
                        <a:t>Engaging in creative outlets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226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745935399"/>
                  </a:ext>
                </a:extLst>
              </a:tr>
              <a:tr h="246888">
                <a:tc>
                  <a:txBody>
                    <a:bodyPr/>
                    <a:lstStyle/>
                    <a:p>
                      <a:pPr algn="l" fontAlgn="b">
                        <a:buNone/>
                      </a:pPr>
                      <a:r>
                        <a:rPr lang="en-US" sz="1000" b="0" i="0" u="none" strike="noStrike" dirty="0">
                          <a:effectLst/>
                          <a:latin typeface="Arial" panose="020B0604020202020204" pitchFamily="34" charset="0"/>
                        </a:rPr>
                        <a:t>Using health and wellness apps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215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376645660"/>
                  </a:ext>
                </a:extLst>
              </a:tr>
              <a:tr h="246888">
                <a:tc>
                  <a:txBody>
                    <a:bodyPr/>
                    <a:lstStyle/>
                    <a:p>
                      <a:pPr algn="l" fontAlgn="b">
                        <a:buNone/>
                      </a:pPr>
                      <a:r>
                        <a:rPr lang="en-US" sz="1000" b="0" i="0" u="none" strike="noStrike" dirty="0">
                          <a:effectLst/>
                          <a:latin typeface="Arial" panose="020B0604020202020204" pitchFamily="34" charset="0"/>
                        </a:rPr>
                        <a:t>Using wearable health technology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204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085322168"/>
                  </a:ext>
                </a:extLst>
              </a:tr>
              <a:tr h="246888">
                <a:tc>
                  <a:txBody>
                    <a:bodyPr/>
                    <a:lstStyle/>
                    <a:p>
                      <a:pPr algn="l" fontAlgn="b">
                        <a:buNone/>
                      </a:pPr>
                      <a:r>
                        <a:rPr lang="en-US" sz="1000" b="0" i="0" u="none" strike="noStrike" dirty="0">
                          <a:effectLst/>
                          <a:latin typeface="Arial" panose="020B0604020202020204" pitchFamily="34" charset="0"/>
                        </a:rPr>
                        <a:t>Limiting screen time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211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179289564"/>
                  </a:ext>
                </a:extLst>
              </a:tr>
              <a:tr h="246888">
                <a:tc>
                  <a:txBody>
                    <a:bodyPr/>
                    <a:lstStyle/>
                    <a:p>
                      <a:pPr algn="l" fontAlgn="b">
                        <a:buNone/>
                      </a:pPr>
                      <a:r>
                        <a:rPr lang="en-US" sz="1000" b="0" i="0" u="none" strike="noStrike" dirty="0">
                          <a:effectLst/>
                          <a:latin typeface="Arial" panose="020B0604020202020204" pitchFamily="34" charset="0"/>
                        </a:rPr>
                        <a:t>Using personalized health technology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38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324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656826372"/>
                  </a:ext>
                </a:extLst>
              </a:tr>
              <a:tr h="246888">
                <a:tc>
                  <a:txBody>
                    <a:bodyPr/>
                    <a:lstStyle/>
                    <a:p>
                      <a:pPr algn="l" fontAlgn="b">
                        <a:buNone/>
                      </a:pPr>
                      <a:r>
                        <a:rPr lang="en-US" sz="1000" b="0" i="0" u="none" strike="noStrike" dirty="0">
                          <a:effectLst/>
                          <a:latin typeface="Arial" panose="020B0604020202020204" pitchFamily="34" charset="0"/>
                        </a:rPr>
                        <a:t>Following a special diet/lifestyle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295 </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91124215"/>
                  </a:ext>
                </a:extLst>
              </a:tr>
              <a:tr h="246888">
                <a:tc>
                  <a:txBody>
                    <a:bodyPr/>
                    <a:lstStyle/>
                    <a:p>
                      <a:pPr algn="l" fontAlgn="b">
                        <a:buNone/>
                      </a:pPr>
                      <a:r>
                        <a:rPr lang="en-US" sz="1000" b="0" i="0" u="none" strike="noStrike" dirty="0">
                          <a:effectLst/>
                          <a:latin typeface="Arial" panose="020B0604020202020204" pitchFamily="34" charset="0"/>
                        </a:rPr>
                        <a:t>Mean # of Behaviors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6.0</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3.8</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5.4</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7.7</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4.4</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5.9</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10.9</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181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70270681"/>
                  </a:ext>
                </a:extLst>
              </a:tr>
            </a:tbl>
          </a:graphicData>
        </a:graphic>
      </p:graphicFrame>
      <p:sp>
        <p:nvSpPr>
          <p:cNvPr id="6" name="TextBox 5">
            <a:extLst>
              <a:ext uri="{FF2B5EF4-FFF2-40B4-BE49-F238E27FC236}">
                <a16:creationId xmlns:a16="http://schemas.microsoft.com/office/drawing/2014/main" id="{5EB9828B-53FD-E591-1A4A-B2BE84FA56B6}"/>
              </a:ext>
            </a:extLst>
          </p:cNvPr>
          <p:cNvSpPr txBox="1"/>
          <p:nvPr/>
        </p:nvSpPr>
        <p:spPr>
          <a:xfrm>
            <a:off x="0" y="6578442"/>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H3. Which of the following, if any, do you consider to be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core</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 to your overall health and wellness routine?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34A4EA5F-7AB4-8E92-B402-3638F761B7D0}"/>
              </a:ext>
            </a:extLst>
          </p:cNvPr>
          <p:cNvSpPr txBox="1">
            <a:spLocks/>
          </p:cNvSpPr>
          <p:nvPr/>
        </p:nvSpPr>
        <p:spPr>
          <a:xfrm>
            <a:off x="383684" y="290184"/>
            <a:ext cx="9726087"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Wellness Optimizers also engage in significantly more health and wellness behaviors, followed by Conflicted Experimenters</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7" name="TextBox 6">
            <a:extLst>
              <a:ext uri="{FF2B5EF4-FFF2-40B4-BE49-F238E27FC236}">
                <a16:creationId xmlns:a16="http://schemas.microsoft.com/office/drawing/2014/main" id="{537556CE-23E4-1E86-D62B-74545206D16F}"/>
              </a:ext>
            </a:extLst>
          </p:cNvPr>
          <p:cNvSpPr txBox="1"/>
          <p:nvPr/>
        </p:nvSpPr>
        <p:spPr>
          <a:xfrm>
            <a:off x="383684" y="1062480"/>
            <a:ext cx="10474735" cy="5847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Goal-Oriented Planners are more likely than average to engage in the basics of eating healthy and exercising</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Impact Seekers are more likely than </a:t>
            </a:r>
            <a:r>
              <a:rPr lang="en-US" sz="1600" dirty="0">
                <a:solidFill>
                  <a:srgbClr val="BD582C"/>
                </a:solidFill>
                <a:latin typeface="Calibri Light" panose="020F0302020204030204"/>
              </a:rPr>
              <a:t>average to use personalized health technology</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7672485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BC6C51-C32C-089D-761B-7A8402B4E2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F6E1BD-0414-BF68-3597-244764200139}"/>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9378CBE1-E1A7-033C-E8AA-701E782D7896}"/>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graphicFrame>
        <p:nvGraphicFramePr>
          <p:cNvPr id="9" name="Table 8">
            <a:extLst>
              <a:ext uri="{FF2B5EF4-FFF2-40B4-BE49-F238E27FC236}">
                <a16:creationId xmlns:a16="http://schemas.microsoft.com/office/drawing/2014/main" id="{D48A40EE-6CC7-E343-C68D-8360677A5F33}"/>
              </a:ext>
            </a:extLst>
          </p:cNvPr>
          <p:cNvGraphicFramePr>
            <a:graphicFrameLocks noGrp="1"/>
          </p:cNvGraphicFramePr>
          <p:nvPr>
            <p:extLst>
              <p:ext uri="{D42A27DB-BD31-4B8C-83A1-F6EECF244321}">
                <p14:modId xmlns:p14="http://schemas.microsoft.com/office/powerpoint/2010/main" val="1640651161"/>
              </p:ext>
            </p:extLst>
          </p:nvPr>
        </p:nvGraphicFramePr>
        <p:xfrm>
          <a:off x="83820" y="1845425"/>
          <a:ext cx="12024360" cy="4524576"/>
        </p:xfrm>
        <a:graphic>
          <a:graphicData uri="http://schemas.openxmlformats.org/drawingml/2006/table">
            <a:tbl>
              <a:tblPr>
                <a:tableStyleId>{3B4B98B0-60AC-42C2-AFA5-B58CD77FA1E5}</a:tableStyleId>
              </a:tblPr>
              <a:tblGrid>
                <a:gridCol w="32004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100" b="1" i="0" u="none" strike="noStrike" dirty="0">
                          <a:solidFill>
                            <a:schemeClr val="bg1"/>
                          </a:solidFill>
                          <a:effectLst/>
                          <a:latin typeface="Arial" panose="020B0604020202020204" pitchFamily="34" charset="0"/>
                        </a:rPr>
                        <a:t>Health and Wellness Challenges</a:t>
                      </a:r>
                    </a:p>
                    <a:p>
                      <a:pPr algn="ctr" fontAlgn="b">
                        <a:buNone/>
                      </a:pPr>
                      <a:r>
                        <a:rPr lang="en-US" sz="1100" b="0" i="0" u="none" strike="noStrike" dirty="0">
                          <a:solidFill>
                            <a:schemeClr val="bg1"/>
                          </a:solidFill>
                          <a:effectLst/>
                          <a:latin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Total</a:t>
                      </a:r>
                      <a:endParaRPr lang="en-US" sz="105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kern="1200" dirty="0">
                          <a:solidFill>
                            <a:schemeClr val="tx1"/>
                          </a:solidFill>
                          <a:effectLst/>
                          <a:latin typeface="+mn-lt"/>
                          <a:ea typeface="+mn-ea"/>
                          <a:cs typeface="+mn-cs"/>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dirty="0">
                          <a:effectLst/>
                        </a:rPr>
                        <a:t>Index to Total</a:t>
                      </a: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mn-lt"/>
                          <a:ea typeface="+mn-ea"/>
                          <a:cs typeface="+mn-cs"/>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411480">
                <a:tc>
                  <a:txBody>
                    <a:bodyPr/>
                    <a:lstStyle/>
                    <a:p>
                      <a:pPr algn="l" fontAlgn="b">
                        <a:buNone/>
                      </a:pPr>
                      <a:r>
                        <a:rPr lang="en-US" sz="1000" b="0" i="0" u="none" strike="noStrike" dirty="0">
                          <a:effectLst/>
                          <a:latin typeface="Arial" panose="020B0604020202020204" pitchFamily="34" charset="0"/>
                        </a:rPr>
                        <a:t>There is too much conflicting information about what to do/not to do</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150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411480">
                <a:tc>
                  <a:txBody>
                    <a:bodyPr/>
                    <a:lstStyle/>
                    <a:p>
                      <a:pPr algn="l" fontAlgn="b">
                        <a:buNone/>
                      </a:pPr>
                      <a:r>
                        <a:rPr lang="en-US" sz="1000" b="0" i="0" u="none" strike="noStrike" dirty="0">
                          <a:effectLst/>
                          <a:latin typeface="Arial" panose="020B0604020202020204" pitchFamily="34" charset="0"/>
                        </a:rPr>
                        <a:t>It's difficult to stay motivated and stick to a routine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477973950"/>
                  </a:ext>
                </a:extLst>
              </a:tr>
              <a:tr h="411480">
                <a:tc>
                  <a:txBody>
                    <a:bodyPr/>
                    <a:lstStyle/>
                    <a:p>
                      <a:pPr algn="l" fontAlgn="b">
                        <a:buNone/>
                      </a:pPr>
                      <a:r>
                        <a:rPr lang="en-US" sz="1000" b="0" i="0" u="none" strike="noStrike" dirty="0">
                          <a:effectLst/>
                          <a:latin typeface="Arial" panose="020B0604020202020204" pitchFamily="34" charset="0"/>
                        </a:rPr>
                        <a:t>It's too expensive to prioritize health and well-being</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290329423"/>
                  </a:ext>
                </a:extLst>
              </a:tr>
              <a:tr h="411480">
                <a:tc>
                  <a:txBody>
                    <a:bodyPr/>
                    <a:lstStyle/>
                    <a:p>
                      <a:pPr algn="l" fontAlgn="b">
                        <a:buNone/>
                      </a:pPr>
                      <a:r>
                        <a:rPr lang="en-US" sz="1000" b="0" i="0" u="none" strike="noStrike" dirty="0">
                          <a:effectLst/>
                          <a:latin typeface="Arial" panose="020B0604020202020204" pitchFamily="34" charset="0"/>
                        </a:rPr>
                        <a:t>I don't trust the guidance/information from celebrities, athletes, or other influencers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199657614"/>
                  </a:ext>
                </a:extLst>
              </a:tr>
              <a:tr h="411480">
                <a:tc>
                  <a:txBody>
                    <a:bodyPr/>
                    <a:lstStyle/>
                    <a:p>
                      <a:pPr algn="l" fontAlgn="b">
                        <a:buNone/>
                      </a:pPr>
                      <a:r>
                        <a:rPr lang="en-US" sz="1000" b="0" i="0" u="none" strike="noStrike" dirty="0">
                          <a:effectLst/>
                          <a:latin typeface="Arial" panose="020B0604020202020204" pitchFamily="34" charset="0"/>
                        </a:rPr>
                        <a:t>It's too complicated/there are too many things to focus on</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150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895310515"/>
                  </a:ext>
                </a:extLst>
              </a:tr>
              <a:tr h="411480">
                <a:tc>
                  <a:txBody>
                    <a:bodyPr/>
                    <a:lstStyle/>
                    <a:p>
                      <a:pPr algn="l" fontAlgn="b">
                        <a:buNone/>
                      </a:pPr>
                      <a:r>
                        <a:rPr lang="en-US" sz="1000" b="0" i="0" u="none" strike="noStrike" dirty="0">
                          <a:effectLst/>
                          <a:latin typeface="Arial" panose="020B0604020202020204" pitchFamily="34" charset="0"/>
                        </a:rPr>
                        <a:t>I don't trust the claims made by health and wellness brands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208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104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294444547"/>
                  </a:ext>
                </a:extLst>
              </a:tr>
              <a:tr h="411480">
                <a:tc>
                  <a:txBody>
                    <a:bodyPr/>
                    <a:lstStyle/>
                    <a:p>
                      <a:pPr algn="l" fontAlgn="b">
                        <a:buNone/>
                      </a:pPr>
                      <a:r>
                        <a:rPr lang="en-US" sz="1000" b="0" i="0" u="none" strike="noStrike" dirty="0">
                          <a:effectLst/>
                          <a:latin typeface="Arial" panose="020B0604020202020204" pitchFamily="34" charset="0"/>
                        </a:rPr>
                        <a:t>Solutions aren't personalized enough</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000" b="0" i="0" u="none" strike="noStrike" dirty="0">
                          <a:effectLst/>
                          <a:latin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184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148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807090806"/>
                  </a:ext>
                </a:extLst>
              </a:tr>
              <a:tr h="411480">
                <a:tc>
                  <a:txBody>
                    <a:bodyPr/>
                    <a:lstStyle/>
                    <a:p>
                      <a:pPr algn="l" fontAlgn="b">
                        <a:buNone/>
                      </a:pPr>
                      <a:r>
                        <a:rPr lang="en-US" sz="1000" b="0" i="0" u="none" strike="noStrike" dirty="0">
                          <a:effectLst/>
                          <a:latin typeface="Arial" panose="020B0604020202020204" pitchFamily="34" charset="0"/>
                        </a:rPr>
                        <a:t>I don't trust the guidance/information from health and wellness professionals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222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146 </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50239563"/>
                  </a:ext>
                </a:extLst>
              </a:tr>
              <a:tr h="411480">
                <a:tc>
                  <a:txBody>
                    <a:bodyPr/>
                    <a:lstStyle/>
                    <a:p>
                      <a:pPr algn="l" fontAlgn="b">
                        <a:buNone/>
                      </a:pPr>
                      <a:r>
                        <a:rPr lang="en-US" sz="1000" b="0" i="0" u="none" strike="noStrike" dirty="0">
                          <a:effectLst/>
                          <a:latin typeface="Arial" panose="020B0604020202020204" pitchFamily="34" charset="0"/>
                        </a:rPr>
                        <a:t>None of the above are challenges for me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0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246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3777060894"/>
                  </a:ext>
                </a:extLst>
              </a:tr>
            </a:tbl>
          </a:graphicData>
        </a:graphic>
      </p:graphicFrame>
      <p:sp>
        <p:nvSpPr>
          <p:cNvPr id="5" name="TextBox 4">
            <a:extLst>
              <a:ext uri="{FF2B5EF4-FFF2-40B4-BE49-F238E27FC236}">
                <a16:creationId xmlns:a16="http://schemas.microsoft.com/office/drawing/2014/main" id="{3713ED60-EA77-FC63-E508-22797679EA34}"/>
              </a:ext>
            </a:extLst>
          </p:cNvPr>
          <p:cNvSpPr txBox="1"/>
          <p:nvPr/>
        </p:nvSpPr>
        <p:spPr>
          <a:xfrm>
            <a:off x="-71919" y="6488905"/>
            <a:ext cx="9154274"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H6. What challenges, if any, do you face when trying to maintain or improve your health and well-being? </a:t>
            </a:r>
            <a:endParaRPr kumimoji="0" lang="en-US" sz="100" b="0" i="1" u="none" strike="noStrike" kern="1200" cap="none" spc="0" normalizeH="0" baseline="0" noProof="0" dirty="0">
              <a:ln>
                <a:noFill/>
              </a:ln>
              <a:solidFill>
                <a:srgbClr val="637052"/>
              </a:solidFill>
              <a:effectLst/>
              <a:uLnTx/>
              <a:uFillTx/>
              <a:latin typeface="Calibri" panose="020F0502020204030204"/>
              <a:ea typeface="+mn-ea"/>
              <a:cs typeface="+mn-cs"/>
            </a:endParaRPr>
          </a:p>
        </p:txBody>
      </p:sp>
      <p:sp>
        <p:nvSpPr>
          <p:cNvPr id="7" name="Title 4">
            <a:extLst>
              <a:ext uri="{FF2B5EF4-FFF2-40B4-BE49-F238E27FC236}">
                <a16:creationId xmlns:a16="http://schemas.microsoft.com/office/drawing/2014/main" id="{DACCE9B0-00E3-4526-0091-AFD77746ABF2}"/>
              </a:ext>
            </a:extLst>
          </p:cNvPr>
          <p:cNvSpPr txBox="1">
            <a:spLocks/>
          </p:cNvSpPr>
          <p:nvPr/>
        </p:nvSpPr>
        <p:spPr>
          <a:xfrm>
            <a:off x="383684" y="290184"/>
            <a:ext cx="10989808"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Practical Minimalists and Conflicted Experimenters are more likely to find improving their health and well-being challenging, for a variety of reasons</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8" name="TextBox 7">
            <a:extLst>
              <a:ext uri="{FF2B5EF4-FFF2-40B4-BE49-F238E27FC236}">
                <a16:creationId xmlns:a16="http://schemas.microsoft.com/office/drawing/2014/main" id="{DB6B5683-08CA-CC8E-967E-3B849EFB14AB}"/>
              </a:ext>
            </a:extLst>
          </p:cNvPr>
          <p:cNvSpPr txBox="1"/>
          <p:nvPr/>
        </p:nvSpPr>
        <p:spPr>
          <a:xfrm>
            <a:off x="383684" y="1062480"/>
            <a:ext cx="10989808" cy="5847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Wellness Optimizers are more likely than others to find health and wellness too complicated and lacking in personalized solutions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Impact Seekers and Wellness Optimizers show less trust in health and wellness professionals than other segments</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5371580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E0BD73A-B2AA-8AE6-FA4B-36EE5E60DC1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EE14E6-3A37-37FE-0FD4-EC5B2CAEA49B}"/>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77B06760-56D8-B2E2-E1D0-5404145D480D}"/>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sp>
        <p:nvSpPr>
          <p:cNvPr id="3" name="Footer Placeholder 2">
            <a:extLst>
              <a:ext uri="{FF2B5EF4-FFF2-40B4-BE49-F238E27FC236}">
                <a16:creationId xmlns:a16="http://schemas.microsoft.com/office/drawing/2014/main" id="{C6184694-A844-D9EC-E0E7-7E2950276FFD}"/>
              </a:ext>
            </a:extLst>
          </p:cNvPr>
          <p:cNvSpPr>
            <a:spLocks noGrp="1"/>
          </p:cNvSpPr>
          <p:nvPr>
            <p:ph type="ftr" sz="quarter" idx="4294967295"/>
          </p:nvPr>
        </p:nvSpPr>
        <p:spPr>
          <a:xfrm>
            <a:off x="7369175" y="6459538"/>
            <a:ext cx="4822825"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9" name="Table 8">
            <a:extLst>
              <a:ext uri="{FF2B5EF4-FFF2-40B4-BE49-F238E27FC236}">
                <a16:creationId xmlns:a16="http://schemas.microsoft.com/office/drawing/2014/main" id="{766DC455-EDCB-A8E4-AFF4-F3DA52C8C115}"/>
              </a:ext>
            </a:extLst>
          </p:cNvPr>
          <p:cNvGraphicFramePr>
            <a:graphicFrameLocks noGrp="1"/>
          </p:cNvGraphicFramePr>
          <p:nvPr>
            <p:extLst>
              <p:ext uri="{D42A27DB-BD31-4B8C-83A1-F6EECF244321}">
                <p14:modId xmlns:p14="http://schemas.microsoft.com/office/powerpoint/2010/main" val="747956222"/>
              </p:ext>
            </p:extLst>
          </p:nvPr>
        </p:nvGraphicFramePr>
        <p:xfrm>
          <a:off x="116807" y="1620319"/>
          <a:ext cx="11750040" cy="5021781"/>
        </p:xfrm>
        <a:graphic>
          <a:graphicData uri="http://schemas.openxmlformats.org/drawingml/2006/table">
            <a:tbl>
              <a:tblPr>
                <a:tableStyleId>{3B4B98B0-60AC-42C2-AFA5-B58CD77FA1E5}</a:tableStyleId>
              </a:tblPr>
              <a:tblGrid>
                <a:gridCol w="292608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100" b="1" i="0" u="none" strike="noStrike" dirty="0">
                          <a:solidFill>
                            <a:schemeClr val="bg1"/>
                          </a:solidFill>
                          <a:effectLst/>
                          <a:latin typeface="Arial" panose="020B0604020202020204" pitchFamily="34" charset="0"/>
                        </a:rPr>
                        <a:t>Health and Wellness Information Sources</a:t>
                      </a:r>
                    </a:p>
                    <a:p>
                      <a:pPr algn="ctr" fontAlgn="b">
                        <a:buNone/>
                      </a:pPr>
                      <a:r>
                        <a:rPr lang="en-US" sz="1100" b="0" i="0" u="none" strike="noStrike" dirty="0">
                          <a:solidFill>
                            <a:schemeClr val="bg1"/>
                          </a:solidFill>
                          <a:effectLst/>
                          <a:latin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dirty="0">
                          <a:effectLst/>
                        </a:rPr>
                        <a:t>Total</a:t>
                      </a:r>
                      <a:endParaRPr lang="en-US" sz="105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1" u="none" strike="noStrike" kern="1200" dirty="0">
                          <a:solidFill>
                            <a:schemeClr val="tx1"/>
                          </a:solidFill>
                          <a:effectLst/>
                          <a:latin typeface="+mn-lt"/>
                          <a:ea typeface="+mn-ea"/>
                          <a:cs typeface="+mn-cs"/>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dirty="0">
                          <a:effectLst/>
                        </a:rPr>
                        <a:t>Index to Total</a:t>
                      </a:r>
                      <a:endParaRPr lang="en-US" sz="105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mn-lt"/>
                          <a:ea typeface="+mn-ea"/>
                          <a:cs typeface="+mn-cs"/>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u="none" strike="noStrike" kern="1200" dirty="0">
                          <a:solidFill>
                            <a:schemeClr val="tx1"/>
                          </a:solidFill>
                          <a:effectLst/>
                          <a:latin typeface="+mn-lt"/>
                          <a:ea typeface="+mn-ea"/>
                          <a:cs typeface="+mn-cs"/>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28600">
                <a:tc>
                  <a:txBody>
                    <a:bodyPr/>
                    <a:lstStyle/>
                    <a:p>
                      <a:pPr algn="l" fontAlgn="b">
                        <a:buNone/>
                      </a:pPr>
                      <a:r>
                        <a:rPr lang="en-US" sz="1000" b="0" i="0" u="none" strike="noStrike" dirty="0">
                          <a:effectLst/>
                          <a:latin typeface="Arial" panose="020B0604020202020204" pitchFamily="34" charset="0"/>
                        </a:rPr>
                        <a:t>Doctor/medical professional</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228600">
                <a:tc>
                  <a:txBody>
                    <a:bodyPr/>
                    <a:lstStyle/>
                    <a:p>
                      <a:pPr algn="l" fontAlgn="b">
                        <a:buNone/>
                      </a:pPr>
                      <a:r>
                        <a:rPr lang="en-US" sz="1000" b="0" i="0" u="none" strike="noStrike" dirty="0">
                          <a:effectLst/>
                          <a:latin typeface="Arial" panose="020B0604020202020204" pitchFamily="34" charset="0"/>
                        </a:rPr>
                        <a:t>Health and wellness publications/websites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028937182"/>
                  </a:ext>
                </a:extLst>
              </a:tr>
              <a:tr h="228600">
                <a:tc>
                  <a:txBody>
                    <a:bodyPr/>
                    <a:lstStyle/>
                    <a:p>
                      <a:pPr algn="l" fontAlgn="b">
                        <a:buNone/>
                      </a:pPr>
                      <a:r>
                        <a:rPr lang="en-US" sz="1000" b="0" i="0" u="none" strike="noStrike" dirty="0">
                          <a:effectLst/>
                          <a:latin typeface="Arial" panose="020B0604020202020204" pitchFamily="34" charset="0"/>
                        </a:rPr>
                        <a:t>Friends and family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285245146"/>
                  </a:ext>
                </a:extLst>
              </a:tr>
              <a:tr h="228600">
                <a:tc>
                  <a:txBody>
                    <a:bodyPr/>
                    <a:lstStyle/>
                    <a:p>
                      <a:pPr algn="l" fontAlgn="b">
                        <a:buNone/>
                      </a:pPr>
                      <a:r>
                        <a:rPr lang="en-US" sz="1000" b="0" i="0" u="none" strike="noStrike" dirty="0">
                          <a:effectLst/>
                          <a:latin typeface="Arial" panose="020B0604020202020204" pitchFamily="34" charset="0"/>
                        </a:rPr>
                        <a:t>Online reviews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449696902"/>
                  </a:ext>
                </a:extLst>
              </a:tr>
              <a:tr h="228600">
                <a:tc>
                  <a:txBody>
                    <a:bodyPr/>
                    <a:lstStyle/>
                    <a:p>
                      <a:pPr algn="l" fontAlgn="b">
                        <a:buNone/>
                      </a:pPr>
                      <a:r>
                        <a:rPr lang="en-US" sz="1000" b="0" i="0" u="none" strike="noStrike" dirty="0">
                          <a:effectLst/>
                          <a:latin typeface="Arial" panose="020B0604020202020204" pitchFamily="34" charset="0"/>
                        </a:rPr>
                        <a:t>Health &amp; wellness product manufacturers/brands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kern="1200" dirty="0">
                          <a:solidFill>
                            <a:srgbClr val="006100"/>
                          </a:solidFill>
                          <a:effectLst/>
                          <a:latin typeface="Arial" panose="020B0604020202020204" pitchFamily="34" charset="0"/>
                          <a:ea typeface="+mn-ea"/>
                          <a:cs typeface="+mn-cs"/>
                        </a:rPr>
                        <a:t>141</a:t>
                      </a:r>
                      <a:r>
                        <a:rPr lang="en-US" sz="1000" b="0" i="0" u="none" strike="noStrike" dirty="0">
                          <a:solidFill>
                            <a:srgbClr val="1D4F3E"/>
                          </a:solidFill>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kern="1200" dirty="0">
                          <a:solidFill>
                            <a:srgbClr val="006100"/>
                          </a:solidFill>
                          <a:effectLst/>
                          <a:latin typeface="Arial" panose="020B0604020202020204" pitchFamily="34" charset="0"/>
                          <a:ea typeface="+mn-ea"/>
                          <a:cs typeface="+mn-cs"/>
                        </a:rPr>
                        <a:t>122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603638012"/>
                  </a:ext>
                </a:extLst>
              </a:tr>
              <a:tr h="228600">
                <a:tc>
                  <a:txBody>
                    <a:bodyPr/>
                    <a:lstStyle/>
                    <a:p>
                      <a:pPr algn="l" fontAlgn="b">
                        <a:buNone/>
                      </a:pPr>
                      <a:r>
                        <a:rPr lang="en-US" sz="1000" b="0" i="0" u="none" strike="noStrike" dirty="0">
                          <a:effectLst/>
                          <a:latin typeface="Arial" panose="020B0604020202020204" pitchFamily="34" charset="0"/>
                        </a:rPr>
                        <a:t>General interest publications/websites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96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557476205"/>
                  </a:ext>
                </a:extLst>
              </a:tr>
              <a:tr h="228600">
                <a:tc>
                  <a:txBody>
                    <a:bodyPr/>
                    <a:lstStyle/>
                    <a:p>
                      <a:pPr algn="l" fontAlgn="b">
                        <a:buNone/>
                      </a:pPr>
                      <a:r>
                        <a:rPr lang="en-US" sz="1000" b="0" i="0" u="none" strike="noStrike" dirty="0">
                          <a:effectLst/>
                          <a:latin typeface="Arial" panose="020B0604020202020204" pitchFamily="34" charset="0"/>
                        </a:rPr>
                        <a:t>Product packaging</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kern="1200" dirty="0">
                          <a:solidFill>
                            <a:srgbClr val="006100"/>
                          </a:solidFill>
                          <a:effectLst/>
                          <a:latin typeface="Arial" panose="020B0604020202020204" pitchFamily="34" charset="0"/>
                          <a:ea typeface="+mn-ea"/>
                          <a:cs typeface="+mn-cs"/>
                        </a:rPr>
                        <a:t>131</a:t>
                      </a:r>
                      <a:r>
                        <a:rPr lang="en-US" sz="100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105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963559944"/>
                  </a:ext>
                </a:extLst>
              </a:tr>
              <a:tr h="228600">
                <a:tc>
                  <a:txBody>
                    <a:bodyPr/>
                    <a:lstStyle/>
                    <a:p>
                      <a:pPr algn="l" fontAlgn="b">
                        <a:buNone/>
                      </a:pPr>
                      <a:r>
                        <a:rPr lang="en-US" sz="1000" b="0" i="0" u="none" strike="noStrike" dirty="0">
                          <a:effectLst/>
                          <a:latin typeface="Arial" panose="020B0604020202020204" pitchFamily="34" charset="0"/>
                        </a:rPr>
                        <a:t>Social media influencer/podcaster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162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133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856122171"/>
                  </a:ext>
                </a:extLst>
              </a:tr>
              <a:tr h="228600">
                <a:tc>
                  <a:txBody>
                    <a:bodyPr/>
                    <a:lstStyle/>
                    <a:p>
                      <a:pPr algn="l" fontAlgn="b">
                        <a:buNone/>
                      </a:pPr>
                      <a:r>
                        <a:rPr lang="en-US" sz="1000" b="0" i="0" u="none" strike="noStrike" dirty="0">
                          <a:effectLst/>
                          <a:latin typeface="Arial" panose="020B0604020202020204" pitchFamily="34" charset="0"/>
                        </a:rPr>
                        <a:t>Coach/trainer/Physical therapist</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107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41504063"/>
                  </a:ext>
                </a:extLst>
              </a:tr>
              <a:tr h="228600">
                <a:tc>
                  <a:txBody>
                    <a:bodyPr/>
                    <a:lstStyle/>
                    <a:p>
                      <a:pPr algn="l" fontAlgn="b">
                        <a:buNone/>
                      </a:pPr>
                      <a:r>
                        <a:rPr lang="en-US" sz="1000" b="0" i="0" u="none" strike="noStrike" dirty="0">
                          <a:effectLst/>
                          <a:latin typeface="Arial" panose="020B0604020202020204" pitchFamily="34" charset="0"/>
                        </a:rPr>
                        <a:t>Government websites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132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850573762"/>
                  </a:ext>
                </a:extLst>
              </a:tr>
              <a:tr h="228600">
                <a:tc>
                  <a:txBody>
                    <a:bodyPr/>
                    <a:lstStyle/>
                    <a:p>
                      <a:pPr algn="l" fontAlgn="b">
                        <a:buNone/>
                      </a:pPr>
                      <a:r>
                        <a:rPr lang="en-US" sz="1000" b="0" i="0" u="none" strike="noStrike" dirty="0">
                          <a:effectLst/>
                          <a:latin typeface="Arial" panose="020B0604020202020204" pitchFamily="34" charset="0"/>
                        </a:rPr>
                        <a:t>Health technology companies/apps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144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780497209"/>
                  </a:ext>
                </a:extLst>
              </a:tr>
              <a:tr h="228600">
                <a:tc>
                  <a:txBody>
                    <a:bodyPr/>
                    <a:lstStyle/>
                    <a:p>
                      <a:pPr algn="l" fontAlgn="b">
                        <a:buNone/>
                      </a:pPr>
                      <a:r>
                        <a:rPr lang="en-US" sz="1000" b="0" i="0" u="none" strike="noStrike" dirty="0">
                          <a:effectLst/>
                          <a:latin typeface="Arial" panose="020B0604020202020204" pitchFamily="34" charset="0"/>
                        </a:rPr>
                        <a:t>Other wellness professionals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31310492"/>
                  </a:ext>
                </a:extLst>
              </a:tr>
              <a:tr h="228600">
                <a:tc>
                  <a:txBody>
                    <a:bodyPr/>
                    <a:lstStyle/>
                    <a:p>
                      <a:pPr algn="l" fontAlgn="b">
                        <a:buNone/>
                      </a:pPr>
                      <a:r>
                        <a:rPr lang="en-US" sz="1000" b="0" i="0" u="none" strike="noStrike" dirty="0">
                          <a:effectLst/>
                          <a:latin typeface="Arial" panose="020B0604020202020204" pitchFamily="34" charset="0"/>
                        </a:rPr>
                        <a:t>Therapist/counselor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kern="1200" dirty="0">
                          <a:solidFill>
                            <a:srgbClr val="006100"/>
                          </a:solidFill>
                          <a:effectLst/>
                          <a:latin typeface="Arial" panose="020B0604020202020204" pitchFamily="34" charset="0"/>
                          <a:ea typeface="+mn-ea"/>
                          <a:cs typeface="+mn-cs"/>
                        </a:rPr>
                        <a:t>168</a:t>
                      </a:r>
                      <a:r>
                        <a:rPr lang="en-US" sz="100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kern="1200" dirty="0">
                          <a:solidFill>
                            <a:srgbClr val="006100"/>
                          </a:solidFill>
                          <a:effectLst/>
                          <a:latin typeface="Arial" panose="020B0604020202020204" pitchFamily="34" charset="0"/>
                          <a:ea typeface="+mn-ea"/>
                          <a:cs typeface="+mn-cs"/>
                        </a:rPr>
                        <a:t>134</a:t>
                      </a:r>
                      <a:r>
                        <a:rPr lang="en-US" sz="100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066417305"/>
                  </a:ext>
                </a:extLst>
              </a:tr>
              <a:tr h="228600">
                <a:tc>
                  <a:txBody>
                    <a:bodyPr/>
                    <a:lstStyle/>
                    <a:p>
                      <a:pPr algn="l" fontAlgn="b">
                        <a:buNone/>
                      </a:pPr>
                      <a:r>
                        <a:rPr lang="en-US" sz="1000" b="0" i="0" u="none" strike="noStrike" dirty="0">
                          <a:effectLst/>
                          <a:latin typeface="Arial" panose="020B0604020202020204" pitchFamily="34" charset="0"/>
                        </a:rPr>
                        <a:t>Retailers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58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effectLst/>
                          <a:latin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139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939554723"/>
                  </a:ext>
                </a:extLst>
              </a:tr>
              <a:tr h="228600">
                <a:tc>
                  <a:txBody>
                    <a:bodyPr/>
                    <a:lstStyle/>
                    <a:p>
                      <a:pPr algn="l" fontAlgn="b">
                        <a:buNone/>
                      </a:pPr>
                      <a:r>
                        <a:rPr lang="en-US" sz="1000" b="0" i="0" u="none" strike="noStrike" dirty="0">
                          <a:effectLst/>
                          <a:latin typeface="Arial" panose="020B0604020202020204" pitchFamily="34" charset="0"/>
                        </a:rPr>
                        <a:t>Athlete influence/podcaster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123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489156379"/>
                  </a:ext>
                </a:extLst>
              </a:tr>
              <a:tr h="228600">
                <a:tc>
                  <a:txBody>
                    <a:bodyPr/>
                    <a:lstStyle/>
                    <a:p>
                      <a:pPr algn="l" fontAlgn="b">
                        <a:buNone/>
                      </a:pPr>
                      <a:r>
                        <a:rPr lang="en-US" sz="1000" b="0" i="0" u="none" strike="noStrike" dirty="0">
                          <a:effectLst/>
                          <a:latin typeface="Arial" panose="020B0604020202020204" pitchFamily="34" charset="0"/>
                        </a:rPr>
                        <a:t>Third-party testers/certifiers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effectLst/>
                          <a:latin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30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006100"/>
                          </a:solidFill>
                          <a:effectLst/>
                          <a:latin typeface="Arial" panose="020B0604020202020204" pitchFamily="34" charset="0"/>
                        </a:rPr>
                        <a:t>132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00" b="0" i="0" u="none" strike="noStrike" dirty="0">
                          <a:solidFill>
                            <a:srgbClr val="9C0006"/>
                          </a:solidFill>
                          <a:effectLst/>
                          <a:latin typeface="Arial" panose="020B0604020202020204" pitchFamily="34" charset="0"/>
                        </a:rPr>
                        <a:t>45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2674580844"/>
                  </a:ext>
                </a:extLst>
              </a:tr>
              <a:tr h="228600">
                <a:tc>
                  <a:txBody>
                    <a:bodyPr/>
                    <a:lstStyle/>
                    <a:p>
                      <a:pPr algn="l" fontAlgn="b">
                        <a:buNone/>
                      </a:pPr>
                      <a:r>
                        <a:rPr lang="en-US" sz="1000" b="0" i="0" u="none" strike="noStrike" dirty="0">
                          <a:effectLst/>
                          <a:latin typeface="Arial" panose="020B0604020202020204" pitchFamily="34" charset="0"/>
                        </a:rPr>
                        <a:t>Celebrity influencer/podcaster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219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effectLst/>
                          <a:latin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9C0006"/>
                          </a:solidFill>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00" b="0" i="0" u="none" strike="noStrike" dirty="0">
                          <a:solidFill>
                            <a:srgbClr val="006100"/>
                          </a:solidFill>
                          <a:effectLst/>
                          <a:latin typeface="Arial" panose="020B0604020202020204" pitchFamily="34" charset="0"/>
                        </a:rPr>
                        <a:t>145 </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698751614"/>
                  </a:ext>
                </a:extLst>
              </a:tr>
              <a:tr h="228600">
                <a:tc>
                  <a:txBody>
                    <a:bodyPr/>
                    <a:lstStyle/>
                    <a:p>
                      <a:pPr algn="l" fontAlgn="b">
                        <a:buNone/>
                      </a:pPr>
                      <a:r>
                        <a:rPr lang="en-US" sz="1000" b="0" i="0" u="none" strike="noStrike" dirty="0">
                          <a:effectLst/>
                          <a:latin typeface="Arial" panose="020B0604020202020204" pitchFamily="34" charset="0"/>
                        </a:rPr>
                        <a:t>I do not use any of these sources for information about health and wellness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35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176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effectLst/>
                          <a:latin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6100"/>
                          </a:solidFill>
                          <a:effectLst/>
                          <a:latin typeface="Arial" panose="020B0604020202020204" pitchFamily="34" charset="0"/>
                        </a:rPr>
                        <a:t>328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00" b="0" i="0" u="none" strike="noStrike" dirty="0">
                          <a:effectLst/>
                          <a:latin typeface="Arial" panose="020B0604020202020204" pitchFamily="34" charset="0"/>
                        </a:rPr>
                        <a:t>1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9C0006"/>
                          </a:solidFill>
                          <a:effectLst/>
                          <a:latin typeface="Arial" panose="020B0604020202020204" pitchFamily="34" charset="0"/>
                        </a:rPr>
                        <a:t>16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3745935399"/>
                  </a:ext>
                </a:extLst>
              </a:tr>
            </a:tbl>
          </a:graphicData>
        </a:graphic>
      </p:graphicFrame>
    </p:spTree>
    <p:extLst>
      <p:ext uri="{BB962C8B-B14F-4D97-AF65-F5344CB8AC3E}">
        <p14:creationId xmlns:p14="http://schemas.microsoft.com/office/powerpoint/2010/main" val="38643577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291221B-CDC5-B242-FFFA-41DB21E1EB7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693F8E-7C54-D02D-6A4C-4C87C78DE0D5}"/>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77C60329-AC4F-1435-8576-8DA12E83C290}"/>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graphicFrame>
        <p:nvGraphicFramePr>
          <p:cNvPr id="9" name="Table 8">
            <a:extLst>
              <a:ext uri="{FF2B5EF4-FFF2-40B4-BE49-F238E27FC236}">
                <a16:creationId xmlns:a16="http://schemas.microsoft.com/office/drawing/2014/main" id="{8765D58E-75FC-9243-7F3D-D7C2223A85CE}"/>
              </a:ext>
            </a:extLst>
          </p:cNvPr>
          <p:cNvGraphicFramePr>
            <a:graphicFrameLocks noGrp="1"/>
          </p:cNvGraphicFramePr>
          <p:nvPr>
            <p:extLst>
              <p:ext uri="{D42A27DB-BD31-4B8C-83A1-F6EECF244321}">
                <p14:modId xmlns:p14="http://schemas.microsoft.com/office/powerpoint/2010/main" val="3501204152"/>
              </p:ext>
            </p:extLst>
          </p:nvPr>
        </p:nvGraphicFramePr>
        <p:xfrm>
          <a:off x="541019" y="1978002"/>
          <a:ext cx="11109960" cy="4181676"/>
        </p:xfrm>
        <a:graphic>
          <a:graphicData uri="http://schemas.openxmlformats.org/drawingml/2006/table">
            <a:tbl>
              <a:tblPr>
                <a:tableStyleId>{3B4B98B0-60AC-42C2-AFA5-B58CD77FA1E5}</a:tableStyleId>
              </a:tblPr>
              <a:tblGrid>
                <a:gridCol w="22860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400" b="1" i="0" u="none" strike="noStrike" dirty="0">
                          <a:solidFill>
                            <a:schemeClr val="bg1"/>
                          </a:solidFill>
                          <a:effectLst/>
                          <a:latin typeface="Arial" panose="020B0604020202020204" pitchFamily="34" charset="0"/>
                          <a:cs typeface="Arial" panose="020B0604020202020204" pitchFamily="34" charset="0"/>
                        </a:rPr>
                        <a:t>Category Usage*</a:t>
                      </a:r>
                    </a:p>
                    <a:p>
                      <a:pPr algn="ctr" fontAlgn="b">
                        <a:buNone/>
                      </a:pPr>
                      <a:r>
                        <a:rPr lang="en-US" sz="1400" b="0" i="0" u="none" strike="noStrike" dirty="0">
                          <a:solidFill>
                            <a:schemeClr val="bg1"/>
                          </a:solidFill>
                          <a:effectLst/>
                          <a:latin typeface="Arial" panose="020B0604020202020204" pitchFamily="34" charset="0"/>
                          <a:cs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1" u="none" strike="noStrike" dirty="0">
                          <a:effectLst/>
                          <a:latin typeface="Arial" panose="020B0604020202020204" pitchFamily="34" charset="0"/>
                          <a:cs typeface="Arial" panose="020B0604020202020204" pitchFamily="34" charset="0"/>
                        </a:rPr>
                        <a:t>Total</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dirty="0">
                          <a:effectLst/>
                          <a:latin typeface="Arial" panose="020B0604020202020204" pitchFamily="34" charset="0"/>
                          <a:cs typeface="Arial" panose="020B0604020202020204" pitchFamily="34" charset="0"/>
                        </a:rPr>
                        <a:t>Index to Total</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Arial" panose="020B0604020202020204" pitchFamily="34" charset="0"/>
                          <a:ea typeface="+mn-ea"/>
                          <a:cs typeface="Arial" panose="020B0604020202020204" pitchFamily="34" charset="0"/>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Arial" panose="020B0604020202020204" pitchFamily="34" charset="0"/>
                          <a:ea typeface="+mn-ea"/>
                          <a:cs typeface="Arial" panose="020B0604020202020204" pitchFamily="34" charset="0"/>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74320">
                <a:tc gridSpan="14">
                  <a:txBody>
                    <a:bodyPr/>
                    <a:lstStyle/>
                    <a:p>
                      <a:pPr algn="l" fontAlgn="b">
                        <a:buNone/>
                      </a:pPr>
                      <a:r>
                        <a:rPr lang="en-US" sz="1100" b="0" i="0" u="none" strike="noStrike" dirty="0">
                          <a:effectLst/>
                          <a:latin typeface="Arial" panose="020B0604020202020204" pitchFamily="34" charset="0"/>
                          <a:cs typeface="Arial" panose="020B0604020202020204" pitchFamily="34" charset="0"/>
                        </a:rPr>
                        <a:t>Dietary Supplements</a:t>
                      </a:r>
                    </a:p>
                  </a:txBody>
                  <a:tcPr marL="9525" marR="9525" marT="9525" marB="0" anchor="b">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solidFill>
                          <a:srgbClr val="9C0006"/>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solidFill>
                          <a:srgbClr val="0061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19665510"/>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P3M User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81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91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Daily+ User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6100"/>
                          </a:solidFill>
                          <a:effectLst/>
                          <a:latin typeface="Arial" panose="020B0604020202020204" pitchFamily="34" charset="0"/>
                          <a:cs typeface="Arial" panose="020B0604020202020204" pitchFamily="34" charset="0"/>
                        </a:rPr>
                        <a:t>185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200" b="0" i="0" u="none" strike="noStrike" dirty="0">
                          <a:solidFill>
                            <a:srgbClr val="006100"/>
                          </a:solidFill>
                          <a:effectLst/>
                          <a:latin typeface="Arial" panose="020B0604020202020204" pitchFamily="34" charset="0"/>
                          <a:cs typeface="Arial" panose="020B0604020202020204" pitchFamily="34" charset="0"/>
                        </a:rPr>
                        <a:t>198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200" b="0" i="0" u="none" strike="noStrike" dirty="0">
                          <a:solidFill>
                            <a:srgbClr val="006100"/>
                          </a:solidFill>
                          <a:effectLst/>
                          <a:latin typeface="Arial" panose="020B0604020202020204" pitchFamily="34" charset="0"/>
                          <a:cs typeface="Arial" panose="020B0604020202020204" pitchFamily="34" charset="0"/>
                        </a:rPr>
                        <a:t>235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553499074"/>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Avg Monthly Spend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$53.1</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$65.3</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$39.8</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$57.3</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$39.8</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$52.4</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$81.6</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154 </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815205614"/>
                  </a:ext>
                </a:extLst>
              </a:tr>
              <a:tr h="274320">
                <a:tc gridSpan="14">
                  <a:txBody>
                    <a:bodyPr/>
                    <a:lstStyle/>
                    <a:p>
                      <a:pPr algn="l" fontAlgn="b">
                        <a:buNone/>
                      </a:pPr>
                      <a:r>
                        <a:rPr lang="en-US" sz="1200" b="0" i="0" u="none" strike="noStrike" dirty="0">
                          <a:effectLst/>
                          <a:latin typeface="Arial" panose="020B0604020202020204" pitchFamily="34" charset="0"/>
                          <a:cs typeface="Arial" panose="020B0604020202020204" pitchFamily="34" charset="0"/>
                        </a:rPr>
                        <a:t>Functional Foods</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solidFill>
                          <a:srgbClr val="9C0006"/>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noFill/>
                  </a:tcPr>
                </a:tc>
                <a:tc hMerge="1">
                  <a:txBody>
                    <a:bodyPr/>
                    <a:lstStyle/>
                    <a:p>
                      <a:pPr algn="ctr" fontAlgn="b">
                        <a:buNone/>
                      </a:pPr>
                      <a:endParaRPr lang="en-US" sz="1000" b="0" i="0" u="none" strike="noStrike" dirty="0">
                        <a:solidFill>
                          <a:srgbClr val="0061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028937182"/>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P3M User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72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88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129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285245146"/>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Daily+ User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122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449696902"/>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Avg Monthly Spend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$80.8</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$82.7</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$60.3</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$81.7</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$71.6</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$80.2</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$103.8</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128 </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603638012"/>
                  </a:ext>
                </a:extLst>
              </a:tr>
              <a:tr h="274320">
                <a:tc gridSpan="14">
                  <a:txBody>
                    <a:bodyPr/>
                    <a:lstStyle/>
                    <a:p>
                      <a:pPr algn="l" fontAlgn="b">
                        <a:buNone/>
                      </a:pPr>
                      <a:r>
                        <a:rPr lang="en-US" sz="1200" b="0" i="0" u="none" strike="noStrike" dirty="0">
                          <a:effectLst/>
                          <a:latin typeface="Arial" panose="020B0604020202020204" pitchFamily="34" charset="0"/>
                          <a:cs typeface="Arial" panose="020B0604020202020204" pitchFamily="34" charset="0"/>
                        </a:rPr>
                        <a:t>Functional Beverages</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557476205"/>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P3M User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68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89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133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963559944"/>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Daily+ User</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61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130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856122171"/>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Avg Monthly Spend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$59.6</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$67.5</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$40.3</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$65.8</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$45.5</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$57.3</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$73.9</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441504063"/>
                  </a:ext>
                </a:extLst>
              </a:tr>
            </a:tbl>
          </a:graphicData>
        </a:graphic>
      </p:graphicFrame>
      <p:sp>
        <p:nvSpPr>
          <p:cNvPr id="3" name="TextBox 2">
            <a:extLst>
              <a:ext uri="{FF2B5EF4-FFF2-40B4-BE49-F238E27FC236}">
                <a16:creationId xmlns:a16="http://schemas.microsoft.com/office/drawing/2014/main" id="{10947183-5143-17A3-C454-C451F142EA7B}"/>
              </a:ext>
            </a:extLst>
          </p:cNvPr>
          <p:cNvSpPr txBox="1"/>
          <p:nvPr/>
        </p:nvSpPr>
        <p:spPr>
          <a:xfrm>
            <a:off x="172318" y="6365101"/>
            <a:ext cx="11847363"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anose="020F0502020204030204"/>
                <a:ea typeface="+mn-ea"/>
                <a:cs typeface="+mn-cs"/>
              </a:rPr>
              <a:t>Reminder: </a:t>
            </a:r>
            <a:r>
              <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rPr>
              <a:t>This segmentation represents Functional Nutrition Users who have purchased at least one of the three categories in the P3M </a:t>
            </a:r>
            <a:r>
              <a:rPr kumimoji="0" lang="en-US" sz="1200" b="1" i="0" u="none" strike="noStrike" kern="1200" cap="none" spc="0" normalizeH="0" baseline="0" noProof="0" dirty="0">
                <a:ln>
                  <a:noFill/>
                </a:ln>
                <a:solidFill>
                  <a:srgbClr val="000000"/>
                </a:solidFill>
                <a:effectLst/>
                <a:uLnTx/>
                <a:uFillTx/>
                <a:latin typeface="Calibri" panose="020F0502020204030204"/>
                <a:ea typeface="+mn-ea"/>
                <a:cs typeface="+mn-cs"/>
              </a:rPr>
              <a:t>and </a:t>
            </a:r>
            <a:r>
              <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rPr>
              <a:t>use at least one of the categories once/week+</a:t>
            </a:r>
          </a:p>
        </p:txBody>
      </p:sp>
      <p:sp>
        <p:nvSpPr>
          <p:cNvPr id="5" name="Title 4">
            <a:extLst>
              <a:ext uri="{FF2B5EF4-FFF2-40B4-BE49-F238E27FC236}">
                <a16:creationId xmlns:a16="http://schemas.microsoft.com/office/drawing/2014/main" id="{C2CBE471-F911-B4CC-0C15-2AE0FE573716}"/>
              </a:ext>
            </a:extLst>
          </p:cNvPr>
          <p:cNvSpPr txBox="1">
            <a:spLocks/>
          </p:cNvSpPr>
          <p:nvPr/>
        </p:nvSpPr>
        <p:spPr>
          <a:xfrm>
            <a:off x="383684" y="417605"/>
            <a:ext cx="10989808"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Not surprisingly, Wellness Optimizers are more engaged in all three categories – using more frequently and spending more than other segments</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6" name="TextBox 5">
            <a:extLst>
              <a:ext uri="{FF2B5EF4-FFF2-40B4-BE49-F238E27FC236}">
                <a16:creationId xmlns:a16="http://schemas.microsoft.com/office/drawing/2014/main" id="{49E084A8-F623-73CA-8348-095E06EBD8EB}"/>
              </a:ext>
            </a:extLst>
          </p:cNvPr>
          <p:cNvSpPr txBox="1"/>
          <p:nvPr/>
        </p:nvSpPr>
        <p:spPr>
          <a:xfrm>
            <a:off x="383684" y="1250776"/>
            <a:ext cx="10989808" cy="338554"/>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BD582C"/>
                </a:solidFill>
                <a:latin typeface="Calibri Light" panose="020F0302020204030204"/>
              </a:rPr>
              <a:t>On the flip side, it’s not surprising that Practical Minimalists and Set It and Forget It spend the least across categories</a:t>
            </a:r>
            <a:endPar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23616523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D509D4-30B9-D470-16D7-B2563829E18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CA80D7-903C-ADCD-0C7A-0F9A73E11DC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DF4F232B-644C-EB37-7873-68B9FB54B79B}"/>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graphicFrame>
        <p:nvGraphicFramePr>
          <p:cNvPr id="9" name="Table 8">
            <a:extLst>
              <a:ext uri="{FF2B5EF4-FFF2-40B4-BE49-F238E27FC236}">
                <a16:creationId xmlns:a16="http://schemas.microsoft.com/office/drawing/2014/main" id="{2CEA844F-4E74-A684-86B5-F62D5A4B8C54}"/>
              </a:ext>
            </a:extLst>
          </p:cNvPr>
          <p:cNvGraphicFramePr>
            <a:graphicFrameLocks noGrp="1"/>
          </p:cNvGraphicFramePr>
          <p:nvPr>
            <p:extLst>
              <p:ext uri="{D42A27DB-BD31-4B8C-83A1-F6EECF244321}">
                <p14:modId xmlns:p14="http://schemas.microsoft.com/office/powerpoint/2010/main" val="3529437266"/>
              </p:ext>
            </p:extLst>
          </p:nvPr>
        </p:nvGraphicFramePr>
        <p:xfrm>
          <a:off x="506488" y="1671193"/>
          <a:ext cx="10744200" cy="5004636"/>
        </p:xfrm>
        <a:graphic>
          <a:graphicData uri="http://schemas.openxmlformats.org/drawingml/2006/table">
            <a:tbl>
              <a:tblPr>
                <a:tableStyleId>{3B4B98B0-60AC-42C2-AFA5-B58CD77FA1E5}</a:tableStyleId>
              </a:tblPr>
              <a:tblGrid>
                <a:gridCol w="192024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400" b="1" i="0" u="none" strike="noStrike" dirty="0">
                          <a:solidFill>
                            <a:schemeClr val="bg1"/>
                          </a:solidFill>
                          <a:effectLst/>
                          <a:latin typeface="Arial" panose="020B0604020202020204" pitchFamily="34" charset="0"/>
                          <a:cs typeface="Arial" panose="020B0604020202020204" pitchFamily="34" charset="0"/>
                        </a:rPr>
                        <a:t>Demographics</a:t>
                      </a:r>
                    </a:p>
                    <a:p>
                      <a:pPr algn="ctr" fontAlgn="b">
                        <a:buNone/>
                      </a:pPr>
                      <a:r>
                        <a:rPr lang="en-US" sz="1400" b="0" i="0" u="none" strike="noStrike" dirty="0">
                          <a:solidFill>
                            <a:schemeClr val="bg1"/>
                          </a:solidFill>
                          <a:effectLst/>
                          <a:latin typeface="Arial" panose="020B0604020202020204" pitchFamily="34" charset="0"/>
                          <a:cs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228600">
                <a:tc>
                  <a:txBody>
                    <a:bodyPr/>
                    <a:lstStyle/>
                    <a:p>
                      <a:pPr algn="l" fontAlgn="b">
                        <a:buNone/>
                      </a:pP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1" u="none" strike="noStrike" dirty="0">
                          <a:effectLst/>
                          <a:latin typeface="Arial" panose="020B0604020202020204" pitchFamily="34" charset="0"/>
                          <a:cs typeface="Arial" panose="020B0604020202020204" pitchFamily="34" charset="0"/>
                        </a:rPr>
                        <a:t>Total</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dirty="0">
                          <a:effectLst/>
                          <a:latin typeface="Arial" panose="020B0604020202020204" pitchFamily="34" charset="0"/>
                          <a:cs typeface="Arial" panose="020B0604020202020204" pitchFamily="34" charset="0"/>
                        </a:rPr>
                        <a:t>Index to Total</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Arial" panose="020B0604020202020204" pitchFamily="34" charset="0"/>
                          <a:ea typeface="+mn-ea"/>
                          <a:cs typeface="Arial" panose="020B0604020202020204" pitchFamily="34" charset="0"/>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Arial" panose="020B0604020202020204" pitchFamily="34" charset="0"/>
                          <a:ea typeface="+mn-ea"/>
                          <a:cs typeface="Arial" panose="020B0604020202020204" pitchFamily="34" charset="0"/>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28600">
                <a:tc gridSpan="14">
                  <a:txBody>
                    <a:bodyPr/>
                    <a:lstStyle/>
                    <a:p>
                      <a:pPr algn="l" fontAlgn="b">
                        <a:buNone/>
                      </a:pPr>
                      <a:r>
                        <a:rPr lang="en-US" sz="1100" b="0" i="0" u="none" strike="noStrike" dirty="0">
                          <a:effectLst/>
                          <a:latin typeface="Arial" panose="020B0604020202020204" pitchFamily="34" charset="0"/>
                          <a:cs typeface="Arial" panose="020B0604020202020204" pitchFamily="34" charset="0"/>
                        </a:rPr>
                        <a:t>Gender</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solidFill>
                          <a:srgbClr val="9C0006"/>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solidFill>
                          <a:srgbClr val="0061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19665510"/>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Male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Female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64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553499074"/>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Non-Binary</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505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 </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815205614"/>
                  </a:ext>
                </a:extLst>
              </a:tr>
              <a:tr h="228600">
                <a:tc gridSpan="14">
                  <a:txBody>
                    <a:bodyPr/>
                    <a:lstStyle/>
                    <a:p>
                      <a:pPr algn="l" fontAlgn="b">
                        <a:buNone/>
                      </a:pPr>
                      <a:r>
                        <a:rPr lang="en-US" sz="1100" b="0" i="0" u="none" strike="noStrike" dirty="0">
                          <a:effectLst/>
                          <a:latin typeface="Arial" panose="020B0604020202020204" pitchFamily="34" charset="0"/>
                          <a:cs typeface="Arial" panose="020B0604020202020204" pitchFamily="34" charset="0"/>
                        </a:rPr>
                        <a:t>Age</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solidFill>
                          <a:srgbClr val="9C0006"/>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noFill/>
                  </a:tcPr>
                </a:tc>
                <a:tc hMerge="1">
                  <a:txBody>
                    <a:bodyPr/>
                    <a:lstStyle/>
                    <a:p>
                      <a:pPr algn="ctr" fontAlgn="b">
                        <a:buNone/>
                      </a:pPr>
                      <a:endParaRPr lang="en-US" sz="1000" b="0" i="0" u="none" strike="noStrike" dirty="0">
                        <a:solidFill>
                          <a:srgbClr val="0061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028937182"/>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18-24</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39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5245146"/>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25-34</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173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56729928"/>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35-44</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142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479686556"/>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45-54</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92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449696902"/>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55-64</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132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142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73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102500663"/>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65-74</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143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53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49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280233052"/>
                  </a:ext>
                </a:extLst>
              </a:tr>
              <a:tr h="228600">
                <a:tc>
                  <a:txBody>
                    <a:bodyPr/>
                    <a:lstStyle/>
                    <a:p>
                      <a:pPr algn="l" fontAlgn="b">
                        <a:buNone/>
                      </a:pPr>
                      <a:r>
                        <a:rPr lang="en-US" sz="1100" b="1" i="0" u="none" strike="noStrike" dirty="0">
                          <a:effectLst/>
                          <a:latin typeface="Arial" panose="020B0604020202020204" pitchFamily="34" charset="0"/>
                          <a:cs typeface="Arial" panose="020B0604020202020204" pitchFamily="34" charset="0"/>
                        </a:rPr>
                        <a:t>Average Age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45.0</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35.2</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solidFill>
                            <a:srgbClr val="9C0006"/>
                          </a:solidFill>
                          <a:effectLst/>
                          <a:latin typeface="Arial" panose="020B0604020202020204" pitchFamily="34" charset="0"/>
                          <a:cs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49.3</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41.3</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52.2</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48.8</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40.9</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91 </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040011231"/>
                  </a:ext>
                </a:extLst>
              </a:tr>
              <a:tr h="228600">
                <a:tc gridSpan="14">
                  <a:txBody>
                    <a:bodyPr/>
                    <a:lstStyle/>
                    <a:p>
                      <a:pPr algn="l" fontAlgn="b">
                        <a:buNone/>
                      </a:pPr>
                      <a:r>
                        <a:rPr lang="en-US" sz="1100" b="0" i="0" u="none" strike="noStrike" dirty="0">
                          <a:effectLst/>
                          <a:latin typeface="Arial" panose="020B0604020202020204" pitchFamily="34" charset="0"/>
                          <a:cs typeface="Arial" panose="020B0604020202020204" pitchFamily="34" charset="0"/>
                        </a:rPr>
                        <a:t>Kids in Household</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557476205"/>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No</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47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57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91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980172392"/>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Yes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144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66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133262747"/>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     Kids 0-5</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55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86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368982261"/>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     Kids 6-12</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146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a:noFill/>
                    </a:lnB>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58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a:noFill/>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a:noFill/>
                    </a:lnB>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55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a:noFill/>
                    </a:lnB>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141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a:noFill/>
                    </a:lnB>
                    <a:solidFill>
                      <a:schemeClr val="tx2">
                        <a:lumMod val="20000"/>
                        <a:lumOff val="80000"/>
                      </a:schemeClr>
                    </a:solidFill>
                  </a:tcPr>
                </a:tc>
                <a:extLst>
                  <a:ext uri="{0D108BD9-81ED-4DB2-BD59-A6C34878D82A}">
                    <a16:rowId xmlns:a16="http://schemas.microsoft.com/office/drawing/2014/main" val="2485122435"/>
                  </a:ext>
                </a:extLst>
              </a:tr>
              <a:tr h="22860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     Kids 13-18</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solidFill>
                            <a:srgbClr val="9C0006"/>
                          </a:solidFill>
                          <a:effectLst/>
                          <a:latin typeface="Arial" panose="020B0604020202020204" pitchFamily="34" charset="0"/>
                          <a:cs typeface="Arial" panose="020B0604020202020204" pitchFamily="34" charset="0"/>
                        </a:rPr>
                        <a:t>63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solidFill>
                            <a:srgbClr val="006100"/>
                          </a:solidFill>
                          <a:effectLst/>
                          <a:latin typeface="Arial" panose="020B0604020202020204" pitchFamily="34" charset="0"/>
                          <a:cs typeface="Arial" panose="020B0604020202020204" pitchFamily="34" charset="0"/>
                        </a:rPr>
                        <a:t>125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noFill/>
                  </a:tcPr>
                </a:tc>
                <a:tc>
                  <a:txBody>
                    <a:bodyPr/>
                    <a:lstStyle/>
                    <a:p>
                      <a:pPr algn="ctr" fontAlgn="b">
                        <a:buNone/>
                      </a:pPr>
                      <a:r>
                        <a:rPr lang="en-US" sz="1050" b="0" i="0" u="none" strike="noStrike" dirty="0">
                          <a:effectLst/>
                          <a:latin typeface="Arial" panose="020B0604020202020204" pitchFamily="34" charset="0"/>
                          <a:cs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noFill/>
                  </a:tcPr>
                </a:tc>
                <a:extLst>
                  <a:ext uri="{0D108BD9-81ED-4DB2-BD59-A6C34878D82A}">
                    <a16:rowId xmlns:a16="http://schemas.microsoft.com/office/drawing/2014/main" val="963559944"/>
                  </a:ext>
                </a:extLst>
              </a:tr>
            </a:tbl>
          </a:graphicData>
        </a:graphic>
      </p:graphicFrame>
      <p:sp>
        <p:nvSpPr>
          <p:cNvPr id="3" name="Title 4">
            <a:extLst>
              <a:ext uri="{FF2B5EF4-FFF2-40B4-BE49-F238E27FC236}">
                <a16:creationId xmlns:a16="http://schemas.microsoft.com/office/drawing/2014/main" id="{1E0B35A7-9A69-DF9B-1403-4CA230A65851}"/>
              </a:ext>
            </a:extLst>
          </p:cNvPr>
          <p:cNvSpPr txBox="1">
            <a:spLocks/>
          </p:cNvSpPr>
          <p:nvPr/>
        </p:nvSpPr>
        <p:spPr>
          <a:xfrm>
            <a:off x="383684" y="290184"/>
            <a:ext cx="10989808"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Impact Seekers – skewing slightly male – is the youngest of the segments and most likely to have kids in the household</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5" name="TextBox 4">
            <a:extLst>
              <a:ext uri="{FF2B5EF4-FFF2-40B4-BE49-F238E27FC236}">
                <a16:creationId xmlns:a16="http://schemas.microsoft.com/office/drawing/2014/main" id="{18EE54FC-BBF7-0A2A-4000-DD55B0991888}"/>
              </a:ext>
            </a:extLst>
          </p:cNvPr>
          <p:cNvSpPr txBox="1"/>
          <p:nvPr/>
        </p:nvSpPr>
        <p:spPr>
          <a:xfrm>
            <a:off x="383684" y="1033661"/>
            <a:ext cx="10989808" cy="338554"/>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Practical </a:t>
            </a:r>
            <a:r>
              <a:rPr lang="en-US" sz="1600" dirty="0">
                <a:solidFill>
                  <a:srgbClr val="BD582C"/>
                </a:solidFill>
                <a:latin typeface="Calibri Light" panose="020F0302020204030204"/>
              </a:rPr>
              <a:t>Minimalists, Set It and Forget It, and Goal-Oriented Planners skew older</a:t>
            </a:r>
          </a:p>
        </p:txBody>
      </p:sp>
    </p:spTree>
    <p:extLst>
      <p:ext uri="{BB962C8B-B14F-4D97-AF65-F5344CB8AC3E}">
        <p14:creationId xmlns:p14="http://schemas.microsoft.com/office/powerpoint/2010/main" val="1154791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0FAECFC-A3C0-B527-AF48-31D50D64C73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4E6424-A031-12DF-4A1D-52FFE2A1879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B0EC350E-739D-8213-DF7E-1BD0ADE320AC}"/>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graphicFrame>
        <p:nvGraphicFramePr>
          <p:cNvPr id="9" name="Table 8">
            <a:extLst>
              <a:ext uri="{FF2B5EF4-FFF2-40B4-BE49-F238E27FC236}">
                <a16:creationId xmlns:a16="http://schemas.microsoft.com/office/drawing/2014/main" id="{E12C8CD7-5FB7-74D0-D78E-49730E37F986}"/>
              </a:ext>
            </a:extLst>
          </p:cNvPr>
          <p:cNvGraphicFramePr>
            <a:graphicFrameLocks noGrp="1"/>
          </p:cNvGraphicFramePr>
          <p:nvPr>
            <p:extLst>
              <p:ext uri="{D42A27DB-BD31-4B8C-83A1-F6EECF244321}">
                <p14:modId xmlns:p14="http://schemas.microsoft.com/office/powerpoint/2010/main" val="813566287"/>
              </p:ext>
            </p:extLst>
          </p:nvPr>
        </p:nvGraphicFramePr>
        <p:xfrm>
          <a:off x="363389" y="1484265"/>
          <a:ext cx="11109960" cy="5004636"/>
        </p:xfrm>
        <a:graphic>
          <a:graphicData uri="http://schemas.openxmlformats.org/drawingml/2006/table">
            <a:tbl>
              <a:tblPr>
                <a:tableStyleId>{3B4B98B0-60AC-42C2-AFA5-B58CD77FA1E5}</a:tableStyleId>
              </a:tblPr>
              <a:tblGrid>
                <a:gridCol w="228600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400" b="1" i="0" u="none" strike="noStrike" dirty="0">
                          <a:solidFill>
                            <a:schemeClr val="bg1"/>
                          </a:solidFill>
                          <a:effectLst/>
                          <a:latin typeface="Arial" panose="020B0604020202020204" pitchFamily="34" charset="0"/>
                          <a:cs typeface="Arial" panose="020B0604020202020204" pitchFamily="34" charset="0"/>
                        </a:rPr>
                        <a:t>Demographics</a:t>
                      </a:r>
                    </a:p>
                    <a:p>
                      <a:pPr algn="ctr" fontAlgn="b">
                        <a:buNone/>
                      </a:pPr>
                      <a:r>
                        <a:rPr lang="en-US" sz="1400" b="0" i="0" u="none" strike="noStrike" dirty="0">
                          <a:solidFill>
                            <a:schemeClr val="bg1"/>
                          </a:solidFill>
                          <a:effectLst/>
                          <a:latin typeface="Arial" panose="020B0604020202020204" pitchFamily="34" charset="0"/>
                          <a:cs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1" u="none" strike="noStrike" dirty="0">
                          <a:effectLst/>
                          <a:latin typeface="Arial" panose="020B0604020202020204" pitchFamily="34" charset="0"/>
                          <a:cs typeface="Arial" panose="020B0604020202020204" pitchFamily="34" charset="0"/>
                        </a:rPr>
                        <a:t>Total</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dirty="0">
                          <a:effectLst/>
                          <a:latin typeface="Arial" panose="020B0604020202020204" pitchFamily="34" charset="0"/>
                          <a:cs typeface="Arial" panose="020B0604020202020204" pitchFamily="34" charset="0"/>
                        </a:rPr>
                        <a:t>Index to Total</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Arial" panose="020B0604020202020204" pitchFamily="34" charset="0"/>
                          <a:ea typeface="+mn-ea"/>
                          <a:cs typeface="Arial" panose="020B0604020202020204" pitchFamily="34" charset="0"/>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Arial" panose="020B0604020202020204" pitchFamily="34" charset="0"/>
                          <a:ea typeface="+mn-ea"/>
                          <a:cs typeface="Arial" panose="020B0604020202020204" pitchFamily="34" charset="0"/>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74320">
                <a:tc gridSpan="14">
                  <a:txBody>
                    <a:bodyPr/>
                    <a:lstStyle/>
                    <a:p>
                      <a:pPr algn="l" fontAlgn="b">
                        <a:buNone/>
                      </a:pPr>
                      <a:r>
                        <a:rPr lang="en-US" sz="1100" b="0" i="0" u="none" strike="noStrike" dirty="0">
                          <a:effectLst/>
                          <a:latin typeface="Arial" panose="020B0604020202020204" pitchFamily="34" charset="0"/>
                          <a:cs typeface="Arial" panose="020B0604020202020204" pitchFamily="34" charset="0"/>
                        </a:rPr>
                        <a:t>Household Income</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solidFill>
                          <a:srgbClr val="9C0006"/>
                        </a:solidFill>
                        <a:effectLst/>
                        <a:latin typeface="Arial" panose="020B0604020202020204" pitchFamily="34" charset="0"/>
                      </a:endParaRPr>
                    </a:p>
                  </a:txBody>
                  <a:tcPr marL="9525" marR="9525" marT="9525"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solidFill>
                          <a:srgbClr val="0061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19665510"/>
                  </a:ext>
                </a:extLst>
              </a:tr>
              <a:tr h="274320">
                <a:tc>
                  <a:txBody>
                    <a:bodyPr/>
                    <a:lstStyle/>
                    <a:p>
                      <a:pPr algn="l" fontAlgn="b">
                        <a:buNone/>
                      </a:pPr>
                      <a:r>
                        <a:rPr lang="en-US" sz="1100" b="1" i="0" u="none" strike="noStrike" dirty="0">
                          <a:effectLst/>
                          <a:latin typeface="Arial" panose="020B0604020202020204" pitchFamily="34" charset="0"/>
                          <a:cs typeface="Arial" panose="020B0604020202020204" pitchFamily="34" charset="0"/>
                        </a:rPr>
                        <a:t>$35 - &lt;$100K</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46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98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235127036"/>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$35-$49.9K</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130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noFill/>
                  </a:tcPr>
                </a:tc>
                <a:extLst>
                  <a:ext uri="{0D108BD9-81ED-4DB2-BD59-A6C34878D82A}">
                    <a16:rowId xmlns:a16="http://schemas.microsoft.com/office/drawing/2014/main" val="128676805"/>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$50-$74.9K</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80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246116823"/>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$75-$99.9K</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131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113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861604291"/>
                  </a:ext>
                </a:extLst>
              </a:tr>
              <a:tr h="274320">
                <a:tc>
                  <a:txBody>
                    <a:bodyPr/>
                    <a:lstStyle/>
                    <a:p>
                      <a:pPr algn="l" fontAlgn="b">
                        <a:buNone/>
                      </a:pPr>
                      <a:r>
                        <a:rPr lang="en-US" sz="1100" b="1" i="0" u="none" strike="noStrike" dirty="0">
                          <a:effectLst/>
                          <a:latin typeface="Arial" panose="020B0604020202020204" pitchFamily="34" charset="0"/>
                          <a:cs typeface="Arial" panose="020B0604020202020204" pitchFamily="34" charset="0"/>
                        </a:rPr>
                        <a:t>&gt;$100K</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105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54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49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1" i="0" u="none" strike="noStrike" dirty="0">
                          <a:effectLst/>
                          <a:latin typeface="Arial" panose="020B0604020202020204" pitchFamily="34" charset="0"/>
                          <a:cs typeface="Arial" panose="020B0604020202020204" pitchFamily="34" charset="0"/>
                        </a:rPr>
                        <a:t>102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550269314"/>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$100-$149.9K</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110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656930665"/>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$150-$199.9K</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78 </a:t>
                      </a:r>
                    </a:p>
                  </a:txBody>
                  <a:tcPr marL="9525" marR="9525" marT="9525" marB="0" anchor="ctr">
                    <a:lnL w="12700" cap="flat" cmpd="sng" algn="ctr">
                      <a:no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553499074"/>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$200K+</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61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157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noFill/>
                  </a:tcPr>
                </a:tc>
                <a:extLst>
                  <a:ext uri="{0D108BD9-81ED-4DB2-BD59-A6C34878D82A}">
                    <a16:rowId xmlns:a16="http://schemas.microsoft.com/office/drawing/2014/main" val="815205614"/>
                  </a:ext>
                </a:extLst>
              </a:tr>
              <a:tr h="274320">
                <a:tc>
                  <a:txBody>
                    <a:bodyPr/>
                    <a:lstStyle/>
                    <a:p>
                      <a:pPr algn="l" fontAlgn="b">
                        <a:buNone/>
                      </a:pPr>
                      <a:r>
                        <a:rPr lang="en-US" sz="1100" b="1" i="0" u="none" strike="noStrike" dirty="0">
                          <a:effectLst/>
                          <a:latin typeface="Arial" panose="020B0604020202020204" pitchFamily="34" charset="0"/>
                          <a:cs typeface="Arial" panose="020B0604020202020204" pitchFamily="34" charset="0"/>
                        </a:rPr>
                        <a:t>Average HH Income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$109.5</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$102.4</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$104.4</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$109.7</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$108.7</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99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$120.6</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$110.4</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050" b="1"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509235948"/>
                  </a:ext>
                </a:extLst>
              </a:tr>
              <a:tr h="274320">
                <a:tc gridSpan="14">
                  <a:txBody>
                    <a:bodyPr/>
                    <a:lstStyle/>
                    <a:p>
                      <a:pPr algn="l" fontAlgn="b">
                        <a:buNone/>
                      </a:pPr>
                      <a:r>
                        <a:rPr lang="en-US" sz="1100" b="0" i="0" u="none" strike="noStrike" dirty="0">
                          <a:effectLst/>
                          <a:latin typeface="Arial" panose="020B0604020202020204" pitchFamily="34" charset="0"/>
                          <a:cs typeface="Arial" panose="020B0604020202020204" pitchFamily="34" charset="0"/>
                        </a:rPr>
                        <a:t>Education</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solidFill>
                          <a:srgbClr val="9C0006"/>
                        </a:solidFill>
                        <a:effectLst/>
                        <a:latin typeface="Arial" panose="020B0604020202020204" pitchFamily="34" charset="0"/>
                      </a:endParaRPr>
                    </a:p>
                  </a:txBody>
                  <a:tcPr marL="9525" marR="9525" marT="9525"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accent2">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noFill/>
                  </a:tcPr>
                </a:tc>
                <a:tc hMerge="1">
                  <a:txBody>
                    <a:bodyPr/>
                    <a:lstStyle/>
                    <a:p>
                      <a:pPr algn="ctr" fontAlgn="b">
                        <a:buNone/>
                      </a:pPr>
                      <a:endParaRPr lang="en-US" sz="1000" b="0" i="0" u="none" strike="noStrike" dirty="0">
                        <a:solidFill>
                          <a:srgbClr val="0061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028937182"/>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No College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15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88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5245146"/>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Some College/Associate’s</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106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56729928"/>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Bachelor’s Degree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97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479686556"/>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Some Post-Grad/Post-Grad Degree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107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449696902"/>
                  </a:ext>
                </a:extLst>
              </a:tr>
            </a:tbl>
          </a:graphicData>
        </a:graphic>
      </p:graphicFrame>
      <p:sp>
        <p:nvSpPr>
          <p:cNvPr id="3" name="Title 4">
            <a:extLst>
              <a:ext uri="{FF2B5EF4-FFF2-40B4-BE49-F238E27FC236}">
                <a16:creationId xmlns:a16="http://schemas.microsoft.com/office/drawing/2014/main" id="{19405910-6DD1-249F-70F8-B1C23AB2FBFF}"/>
              </a:ext>
            </a:extLst>
          </p:cNvPr>
          <p:cNvSpPr txBox="1">
            <a:spLocks/>
          </p:cNvSpPr>
          <p:nvPr/>
        </p:nvSpPr>
        <p:spPr>
          <a:xfrm>
            <a:off x="363389" y="495667"/>
            <a:ext cx="10989808"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Goal-Oriented Planners report a slightly higher household income vs. average and the other segments</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21808090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FA90D-C13A-0E23-5D53-29E231F93BF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62666D-0125-579D-2827-F929C82A1523}"/>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2" name="Date Placeholder 1">
            <a:extLst>
              <a:ext uri="{FF2B5EF4-FFF2-40B4-BE49-F238E27FC236}">
                <a16:creationId xmlns:a16="http://schemas.microsoft.com/office/drawing/2014/main" id="{47D368E1-7C07-5B0F-BBD8-B7AE91207937}"/>
              </a:ext>
            </a:extLst>
          </p:cNvPr>
          <p:cNvSpPr>
            <a:spLocks noGrp="1"/>
          </p:cNvSpPr>
          <p:nvPr>
            <p:ph type="dt" sz="half" idx="4294967295"/>
          </p:nvPr>
        </p:nvSpPr>
        <p:spPr>
          <a:xfrm>
            <a:off x="0" y="6459538"/>
            <a:ext cx="2473325"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March 2026</a:t>
            </a:r>
          </a:p>
        </p:txBody>
      </p:sp>
      <p:graphicFrame>
        <p:nvGraphicFramePr>
          <p:cNvPr id="9" name="Table 8">
            <a:extLst>
              <a:ext uri="{FF2B5EF4-FFF2-40B4-BE49-F238E27FC236}">
                <a16:creationId xmlns:a16="http://schemas.microsoft.com/office/drawing/2014/main" id="{D1FCD9B8-A119-D4C8-EA29-1AB66DA6C08F}"/>
              </a:ext>
            </a:extLst>
          </p:cNvPr>
          <p:cNvGraphicFramePr>
            <a:graphicFrameLocks noGrp="1"/>
          </p:cNvGraphicFramePr>
          <p:nvPr>
            <p:extLst>
              <p:ext uri="{D42A27DB-BD31-4B8C-83A1-F6EECF244321}">
                <p14:modId xmlns:p14="http://schemas.microsoft.com/office/powerpoint/2010/main" val="602398517"/>
              </p:ext>
            </p:extLst>
          </p:nvPr>
        </p:nvGraphicFramePr>
        <p:xfrm>
          <a:off x="507227" y="1854052"/>
          <a:ext cx="10927080" cy="3907356"/>
        </p:xfrm>
        <a:graphic>
          <a:graphicData uri="http://schemas.openxmlformats.org/drawingml/2006/table">
            <a:tbl>
              <a:tblPr>
                <a:tableStyleId>{3B4B98B0-60AC-42C2-AFA5-B58CD77FA1E5}</a:tableStyleId>
              </a:tblPr>
              <a:tblGrid>
                <a:gridCol w="2103120">
                  <a:extLst>
                    <a:ext uri="{9D8B030D-6E8A-4147-A177-3AD203B41FA5}">
                      <a16:colId xmlns:a16="http://schemas.microsoft.com/office/drawing/2014/main" val="4107426551"/>
                    </a:ext>
                  </a:extLst>
                </a:gridCol>
                <a:gridCol w="548640">
                  <a:extLst>
                    <a:ext uri="{9D8B030D-6E8A-4147-A177-3AD203B41FA5}">
                      <a16:colId xmlns:a16="http://schemas.microsoft.com/office/drawing/2014/main" val="871605687"/>
                    </a:ext>
                  </a:extLst>
                </a:gridCol>
                <a:gridCol w="685800">
                  <a:extLst>
                    <a:ext uri="{9D8B030D-6E8A-4147-A177-3AD203B41FA5}">
                      <a16:colId xmlns:a16="http://schemas.microsoft.com/office/drawing/2014/main" val="1799647169"/>
                    </a:ext>
                  </a:extLst>
                </a:gridCol>
                <a:gridCol w="685800">
                  <a:extLst>
                    <a:ext uri="{9D8B030D-6E8A-4147-A177-3AD203B41FA5}">
                      <a16:colId xmlns:a16="http://schemas.microsoft.com/office/drawing/2014/main" val="1381748258"/>
                    </a:ext>
                  </a:extLst>
                </a:gridCol>
                <a:gridCol w="685800">
                  <a:extLst>
                    <a:ext uri="{9D8B030D-6E8A-4147-A177-3AD203B41FA5}">
                      <a16:colId xmlns:a16="http://schemas.microsoft.com/office/drawing/2014/main" val="3956343915"/>
                    </a:ext>
                  </a:extLst>
                </a:gridCol>
                <a:gridCol w="685800">
                  <a:extLst>
                    <a:ext uri="{9D8B030D-6E8A-4147-A177-3AD203B41FA5}">
                      <a16:colId xmlns:a16="http://schemas.microsoft.com/office/drawing/2014/main" val="2197625001"/>
                    </a:ext>
                  </a:extLst>
                </a:gridCol>
                <a:gridCol w="731520">
                  <a:extLst>
                    <a:ext uri="{9D8B030D-6E8A-4147-A177-3AD203B41FA5}">
                      <a16:colId xmlns:a16="http://schemas.microsoft.com/office/drawing/2014/main" val="2797358484"/>
                    </a:ext>
                  </a:extLst>
                </a:gridCol>
                <a:gridCol w="685800">
                  <a:extLst>
                    <a:ext uri="{9D8B030D-6E8A-4147-A177-3AD203B41FA5}">
                      <a16:colId xmlns:a16="http://schemas.microsoft.com/office/drawing/2014/main" val="2867094755"/>
                    </a:ext>
                  </a:extLst>
                </a:gridCol>
                <a:gridCol w="685800">
                  <a:extLst>
                    <a:ext uri="{9D8B030D-6E8A-4147-A177-3AD203B41FA5}">
                      <a16:colId xmlns:a16="http://schemas.microsoft.com/office/drawing/2014/main" val="703738329"/>
                    </a:ext>
                  </a:extLst>
                </a:gridCol>
                <a:gridCol w="685800">
                  <a:extLst>
                    <a:ext uri="{9D8B030D-6E8A-4147-A177-3AD203B41FA5}">
                      <a16:colId xmlns:a16="http://schemas.microsoft.com/office/drawing/2014/main" val="3655167997"/>
                    </a:ext>
                  </a:extLst>
                </a:gridCol>
                <a:gridCol w="685800">
                  <a:extLst>
                    <a:ext uri="{9D8B030D-6E8A-4147-A177-3AD203B41FA5}">
                      <a16:colId xmlns:a16="http://schemas.microsoft.com/office/drawing/2014/main" val="2545100148"/>
                    </a:ext>
                  </a:extLst>
                </a:gridCol>
                <a:gridCol w="685800">
                  <a:extLst>
                    <a:ext uri="{9D8B030D-6E8A-4147-A177-3AD203B41FA5}">
                      <a16:colId xmlns:a16="http://schemas.microsoft.com/office/drawing/2014/main" val="2788384120"/>
                    </a:ext>
                  </a:extLst>
                </a:gridCol>
                <a:gridCol w="685800">
                  <a:extLst>
                    <a:ext uri="{9D8B030D-6E8A-4147-A177-3AD203B41FA5}">
                      <a16:colId xmlns:a16="http://schemas.microsoft.com/office/drawing/2014/main" val="2429126570"/>
                    </a:ext>
                  </a:extLst>
                </a:gridCol>
                <a:gridCol w="685800">
                  <a:extLst>
                    <a:ext uri="{9D8B030D-6E8A-4147-A177-3AD203B41FA5}">
                      <a16:colId xmlns:a16="http://schemas.microsoft.com/office/drawing/2014/main" val="2722809999"/>
                    </a:ext>
                  </a:extLst>
                </a:gridCol>
              </a:tblGrid>
              <a:tr h="0">
                <a:tc gridSpan="14">
                  <a:txBody>
                    <a:bodyPr/>
                    <a:lstStyle/>
                    <a:p>
                      <a:pPr algn="ctr" fontAlgn="b">
                        <a:buNone/>
                      </a:pPr>
                      <a:r>
                        <a:rPr lang="en-US" sz="1400" b="1" i="0" u="none" strike="noStrike" dirty="0">
                          <a:solidFill>
                            <a:schemeClr val="bg1"/>
                          </a:solidFill>
                          <a:effectLst/>
                          <a:latin typeface="Arial" panose="020B0604020202020204" pitchFamily="34" charset="0"/>
                          <a:cs typeface="Arial" panose="020B0604020202020204" pitchFamily="34" charset="0"/>
                        </a:rPr>
                        <a:t>Demographics</a:t>
                      </a:r>
                    </a:p>
                    <a:p>
                      <a:pPr algn="ctr" fontAlgn="b">
                        <a:buNone/>
                      </a:pPr>
                      <a:r>
                        <a:rPr lang="en-US" sz="1400" b="0" i="0" u="none" strike="noStrike" dirty="0">
                          <a:solidFill>
                            <a:schemeClr val="bg1"/>
                          </a:solidFill>
                          <a:effectLst/>
                          <a:latin typeface="Arial" panose="020B0604020202020204" pitchFamily="34" charset="0"/>
                          <a:cs typeface="Arial" panose="020B0604020202020204" pitchFamily="34" charset="0"/>
                        </a:rPr>
                        <a:t>(% of Segment)</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1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1" u="none" strike="noStrike" dirty="0">
                          <a:effectLst/>
                          <a:latin typeface="Arial" panose="020B0604020202020204" pitchFamily="34" charset="0"/>
                          <a:cs typeface="Arial" panose="020B0604020202020204" pitchFamily="34" charset="0"/>
                        </a:rPr>
                        <a:t>Total</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Impact Seekers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dirty="0">
                          <a:effectLst/>
                          <a:latin typeface="Arial" panose="020B0604020202020204" pitchFamily="34" charset="0"/>
                          <a:cs typeface="Arial" panose="020B0604020202020204" pitchFamily="34" charset="0"/>
                        </a:rPr>
                        <a:t>Index to Total</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1" u="none" strike="noStrike" kern="1200" dirty="0">
                          <a:solidFill>
                            <a:schemeClr val="tx1"/>
                          </a:solidFill>
                          <a:effectLst/>
                          <a:latin typeface="Arial" panose="020B0604020202020204" pitchFamily="34" charset="0"/>
                          <a:ea typeface="+mn-ea"/>
                          <a:cs typeface="Arial" panose="020B0604020202020204" pitchFamily="34" charset="0"/>
                        </a:rPr>
                        <a:t>Practical Minimalists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Arial" panose="020B0604020202020204" pitchFamily="34" charset="0"/>
                          <a:ea typeface="+mn-ea"/>
                          <a:cs typeface="Arial" panose="020B0604020202020204" pitchFamily="34" charset="0"/>
                        </a:rPr>
                        <a:t>Conflicted Experimenters</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Set It and Forget It</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Goal-Oriented Planners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kern="1200" dirty="0">
                          <a:solidFill>
                            <a:schemeClr val="tx1"/>
                          </a:solidFill>
                          <a:effectLst/>
                          <a:latin typeface="Arial" panose="020B0604020202020204" pitchFamily="34" charset="0"/>
                          <a:ea typeface="+mn-ea"/>
                          <a:cs typeface="Arial" panose="020B0604020202020204" pitchFamily="34" charset="0"/>
                        </a:rPr>
                        <a:t>Wellness Optimizers</a:t>
                      </a:r>
                    </a:p>
                  </a:txBody>
                  <a:tcPr marL="2958" marR="2958" marT="2958"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dirty="0">
                          <a:solidFill>
                            <a:schemeClr val="tx1"/>
                          </a:solidFill>
                          <a:effectLst/>
                          <a:latin typeface="Arial" panose="020B0604020202020204" pitchFamily="34" charset="0"/>
                          <a:ea typeface="+mn-ea"/>
                          <a:cs typeface="Arial" panose="020B0604020202020204" pitchFamily="34" charset="0"/>
                        </a:rPr>
                        <a:t>Index to Total</a:t>
                      </a:r>
                    </a:p>
                  </a:txBody>
                  <a:tcPr marL="2958" marR="2958" marT="2958"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274320">
                <a:tc gridSpan="14">
                  <a:txBody>
                    <a:bodyPr/>
                    <a:lstStyle/>
                    <a:p>
                      <a:pPr algn="l" fontAlgn="b">
                        <a:buNone/>
                      </a:pPr>
                      <a:r>
                        <a:rPr lang="en-US" sz="1100" b="0" i="0" u="none" strike="noStrike" dirty="0">
                          <a:effectLst/>
                          <a:latin typeface="Arial" panose="020B0604020202020204" pitchFamily="34" charset="0"/>
                          <a:cs typeface="Arial" panose="020B0604020202020204" pitchFamily="34" charset="0"/>
                        </a:rPr>
                        <a:t>Race/Ethnicity</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solidFill>
                          <a:srgbClr val="9C0006"/>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solidFill>
                          <a:srgbClr val="0061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19665510"/>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Caucasian</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71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62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66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77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74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63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88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235127036"/>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Black/African American</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147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68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145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28676805"/>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Hispanic</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6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60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69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16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146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4246116823"/>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Asian</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141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no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 </a:t>
                      </a:r>
                    </a:p>
                  </a:txBody>
                  <a:tcPr marL="9525" marR="9525" marT="9525" marB="0" anchor="ctr">
                    <a:lnL w="12700" cap="flat" cmpd="sng" algn="ctr">
                      <a:solidFill>
                        <a:schemeClr val="accent1"/>
                      </a:solidFill>
                      <a:prstDash val="solid"/>
                      <a:round/>
                      <a:headEnd type="none" w="med" len="med"/>
                      <a:tailEnd type="none" w="med" len="med"/>
                    </a:lnL>
                    <a:lnR>
                      <a:noFill/>
                    </a:lnR>
                    <a:lnB w="6350" cap="flat" cmpd="sng" algn="ctr">
                      <a:no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B w="6350" cap="flat" cmpd="sng" algn="ctr">
                      <a:noFill/>
                      <a:prstDash val="solid"/>
                      <a:round/>
                      <a:headEnd type="none" w="med" len="med"/>
                      <a:tailEnd type="none" w="med" len="med"/>
                    </a:lnB>
                    <a:noFill/>
                  </a:tcPr>
                </a:tc>
                <a:extLst>
                  <a:ext uri="{0D108BD9-81ED-4DB2-BD59-A6C34878D82A}">
                    <a16:rowId xmlns:a16="http://schemas.microsoft.com/office/drawing/2014/main" val="3861604291"/>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Native American/Alaska Native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37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 </a:t>
                      </a:r>
                    </a:p>
                  </a:txBody>
                  <a:tcPr marL="9525" marR="9525" marT="9525" marB="0" anchor="ctr">
                    <a:lnL w="12700" cap="flat" cmpd="sng" algn="ctr">
                      <a:solidFill>
                        <a:schemeClr val="accent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140 </a:t>
                      </a:r>
                    </a:p>
                  </a:txBody>
                  <a:tcPr marL="9525" marR="9525" marT="9525" marB="0" anchor="ctr">
                    <a:lnL w="12700" cap="flat" cmpd="sng" algn="ctr">
                      <a:noFill/>
                      <a:prstDash val="solid"/>
                      <a:round/>
                      <a:headEnd type="none" w="med" len="med"/>
                      <a:tailEnd type="none" w="med" len="med"/>
                    </a:lnL>
                    <a:lnT w="635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9960269"/>
                  </a:ext>
                </a:extLst>
              </a:tr>
              <a:tr h="274320">
                <a:tc gridSpan="14">
                  <a:txBody>
                    <a:bodyPr/>
                    <a:lstStyle/>
                    <a:p>
                      <a:pPr algn="l" fontAlgn="b">
                        <a:buNone/>
                      </a:pPr>
                      <a:r>
                        <a:rPr lang="en-US" sz="1100" b="0" i="0" u="none" strike="noStrike" dirty="0">
                          <a:effectLst/>
                          <a:latin typeface="Arial" panose="020B0604020202020204" pitchFamily="34" charset="0"/>
                          <a:cs typeface="Arial" panose="020B0604020202020204" pitchFamily="34" charset="0"/>
                        </a:rPr>
                        <a:t>Region</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solidFill>
                          <a:srgbClr val="9C0006"/>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noFill/>
                  </a:tcPr>
                </a:tc>
                <a:tc hMerge="1">
                  <a:txBody>
                    <a:bodyPr/>
                    <a:lstStyle/>
                    <a:p>
                      <a:pPr algn="ctr" fontAlgn="b">
                        <a:buNone/>
                      </a:pPr>
                      <a:endParaRPr lang="en-US" sz="1000" b="0" i="0" u="none" strike="noStrike" dirty="0">
                        <a:solidFill>
                          <a:srgbClr val="0061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a:noFill/>
                    </a:lnR>
                    <a:noFill/>
                  </a:tcPr>
                </a:tc>
                <a:tc hMerge="1">
                  <a:txBody>
                    <a:bodyPr/>
                    <a:lstStyle/>
                    <a:p>
                      <a:pPr algn="ctr" fontAlgn="b">
                        <a:buNone/>
                      </a:pPr>
                      <a:endParaRPr lang="en-US" sz="10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550269314"/>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Northeast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18 </a:t>
                      </a:r>
                    </a:p>
                  </a:txBody>
                  <a:tcPr marL="9525" marR="9525" marT="9525" marB="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97</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3656930665"/>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South</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37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39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40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35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45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116</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992814557"/>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Midwest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20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14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cs typeface="Arial" panose="020B0604020202020204" pitchFamily="34" charset="0"/>
                        </a:rPr>
                        <a:t>70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24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17 </a:t>
                      </a:r>
                    </a:p>
                  </a:txBody>
                  <a:tcPr marL="9525" marR="9525" marT="9525" marB="0" anchor="ctr">
                    <a:lnL w="12700" cap="flat" cmpd="sng" algn="ctr">
                      <a:solidFill>
                        <a:schemeClr val="accent1"/>
                      </a:solid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82</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553499074"/>
                  </a:ext>
                </a:extLst>
              </a:tr>
              <a:tr h="274320">
                <a:tc>
                  <a:txBody>
                    <a:bodyPr/>
                    <a:lstStyle/>
                    <a:p>
                      <a:pPr algn="l" fontAlgn="b">
                        <a:buNone/>
                      </a:pPr>
                      <a:r>
                        <a:rPr lang="en-US" sz="1100" b="0" i="0" u="none" strike="noStrike" dirty="0">
                          <a:effectLst/>
                          <a:latin typeface="Arial" panose="020B0604020202020204" pitchFamily="34" charset="0"/>
                          <a:cs typeface="Arial" panose="020B0604020202020204" pitchFamily="34" charset="0"/>
                        </a:rPr>
                        <a:t>West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28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solidFill>
                            <a:srgbClr val="006100"/>
                          </a:solidFill>
                          <a:effectLst/>
                          <a:latin typeface="Arial" panose="020B0604020202020204" pitchFamily="34" charset="0"/>
                          <a:cs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102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19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85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21 </a:t>
                      </a:r>
                    </a:p>
                  </a:txBody>
                  <a:tcPr marL="9525" marR="9525" marT="9525" marB="0" anchor="ctr">
                    <a:lnL w="12700" cap="flat" cmpd="sng" algn="ctr">
                      <a:solidFill>
                        <a:schemeClr val="accent1"/>
                      </a:solidFill>
                      <a:prstDash val="solid"/>
                      <a:round/>
                      <a:headEnd type="none" w="med" len="med"/>
                      <a:tailEnd type="none" w="med" len="med"/>
                    </a:lnL>
                    <a:lnR>
                      <a:noFill/>
                    </a:lnR>
                    <a:lnB w="12700" cap="flat" cmpd="sng" algn="ctr">
                      <a:solidFill>
                        <a:schemeClr val="accent1"/>
                      </a:solidFill>
                      <a:prstDash val="solid"/>
                      <a:round/>
                      <a:headEnd type="none" w="med" len="med"/>
                      <a:tailEnd type="none" w="med" len="med"/>
                    </a:lnB>
                    <a:noFill/>
                  </a:tcPr>
                </a:tc>
                <a:tc>
                  <a:txBody>
                    <a:bodyPr/>
                    <a:lstStyle/>
                    <a:p>
                      <a:pPr algn="ctr" fontAlgn="b">
                        <a:buNone/>
                      </a:pPr>
                      <a:r>
                        <a:rPr lang="en-US" sz="1100" b="0" i="0" u="none" strike="noStrike" dirty="0">
                          <a:effectLst/>
                          <a:latin typeface="Arial" panose="020B0604020202020204" pitchFamily="34" charset="0"/>
                          <a:cs typeface="Arial" panose="020B0604020202020204" pitchFamily="34" charset="0"/>
                        </a:rPr>
                        <a:t>91</a:t>
                      </a:r>
                    </a:p>
                  </a:txBody>
                  <a:tcPr marL="9525" marR="9525" marT="9525" marB="0" anchor="ctr">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815205614"/>
                  </a:ext>
                </a:extLst>
              </a:tr>
            </a:tbl>
          </a:graphicData>
        </a:graphic>
      </p:graphicFrame>
      <p:sp>
        <p:nvSpPr>
          <p:cNvPr id="3" name="Title 4">
            <a:extLst>
              <a:ext uri="{FF2B5EF4-FFF2-40B4-BE49-F238E27FC236}">
                <a16:creationId xmlns:a16="http://schemas.microsoft.com/office/drawing/2014/main" id="{C93E2DA1-1620-7616-DD4C-D4A69A2240AD}"/>
              </a:ext>
            </a:extLst>
          </p:cNvPr>
          <p:cNvSpPr txBox="1">
            <a:spLocks/>
          </p:cNvSpPr>
          <p:nvPr/>
        </p:nvSpPr>
        <p:spPr>
          <a:xfrm>
            <a:off x="414760" y="711424"/>
            <a:ext cx="10332009"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US" sz="2400" dirty="0"/>
              <a:t>Impact Seekers, Conflicted Experimenters, and Wellness Optimizers are more multi-cultural than average and the other three segments</a:t>
            </a:r>
            <a:endParaRPr kumimoji="0" lang="en-US" sz="24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645945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AD8A1790-3C70-5BFB-4F69-56075A5512F5}"/>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B973B33F-8AFF-E489-7316-A463EBB12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A3943B16-63D6-9509-C6B8-ADF0C99F9B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0" name="Straight Connector 29">
            <a:extLst>
              <a:ext uri="{FF2B5EF4-FFF2-40B4-BE49-F238E27FC236}">
                <a16:creationId xmlns:a16="http://schemas.microsoft.com/office/drawing/2014/main" id="{C6784B18-EC07-B18E-A07A-CCE589588C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6" name="Picture 25" descr="Spoonful of capsules">
            <a:extLst>
              <a:ext uri="{FF2B5EF4-FFF2-40B4-BE49-F238E27FC236}">
                <a16:creationId xmlns:a16="http://schemas.microsoft.com/office/drawing/2014/main" id="{FC1F4DC1-6FDE-79C1-C295-4D1928096185}"/>
              </a:ext>
            </a:extLst>
          </p:cNvPr>
          <p:cNvPicPr>
            <a:picLocks noChangeAspect="1"/>
          </p:cNvPicPr>
          <p:nvPr/>
        </p:nvPicPr>
        <p:blipFill>
          <a:blip r:embed="rId2">
            <a:alphaModFix amt="35000"/>
          </a:blip>
          <a:srcRect t="15413"/>
          <a:stretch>
            <a:fillRect/>
          </a:stretch>
        </p:blipFill>
        <p:spPr>
          <a:xfrm>
            <a:off x="20" y="10"/>
            <a:ext cx="12191980" cy="6857990"/>
          </a:xfrm>
          <a:prstGeom prst="rect">
            <a:avLst/>
          </a:prstGeom>
        </p:spPr>
      </p:pic>
      <p:sp>
        <p:nvSpPr>
          <p:cNvPr id="5" name="Title 4">
            <a:extLst>
              <a:ext uri="{FF2B5EF4-FFF2-40B4-BE49-F238E27FC236}">
                <a16:creationId xmlns:a16="http://schemas.microsoft.com/office/drawing/2014/main" id="{AB7A1EC7-A0EE-D72C-6239-899470BC3553}"/>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6600" dirty="0">
                <a:solidFill>
                  <a:srgbClr val="FFFFFF"/>
                </a:solidFill>
              </a:rPr>
              <a:t>APPENDIX</a:t>
            </a:r>
          </a:p>
        </p:txBody>
      </p:sp>
      <p:sp>
        <p:nvSpPr>
          <p:cNvPr id="7" name="Text Placeholder 6">
            <a:extLst>
              <a:ext uri="{FF2B5EF4-FFF2-40B4-BE49-F238E27FC236}">
                <a16:creationId xmlns:a16="http://schemas.microsoft.com/office/drawing/2014/main" id="{4293572B-5D14-1CE4-E03F-D943E405C65C}"/>
              </a:ext>
            </a:extLst>
          </p:cNvPr>
          <p:cNvSpPr>
            <a:spLocks noGrp="1"/>
          </p:cNvSpPr>
          <p:nvPr>
            <p:ph type="body" idx="1"/>
          </p:nvPr>
        </p:nvSpPr>
        <p:spPr>
          <a:xfrm>
            <a:off x="1100051" y="4455620"/>
            <a:ext cx="10058400" cy="1143000"/>
          </a:xfrm>
          <a:noFill/>
        </p:spPr>
        <p:txBody>
          <a:bodyPr vert="horz" lIns="91440" tIns="45720" rIns="91440" bIns="45720" rtlCol="0">
            <a:normAutofit/>
          </a:bodyPr>
          <a:lstStyle/>
          <a:p>
            <a:endParaRPr lang="en-US" dirty="0">
              <a:solidFill>
                <a:schemeClr val="tx1"/>
              </a:solidFill>
            </a:endParaRPr>
          </a:p>
        </p:txBody>
      </p:sp>
      <p:cxnSp>
        <p:nvCxnSpPr>
          <p:cNvPr id="32" name="Straight Connector 31">
            <a:extLst>
              <a:ext uri="{FF2B5EF4-FFF2-40B4-BE49-F238E27FC236}">
                <a16:creationId xmlns:a16="http://schemas.microsoft.com/office/drawing/2014/main" id="{4828C3D0-8B82-6C7B-BEE5-8E8CCC1672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19261DF-F78A-A37E-2981-CA6F7167C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870D7245-7D15-9EC1-7A8C-16275C9E1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B0EAB1B1-6478-1F68-EA62-190D31C9AA88}"/>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4" name="Slide Number Placeholder 3">
            <a:extLst>
              <a:ext uri="{FF2B5EF4-FFF2-40B4-BE49-F238E27FC236}">
                <a16:creationId xmlns:a16="http://schemas.microsoft.com/office/drawing/2014/main" id="{B92EAF02-F655-A1D4-C1D5-565D0F3BB289}"/>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1463872"/>
      </p:ext>
    </p:extLst>
  </p:cSld>
  <p:clrMapOvr>
    <a:overrideClrMapping bg1="dk1" tx1="lt1" bg2="dk2" tx2="lt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E64C85E1-4041-70B8-B819-0B6000A64ABB}"/>
            </a:ext>
          </a:extLst>
        </p:cNvPr>
        <p:cNvGrpSpPr/>
        <p:nvPr/>
      </p:nvGrpSpPr>
      <p:grpSpPr>
        <a:xfrm>
          <a:off x="0" y="0"/>
          <a:ext cx="0" cy="0"/>
          <a:chOff x="0" y="0"/>
          <a:chExt cx="0" cy="0"/>
        </a:xfrm>
      </p:grpSpPr>
      <p:graphicFrame>
        <p:nvGraphicFramePr>
          <p:cNvPr id="5" name="Google Shape;1091;g2105d9229d2_2_46">
            <a:extLst>
              <a:ext uri="{FF2B5EF4-FFF2-40B4-BE49-F238E27FC236}">
                <a16:creationId xmlns:a16="http://schemas.microsoft.com/office/drawing/2014/main" id="{043AA94C-7100-99BA-B43C-F4C9F3FC5751}"/>
              </a:ext>
            </a:extLst>
          </p:cNvPr>
          <p:cNvGraphicFramePr/>
          <p:nvPr/>
        </p:nvGraphicFramePr>
        <p:xfrm>
          <a:off x="1530073" y="1680093"/>
          <a:ext cx="10274691" cy="4556760"/>
        </p:xfrm>
        <a:graphic>
          <a:graphicData uri="http://schemas.openxmlformats.org/drawingml/2006/table">
            <a:tbl>
              <a:tblPr firstRow="1" bandRow="1">
                <a:tableStyleId>{2D5ABB26-0587-4C30-8999-92F81FD0307C}</a:tableStyleId>
              </a:tblPr>
              <a:tblGrid>
                <a:gridCol w="1313571">
                  <a:extLst>
                    <a:ext uri="{9D8B030D-6E8A-4147-A177-3AD203B41FA5}">
                      <a16:colId xmlns:a16="http://schemas.microsoft.com/office/drawing/2014/main" val="2285776051"/>
                    </a:ext>
                  </a:extLst>
                </a:gridCol>
                <a:gridCol w="3200400">
                  <a:extLst>
                    <a:ext uri="{9D8B030D-6E8A-4147-A177-3AD203B41FA5}">
                      <a16:colId xmlns:a16="http://schemas.microsoft.com/office/drawing/2014/main" val="3966854118"/>
                    </a:ext>
                  </a:extLst>
                </a:gridCol>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968446174"/>
                    </a:ext>
                  </a:extLst>
                </a:gridCol>
              </a:tblGrid>
              <a:tr h="365760">
                <a:tc>
                  <a:txBody>
                    <a:bodyPr/>
                    <a:lstStyle/>
                    <a:p>
                      <a:endParaRPr lang="en-US" sz="1100" dirty="0">
                        <a:latin typeface="+mj-lt"/>
                      </a:endParaRPr>
                    </a:p>
                  </a:txBody>
                  <a:tcPr marL="76200" marR="76200" marT="38100" marB="38100" anchor="ctr">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accent2"/>
                          </a:solidFill>
                          <a:latin typeface="+mj-lt"/>
                        </a:rPr>
                        <a:t>Job Statement</a:t>
                      </a:r>
                      <a:endParaRPr lang="en-US" sz="1200" b="0" i="1" kern="1200" dirty="0">
                        <a:solidFill>
                          <a:schemeClr val="accent2"/>
                        </a:solidFill>
                        <a:latin typeface="+mj-lt"/>
                        <a:ea typeface="+mn-ea"/>
                        <a:cs typeface="+mn-cs"/>
                      </a:endParaRPr>
                    </a:p>
                  </a:txBody>
                  <a:tcPr marL="76200" marR="76200" marT="38100" marB="38100" anchor="ctr">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accent2"/>
                          </a:solidFill>
                          <a:latin typeface="+mj-lt"/>
                        </a:rPr>
                        <a:t>Functional </a:t>
                      </a:r>
                    </a:p>
                    <a:p>
                      <a:pPr algn="ctr"/>
                      <a:r>
                        <a:rPr lang="en-US" sz="1200" b="1" kern="1200" dirty="0">
                          <a:solidFill>
                            <a:schemeClr val="accent2"/>
                          </a:solidFill>
                          <a:latin typeface="+mj-lt"/>
                        </a:rPr>
                        <a:t>Dimensions</a:t>
                      </a:r>
                      <a:endParaRPr lang="en-US" sz="1200" b="0" i="1" kern="1200" dirty="0">
                        <a:solidFill>
                          <a:schemeClr val="accent2"/>
                        </a:solidFill>
                        <a:latin typeface="+mj-lt"/>
                        <a:ea typeface="+mn-ea"/>
                        <a:cs typeface="+mn-cs"/>
                      </a:endParaRPr>
                    </a:p>
                  </a:txBody>
                  <a:tcPr marL="76200" marR="76200" marT="38100" marB="38100" anchor="ctr">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accent2"/>
                          </a:solidFill>
                          <a:latin typeface="+mj-lt"/>
                        </a:rPr>
                        <a:t>Emotional </a:t>
                      </a:r>
                    </a:p>
                    <a:p>
                      <a:pPr algn="ctr"/>
                      <a:r>
                        <a:rPr lang="en-US" sz="1200" b="1" kern="1200" dirty="0">
                          <a:solidFill>
                            <a:schemeClr val="accent2"/>
                          </a:solidFill>
                          <a:latin typeface="+mj-lt"/>
                        </a:rPr>
                        <a:t>Dimensions</a:t>
                      </a:r>
                      <a:endParaRPr lang="en-US" sz="1200" b="0" i="1" kern="1200" dirty="0">
                        <a:solidFill>
                          <a:schemeClr val="accent2"/>
                        </a:solidFill>
                        <a:latin typeface="+mj-lt"/>
                        <a:ea typeface="+mn-ea"/>
                        <a:cs typeface="+mn-cs"/>
                      </a:endParaRPr>
                    </a:p>
                  </a:txBody>
                  <a:tcPr marL="76200" marR="76200" marT="38100" marB="38100" anchor="ctr">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accent2"/>
                          </a:solidFill>
                          <a:latin typeface="+mj-lt"/>
                          <a:ea typeface="+mn-ea"/>
                          <a:cs typeface="+mn-cs"/>
                        </a:rPr>
                        <a:t>Desired Outcomes</a:t>
                      </a:r>
                      <a:endParaRPr lang="en-US" sz="1200" b="0" i="1" kern="1200" dirty="0">
                        <a:solidFill>
                          <a:schemeClr val="accent2"/>
                        </a:solidFill>
                        <a:latin typeface="+mj-lt"/>
                        <a:ea typeface="+mn-ea"/>
                        <a:cs typeface="+mn-cs"/>
                      </a:endParaRPr>
                    </a:p>
                  </a:txBody>
                  <a:tcPr marL="76200" marR="76200" marT="38100" marB="38100"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0000"/>
                  </a:ext>
                </a:extLst>
              </a:tr>
              <a:tr h="822960">
                <a:tc>
                  <a:txBody>
                    <a:bodyPr/>
                    <a:lstStyle/>
                    <a:p>
                      <a:pPr algn="ctr"/>
                      <a:r>
                        <a:rPr lang="en-US" sz="1200" b="1" kern="1200" dirty="0">
                          <a:solidFill>
                            <a:schemeClr val="accent2"/>
                          </a:solidFill>
                          <a:latin typeface="+mj-lt"/>
                        </a:rPr>
                        <a:t>Support Overall Health and Wellness</a:t>
                      </a:r>
                      <a:endParaRPr lang="en-US" sz="1200" b="1" kern="1200" dirty="0">
                        <a:solidFill>
                          <a:schemeClr val="accent2"/>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i="0" kern="1200" dirty="0">
                          <a:solidFill>
                            <a:schemeClr val="tx1">
                              <a:lumMod val="65000"/>
                              <a:lumOff val="35000"/>
                            </a:schemeClr>
                          </a:solidFill>
                          <a:latin typeface="+mj-lt"/>
                          <a:ea typeface="+mn-ea"/>
                          <a:cs typeface="+mn-cs"/>
                        </a:rPr>
                        <a:t>I want to stay healthy and prevent future problems, with the confidence that I’m doing all I can to support my wellness every day</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rPr>
                        <a:t>Support long-term health</a:t>
                      </a:r>
                    </a:p>
                    <a:p>
                      <a:pPr marL="285750" indent="-285750">
                        <a:buFont typeface="Arial" panose="020B0604020202020204" pitchFamily="34" charset="0"/>
                        <a:buChar char="•"/>
                      </a:pPr>
                      <a:r>
                        <a:rPr lang="en-US" sz="1100" kern="1200" dirty="0">
                          <a:solidFill>
                            <a:schemeClr val="tx1">
                              <a:lumMod val="65000"/>
                              <a:lumOff val="35000"/>
                            </a:schemeClr>
                          </a:solidFill>
                          <a:latin typeface="+mj-lt"/>
                        </a:rPr>
                        <a:t>Prevent illness</a:t>
                      </a:r>
                    </a:p>
                    <a:p>
                      <a:pPr marL="285750" indent="-285750">
                        <a:buFont typeface="Arial" panose="020B0604020202020204" pitchFamily="34" charset="0"/>
                        <a:buChar char="•"/>
                      </a:pPr>
                      <a:r>
                        <a:rPr lang="en-US" sz="1100" kern="1200" dirty="0">
                          <a:solidFill>
                            <a:schemeClr val="tx1">
                              <a:lumMod val="65000"/>
                              <a:lumOff val="35000"/>
                            </a:schemeClr>
                          </a:solidFill>
                          <a:latin typeface="+mj-lt"/>
                        </a:rPr>
                        <a:t>Maintain energy/vitality</a:t>
                      </a:r>
                      <a:endParaRPr lang="en-US" sz="1100" kern="1200" dirty="0">
                        <a:solidFill>
                          <a:schemeClr val="tx1">
                            <a:lumMod val="65000"/>
                            <a:lumOff val="35000"/>
                          </a:schemeClr>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marR="0" lvl="0" indent="-285750" algn="l" defTabSz="126913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lumMod val="65000"/>
                              <a:lumOff val="35000"/>
                            </a:schemeClr>
                          </a:solidFill>
                          <a:latin typeface="+mj-lt"/>
                        </a:rPr>
                        <a:t>Proactivity</a:t>
                      </a:r>
                    </a:p>
                    <a:p>
                      <a:pPr marL="285750" marR="0" lvl="0" indent="-285750" algn="l" defTabSz="126913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lumMod val="65000"/>
                              <a:lumOff val="35000"/>
                            </a:schemeClr>
                          </a:solidFill>
                          <a:latin typeface="+mj-lt"/>
                        </a:rPr>
                        <a:t>Empowerment</a:t>
                      </a:r>
                    </a:p>
                    <a:p>
                      <a:pPr marL="285750" marR="0" lvl="0" indent="-285750" algn="l" defTabSz="126913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lumMod val="65000"/>
                              <a:lumOff val="35000"/>
                            </a:schemeClr>
                          </a:solidFill>
                          <a:latin typeface="+mj-lt"/>
                        </a:rPr>
                        <a:t>Peace of mind</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marR="0" lvl="0" indent="0" algn="ctr" defTabSz="126913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lumMod val="65000"/>
                              <a:lumOff val="35000"/>
                            </a:schemeClr>
                          </a:solidFill>
                          <a:latin typeface="+mj-lt"/>
                          <a:ea typeface="+mn-ea"/>
                          <a:cs typeface="+mn-cs"/>
                        </a:rPr>
                        <a:t>Easy, reliable, affordable daily solutions</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0001"/>
                  </a:ext>
                </a:extLst>
              </a:tr>
              <a:tr h="822960">
                <a:tc>
                  <a:txBody>
                    <a:bodyPr/>
                    <a:lstStyle/>
                    <a:p>
                      <a:pPr algn="ctr"/>
                      <a:r>
                        <a:rPr lang="en-US" sz="1200" b="1" kern="1200" dirty="0">
                          <a:solidFill>
                            <a:schemeClr val="accent2"/>
                          </a:solidFill>
                          <a:latin typeface="+mj-lt"/>
                        </a:rPr>
                        <a:t>Fill Perceived Nutritional Gaps</a:t>
                      </a:r>
                      <a:endParaRPr lang="en-US" sz="1200" b="1" kern="1200" dirty="0">
                        <a:solidFill>
                          <a:schemeClr val="accent2"/>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kern="1200" dirty="0">
                          <a:solidFill>
                            <a:schemeClr val="tx1">
                              <a:lumMod val="65000"/>
                              <a:lumOff val="35000"/>
                            </a:schemeClr>
                          </a:solidFill>
                          <a:latin typeface="+mj-lt"/>
                        </a:rPr>
                        <a:t>I want a simple way to fill nutritional gaps so I can be sure that I’m giving my body what it needs to function at its best </a:t>
                      </a:r>
                      <a:endParaRPr lang="en-US" sz="1100" i="1" kern="1200" dirty="0">
                        <a:solidFill>
                          <a:schemeClr val="tx1">
                            <a:lumMod val="65000"/>
                            <a:lumOff val="35000"/>
                          </a:schemeClr>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rPr>
                        <a:t>Compensate for dietary gaps</a:t>
                      </a:r>
                    </a:p>
                    <a:p>
                      <a:pPr marL="285750" indent="-285750">
                        <a:buFont typeface="Arial" panose="020B0604020202020204" pitchFamily="34" charset="0"/>
                        <a:buChar char="•"/>
                      </a:pPr>
                      <a:r>
                        <a:rPr lang="en-US" sz="1100" kern="1200" dirty="0">
                          <a:solidFill>
                            <a:schemeClr val="tx1">
                              <a:lumMod val="65000"/>
                              <a:lumOff val="35000"/>
                            </a:schemeClr>
                          </a:solidFill>
                          <a:latin typeface="+mj-lt"/>
                        </a:rPr>
                        <a:t>Ensure adequacy of key nutrients</a:t>
                      </a:r>
                      <a:endParaRPr lang="en-US" sz="1100" kern="1200" dirty="0">
                        <a:solidFill>
                          <a:schemeClr val="tx1">
                            <a:lumMod val="65000"/>
                            <a:lumOff val="35000"/>
                          </a:schemeClr>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rPr>
                        <a:t>Reassurance</a:t>
                      </a:r>
                    </a:p>
                    <a:p>
                      <a:pPr marL="285750" indent="-285750">
                        <a:buFont typeface="Arial" panose="020B0604020202020204" pitchFamily="34" charset="0"/>
                        <a:buChar char="•"/>
                      </a:pPr>
                      <a:r>
                        <a:rPr lang="en-US" sz="1100" kern="1200" dirty="0">
                          <a:solidFill>
                            <a:schemeClr val="tx1">
                              <a:lumMod val="65000"/>
                              <a:lumOff val="35000"/>
                            </a:schemeClr>
                          </a:solidFill>
                          <a:latin typeface="+mj-lt"/>
                        </a:rPr>
                        <a:t>Anxiety reduction</a:t>
                      </a:r>
                      <a:endParaRPr lang="en-US" sz="1100" kern="1200" dirty="0">
                        <a:solidFill>
                          <a:schemeClr val="tx1">
                            <a:lumMod val="65000"/>
                            <a:lumOff val="35000"/>
                          </a:schemeClr>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kern="1200" dirty="0">
                          <a:solidFill>
                            <a:schemeClr val="tx1">
                              <a:lumMod val="65000"/>
                              <a:lumOff val="35000"/>
                            </a:schemeClr>
                          </a:solidFill>
                          <a:latin typeface="+mj-lt"/>
                          <a:ea typeface="+mn-ea"/>
                          <a:cs typeface="+mn-cs"/>
                        </a:rPr>
                        <a:t>Easily, reliable, affordable daily solutions</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8679886"/>
                  </a:ext>
                </a:extLst>
              </a:tr>
              <a:tr h="822960">
                <a:tc>
                  <a:txBody>
                    <a:bodyPr/>
                    <a:lstStyle/>
                    <a:p>
                      <a:pPr algn="ctr"/>
                      <a:r>
                        <a:rPr lang="en-US" sz="1200" b="1" kern="1200" dirty="0">
                          <a:solidFill>
                            <a:schemeClr val="accent2"/>
                          </a:solidFill>
                          <a:latin typeface="+mj-lt"/>
                        </a:rPr>
                        <a:t>Address a Health Condition</a:t>
                      </a:r>
                      <a:endParaRPr lang="en-US" sz="1200" b="1" kern="1200" dirty="0">
                        <a:solidFill>
                          <a:schemeClr val="accent2"/>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kern="1200" dirty="0">
                          <a:solidFill>
                            <a:schemeClr val="tx1">
                              <a:lumMod val="65000"/>
                              <a:lumOff val="35000"/>
                            </a:schemeClr>
                          </a:solidFill>
                          <a:latin typeface="+mj-lt"/>
                        </a:rPr>
                        <a:t>When I have a specific health concern, I need proven, easily incorporated solutions that help me manage my condition and avoid complications</a:t>
                      </a:r>
                      <a:endParaRPr lang="en-US" sz="1100" i="1" kern="1200" dirty="0">
                        <a:solidFill>
                          <a:schemeClr val="tx1">
                            <a:lumMod val="65000"/>
                            <a:lumOff val="35000"/>
                          </a:schemeClr>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rPr>
                        <a:t>Correct deficiency</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Support a diagnosed condition</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Follow doctor’s advice</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rPr>
                        <a:t>Support</a:t>
                      </a:r>
                    </a:p>
                    <a:p>
                      <a:pPr marL="285750" indent="-285750">
                        <a:buFont typeface="Arial" panose="020B0604020202020204" pitchFamily="34" charset="0"/>
                        <a:buChar char="•"/>
                      </a:pPr>
                      <a:r>
                        <a:rPr lang="en-US" sz="1100" kern="1200" dirty="0">
                          <a:solidFill>
                            <a:schemeClr val="tx1">
                              <a:lumMod val="65000"/>
                              <a:lumOff val="35000"/>
                            </a:schemeClr>
                          </a:solidFill>
                          <a:latin typeface="+mj-lt"/>
                        </a:rPr>
                        <a:t>Control</a:t>
                      </a:r>
                    </a:p>
                    <a:p>
                      <a:pPr marL="285750" indent="-285750">
                        <a:buFont typeface="Arial" panose="020B0604020202020204" pitchFamily="34" charset="0"/>
                        <a:buChar char="•"/>
                      </a:pPr>
                      <a:r>
                        <a:rPr lang="en-US" sz="1100" kern="1200" dirty="0">
                          <a:solidFill>
                            <a:schemeClr val="tx1">
                              <a:lumMod val="65000"/>
                              <a:lumOff val="35000"/>
                            </a:schemeClr>
                          </a:solidFill>
                          <a:latin typeface="+mj-lt"/>
                        </a:rPr>
                        <a:t>Relief</a:t>
                      </a:r>
                      <a:endParaRPr lang="en-US" sz="1100" kern="1200" dirty="0">
                        <a:solidFill>
                          <a:schemeClr val="tx1">
                            <a:lumMod val="65000"/>
                            <a:lumOff val="35000"/>
                          </a:schemeClr>
                        </a:solidFill>
                        <a:latin typeface="+mj-lt"/>
                        <a:ea typeface="+mn-ea"/>
                        <a:cs typeface="+mn-cs"/>
                      </a:endParaRP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kern="1200" dirty="0">
                          <a:solidFill>
                            <a:schemeClr val="tx1">
                              <a:lumMod val="65000"/>
                              <a:lumOff val="35000"/>
                            </a:schemeClr>
                          </a:solidFill>
                          <a:latin typeface="+mj-lt"/>
                          <a:ea typeface="+mn-ea"/>
                          <a:cs typeface="+mn-cs"/>
                        </a:rPr>
                        <a:t>Doctor-recommended, safe, effective options with minimal side effects</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601967709"/>
                  </a:ext>
                </a:extLst>
              </a:tr>
              <a:tr h="822960">
                <a:tc>
                  <a:txBody>
                    <a:bodyPr/>
                    <a:lstStyle/>
                    <a:p>
                      <a:pPr algn="ctr"/>
                      <a:r>
                        <a:rPr lang="en-US" sz="1200" b="1" kern="1200" dirty="0">
                          <a:solidFill>
                            <a:schemeClr val="accent2"/>
                          </a:solidFill>
                          <a:latin typeface="+mj-lt"/>
                          <a:ea typeface="+mn-ea"/>
                          <a:cs typeface="+mn-cs"/>
                        </a:rPr>
                        <a:t>Enhance Physical or Mental Performance</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i="0" kern="1200" dirty="0">
                          <a:solidFill>
                            <a:schemeClr val="tx1">
                              <a:lumMod val="65000"/>
                              <a:lumOff val="35000"/>
                            </a:schemeClr>
                          </a:solidFill>
                          <a:latin typeface="+mj-lt"/>
                          <a:ea typeface="+mn-ea"/>
                          <a:cs typeface="+mn-cs"/>
                        </a:rPr>
                        <a:t>When I want to perform at my best, I need solutions that help me maximize my effectiveness so I can achieve my goals</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Boost energy/stamina</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Support performance and recovery</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Elevate focus</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Empowerment</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Achievement</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Confidence</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kern="1200" dirty="0">
                          <a:solidFill>
                            <a:schemeClr val="tx1">
                              <a:lumMod val="65000"/>
                              <a:lumOff val="35000"/>
                            </a:schemeClr>
                          </a:solidFill>
                          <a:latin typeface="+mj-lt"/>
                          <a:ea typeface="+mn-ea"/>
                          <a:cs typeface="+mn-cs"/>
                        </a:rPr>
                        <a:t>Fast-acting, proven options with transparent ingredients and clear impact</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68366000"/>
                  </a:ext>
                </a:extLst>
              </a:tr>
              <a:tr h="8229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2"/>
                          </a:solidFill>
                          <a:latin typeface="+mn-lt"/>
                          <a:ea typeface="+mn-ea"/>
                          <a:cs typeface="+mn-cs"/>
                        </a:rPr>
                        <a:t>Look and Feel Better</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i="0" kern="1200" dirty="0">
                          <a:solidFill>
                            <a:schemeClr val="tx1">
                              <a:lumMod val="65000"/>
                              <a:lumOff val="35000"/>
                            </a:schemeClr>
                          </a:solidFill>
                          <a:latin typeface="+mj-lt"/>
                          <a:ea typeface="+mn-ea"/>
                          <a:cs typeface="+mn-cs"/>
                        </a:rPr>
                        <a:t>When I want to feel more vibrant and vital, I need solutions that help me look and feel my best</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Improve appearance</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Manage stress</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Improve mood</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Improve sleep</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Confidence</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Vibrancy/vitality</a:t>
                      </a:r>
                    </a:p>
                    <a:p>
                      <a:pPr marL="285750" indent="-285750">
                        <a:buFont typeface="Arial" panose="020B0604020202020204" pitchFamily="34" charset="0"/>
                        <a:buChar char="•"/>
                      </a:pPr>
                      <a:r>
                        <a:rPr lang="en-US" sz="1100" kern="1200" dirty="0">
                          <a:solidFill>
                            <a:schemeClr val="tx1">
                              <a:lumMod val="65000"/>
                              <a:lumOff val="35000"/>
                            </a:schemeClr>
                          </a:solidFill>
                          <a:latin typeface="+mj-lt"/>
                          <a:ea typeface="+mn-ea"/>
                          <a:cs typeface="+mn-cs"/>
                        </a:rPr>
                        <a:t>Enjoyment</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100" kern="1200" dirty="0">
                          <a:solidFill>
                            <a:schemeClr val="tx1">
                              <a:lumMod val="65000"/>
                              <a:lumOff val="35000"/>
                            </a:schemeClr>
                          </a:solidFill>
                          <a:latin typeface="+mj-lt"/>
                          <a:ea typeface="+mn-ea"/>
                          <a:cs typeface="+mn-cs"/>
                        </a:rPr>
                        <a:t>Easy, enjoyable formats that provide noticeable results</a:t>
                      </a:r>
                    </a:p>
                  </a:txBody>
                  <a:tcPr marL="76200" marR="76200" marT="38100" marB="3810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661541281"/>
                  </a:ext>
                </a:extLst>
              </a:tr>
            </a:tbl>
          </a:graphicData>
        </a:graphic>
      </p:graphicFrame>
      <p:pic>
        <p:nvPicPr>
          <p:cNvPr id="4" name="Graphic 3" descr="Fruit bowl with solid fill">
            <a:extLst>
              <a:ext uri="{FF2B5EF4-FFF2-40B4-BE49-F238E27FC236}">
                <a16:creationId xmlns:a16="http://schemas.microsoft.com/office/drawing/2014/main" id="{CF77D2A8-CA25-344F-BAFC-DCA82EF8F5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3052" y="3066815"/>
            <a:ext cx="611380" cy="611380"/>
          </a:xfrm>
          <a:prstGeom prst="rect">
            <a:avLst/>
          </a:prstGeom>
        </p:spPr>
      </p:pic>
      <p:pic>
        <p:nvPicPr>
          <p:cNvPr id="11" name="Graphic 10" descr="Homeopathy with solid fill">
            <a:extLst>
              <a:ext uri="{FF2B5EF4-FFF2-40B4-BE49-F238E27FC236}">
                <a16:creationId xmlns:a16="http://schemas.microsoft.com/office/drawing/2014/main" id="{F22663E3-395C-AC38-DA8C-E411E188EE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3052" y="2113662"/>
            <a:ext cx="759263" cy="759263"/>
          </a:xfrm>
          <a:prstGeom prst="rect">
            <a:avLst/>
          </a:prstGeom>
        </p:spPr>
      </p:pic>
      <p:pic>
        <p:nvPicPr>
          <p:cNvPr id="19" name="Graphic 18" descr="Stethoscope with solid fill">
            <a:extLst>
              <a:ext uri="{FF2B5EF4-FFF2-40B4-BE49-F238E27FC236}">
                <a16:creationId xmlns:a16="http://schemas.microsoft.com/office/drawing/2014/main" id="{C5975E1F-C652-86D4-F286-67093D3F0C1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7750" y="3872086"/>
            <a:ext cx="628435" cy="628435"/>
          </a:xfrm>
          <a:prstGeom prst="rect">
            <a:avLst/>
          </a:prstGeom>
        </p:spPr>
      </p:pic>
      <p:sp>
        <p:nvSpPr>
          <p:cNvPr id="3" name="Title 4">
            <a:extLst>
              <a:ext uri="{FF2B5EF4-FFF2-40B4-BE49-F238E27FC236}">
                <a16:creationId xmlns:a16="http://schemas.microsoft.com/office/drawing/2014/main" id="{F63B81F4-D006-9106-7494-3AC4F9A37DB0}"/>
              </a:ext>
            </a:extLst>
          </p:cNvPr>
          <p:cNvSpPr txBox="1">
            <a:spLocks/>
          </p:cNvSpPr>
          <p:nvPr/>
        </p:nvSpPr>
        <p:spPr>
          <a:xfrm>
            <a:off x="466035" y="379691"/>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Supplement Users hire supplements for a variety of jobs that can be leveraged for innovation and messaging</a:t>
            </a:r>
          </a:p>
        </p:txBody>
      </p:sp>
      <p:sp>
        <p:nvSpPr>
          <p:cNvPr id="2" name="TextBox 1">
            <a:extLst>
              <a:ext uri="{FF2B5EF4-FFF2-40B4-BE49-F238E27FC236}">
                <a16:creationId xmlns:a16="http://schemas.microsoft.com/office/drawing/2014/main" id="{38D43883-79CA-D066-2DA2-2F8119CE60CF}"/>
              </a:ext>
            </a:extLst>
          </p:cNvPr>
          <p:cNvSpPr txBox="1"/>
          <p:nvPr/>
        </p:nvSpPr>
        <p:spPr>
          <a:xfrm rot="16200000">
            <a:off x="-561157" y="2565435"/>
            <a:ext cx="1746607"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37052"/>
                </a:solidFill>
                <a:effectLst/>
                <a:uLnTx/>
                <a:uFillTx/>
                <a:latin typeface="Calibri" panose="020F0502020204030204"/>
                <a:ea typeface="+mn-ea"/>
                <a:cs typeface="+mn-cs"/>
              </a:rPr>
              <a:t>More Frequent</a:t>
            </a:r>
          </a:p>
        </p:txBody>
      </p:sp>
      <p:sp>
        <p:nvSpPr>
          <p:cNvPr id="6" name="TextBox 5">
            <a:extLst>
              <a:ext uri="{FF2B5EF4-FFF2-40B4-BE49-F238E27FC236}">
                <a16:creationId xmlns:a16="http://schemas.microsoft.com/office/drawing/2014/main" id="{F2E415DD-66A3-8A7D-F3D3-A4E2CB1052F4}"/>
              </a:ext>
            </a:extLst>
          </p:cNvPr>
          <p:cNvSpPr txBox="1"/>
          <p:nvPr/>
        </p:nvSpPr>
        <p:spPr>
          <a:xfrm rot="16200000">
            <a:off x="-561157" y="5361716"/>
            <a:ext cx="1746607"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37052"/>
                </a:solidFill>
                <a:effectLst/>
                <a:uLnTx/>
                <a:uFillTx/>
                <a:latin typeface="Calibri" panose="020F0502020204030204"/>
                <a:ea typeface="+mn-ea"/>
                <a:cs typeface="+mn-cs"/>
              </a:rPr>
              <a:t>Less Frequent</a:t>
            </a:r>
          </a:p>
        </p:txBody>
      </p:sp>
      <p:cxnSp>
        <p:nvCxnSpPr>
          <p:cNvPr id="8" name="Straight Arrow Connector 7">
            <a:extLst>
              <a:ext uri="{FF2B5EF4-FFF2-40B4-BE49-F238E27FC236}">
                <a16:creationId xmlns:a16="http://schemas.microsoft.com/office/drawing/2014/main" id="{AEFDCABF-5516-23D4-B220-91E42709247B}"/>
              </a:ext>
            </a:extLst>
          </p:cNvPr>
          <p:cNvCxnSpPr/>
          <p:nvPr/>
        </p:nvCxnSpPr>
        <p:spPr>
          <a:xfrm>
            <a:off x="312146" y="3340912"/>
            <a:ext cx="0" cy="158222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9" name="Graphic 8" descr="Aspiration with solid fill">
            <a:extLst>
              <a:ext uri="{FF2B5EF4-FFF2-40B4-BE49-F238E27FC236}">
                <a16:creationId xmlns:a16="http://schemas.microsoft.com/office/drawing/2014/main" id="{6766A46D-5BCB-8A2F-6977-A52A4C8E7F1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483" y="4608752"/>
            <a:ext cx="836832" cy="836832"/>
          </a:xfrm>
          <a:prstGeom prst="rect">
            <a:avLst/>
          </a:prstGeom>
        </p:spPr>
      </p:pic>
      <p:pic>
        <p:nvPicPr>
          <p:cNvPr id="15" name="Graphic 14" descr="Meditation with solid fill">
            <a:extLst>
              <a:ext uri="{FF2B5EF4-FFF2-40B4-BE49-F238E27FC236}">
                <a16:creationId xmlns:a16="http://schemas.microsoft.com/office/drawing/2014/main" id="{F580A173-2A0D-9BA2-D1FB-CD7F0DB40DE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6171" y="5482512"/>
            <a:ext cx="735455" cy="735455"/>
          </a:xfrm>
          <a:prstGeom prst="rect">
            <a:avLst/>
          </a:prstGeom>
        </p:spPr>
      </p:pic>
      <p:sp>
        <p:nvSpPr>
          <p:cNvPr id="17" name="Footer Placeholder 2">
            <a:extLst>
              <a:ext uri="{FF2B5EF4-FFF2-40B4-BE49-F238E27FC236}">
                <a16:creationId xmlns:a16="http://schemas.microsoft.com/office/drawing/2014/main" id="{1C7E5C02-A046-3C92-D23D-9B55B186283C}"/>
              </a:ext>
            </a:extLst>
          </p:cNvPr>
          <p:cNvSpPr>
            <a:spLocks noGrp="1"/>
          </p:cNvSpPr>
          <p:nvPr>
            <p:ph type="ftr" sz="quarter" idx="11"/>
          </p:nvPr>
        </p:nvSpPr>
        <p:spPr>
          <a:xfrm>
            <a:off x="3686185" y="6459785"/>
            <a:ext cx="4822804"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18" name="Slide Number Placeholder 3">
            <a:extLst>
              <a:ext uri="{FF2B5EF4-FFF2-40B4-BE49-F238E27FC236}">
                <a16:creationId xmlns:a16="http://schemas.microsoft.com/office/drawing/2014/main" id="{91AFB79A-AE23-129E-C7E8-5F76E5CEB36F}"/>
              </a:ext>
            </a:extLst>
          </p:cNvPr>
          <p:cNvSpPr>
            <a:spLocks noGrp="1"/>
          </p:cNvSpPr>
          <p:nvPr>
            <p:ph type="sldNum" sz="quarter" idx="12"/>
          </p:nvPr>
        </p:nvSpPr>
        <p:spPr>
          <a:xfrm>
            <a:off x="9900458" y="6459785"/>
            <a:ext cx="1312025"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F091BAF-AF2F-A61D-A05C-E91EF0A500C4}"/>
              </a:ext>
            </a:extLst>
          </p:cNvPr>
          <p:cNvSpPr txBox="1"/>
          <p:nvPr/>
        </p:nvSpPr>
        <p:spPr>
          <a:xfrm>
            <a:off x="4452134" y="1372316"/>
            <a:ext cx="3452117" cy="307777"/>
          </a:xfrm>
          <a:prstGeom prst="rect">
            <a:avLst/>
          </a:prstGeom>
          <a:noFill/>
          <a:ln>
            <a:solidFill>
              <a:schemeClr val="tx2"/>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lumMod val="65000"/>
                    <a:lumOff val="35000"/>
                  </a:srgbClr>
                </a:solidFill>
                <a:effectLst/>
                <a:uLnTx/>
                <a:uFillTx/>
                <a:latin typeface="Calibri" panose="020F0502020204030204"/>
                <a:ea typeface="+mn-ea"/>
                <a:cs typeface="+mn-cs"/>
              </a:rPr>
              <a:t>Hypothesized Jobs to be Done (JTBD)</a:t>
            </a:r>
          </a:p>
        </p:txBody>
      </p:sp>
      <p:sp>
        <p:nvSpPr>
          <p:cNvPr id="10" name="TextBox 9">
            <a:extLst>
              <a:ext uri="{FF2B5EF4-FFF2-40B4-BE49-F238E27FC236}">
                <a16:creationId xmlns:a16="http://schemas.microsoft.com/office/drawing/2014/main" id="{E6D535E6-5FBF-9100-AFEB-55234731D8DD}"/>
              </a:ext>
            </a:extLst>
          </p:cNvPr>
          <p:cNvSpPr txBox="1"/>
          <p:nvPr/>
        </p:nvSpPr>
        <p:spPr>
          <a:xfrm>
            <a:off x="7798085" y="0"/>
            <a:ext cx="4393915" cy="369332"/>
          </a:xfrm>
          <a:prstGeom prst="rect">
            <a:avLst/>
          </a:prstGeom>
          <a:solidFill>
            <a:srgbClr val="FFFF00"/>
          </a:solidFill>
        </p:spPr>
        <p:txBody>
          <a:bodyPr wrap="square" rtlCol="0">
            <a:spAutoFit/>
          </a:bodyPr>
          <a:lstStyle/>
          <a:p>
            <a:r>
              <a:rPr lang="en-US" dirty="0"/>
              <a:t>Hypothesized framework from qualitative</a:t>
            </a:r>
          </a:p>
        </p:txBody>
      </p:sp>
    </p:spTree>
    <p:extLst>
      <p:ext uri="{BB962C8B-B14F-4D97-AF65-F5344CB8AC3E}">
        <p14:creationId xmlns:p14="http://schemas.microsoft.com/office/powerpoint/2010/main" val="4181122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88">
          <a:extLst>
            <a:ext uri="{FF2B5EF4-FFF2-40B4-BE49-F238E27FC236}">
              <a16:creationId xmlns:a16="http://schemas.microsoft.com/office/drawing/2014/main" id="{1B0F2D4C-6233-62C6-818A-A87A2BB02FA8}"/>
            </a:ext>
          </a:extLst>
        </p:cNvPr>
        <p:cNvGrpSpPr/>
        <p:nvPr/>
      </p:nvGrpSpPr>
      <p:grpSpPr>
        <a:xfrm>
          <a:off x="0" y="0"/>
          <a:ext cx="0" cy="0"/>
          <a:chOff x="0" y="0"/>
          <a:chExt cx="0" cy="0"/>
        </a:xfrm>
      </p:grpSpPr>
      <p:graphicFrame>
        <p:nvGraphicFramePr>
          <p:cNvPr id="1091" name="Google Shape;1091;g2105d9229d2_2_46">
            <a:extLst>
              <a:ext uri="{FF2B5EF4-FFF2-40B4-BE49-F238E27FC236}">
                <a16:creationId xmlns:a16="http://schemas.microsoft.com/office/drawing/2014/main" id="{BF3FF994-BB32-1289-F587-6685DD81533C}"/>
              </a:ext>
            </a:extLst>
          </p:cNvPr>
          <p:cNvGraphicFramePr/>
          <p:nvPr/>
        </p:nvGraphicFramePr>
        <p:xfrm>
          <a:off x="456119" y="1546636"/>
          <a:ext cx="11501224" cy="4023388"/>
        </p:xfrm>
        <a:graphic>
          <a:graphicData uri="http://schemas.openxmlformats.org/drawingml/2006/table">
            <a:tbl>
              <a:tblPr firstRow="1" bandRow="1">
                <a:noFill/>
              </a:tblPr>
              <a:tblGrid>
                <a:gridCol w="2011680">
                  <a:extLst>
                    <a:ext uri="{9D8B030D-6E8A-4147-A177-3AD203B41FA5}">
                      <a16:colId xmlns:a16="http://schemas.microsoft.com/office/drawing/2014/main" val="20000"/>
                    </a:ext>
                  </a:extLst>
                </a:gridCol>
                <a:gridCol w="269266">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69266">
                  <a:extLst>
                    <a:ext uri="{9D8B030D-6E8A-4147-A177-3AD203B41FA5}">
                      <a16:colId xmlns:a16="http://schemas.microsoft.com/office/drawing/2014/main" val="3249695292"/>
                    </a:ext>
                  </a:extLst>
                </a:gridCol>
                <a:gridCol w="2103120">
                  <a:extLst>
                    <a:ext uri="{9D8B030D-6E8A-4147-A177-3AD203B41FA5}">
                      <a16:colId xmlns:a16="http://schemas.microsoft.com/office/drawing/2014/main" val="1979937899"/>
                    </a:ext>
                  </a:extLst>
                </a:gridCol>
                <a:gridCol w="269266">
                  <a:extLst>
                    <a:ext uri="{9D8B030D-6E8A-4147-A177-3AD203B41FA5}">
                      <a16:colId xmlns:a16="http://schemas.microsoft.com/office/drawing/2014/main" val="206648119"/>
                    </a:ext>
                  </a:extLst>
                </a:gridCol>
                <a:gridCol w="2103120">
                  <a:extLst>
                    <a:ext uri="{9D8B030D-6E8A-4147-A177-3AD203B41FA5}">
                      <a16:colId xmlns:a16="http://schemas.microsoft.com/office/drawing/2014/main" val="2884790529"/>
                    </a:ext>
                  </a:extLst>
                </a:gridCol>
                <a:gridCol w="269266">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365773">
                <a:tc>
                  <a:txBody>
                    <a:bodyPr/>
                    <a:lstStyle/>
                    <a:p>
                      <a:pPr marL="0" marR="0" lvl="0" indent="0" algn="ctr" rtl="0">
                        <a:lnSpc>
                          <a:spcPct val="100000"/>
                        </a:lnSpc>
                        <a:spcBef>
                          <a:spcPts val="0"/>
                        </a:spcBef>
                        <a:spcAft>
                          <a:spcPts val="0"/>
                        </a:spcAft>
                        <a:buNone/>
                      </a:pPr>
                      <a:r>
                        <a:rPr lang="en-US" sz="1600" b="1" u="none" strike="noStrike" cap="none" dirty="0">
                          <a:solidFill>
                            <a:schemeClr val="lt1"/>
                          </a:solidFill>
                          <a:latin typeface="Corbel"/>
                          <a:ea typeface="Corbel"/>
                          <a:cs typeface="Corbel"/>
                          <a:sym typeface="Corbel"/>
                        </a:rPr>
                        <a:t>Wellness </a:t>
                      </a:r>
                    </a:p>
                    <a:p>
                      <a:pPr marL="0" marR="0" lvl="0" indent="0" algn="ctr" rtl="0">
                        <a:lnSpc>
                          <a:spcPct val="100000"/>
                        </a:lnSpc>
                        <a:spcBef>
                          <a:spcPts val="0"/>
                        </a:spcBef>
                        <a:spcAft>
                          <a:spcPts val="0"/>
                        </a:spcAft>
                        <a:buNone/>
                      </a:pPr>
                      <a:r>
                        <a:rPr lang="en-US" sz="1600" b="1" u="none" strike="noStrike" cap="none" dirty="0">
                          <a:solidFill>
                            <a:schemeClr val="lt1"/>
                          </a:solidFill>
                          <a:latin typeface="Corbel"/>
                          <a:ea typeface="Corbel"/>
                          <a:cs typeface="Corbel"/>
                          <a:sym typeface="Corbel"/>
                        </a:rPr>
                        <a:t>Ritualists</a:t>
                      </a:r>
                      <a:endParaRPr sz="2500" dirty="0"/>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tc>
                  <a:txBody>
                    <a:bodyPr/>
                    <a:lstStyle/>
                    <a:p>
                      <a:pPr marL="0" marR="0" lvl="0" indent="0" algn="ctr" rtl="0">
                        <a:lnSpc>
                          <a:spcPct val="100000"/>
                        </a:lnSpc>
                        <a:spcBef>
                          <a:spcPts val="0"/>
                        </a:spcBef>
                        <a:spcAft>
                          <a:spcPts val="0"/>
                        </a:spcAft>
                        <a:buNone/>
                      </a:pPr>
                      <a:endParaRPr sz="1600" b="1" u="none" strike="noStrike" cap="none" dirty="0">
                        <a:solidFill>
                          <a:schemeClr val="lt1"/>
                        </a:solidFill>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r>
                        <a:rPr lang="en-US" sz="1600" b="1" u="none" strike="noStrike" cap="none" dirty="0">
                          <a:solidFill>
                            <a:schemeClr val="lt1"/>
                          </a:solidFill>
                          <a:latin typeface="Corbel"/>
                          <a:ea typeface="Corbel"/>
                          <a:cs typeface="Corbel"/>
                          <a:sym typeface="Corbel"/>
                        </a:rPr>
                        <a:t>Targeted </a:t>
                      </a:r>
                    </a:p>
                    <a:p>
                      <a:pPr marL="0" marR="0" lvl="0" indent="0" algn="ctr" rtl="0">
                        <a:lnSpc>
                          <a:spcPct val="100000"/>
                        </a:lnSpc>
                        <a:spcBef>
                          <a:spcPts val="0"/>
                        </a:spcBef>
                        <a:spcAft>
                          <a:spcPts val="0"/>
                        </a:spcAft>
                        <a:buNone/>
                      </a:pPr>
                      <a:r>
                        <a:rPr lang="en-US" sz="1600" b="1" u="none" strike="noStrike" cap="none" dirty="0">
                          <a:solidFill>
                            <a:schemeClr val="lt1"/>
                          </a:solidFill>
                          <a:latin typeface="Corbel"/>
                          <a:ea typeface="Corbel"/>
                          <a:cs typeface="Corbel"/>
                          <a:sym typeface="Corbel"/>
                        </a:rPr>
                        <a:t>Problem Solvers</a:t>
                      </a:r>
                      <a:endParaRPr sz="2500" dirty="0"/>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tc>
                  <a:txBody>
                    <a:bodyPr/>
                    <a:lstStyle/>
                    <a:p>
                      <a:pPr marL="0" marR="0" lvl="0" indent="0" algn="ctr" rtl="0">
                        <a:lnSpc>
                          <a:spcPct val="100000"/>
                        </a:lnSpc>
                        <a:spcBef>
                          <a:spcPts val="0"/>
                        </a:spcBef>
                        <a:spcAft>
                          <a:spcPts val="0"/>
                        </a:spcAft>
                        <a:buNone/>
                      </a:pPr>
                      <a:endParaRPr sz="1600" b="1" u="none" strike="noStrike" cap="none" dirty="0">
                        <a:solidFill>
                          <a:schemeClr val="lt1"/>
                        </a:solidFill>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ctr" rtl="0">
                        <a:lnSpc>
                          <a:spcPct val="100000"/>
                        </a:lnSpc>
                        <a:spcBef>
                          <a:spcPts val="0"/>
                        </a:spcBef>
                        <a:spcAft>
                          <a:spcPts val="0"/>
                        </a:spcAft>
                        <a:buNone/>
                      </a:pPr>
                      <a:r>
                        <a:rPr lang="en-US" sz="1600" b="1" u="none" strike="noStrike" cap="none" dirty="0">
                          <a:solidFill>
                            <a:schemeClr val="lt1"/>
                          </a:solidFill>
                          <a:latin typeface="Corbel"/>
                          <a:ea typeface="Corbel"/>
                          <a:cs typeface="Corbel"/>
                          <a:sym typeface="Corbel"/>
                        </a:rPr>
                        <a:t>Skeptical Experimenters</a:t>
                      </a:r>
                      <a:endParaRPr sz="1600" b="1" u="none" strike="noStrike" cap="none" dirty="0">
                        <a:solidFill>
                          <a:schemeClr val="lt1"/>
                        </a:solidFill>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tc>
                  <a:txBody>
                    <a:bodyPr/>
                    <a:lstStyle/>
                    <a:p>
                      <a:pPr marL="0" marR="0" lvl="0" indent="0" algn="ctr" rtl="0">
                        <a:lnSpc>
                          <a:spcPct val="100000"/>
                        </a:lnSpc>
                        <a:spcBef>
                          <a:spcPts val="0"/>
                        </a:spcBef>
                        <a:spcAft>
                          <a:spcPts val="0"/>
                        </a:spcAft>
                        <a:buNone/>
                      </a:pPr>
                      <a:endParaRPr sz="1600" b="1" u="none" strike="noStrike" cap="none" dirty="0">
                        <a:solidFill>
                          <a:schemeClr val="lt1"/>
                        </a:solidFill>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ctr" rtl="0">
                        <a:lnSpc>
                          <a:spcPct val="100000"/>
                        </a:lnSpc>
                        <a:spcBef>
                          <a:spcPts val="0"/>
                        </a:spcBef>
                        <a:spcAft>
                          <a:spcPts val="0"/>
                        </a:spcAft>
                        <a:buNone/>
                      </a:pPr>
                      <a:r>
                        <a:rPr lang="en-US" sz="1600" b="1" u="none" strike="noStrike" kern="1200" cap="none" dirty="0">
                          <a:solidFill>
                            <a:schemeClr val="lt1"/>
                          </a:solidFill>
                          <a:latin typeface="Corbel"/>
                        </a:rPr>
                        <a:t>Convenience </a:t>
                      </a:r>
                    </a:p>
                    <a:p>
                      <a:pPr marL="0" marR="0" lvl="0" indent="0" algn="ctr" rtl="0">
                        <a:lnSpc>
                          <a:spcPct val="100000"/>
                        </a:lnSpc>
                        <a:spcBef>
                          <a:spcPts val="0"/>
                        </a:spcBef>
                        <a:spcAft>
                          <a:spcPts val="0"/>
                        </a:spcAft>
                        <a:buNone/>
                      </a:pPr>
                      <a:r>
                        <a:rPr lang="en-US" sz="1600" b="1" u="none" strike="noStrike" kern="1200" cap="none" dirty="0">
                          <a:solidFill>
                            <a:schemeClr val="lt1"/>
                          </a:solidFill>
                          <a:latin typeface="Corbel"/>
                        </a:rPr>
                        <a:t>Seekers</a:t>
                      </a:r>
                      <a:endParaRPr sz="1600" b="1" u="none" strike="noStrike" kern="1200" cap="none" dirty="0">
                        <a:solidFill>
                          <a:schemeClr val="lt1"/>
                        </a:solidFill>
                        <a:latin typeface="Corbel"/>
                      </a:endParaRPr>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tc>
                  <a:txBody>
                    <a:bodyPr/>
                    <a:lstStyle/>
                    <a:p>
                      <a:pPr marL="0" marR="0" lvl="0" indent="0" algn="ctr" rtl="0">
                        <a:lnSpc>
                          <a:spcPct val="100000"/>
                        </a:lnSpc>
                        <a:spcBef>
                          <a:spcPts val="0"/>
                        </a:spcBef>
                        <a:spcAft>
                          <a:spcPts val="0"/>
                        </a:spcAft>
                        <a:buNone/>
                      </a:pPr>
                      <a:endParaRPr sz="1600" b="1" u="none" strike="noStrike" cap="none" dirty="0">
                        <a:solidFill>
                          <a:schemeClr val="lt1"/>
                        </a:solidFill>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r>
                        <a:rPr lang="en-US" sz="1600" b="1" u="none" strike="noStrike" cap="none" dirty="0">
                          <a:solidFill>
                            <a:schemeClr val="lt1"/>
                          </a:solidFill>
                          <a:latin typeface="Corbel"/>
                          <a:ea typeface="Corbel"/>
                          <a:cs typeface="Corbel"/>
                          <a:sym typeface="Corbel"/>
                        </a:rPr>
                        <a:t>Socially </a:t>
                      </a:r>
                    </a:p>
                    <a:p>
                      <a:pPr marL="0" marR="0" lvl="0" indent="0" algn="ctr" rtl="0">
                        <a:lnSpc>
                          <a:spcPct val="100000"/>
                        </a:lnSpc>
                        <a:spcBef>
                          <a:spcPts val="0"/>
                        </a:spcBef>
                        <a:spcAft>
                          <a:spcPts val="0"/>
                        </a:spcAft>
                        <a:buNone/>
                      </a:pPr>
                      <a:r>
                        <a:rPr lang="en-US" sz="1600" b="1" u="none" strike="noStrike" cap="none" dirty="0">
                          <a:solidFill>
                            <a:schemeClr val="lt1"/>
                          </a:solidFill>
                          <a:latin typeface="Corbel"/>
                          <a:ea typeface="Corbel"/>
                          <a:cs typeface="Corbel"/>
                          <a:sym typeface="Corbel"/>
                        </a:rPr>
                        <a:t>Motivated</a:t>
                      </a:r>
                      <a:endParaRPr sz="2500" dirty="0"/>
                    </a:p>
                  </a:txBody>
                  <a:tcPr marL="121933" marR="121933" marT="60967" marB="60967">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2580653">
                <a:tc>
                  <a:txBody>
                    <a:bodyPr/>
                    <a:lstStyle/>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cap="none" dirty="0">
                          <a:solidFill>
                            <a:schemeClr val="dk2"/>
                          </a:solidFill>
                          <a:latin typeface="+mj-lt"/>
                          <a:ea typeface="Corbel"/>
                          <a:cs typeface="Corbel"/>
                          <a:sym typeface="Corbel"/>
                        </a:rPr>
                        <a:t>Supplements are an essential, habitual part of their daily health routine</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cap="none" dirty="0">
                          <a:solidFill>
                            <a:schemeClr val="dk2"/>
                          </a:solidFill>
                          <a:latin typeface="+mj-lt"/>
                          <a:ea typeface="Corbel"/>
                          <a:cs typeface="Corbel"/>
                          <a:sym typeface="Corbel"/>
                        </a:rPr>
                        <a:t>Motivated by long-term wellness and prevention, not just immediate results</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cap="none" dirty="0">
                          <a:solidFill>
                            <a:schemeClr val="dk2"/>
                          </a:solidFill>
                          <a:latin typeface="+mj-lt"/>
                          <a:ea typeface="Corbel"/>
                          <a:cs typeface="Corbel"/>
                          <a:sym typeface="Corbel"/>
                        </a:rPr>
                        <a:t>High trust in established brands and rarely experiment with new products</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cap="none" dirty="0">
                          <a:solidFill>
                            <a:schemeClr val="dk2"/>
                          </a:solidFill>
                          <a:latin typeface="+mj-lt"/>
                          <a:ea typeface="Corbel"/>
                          <a:cs typeface="Corbel"/>
                          <a:sym typeface="Corbel"/>
                        </a:rPr>
                        <a:t>Integrate supplements seamlessly with other healthy habits (e.g., diet, exercise)</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cap="none" dirty="0">
                          <a:solidFill>
                            <a:schemeClr val="dk2"/>
                          </a:solidFill>
                          <a:latin typeface="+mj-lt"/>
                          <a:ea typeface="Corbel"/>
                          <a:cs typeface="Corbel"/>
                          <a:sym typeface="Corbel"/>
                        </a:rPr>
                        <a:t>Seek reassurance and peace of mind from consistent use</a:t>
                      </a:r>
                      <a:endParaRPr sz="1500" u="none" strike="noStrike" cap="none" dirty="0">
                        <a:latin typeface="+mj-lt"/>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500" u="none" strike="noStrike" cap="none" dirty="0">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Use supplements to address specific, identified health needs or goals (e.g., immunity, energy, sleep)</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Motivated by a desire to solve a problem or respond to a health event</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Open to trying new products if they promise a clear benefit</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Evaluate effectiveness based on tangible results and may discontinue use if results aren’t seen</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Rely on research, recommendations, or healthcare advice for decision-making</a:t>
                      </a: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500" u="none" strike="noStrike" cap="none" dirty="0">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Curious about supplements but cautious and somewhat distrustful of the category</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Willing to try new supplements but quick to stop if they don’t notice a benefit</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Frequently research products, read reviews, and seek third-party validation</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Sensitive to negative media, lack of regulation, and confusing information</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Express frustration with the complexity and lack of transparency in the market</a:t>
                      </a: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500" u="none" strike="noStrike" cap="none" dirty="0">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Want wellness support with minimal effort or complexity</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Prefer simple, all-in-one solutions or personalized solutions to avoid “pill fatigue”</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May use supplements inconsistently, depending on convenience and reminders</a:t>
                      </a: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Often overwhelmed by choices and information – value ease and clarity above all</a:t>
                      </a:r>
                      <a:endParaRPr lang="en-US" sz="1500" u="none" strike="noStrike" kern="1200" cap="none" dirty="0">
                        <a:solidFill>
                          <a:schemeClr val="dk2"/>
                        </a:solidFill>
                        <a:latin typeface="Corbel"/>
                        <a:ea typeface="Corbel"/>
                        <a:cs typeface="Corbel"/>
                        <a:sym typeface="Corbel"/>
                      </a:endParaRPr>
                    </a:p>
                    <a:p>
                      <a:pPr marL="171450" marR="0" lvl="0" indent="-171450" algn="l" rtl="0">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Less brand loyal – will switch for a more convenient experience</a:t>
                      </a: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500" u="none" strike="noStrike" cap="none" dirty="0">
                        <a:latin typeface="Corbel"/>
                        <a:ea typeface="Corbel"/>
                        <a:cs typeface="Corbel"/>
                        <a:sym typeface="Corbel"/>
                      </a:endParaRP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latinLnBrk="0" hangingPunct="1">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Use supplements as part of a social identity or to align with peer groups</a:t>
                      </a:r>
                    </a:p>
                    <a:p>
                      <a:pPr marL="171450" marR="0" lvl="0" indent="-171450" algn="l" defTabSz="914400" rtl="0" eaLnBrk="1" latinLnBrk="0" hangingPunct="1">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Motivated by trends, recommendations from friends, or social media influence</a:t>
                      </a:r>
                    </a:p>
                    <a:p>
                      <a:pPr marL="171450" marR="0" lvl="0" indent="-171450" algn="l" defTabSz="914400" rtl="0" eaLnBrk="1" latinLnBrk="0" hangingPunct="1">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Enjoy sharing experiences and being part of a “wellness community”</a:t>
                      </a:r>
                    </a:p>
                    <a:p>
                      <a:pPr marL="171450" marR="0" lvl="0" indent="-171450" algn="l" defTabSz="914400" rtl="0" eaLnBrk="1" latinLnBrk="0" hangingPunct="1">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May be less focused on functional outcomes and more on belonging or image</a:t>
                      </a:r>
                    </a:p>
                    <a:p>
                      <a:pPr marL="171450" marR="0" lvl="0" indent="-171450" algn="l" defTabSz="914400" rtl="0" eaLnBrk="1" latinLnBrk="0" hangingPunct="1">
                        <a:lnSpc>
                          <a:spcPct val="100000"/>
                        </a:lnSpc>
                        <a:spcBef>
                          <a:spcPts val="0"/>
                        </a:spcBef>
                        <a:spcAft>
                          <a:spcPts val="0"/>
                        </a:spcAft>
                        <a:buClr>
                          <a:schemeClr val="accent4"/>
                        </a:buClr>
                        <a:buSzPts val="1100"/>
                        <a:buFont typeface="Arial"/>
                        <a:buChar char="•"/>
                      </a:pPr>
                      <a:r>
                        <a:rPr lang="en-US" sz="1200" u="none" strike="noStrike" kern="1200" cap="none" dirty="0">
                          <a:solidFill>
                            <a:schemeClr val="dk2"/>
                          </a:solidFill>
                          <a:latin typeface="+mj-lt"/>
                          <a:ea typeface="Corbel"/>
                          <a:cs typeface="Corbel"/>
                          <a:sym typeface="Corbel"/>
                        </a:rPr>
                        <a:t>Supplement choices can change quickly based on what’s “in” or endorsed</a:t>
                      </a:r>
                    </a:p>
                  </a:txBody>
                  <a:tcPr marL="121933" marR="121933" marT="60967" marB="60967">
                    <a:lnL w="12700" cmpd="sng">
                      <a:noFill/>
                      <a:prstDash val="solid"/>
                    </a:lnL>
                    <a:lnR w="12700" cmpd="sng">
                      <a:noFill/>
                      <a:prstDash val="solid"/>
                    </a:lnR>
                    <a:lnT w="12700" cmpd="sng">
                      <a:noFill/>
                      <a:prstDash val="soli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6" name="Title 4">
            <a:extLst>
              <a:ext uri="{FF2B5EF4-FFF2-40B4-BE49-F238E27FC236}">
                <a16:creationId xmlns:a16="http://schemas.microsoft.com/office/drawing/2014/main" id="{972058A0-0A91-F9F2-0828-6B9CE0C93EDA}"/>
              </a:ext>
            </a:extLst>
          </p:cNvPr>
          <p:cNvSpPr txBox="1">
            <a:spLocks/>
          </p:cNvSpPr>
          <p:nvPr/>
        </p:nvSpPr>
        <p:spPr>
          <a:xfrm>
            <a:off x="456119" y="164645"/>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Qualitative data points to the existence of key consumer segments beyond those defined by demographics or usage frequency</a:t>
            </a:r>
            <a:endParaRPr kumimoji="0" lang="en-US" sz="40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3" name="Google Shape;1092;g2105d9229d2_2_46">
            <a:extLst>
              <a:ext uri="{FF2B5EF4-FFF2-40B4-BE49-F238E27FC236}">
                <a16:creationId xmlns:a16="http://schemas.microsoft.com/office/drawing/2014/main" id="{32C75658-4969-7DB2-E0F3-D138B3830E0A}"/>
              </a:ext>
            </a:extLst>
          </p:cNvPr>
          <p:cNvSpPr txBox="1"/>
          <p:nvPr/>
        </p:nvSpPr>
        <p:spPr>
          <a:xfrm>
            <a:off x="553612" y="5693090"/>
            <a:ext cx="1773375" cy="969442"/>
          </a:xfrm>
          <a:prstGeom prst="rect">
            <a:avLst/>
          </a:prstGeom>
          <a:noFill/>
          <a:ln w="9525" cap="flat" cmpd="sng">
            <a:solidFill>
              <a:srgbClr val="FFC000"/>
            </a:solidFill>
            <a:prstDash val="solid"/>
            <a:round/>
            <a:headEnd type="none" w="sm" len="sm"/>
            <a:tailEnd type="none" w="sm" len="sm"/>
          </a:ln>
        </p:spPr>
        <p:txBody>
          <a:bodyPr spcFirstLastPara="1" wrap="square" lIns="121900" tIns="60933" rIns="121900" bIns="60933"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1"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Wellness Ritualists</a:t>
            </a:r>
            <a:r>
              <a:rPr kumimoji="0" lang="en-US" sz="1100" b="0"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 Routine-driven, and prevention-focused, they seek peace of mind for the long term </a:t>
            </a:r>
            <a:endParaRPr kumimoji="0" sz="1400" b="0" i="0" u="none" strike="noStrike" kern="0" cap="none" spc="0" normalizeH="0" baseline="0" noProof="0" dirty="0">
              <a:ln>
                <a:noFill/>
              </a:ln>
              <a:solidFill>
                <a:srgbClr val="000000"/>
              </a:solidFill>
              <a:effectLst/>
              <a:uLnTx/>
              <a:uFillTx/>
              <a:latin typeface="Calibri Light" panose="020F0302020204030204"/>
              <a:ea typeface="+mn-ea"/>
              <a:cs typeface="Arial"/>
              <a:sym typeface="Arial"/>
            </a:endParaRPr>
          </a:p>
        </p:txBody>
      </p:sp>
      <p:sp>
        <p:nvSpPr>
          <p:cNvPr id="4" name="Google Shape;1092;g2105d9229d2_2_46">
            <a:extLst>
              <a:ext uri="{FF2B5EF4-FFF2-40B4-BE49-F238E27FC236}">
                <a16:creationId xmlns:a16="http://schemas.microsoft.com/office/drawing/2014/main" id="{0A003192-2D65-08E4-F9A4-AF0FDA8386B1}"/>
              </a:ext>
            </a:extLst>
          </p:cNvPr>
          <p:cNvSpPr txBox="1"/>
          <p:nvPr/>
        </p:nvSpPr>
        <p:spPr>
          <a:xfrm>
            <a:off x="2963013" y="5703364"/>
            <a:ext cx="1773374" cy="969442"/>
          </a:xfrm>
          <a:prstGeom prst="rect">
            <a:avLst/>
          </a:prstGeom>
          <a:noFill/>
          <a:ln w="9525" cap="flat" cmpd="sng">
            <a:solidFill>
              <a:srgbClr val="FFC000"/>
            </a:solidFill>
            <a:prstDash val="solid"/>
            <a:round/>
            <a:headEnd type="none" w="sm" len="sm"/>
            <a:tailEnd type="none" w="sm" len="sm"/>
          </a:ln>
        </p:spPr>
        <p:txBody>
          <a:bodyPr spcFirstLastPara="1" wrap="square" lIns="121900" tIns="60933" rIns="121900" bIns="60933"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1"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Targeted Problem-Solvers </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Goal-oriented and outcome-based, they seek immediate results for the near term</a:t>
            </a:r>
            <a:endParaRPr kumimoji="0" sz="1400" b="0" i="0" u="none" strike="noStrike" kern="0" cap="none" spc="0" normalizeH="0" baseline="0" noProof="0" dirty="0">
              <a:ln>
                <a:noFill/>
              </a:ln>
              <a:solidFill>
                <a:srgbClr val="000000"/>
              </a:solidFill>
              <a:effectLst/>
              <a:uLnTx/>
              <a:uFillTx/>
              <a:latin typeface="Calibri Light" panose="020F0302020204030204"/>
              <a:ea typeface="+mn-ea"/>
              <a:cs typeface="Arial"/>
              <a:sym typeface="Arial"/>
            </a:endParaRPr>
          </a:p>
        </p:txBody>
      </p:sp>
      <p:sp>
        <p:nvSpPr>
          <p:cNvPr id="5" name="Google Shape;1092;g2105d9229d2_2_46">
            <a:extLst>
              <a:ext uri="{FF2B5EF4-FFF2-40B4-BE49-F238E27FC236}">
                <a16:creationId xmlns:a16="http://schemas.microsoft.com/office/drawing/2014/main" id="{7B115EB0-4517-04E8-F6EE-0D7E47689518}"/>
              </a:ext>
            </a:extLst>
          </p:cNvPr>
          <p:cNvSpPr txBox="1"/>
          <p:nvPr/>
        </p:nvSpPr>
        <p:spPr>
          <a:xfrm>
            <a:off x="5375839" y="5703364"/>
            <a:ext cx="1773374" cy="969442"/>
          </a:xfrm>
          <a:prstGeom prst="rect">
            <a:avLst/>
          </a:prstGeom>
          <a:noFill/>
          <a:ln w="9525" cap="flat" cmpd="sng">
            <a:solidFill>
              <a:srgbClr val="FFC000"/>
            </a:solidFill>
            <a:prstDash val="solid"/>
            <a:round/>
            <a:headEnd type="none" w="sm" len="sm"/>
            <a:tailEnd type="none" w="sm" len="sm"/>
          </a:ln>
        </p:spPr>
        <p:txBody>
          <a:bodyPr spcFirstLastPara="1" wrap="square" lIns="121900" tIns="60933" rIns="121900" bIns="60933"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1"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Skeptical Experimenters</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Curious but cautious, they are research-heavy and quick to stop if they don’t see results</a:t>
            </a:r>
            <a:endParaRPr kumimoji="0" sz="1400" b="0" i="0" u="none" strike="noStrike" kern="0" cap="none" spc="0" normalizeH="0" baseline="0" noProof="0" dirty="0">
              <a:ln>
                <a:noFill/>
              </a:ln>
              <a:solidFill>
                <a:srgbClr val="000000"/>
              </a:solidFill>
              <a:effectLst/>
              <a:uLnTx/>
              <a:uFillTx/>
              <a:latin typeface="Calibri Light" panose="020F0302020204030204"/>
              <a:ea typeface="+mn-ea"/>
              <a:cs typeface="Arial"/>
              <a:sym typeface="Arial"/>
            </a:endParaRPr>
          </a:p>
        </p:txBody>
      </p:sp>
      <p:sp>
        <p:nvSpPr>
          <p:cNvPr id="8" name="Google Shape;1092;g2105d9229d2_2_46">
            <a:extLst>
              <a:ext uri="{FF2B5EF4-FFF2-40B4-BE49-F238E27FC236}">
                <a16:creationId xmlns:a16="http://schemas.microsoft.com/office/drawing/2014/main" id="{CFB07509-61B3-0571-974B-5422E8B4BD40}"/>
              </a:ext>
            </a:extLst>
          </p:cNvPr>
          <p:cNvSpPr txBox="1"/>
          <p:nvPr/>
        </p:nvSpPr>
        <p:spPr>
          <a:xfrm>
            <a:off x="7738044" y="5723913"/>
            <a:ext cx="1773374" cy="969442"/>
          </a:xfrm>
          <a:prstGeom prst="rect">
            <a:avLst/>
          </a:prstGeom>
          <a:noFill/>
          <a:ln w="9525" cap="flat" cmpd="sng">
            <a:solidFill>
              <a:srgbClr val="FFC000"/>
            </a:solidFill>
            <a:prstDash val="solid"/>
            <a:round/>
            <a:headEnd type="none" w="sm" len="sm"/>
            <a:tailEnd type="none" w="sm" len="sm"/>
          </a:ln>
        </p:spPr>
        <p:txBody>
          <a:bodyPr spcFirstLastPara="1" wrap="square" lIns="121900" tIns="60933" rIns="121900" bIns="60933"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1"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Convenience Seekers</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Simplicity-focused, they want easy solutions but are overwhelmed by options</a:t>
            </a:r>
            <a:endParaRPr kumimoji="0" sz="1400" b="0" i="0" u="none" strike="noStrike" kern="0" cap="none" spc="0" normalizeH="0" baseline="0" noProof="0" dirty="0">
              <a:ln>
                <a:noFill/>
              </a:ln>
              <a:solidFill>
                <a:srgbClr val="000000"/>
              </a:solidFill>
              <a:effectLst/>
              <a:uLnTx/>
              <a:uFillTx/>
              <a:latin typeface="Calibri Light" panose="020F0302020204030204"/>
              <a:ea typeface="+mn-ea"/>
              <a:cs typeface="Arial"/>
              <a:sym typeface="Arial"/>
            </a:endParaRPr>
          </a:p>
        </p:txBody>
      </p:sp>
      <p:sp>
        <p:nvSpPr>
          <p:cNvPr id="9" name="Google Shape;1092;g2105d9229d2_2_46">
            <a:extLst>
              <a:ext uri="{FF2B5EF4-FFF2-40B4-BE49-F238E27FC236}">
                <a16:creationId xmlns:a16="http://schemas.microsoft.com/office/drawing/2014/main" id="{1BD94C8F-9416-4B84-4D73-1144F7E8ADAA}"/>
              </a:ext>
            </a:extLst>
          </p:cNvPr>
          <p:cNvSpPr txBox="1"/>
          <p:nvPr/>
        </p:nvSpPr>
        <p:spPr>
          <a:xfrm>
            <a:off x="10041906" y="5713638"/>
            <a:ext cx="1773373" cy="969442"/>
          </a:xfrm>
          <a:prstGeom prst="rect">
            <a:avLst/>
          </a:prstGeom>
          <a:noFill/>
          <a:ln w="9525" cap="flat" cmpd="sng">
            <a:solidFill>
              <a:srgbClr val="FFC000"/>
            </a:solidFill>
            <a:prstDash val="solid"/>
            <a:round/>
            <a:headEnd type="none" w="sm" len="sm"/>
            <a:tailEnd type="none" w="sm" len="sm"/>
          </a:ln>
        </p:spPr>
        <p:txBody>
          <a:bodyPr spcFirstLastPara="1" wrap="square" lIns="121900" tIns="60933" rIns="121900" bIns="60933"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1"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Socially Motivated</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595959"/>
                </a:solidFill>
                <a:effectLst/>
                <a:uLnTx/>
                <a:uFillTx/>
                <a:latin typeface="Calibri Light" panose="020F0302020204030204"/>
                <a:ea typeface="Corbel"/>
                <a:cs typeface="Corbel"/>
                <a:sym typeface="Corbel"/>
              </a:rPr>
              <a:t>Peer-influenced and trend-driven, they seek community and social equity</a:t>
            </a:r>
            <a:endParaRPr kumimoji="0" sz="1400" b="0" i="0" u="none" strike="noStrike" kern="0" cap="none" spc="0" normalizeH="0" baseline="0" noProof="0" dirty="0">
              <a:ln>
                <a:noFill/>
              </a:ln>
              <a:solidFill>
                <a:srgbClr val="000000"/>
              </a:solidFill>
              <a:effectLst/>
              <a:uLnTx/>
              <a:uFillTx/>
              <a:latin typeface="Calibri Light" panose="020F0302020204030204"/>
              <a:ea typeface="+mn-ea"/>
              <a:cs typeface="Arial"/>
              <a:sym typeface="Arial"/>
            </a:endParaRPr>
          </a:p>
        </p:txBody>
      </p:sp>
      <p:grpSp>
        <p:nvGrpSpPr>
          <p:cNvPr id="18" name="Group 17">
            <a:extLst>
              <a:ext uri="{FF2B5EF4-FFF2-40B4-BE49-F238E27FC236}">
                <a16:creationId xmlns:a16="http://schemas.microsoft.com/office/drawing/2014/main" id="{6AA50F00-E2EA-8B63-4C8E-026414FCCD6E}"/>
              </a:ext>
            </a:extLst>
          </p:cNvPr>
          <p:cNvGrpSpPr/>
          <p:nvPr/>
        </p:nvGrpSpPr>
        <p:grpSpPr>
          <a:xfrm>
            <a:off x="830494" y="1226107"/>
            <a:ext cx="10531011" cy="315503"/>
            <a:chOff x="955497" y="5312128"/>
            <a:chExt cx="10531011" cy="315503"/>
          </a:xfrm>
        </p:grpSpPr>
        <p:cxnSp>
          <p:nvCxnSpPr>
            <p:cNvPr id="11" name="Straight Arrow Connector 10">
              <a:extLst>
                <a:ext uri="{FF2B5EF4-FFF2-40B4-BE49-F238E27FC236}">
                  <a16:creationId xmlns:a16="http://schemas.microsoft.com/office/drawing/2014/main" id="{78074954-9901-CC72-182F-048C170CE558}"/>
                </a:ext>
              </a:extLst>
            </p:cNvPr>
            <p:cNvCxnSpPr>
              <a:cxnSpLocks/>
            </p:cNvCxnSpPr>
            <p:nvPr/>
          </p:nvCxnSpPr>
          <p:spPr>
            <a:xfrm flipH="1">
              <a:off x="955497" y="5466015"/>
              <a:ext cx="1053101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64CC05D-80DA-D9A2-EB01-62C1D2E4B6BA}"/>
                </a:ext>
              </a:extLst>
            </p:cNvPr>
            <p:cNvSpPr txBox="1"/>
            <p:nvPr/>
          </p:nvSpPr>
          <p:spPr>
            <a:xfrm>
              <a:off x="9361362" y="5312128"/>
              <a:ext cx="835422" cy="307777"/>
            </a:xfrm>
            <a:prstGeom prst="rect">
              <a:avLst/>
            </a:prstGeom>
            <a:solidFill>
              <a:schemeClr val="bg1"/>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37052"/>
                  </a:solidFill>
                  <a:effectLst/>
                  <a:uLnTx/>
                  <a:uFillTx/>
                  <a:latin typeface="Calibri" panose="020F0502020204030204"/>
                  <a:ea typeface="+mn-ea"/>
                  <a:cs typeface="+mn-cs"/>
                </a:rPr>
                <a:t>Smaller</a:t>
              </a:r>
            </a:p>
          </p:txBody>
        </p:sp>
        <p:sp>
          <p:nvSpPr>
            <p:cNvPr id="10" name="TextBox 9">
              <a:extLst>
                <a:ext uri="{FF2B5EF4-FFF2-40B4-BE49-F238E27FC236}">
                  <a16:creationId xmlns:a16="http://schemas.microsoft.com/office/drawing/2014/main" id="{80A1C4FD-7548-6F7B-7F5F-14A76107928A}"/>
                </a:ext>
              </a:extLst>
            </p:cNvPr>
            <p:cNvSpPr txBox="1"/>
            <p:nvPr/>
          </p:nvSpPr>
          <p:spPr>
            <a:xfrm>
              <a:off x="2112287" y="5319854"/>
              <a:ext cx="835422" cy="307777"/>
            </a:xfrm>
            <a:prstGeom prst="rect">
              <a:avLst/>
            </a:prstGeom>
            <a:solidFill>
              <a:schemeClr val="bg1"/>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37052"/>
                  </a:solidFill>
                  <a:effectLst/>
                  <a:uLnTx/>
                  <a:uFillTx/>
                  <a:latin typeface="Calibri" panose="020F0502020204030204"/>
                  <a:ea typeface="+mn-ea"/>
                  <a:cs typeface="+mn-cs"/>
                </a:rPr>
                <a:t>Larger</a:t>
              </a:r>
            </a:p>
          </p:txBody>
        </p:sp>
      </p:grpSp>
      <p:sp>
        <p:nvSpPr>
          <p:cNvPr id="7" name="TextBox 6">
            <a:extLst>
              <a:ext uri="{FF2B5EF4-FFF2-40B4-BE49-F238E27FC236}">
                <a16:creationId xmlns:a16="http://schemas.microsoft.com/office/drawing/2014/main" id="{2DA91424-7129-50F6-CFE7-24CC89AF0B5E}"/>
              </a:ext>
            </a:extLst>
          </p:cNvPr>
          <p:cNvSpPr txBox="1"/>
          <p:nvPr/>
        </p:nvSpPr>
        <p:spPr>
          <a:xfrm>
            <a:off x="4191856" y="1026095"/>
            <a:ext cx="3452117" cy="307777"/>
          </a:xfrm>
          <a:prstGeom prst="rect">
            <a:avLst/>
          </a:prstGeom>
          <a:noFill/>
          <a:ln>
            <a:solidFill>
              <a:schemeClr val="tx2"/>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lumMod val="65000"/>
                    <a:lumOff val="35000"/>
                  </a:srgbClr>
                </a:solidFill>
                <a:effectLst/>
                <a:uLnTx/>
                <a:uFillTx/>
                <a:latin typeface="Calibri" panose="020F0502020204030204"/>
                <a:ea typeface="+mn-ea"/>
                <a:cs typeface="+mn-cs"/>
              </a:rPr>
              <a:t>Hypothesized Segmentation</a:t>
            </a:r>
          </a:p>
        </p:txBody>
      </p:sp>
      <p:sp>
        <p:nvSpPr>
          <p:cNvPr id="12" name="TextBox 11">
            <a:extLst>
              <a:ext uri="{FF2B5EF4-FFF2-40B4-BE49-F238E27FC236}">
                <a16:creationId xmlns:a16="http://schemas.microsoft.com/office/drawing/2014/main" id="{2E0442BC-1101-CFA0-7522-7DA69B73D305}"/>
              </a:ext>
            </a:extLst>
          </p:cNvPr>
          <p:cNvSpPr txBox="1"/>
          <p:nvPr/>
        </p:nvSpPr>
        <p:spPr>
          <a:xfrm>
            <a:off x="7798085" y="0"/>
            <a:ext cx="4393915" cy="369332"/>
          </a:xfrm>
          <a:prstGeom prst="rect">
            <a:avLst/>
          </a:prstGeom>
          <a:solidFill>
            <a:srgbClr val="FFFF00"/>
          </a:solidFill>
        </p:spPr>
        <p:txBody>
          <a:bodyPr wrap="square" rtlCol="0">
            <a:spAutoFit/>
          </a:bodyPr>
          <a:lstStyle/>
          <a:p>
            <a:r>
              <a:rPr lang="en-US" dirty="0"/>
              <a:t>Hypothesized framework from qualitative</a:t>
            </a:r>
          </a:p>
        </p:txBody>
      </p:sp>
    </p:spTree>
    <p:extLst>
      <p:ext uri="{BB962C8B-B14F-4D97-AF65-F5344CB8AC3E}">
        <p14:creationId xmlns:p14="http://schemas.microsoft.com/office/powerpoint/2010/main" val="15431978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CA019FC9-5E41-2B4C-4019-1963595ADDEE}"/>
            </a:ext>
          </a:extLst>
        </p:cNvPr>
        <p:cNvGrpSpPr/>
        <p:nvPr/>
      </p:nvGrpSpPr>
      <p:grpSpPr>
        <a:xfrm>
          <a:off x="0" y="0"/>
          <a:ext cx="0" cy="0"/>
          <a:chOff x="0" y="0"/>
          <a:chExt cx="0" cy="0"/>
        </a:xfrm>
      </p:grpSpPr>
      <p:graphicFrame>
        <p:nvGraphicFramePr>
          <p:cNvPr id="5" name="Google Shape;1091;g2105d9229d2_2_46">
            <a:extLst>
              <a:ext uri="{FF2B5EF4-FFF2-40B4-BE49-F238E27FC236}">
                <a16:creationId xmlns:a16="http://schemas.microsoft.com/office/drawing/2014/main" id="{649BE6F5-1C95-6E94-1100-9B03104C840D}"/>
              </a:ext>
            </a:extLst>
          </p:cNvPr>
          <p:cNvGraphicFramePr/>
          <p:nvPr/>
        </p:nvGraphicFramePr>
        <p:xfrm>
          <a:off x="1685938" y="1975630"/>
          <a:ext cx="9875520" cy="409956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285776051"/>
                    </a:ext>
                  </a:extLst>
                </a:gridCol>
                <a:gridCol w="1645920">
                  <a:extLst>
                    <a:ext uri="{9D8B030D-6E8A-4147-A177-3AD203B41FA5}">
                      <a16:colId xmlns:a16="http://schemas.microsoft.com/office/drawing/2014/main" val="3966854118"/>
                    </a:ext>
                  </a:extLst>
                </a:gridCol>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968446174"/>
                    </a:ext>
                  </a:extLst>
                </a:gridCol>
                <a:gridCol w="1645920">
                  <a:extLst>
                    <a:ext uri="{9D8B030D-6E8A-4147-A177-3AD203B41FA5}">
                      <a16:colId xmlns:a16="http://schemas.microsoft.com/office/drawing/2014/main" val="1430784579"/>
                    </a:ext>
                  </a:extLst>
                </a:gridCol>
              </a:tblGrid>
              <a:tr h="365760">
                <a:tc>
                  <a:txBody>
                    <a:bodyPr/>
                    <a:lstStyle/>
                    <a:p>
                      <a:endParaRPr lang="en-US" sz="1200" dirty="0">
                        <a:latin typeface="+mj-lt"/>
                      </a:endParaRPr>
                    </a:p>
                  </a:txBody>
                  <a:tcPr marL="76200" marR="76200" marT="38100" marB="38100" anchor="ctr">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tx2"/>
                          </a:solidFill>
                          <a:latin typeface="+mj-lt"/>
                        </a:rPr>
                        <a:t>Wellness </a:t>
                      </a:r>
                    </a:p>
                    <a:p>
                      <a:pPr algn="ctr"/>
                      <a:r>
                        <a:rPr lang="en-US" sz="1200" b="1" kern="1200" dirty="0">
                          <a:solidFill>
                            <a:schemeClr val="tx2"/>
                          </a:solidFill>
                          <a:latin typeface="+mj-lt"/>
                        </a:rPr>
                        <a:t>Ritualists</a:t>
                      </a:r>
                      <a:endParaRPr lang="en-US" sz="1200" b="1" kern="1200" dirty="0">
                        <a:solidFill>
                          <a:schemeClr val="tx2"/>
                        </a:solidFill>
                        <a:latin typeface="+mj-lt"/>
                        <a:ea typeface="+mn-ea"/>
                        <a:cs typeface="+mn-cs"/>
                      </a:endParaRPr>
                    </a:p>
                  </a:txBody>
                  <a:tcPr marL="76200" marR="76200" marT="38100" marB="38100">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tx2"/>
                          </a:solidFill>
                          <a:latin typeface="+mj-lt"/>
                        </a:rPr>
                        <a:t>Targeted Problem Solvers</a:t>
                      </a:r>
                      <a:endParaRPr lang="en-US" sz="1200" b="0" i="1" kern="1200" dirty="0">
                        <a:solidFill>
                          <a:schemeClr val="tx2"/>
                        </a:solidFill>
                        <a:latin typeface="+mj-lt"/>
                        <a:ea typeface="+mn-ea"/>
                        <a:cs typeface="+mn-cs"/>
                      </a:endParaRPr>
                    </a:p>
                  </a:txBody>
                  <a:tcPr marL="76200" marR="76200" marT="38100" marB="38100">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tx2"/>
                          </a:solidFill>
                          <a:latin typeface="+mj-lt"/>
                        </a:rPr>
                        <a:t>Skeptical Experimenters</a:t>
                      </a:r>
                      <a:endParaRPr lang="en-US" sz="1200" b="0" i="1" kern="1200" dirty="0">
                        <a:solidFill>
                          <a:schemeClr val="tx2"/>
                        </a:solidFill>
                        <a:latin typeface="+mj-lt"/>
                        <a:ea typeface="+mn-ea"/>
                        <a:cs typeface="+mn-cs"/>
                      </a:endParaRPr>
                    </a:p>
                  </a:txBody>
                  <a:tcPr marL="76200" marR="76200" marT="38100" marB="38100">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tx2"/>
                          </a:solidFill>
                          <a:latin typeface="+mj-lt"/>
                        </a:rPr>
                        <a:t>Convenience </a:t>
                      </a:r>
                    </a:p>
                    <a:p>
                      <a:pPr algn="ctr"/>
                      <a:r>
                        <a:rPr lang="en-US" sz="1200" b="1" kern="1200" dirty="0">
                          <a:solidFill>
                            <a:schemeClr val="tx2"/>
                          </a:solidFill>
                          <a:latin typeface="+mj-lt"/>
                        </a:rPr>
                        <a:t>Seekers</a:t>
                      </a:r>
                      <a:endParaRPr lang="en-US" sz="1200" b="0" i="1" kern="1200" dirty="0">
                        <a:solidFill>
                          <a:schemeClr val="tx2"/>
                        </a:solidFill>
                        <a:latin typeface="+mj-lt"/>
                        <a:ea typeface="+mn-ea"/>
                        <a:cs typeface="+mn-cs"/>
                      </a:endParaRPr>
                    </a:p>
                  </a:txBody>
                  <a:tcPr marL="76200" marR="76200" marT="38100" marB="38100">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algn="ctr"/>
                      <a:r>
                        <a:rPr lang="en-US" sz="1200" b="1" kern="1200" dirty="0">
                          <a:solidFill>
                            <a:schemeClr val="tx2"/>
                          </a:solidFill>
                          <a:latin typeface="+mj-lt"/>
                        </a:rPr>
                        <a:t>Socially </a:t>
                      </a:r>
                    </a:p>
                    <a:p>
                      <a:pPr algn="ctr"/>
                      <a:r>
                        <a:rPr lang="en-US" sz="1200" b="1" kern="1200" dirty="0">
                          <a:solidFill>
                            <a:schemeClr val="tx2"/>
                          </a:solidFill>
                          <a:latin typeface="+mj-lt"/>
                        </a:rPr>
                        <a:t>Motivated</a:t>
                      </a:r>
                      <a:endParaRPr lang="en-US" sz="1200" b="0" i="1" kern="1200" dirty="0">
                        <a:solidFill>
                          <a:schemeClr val="tx2"/>
                        </a:solidFill>
                        <a:latin typeface="+mj-lt"/>
                        <a:ea typeface="+mn-ea"/>
                        <a:cs typeface="+mn-cs"/>
                      </a:endParaRPr>
                    </a:p>
                  </a:txBody>
                  <a:tcPr marL="76200" marR="76200" marT="38100" marB="38100">
                    <a:lnL w="1270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0000"/>
                  </a:ext>
                </a:extLst>
              </a:tr>
              <a:tr h="731520">
                <a:tc>
                  <a:txBody>
                    <a:bodyPr/>
                    <a:lstStyle/>
                    <a:p>
                      <a:pPr algn="ctr"/>
                      <a:r>
                        <a:rPr lang="en-US" sz="1200" b="1" kern="1200" dirty="0">
                          <a:solidFill>
                            <a:schemeClr val="accent2"/>
                          </a:solidFill>
                          <a:latin typeface="+mj-lt"/>
                        </a:rPr>
                        <a:t>Support Overall Health and Wellness</a:t>
                      </a:r>
                      <a:endParaRPr lang="en-US" sz="1200" b="1" kern="1200" dirty="0">
                        <a:solidFill>
                          <a:schemeClr val="accent2"/>
                        </a:solidFill>
                        <a:latin typeface="+mj-lt"/>
                        <a:ea typeface="+mn-ea"/>
                        <a:cs typeface="+mn-cs"/>
                      </a:endParaRPr>
                    </a:p>
                  </a:txBody>
                  <a:tcPr marL="76200" marR="76200" marT="38100" marB="38100" anchor="ctr">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i="0" kern="1200" dirty="0">
                        <a:solidFill>
                          <a:schemeClr val="tx1">
                            <a:lumMod val="65000"/>
                            <a:lumOff val="35000"/>
                          </a:schemeClr>
                        </a:solidFill>
                        <a:highlight>
                          <a:srgbClr val="FFFF00"/>
                        </a:highlight>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285750" indent="-285750">
                        <a:buFont typeface="Arial" panose="020B0604020202020204" pitchFamily="34" charset="0"/>
                        <a:buChar cha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marR="0" lvl="0" indent="-285750" algn="l" defTabSz="126913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lumMod val="65000"/>
                            <a:lumOff val="35000"/>
                          </a:schemeClr>
                        </a:solidFill>
                        <a:latin typeface="+mj-lt"/>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marR="0" lvl="0" indent="0" algn="ctr" defTabSz="126913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126913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731520">
                <a:tc>
                  <a:txBody>
                    <a:bodyPr/>
                    <a:lstStyle/>
                    <a:p>
                      <a:pPr algn="ctr"/>
                      <a:r>
                        <a:rPr lang="en-US" sz="1200" b="1" kern="1200" dirty="0">
                          <a:solidFill>
                            <a:schemeClr val="accent2"/>
                          </a:solidFill>
                          <a:latin typeface="+mj-lt"/>
                        </a:rPr>
                        <a:t>Fill Perceived </a:t>
                      </a:r>
                    </a:p>
                    <a:p>
                      <a:pPr algn="ctr"/>
                      <a:r>
                        <a:rPr lang="en-US" sz="1200" b="1" kern="1200" dirty="0">
                          <a:solidFill>
                            <a:schemeClr val="accent2"/>
                          </a:solidFill>
                          <a:latin typeface="+mj-lt"/>
                        </a:rPr>
                        <a:t>Nutritional Gaps</a:t>
                      </a:r>
                      <a:endParaRPr lang="en-US" sz="1200" b="1" kern="1200" dirty="0">
                        <a:solidFill>
                          <a:schemeClr val="accent2"/>
                        </a:solidFill>
                        <a:latin typeface="+mj-lt"/>
                        <a:ea typeface="+mn-ea"/>
                        <a:cs typeface="+mn-cs"/>
                      </a:endParaRPr>
                    </a:p>
                  </a:txBody>
                  <a:tcPr marL="76200" marR="76200" marT="38100" marB="38100" anchor="ctr">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i="1" kern="1200" dirty="0">
                        <a:solidFill>
                          <a:schemeClr val="tx1">
                            <a:lumMod val="65000"/>
                            <a:lumOff val="35000"/>
                          </a:schemeClr>
                        </a:solidFill>
                        <a:highlight>
                          <a:srgbClr val="FFFF00"/>
                        </a:highlight>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285750" indent="-285750">
                        <a:buFont typeface="Arial" panose="020B0604020202020204" pitchFamily="34" charset="0"/>
                        <a:buChar cha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8679886"/>
                  </a:ext>
                </a:extLst>
              </a:tr>
              <a:tr h="731520">
                <a:tc>
                  <a:txBody>
                    <a:bodyPr/>
                    <a:lstStyle/>
                    <a:p>
                      <a:pPr algn="ctr"/>
                      <a:r>
                        <a:rPr lang="en-US" sz="1200" b="1" kern="1200" dirty="0">
                          <a:solidFill>
                            <a:schemeClr val="accent2"/>
                          </a:solidFill>
                          <a:latin typeface="+mj-lt"/>
                        </a:rPr>
                        <a:t>Address a Health Condition</a:t>
                      </a:r>
                      <a:endParaRPr lang="en-US" sz="1200" b="1" kern="1200" dirty="0">
                        <a:solidFill>
                          <a:schemeClr val="accent2"/>
                        </a:solidFill>
                        <a:latin typeface="+mj-lt"/>
                        <a:ea typeface="+mn-ea"/>
                        <a:cs typeface="+mn-cs"/>
                      </a:endParaRPr>
                    </a:p>
                  </a:txBody>
                  <a:tcPr marL="76200" marR="76200" marT="38100" marB="38100" anchor="ctr">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i="1" kern="1200" dirty="0">
                        <a:solidFill>
                          <a:schemeClr val="tx1">
                            <a:lumMod val="65000"/>
                            <a:lumOff val="35000"/>
                          </a:schemeClr>
                        </a:solidFill>
                        <a:highlight>
                          <a:srgbClr val="FFFF00"/>
                        </a:highlight>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285750" indent="-285750">
                        <a:buFont typeface="Arial" panose="020B0604020202020204" pitchFamily="34" charset="0"/>
                        <a:buChar cha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indent="0" algn="ctr">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601967709"/>
                  </a:ext>
                </a:extLst>
              </a:tr>
              <a:tr h="731520">
                <a:tc>
                  <a:txBody>
                    <a:bodyPr/>
                    <a:lstStyle/>
                    <a:p>
                      <a:pPr algn="ctr"/>
                      <a:r>
                        <a:rPr lang="en-US" sz="1200" b="1" kern="1200" dirty="0">
                          <a:solidFill>
                            <a:schemeClr val="accent2"/>
                          </a:solidFill>
                          <a:latin typeface="+mj-lt"/>
                          <a:ea typeface="+mn-ea"/>
                          <a:cs typeface="+mn-cs"/>
                        </a:rPr>
                        <a:t>Enhance Physical or Mental Performance</a:t>
                      </a:r>
                    </a:p>
                  </a:txBody>
                  <a:tcPr marL="76200" marR="76200" marT="38100" marB="38100" anchor="ctr">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i="0" kern="1200" dirty="0">
                        <a:solidFill>
                          <a:schemeClr val="tx1">
                            <a:lumMod val="65000"/>
                            <a:lumOff val="35000"/>
                          </a:schemeClr>
                        </a:solidFill>
                        <a:highlight>
                          <a:srgbClr val="FFFF00"/>
                        </a:highlight>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285750" indent="-285750">
                        <a:buFont typeface="Arial" panose="020B0604020202020204" pitchFamily="34" charset="0"/>
                        <a:buChar cha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indent="0" algn="ctr">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8366000"/>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2"/>
                          </a:solidFill>
                          <a:latin typeface="+mj-lt"/>
                          <a:ea typeface="+mn-ea"/>
                          <a:cs typeface="+mn-cs"/>
                        </a:rPr>
                        <a:t>Look and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2"/>
                          </a:solidFill>
                          <a:latin typeface="+mj-lt"/>
                          <a:ea typeface="+mn-ea"/>
                          <a:cs typeface="+mn-cs"/>
                        </a:rPr>
                        <a:t>Feel Better</a:t>
                      </a:r>
                    </a:p>
                  </a:txBody>
                  <a:tcPr marL="76200" marR="76200" marT="38100" marB="38100" anchor="ctr">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i="0" kern="1200" dirty="0">
                        <a:solidFill>
                          <a:schemeClr val="tx1">
                            <a:lumMod val="65000"/>
                            <a:lumOff val="35000"/>
                          </a:schemeClr>
                        </a:solidFill>
                        <a:highlight>
                          <a:srgbClr val="FFFF00"/>
                        </a:highlight>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285750" indent="-285750">
                        <a:buFont typeface="Arial" panose="020B0604020202020204" pitchFamily="34" charset="0"/>
                        <a:buChar cha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285750" indent="-285750">
                        <a:buFont typeface="Arial" panose="020B0604020202020204" pitchFamily="34" charset="0"/>
                        <a:buChar char="•"/>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marL="0" indent="0" algn="ctr">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200" kern="1200" dirty="0">
                        <a:solidFill>
                          <a:schemeClr val="tx1">
                            <a:lumMod val="65000"/>
                            <a:lumOff val="35000"/>
                          </a:schemeClr>
                        </a:solidFill>
                        <a:latin typeface="+mj-lt"/>
                        <a:ea typeface="+mn-ea"/>
                        <a:cs typeface="+mn-cs"/>
                      </a:endParaRPr>
                    </a:p>
                  </a:txBody>
                  <a:tcPr marL="76200" marR="76200" marT="38100" marB="38100" anchor="ctr">
                    <a:lnL w="1270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61541281"/>
                  </a:ext>
                </a:extLst>
              </a:tr>
            </a:tbl>
          </a:graphicData>
        </a:graphic>
      </p:graphicFrame>
      <p:pic>
        <p:nvPicPr>
          <p:cNvPr id="4" name="Graphic 3" descr="Fruit bowl with solid fill">
            <a:extLst>
              <a:ext uri="{FF2B5EF4-FFF2-40B4-BE49-F238E27FC236}">
                <a16:creationId xmlns:a16="http://schemas.microsoft.com/office/drawing/2014/main" id="{9B590635-EF5D-1441-9662-DD4851595C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4134" y="3262990"/>
            <a:ext cx="494267" cy="494267"/>
          </a:xfrm>
          <a:prstGeom prst="rect">
            <a:avLst/>
          </a:prstGeom>
        </p:spPr>
      </p:pic>
      <p:pic>
        <p:nvPicPr>
          <p:cNvPr id="11" name="Graphic 10" descr="Homeopathy with solid fill">
            <a:extLst>
              <a:ext uri="{FF2B5EF4-FFF2-40B4-BE49-F238E27FC236}">
                <a16:creationId xmlns:a16="http://schemas.microsoft.com/office/drawing/2014/main" id="{56193A8D-C684-854A-158E-D0F730FD509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8077" y="2495353"/>
            <a:ext cx="679294" cy="679294"/>
          </a:xfrm>
          <a:prstGeom prst="rect">
            <a:avLst/>
          </a:prstGeom>
        </p:spPr>
      </p:pic>
      <p:pic>
        <p:nvPicPr>
          <p:cNvPr id="19" name="Graphic 18" descr="Stethoscope with solid fill">
            <a:extLst>
              <a:ext uri="{FF2B5EF4-FFF2-40B4-BE49-F238E27FC236}">
                <a16:creationId xmlns:a16="http://schemas.microsoft.com/office/drawing/2014/main" id="{EBE636A5-E9E8-D7AB-F9FA-956696DB697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0476" y="3990742"/>
            <a:ext cx="617893" cy="617893"/>
          </a:xfrm>
          <a:prstGeom prst="rect">
            <a:avLst/>
          </a:prstGeom>
        </p:spPr>
      </p:pic>
      <p:pic>
        <p:nvPicPr>
          <p:cNvPr id="9" name="Graphic 8" descr="Aspiration with solid fill">
            <a:extLst>
              <a:ext uri="{FF2B5EF4-FFF2-40B4-BE49-F238E27FC236}">
                <a16:creationId xmlns:a16="http://schemas.microsoft.com/office/drawing/2014/main" id="{6E4A8F21-78AF-CAE9-15A7-0363FFE8F3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9775" y="4698695"/>
            <a:ext cx="679294" cy="679294"/>
          </a:xfrm>
          <a:prstGeom prst="rect">
            <a:avLst/>
          </a:prstGeom>
        </p:spPr>
      </p:pic>
      <p:pic>
        <p:nvPicPr>
          <p:cNvPr id="15" name="Graphic 14" descr="Meditation with solid fill">
            <a:extLst>
              <a:ext uri="{FF2B5EF4-FFF2-40B4-BE49-F238E27FC236}">
                <a16:creationId xmlns:a16="http://schemas.microsoft.com/office/drawing/2014/main" id="{7F9F66A4-E9D5-F231-0846-E6124AE6A4C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59775" y="5411038"/>
            <a:ext cx="664152" cy="664152"/>
          </a:xfrm>
          <a:prstGeom prst="rect">
            <a:avLst/>
          </a:prstGeom>
        </p:spPr>
      </p:pic>
      <p:sp>
        <p:nvSpPr>
          <p:cNvPr id="17" name="Footer Placeholder 2">
            <a:extLst>
              <a:ext uri="{FF2B5EF4-FFF2-40B4-BE49-F238E27FC236}">
                <a16:creationId xmlns:a16="http://schemas.microsoft.com/office/drawing/2014/main" id="{465B87A3-AB38-4117-4279-152CE046C7CF}"/>
              </a:ext>
            </a:extLst>
          </p:cNvPr>
          <p:cNvSpPr>
            <a:spLocks noGrp="1"/>
          </p:cNvSpPr>
          <p:nvPr>
            <p:ph type="ftr" sz="quarter" idx="11"/>
          </p:nvPr>
        </p:nvSpPr>
        <p:spPr>
          <a:xfrm>
            <a:off x="3686185" y="6459785"/>
            <a:ext cx="4822804"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18" name="Slide Number Placeholder 3">
            <a:extLst>
              <a:ext uri="{FF2B5EF4-FFF2-40B4-BE49-F238E27FC236}">
                <a16:creationId xmlns:a16="http://schemas.microsoft.com/office/drawing/2014/main" id="{D31DFFAE-1BF8-BC26-AAC3-8FFC5EB8434A}"/>
              </a:ext>
            </a:extLst>
          </p:cNvPr>
          <p:cNvSpPr>
            <a:spLocks noGrp="1"/>
          </p:cNvSpPr>
          <p:nvPr>
            <p:ph type="sldNum" sz="quarter" idx="12"/>
          </p:nvPr>
        </p:nvSpPr>
        <p:spPr>
          <a:xfrm>
            <a:off x="9900458" y="6459785"/>
            <a:ext cx="1312025"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3DE3B220-81ED-0309-35ED-E3625824BEA0}"/>
              </a:ext>
            </a:extLst>
          </p:cNvPr>
          <p:cNvGrpSpPr/>
          <p:nvPr/>
        </p:nvGrpSpPr>
        <p:grpSpPr>
          <a:xfrm>
            <a:off x="466910" y="2291137"/>
            <a:ext cx="307777" cy="3784053"/>
            <a:chOff x="610746" y="2075892"/>
            <a:chExt cx="307777" cy="3994079"/>
          </a:xfrm>
        </p:grpSpPr>
        <p:cxnSp>
          <p:nvCxnSpPr>
            <p:cNvPr id="7" name="Straight Arrow Connector 6">
              <a:extLst>
                <a:ext uri="{FF2B5EF4-FFF2-40B4-BE49-F238E27FC236}">
                  <a16:creationId xmlns:a16="http://schemas.microsoft.com/office/drawing/2014/main" id="{203ED84A-F73A-DA76-2B71-236B1D92914E}"/>
                </a:ext>
              </a:extLst>
            </p:cNvPr>
            <p:cNvCxnSpPr/>
            <p:nvPr/>
          </p:nvCxnSpPr>
          <p:spPr>
            <a:xfrm>
              <a:off x="760984" y="2075892"/>
              <a:ext cx="0" cy="399407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C9A9A72-2F9E-B1CC-96A8-2E2EC8943990}"/>
                </a:ext>
              </a:extLst>
            </p:cNvPr>
            <p:cNvSpPr txBox="1"/>
            <p:nvPr/>
          </p:nvSpPr>
          <p:spPr>
            <a:xfrm rot="16200000">
              <a:off x="45274" y="3758337"/>
              <a:ext cx="1438722" cy="307777"/>
            </a:xfrm>
            <a:prstGeom prst="rect">
              <a:avLst/>
            </a:prstGeom>
            <a:solidFill>
              <a:schemeClr val="bg1"/>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BD582C"/>
                  </a:solidFill>
                  <a:effectLst/>
                  <a:uLnTx/>
                  <a:uFillTx/>
                  <a:latin typeface="Calibri" panose="020F0502020204030204"/>
                  <a:ea typeface="+mn-ea"/>
                  <a:cs typeface="+mn-cs"/>
                </a:rPr>
                <a:t>Jobs to be Done</a:t>
              </a:r>
            </a:p>
          </p:txBody>
        </p:sp>
      </p:grpSp>
      <p:grpSp>
        <p:nvGrpSpPr>
          <p:cNvPr id="13" name="Group 12">
            <a:extLst>
              <a:ext uri="{FF2B5EF4-FFF2-40B4-BE49-F238E27FC236}">
                <a16:creationId xmlns:a16="http://schemas.microsoft.com/office/drawing/2014/main" id="{009C1F37-621A-FD41-1E6C-196BBB9D0142}"/>
              </a:ext>
            </a:extLst>
          </p:cNvPr>
          <p:cNvGrpSpPr/>
          <p:nvPr/>
        </p:nvGrpSpPr>
        <p:grpSpPr>
          <a:xfrm>
            <a:off x="3339100" y="1649579"/>
            <a:ext cx="8222357" cy="307777"/>
            <a:chOff x="2801751" y="1470369"/>
            <a:chExt cx="8576878" cy="307777"/>
          </a:xfrm>
        </p:grpSpPr>
        <p:cxnSp>
          <p:nvCxnSpPr>
            <p:cNvPr id="14" name="Straight Arrow Connector 13">
              <a:extLst>
                <a:ext uri="{FF2B5EF4-FFF2-40B4-BE49-F238E27FC236}">
                  <a16:creationId xmlns:a16="http://schemas.microsoft.com/office/drawing/2014/main" id="{01F74D2B-6F04-0785-ED7F-B23C16D29772}"/>
                </a:ext>
              </a:extLst>
            </p:cNvPr>
            <p:cNvCxnSpPr>
              <a:cxnSpLocks/>
            </p:cNvCxnSpPr>
            <p:nvPr/>
          </p:nvCxnSpPr>
          <p:spPr>
            <a:xfrm flipH="1">
              <a:off x="2801751" y="1606108"/>
              <a:ext cx="857687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1758E88-0077-270E-1436-6EB285B98672}"/>
                </a:ext>
              </a:extLst>
            </p:cNvPr>
            <p:cNvSpPr txBox="1"/>
            <p:nvPr/>
          </p:nvSpPr>
          <p:spPr>
            <a:xfrm>
              <a:off x="6383560" y="1470369"/>
              <a:ext cx="1828310" cy="307777"/>
            </a:xfrm>
            <a:prstGeom prst="rect">
              <a:avLst/>
            </a:prstGeom>
            <a:solidFill>
              <a:schemeClr val="bg1"/>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37052"/>
                  </a:solidFill>
                  <a:effectLst/>
                  <a:uLnTx/>
                  <a:uFillTx/>
                  <a:latin typeface="Calibri" panose="020F0502020204030204"/>
                  <a:ea typeface="+mn-ea"/>
                  <a:cs typeface="+mn-cs"/>
                </a:rPr>
                <a:t>Consumer Segments</a:t>
              </a:r>
            </a:p>
          </p:txBody>
        </p:sp>
      </p:grpSp>
      <p:sp>
        <p:nvSpPr>
          <p:cNvPr id="21" name="Title 4">
            <a:extLst>
              <a:ext uri="{FF2B5EF4-FFF2-40B4-BE49-F238E27FC236}">
                <a16:creationId xmlns:a16="http://schemas.microsoft.com/office/drawing/2014/main" id="{795E3486-F433-1F21-C994-F4B44528A863}"/>
              </a:ext>
            </a:extLst>
          </p:cNvPr>
          <p:cNvSpPr txBox="1">
            <a:spLocks/>
          </p:cNvSpPr>
          <p:nvPr/>
        </p:nvSpPr>
        <p:spPr>
          <a:xfrm>
            <a:off x="415871" y="451036"/>
            <a:ext cx="10351446" cy="444499"/>
          </a:xfrm>
          <a:prstGeom prst="rect">
            <a:avLst/>
          </a:prstGeom>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While most consumers hire supplements for a variety of jobs over time, different segments will over-index on different jobs and need states </a:t>
            </a:r>
            <a:endParaRPr kumimoji="0" lang="en-US" sz="40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endParaRPr>
          </a:p>
        </p:txBody>
      </p:sp>
      <p:sp>
        <p:nvSpPr>
          <p:cNvPr id="22" name="TextBox 21">
            <a:extLst>
              <a:ext uri="{FF2B5EF4-FFF2-40B4-BE49-F238E27FC236}">
                <a16:creationId xmlns:a16="http://schemas.microsoft.com/office/drawing/2014/main" id="{C316E3A9-DFE0-EADB-F8CD-72A6F43D6781}"/>
              </a:ext>
            </a:extLst>
          </p:cNvPr>
          <p:cNvSpPr txBox="1"/>
          <p:nvPr/>
        </p:nvSpPr>
        <p:spPr>
          <a:xfrm>
            <a:off x="4489807" y="1329195"/>
            <a:ext cx="3452117" cy="307777"/>
          </a:xfrm>
          <a:prstGeom prst="rect">
            <a:avLst/>
          </a:prstGeom>
          <a:noFill/>
          <a:ln>
            <a:solidFill>
              <a:schemeClr val="tx2"/>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lumMod val="65000"/>
                    <a:lumOff val="35000"/>
                  </a:srgbClr>
                </a:solidFill>
                <a:effectLst/>
                <a:uLnTx/>
                <a:uFillTx/>
                <a:latin typeface="Calibri" panose="020F0502020204030204"/>
                <a:ea typeface="+mn-ea"/>
                <a:cs typeface="+mn-cs"/>
              </a:rPr>
              <a:t>Hypothesized Opportunity Map</a:t>
            </a:r>
          </a:p>
        </p:txBody>
      </p:sp>
      <p:sp>
        <p:nvSpPr>
          <p:cNvPr id="2" name="TextBox 1">
            <a:extLst>
              <a:ext uri="{FF2B5EF4-FFF2-40B4-BE49-F238E27FC236}">
                <a16:creationId xmlns:a16="http://schemas.microsoft.com/office/drawing/2014/main" id="{645D3E47-3735-985A-42F2-1381BE46B814}"/>
              </a:ext>
            </a:extLst>
          </p:cNvPr>
          <p:cNvSpPr txBox="1"/>
          <p:nvPr/>
        </p:nvSpPr>
        <p:spPr>
          <a:xfrm>
            <a:off x="3256908" y="6086353"/>
            <a:ext cx="751040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637052"/>
                </a:solidFill>
                <a:effectLst/>
                <a:uLnTx/>
                <a:uFillTx/>
                <a:latin typeface="Calibri" panose="020F0502020204030204"/>
                <a:ea typeface="+mn-ea"/>
                <a:cs typeface="+mn-cs"/>
              </a:rPr>
              <a:t>Shaded Intersections indicate where Consumer Segments are likely to over-index against Jobs to be Done</a:t>
            </a:r>
          </a:p>
        </p:txBody>
      </p:sp>
      <p:sp>
        <p:nvSpPr>
          <p:cNvPr id="3" name="TextBox 2">
            <a:extLst>
              <a:ext uri="{FF2B5EF4-FFF2-40B4-BE49-F238E27FC236}">
                <a16:creationId xmlns:a16="http://schemas.microsoft.com/office/drawing/2014/main" id="{97B3F2A3-07A3-707E-88D4-EE79FF84944B}"/>
              </a:ext>
            </a:extLst>
          </p:cNvPr>
          <p:cNvSpPr txBox="1"/>
          <p:nvPr/>
        </p:nvSpPr>
        <p:spPr>
          <a:xfrm>
            <a:off x="7798085" y="0"/>
            <a:ext cx="4393915" cy="369332"/>
          </a:xfrm>
          <a:prstGeom prst="rect">
            <a:avLst/>
          </a:prstGeom>
          <a:solidFill>
            <a:srgbClr val="FFFF00"/>
          </a:solidFill>
        </p:spPr>
        <p:txBody>
          <a:bodyPr wrap="square" rtlCol="0">
            <a:spAutoFit/>
          </a:bodyPr>
          <a:lstStyle/>
          <a:p>
            <a:r>
              <a:rPr lang="en-US" dirty="0"/>
              <a:t>Hypothesized framework from qualitative</a:t>
            </a:r>
          </a:p>
        </p:txBody>
      </p:sp>
    </p:spTree>
    <p:extLst>
      <p:ext uri="{BB962C8B-B14F-4D97-AF65-F5344CB8AC3E}">
        <p14:creationId xmlns:p14="http://schemas.microsoft.com/office/powerpoint/2010/main" val="12485233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D82A7DC-A27A-B2AE-7923-A570F812E273}"/>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sp>
        <p:nvSpPr>
          <p:cNvPr id="4" name="Slide Number Placeholder 3">
            <a:extLst>
              <a:ext uri="{FF2B5EF4-FFF2-40B4-BE49-F238E27FC236}">
                <a16:creationId xmlns:a16="http://schemas.microsoft.com/office/drawing/2014/main" id="{374FF644-B44C-8475-D49C-7867FE8E1C9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564EA301-F117-3CD0-ACC6-3CDC8D84F40C}"/>
              </a:ext>
            </a:extLst>
          </p:cNvPr>
          <p:cNvGraphicFramePr>
            <a:graphicFrameLocks noGrp="1"/>
          </p:cNvGraphicFramePr>
          <p:nvPr/>
        </p:nvGraphicFramePr>
        <p:xfrm>
          <a:off x="1066800" y="2680249"/>
          <a:ext cx="10058399" cy="2749116"/>
        </p:xfrm>
        <a:graphic>
          <a:graphicData uri="http://schemas.openxmlformats.org/drawingml/2006/table">
            <a:tbl>
              <a:tblPr>
                <a:tableStyleId>{3B4B98B0-60AC-42C2-AFA5-B58CD77FA1E5}</a:tableStyleId>
              </a:tblPr>
              <a:tblGrid>
                <a:gridCol w="4335517">
                  <a:extLst>
                    <a:ext uri="{9D8B030D-6E8A-4147-A177-3AD203B41FA5}">
                      <a16:colId xmlns:a16="http://schemas.microsoft.com/office/drawing/2014/main" val="4107426551"/>
                    </a:ext>
                  </a:extLst>
                </a:gridCol>
                <a:gridCol w="520262">
                  <a:extLst>
                    <a:ext uri="{9D8B030D-6E8A-4147-A177-3AD203B41FA5}">
                      <a16:colId xmlns:a16="http://schemas.microsoft.com/office/drawing/2014/main" val="3233864002"/>
                    </a:ext>
                  </a:extLst>
                </a:gridCol>
                <a:gridCol w="520262">
                  <a:extLst>
                    <a:ext uri="{9D8B030D-6E8A-4147-A177-3AD203B41FA5}">
                      <a16:colId xmlns:a16="http://schemas.microsoft.com/office/drawing/2014/main" val="871605687"/>
                    </a:ext>
                  </a:extLst>
                </a:gridCol>
                <a:gridCol w="520262">
                  <a:extLst>
                    <a:ext uri="{9D8B030D-6E8A-4147-A177-3AD203B41FA5}">
                      <a16:colId xmlns:a16="http://schemas.microsoft.com/office/drawing/2014/main" val="1799647169"/>
                    </a:ext>
                  </a:extLst>
                </a:gridCol>
                <a:gridCol w="520262">
                  <a:extLst>
                    <a:ext uri="{9D8B030D-6E8A-4147-A177-3AD203B41FA5}">
                      <a16:colId xmlns:a16="http://schemas.microsoft.com/office/drawing/2014/main" val="1381748258"/>
                    </a:ext>
                  </a:extLst>
                </a:gridCol>
                <a:gridCol w="520262">
                  <a:extLst>
                    <a:ext uri="{9D8B030D-6E8A-4147-A177-3AD203B41FA5}">
                      <a16:colId xmlns:a16="http://schemas.microsoft.com/office/drawing/2014/main" val="3956343915"/>
                    </a:ext>
                  </a:extLst>
                </a:gridCol>
                <a:gridCol w="520262">
                  <a:extLst>
                    <a:ext uri="{9D8B030D-6E8A-4147-A177-3AD203B41FA5}">
                      <a16:colId xmlns:a16="http://schemas.microsoft.com/office/drawing/2014/main" val="2197625001"/>
                    </a:ext>
                  </a:extLst>
                </a:gridCol>
                <a:gridCol w="520262">
                  <a:extLst>
                    <a:ext uri="{9D8B030D-6E8A-4147-A177-3AD203B41FA5}">
                      <a16:colId xmlns:a16="http://schemas.microsoft.com/office/drawing/2014/main" val="2797358484"/>
                    </a:ext>
                  </a:extLst>
                </a:gridCol>
                <a:gridCol w="520262">
                  <a:extLst>
                    <a:ext uri="{9D8B030D-6E8A-4147-A177-3AD203B41FA5}">
                      <a16:colId xmlns:a16="http://schemas.microsoft.com/office/drawing/2014/main" val="2867094755"/>
                    </a:ext>
                  </a:extLst>
                </a:gridCol>
                <a:gridCol w="520262">
                  <a:extLst>
                    <a:ext uri="{9D8B030D-6E8A-4147-A177-3AD203B41FA5}">
                      <a16:colId xmlns:a16="http://schemas.microsoft.com/office/drawing/2014/main" val="703738329"/>
                    </a:ext>
                  </a:extLst>
                </a:gridCol>
                <a:gridCol w="520262">
                  <a:extLst>
                    <a:ext uri="{9D8B030D-6E8A-4147-A177-3AD203B41FA5}">
                      <a16:colId xmlns:a16="http://schemas.microsoft.com/office/drawing/2014/main" val="3655167997"/>
                    </a:ext>
                  </a:extLst>
                </a:gridCol>
                <a:gridCol w="520262">
                  <a:extLst>
                    <a:ext uri="{9D8B030D-6E8A-4147-A177-3AD203B41FA5}">
                      <a16:colId xmlns:a16="http://schemas.microsoft.com/office/drawing/2014/main" val="2545100148"/>
                    </a:ext>
                  </a:extLst>
                </a:gridCol>
              </a:tblGrid>
              <a:tr h="0">
                <a:tc gridSpan="12">
                  <a:txBody>
                    <a:bodyPr/>
                    <a:lstStyle/>
                    <a:p>
                      <a:pPr algn="ctr" fontAlgn="b">
                        <a:buNone/>
                      </a:pPr>
                      <a:r>
                        <a:rPr lang="en-US" sz="1200" b="1" i="0" u="none" strike="noStrike" dirty="0">
                          <a:solidFill>
                            <a:schemeClr val="bg1"/>
                          </a:solidFill>
                          <a:effectLst/>
                          <a:latin typeface="Arial" panose="020B0604020202020204" pitchFamily="34" charset="0"/>
                        </a:rPr>
                        <a:t>Importance of Health &amp; Wellness</a:t>
                      </a:r>
                    </a:p>
                    <a:p>
                      <a:pPr algn="ctr" fontAlgn="b">
                        <a:buNone/>
                      </a:pPr>
                      <a:r>
                        <a:rPr lang="en-US" sz="1200" b="0" i="0" u="none" strike="noStrike" dirty="0">
                          <a:solidFill>
                            <a:schemeClr val="bg1"/>
                          </a:solidFill>
                          <a:effectLst/>
                          <a:latin typeface="Arial" panose="020B0604020202020204" pitchFamily="34" charset="0"/>
                        </a:rPr>
                        <a:t>(% of P3M Functional Nutrition Users)</a:t>
                      </a: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0" i="0" u="none" strike="noStrike" dirty="0">
                        <a:solidFill>
                          <a:schemeClr val="bg1"/>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accent1"/>
                    </a:solidFill>
                  </a:tcPr>
                </a:tc>
                <a:extLst>
                  <a:ext uri="{0D108BD9-81ED-4DB2-BD59-A6C34878D82A}">
                    <a16:rowId xmlns:a16="http://schemas.microsoft.com/office/drawing/2014/main" val="730200368"/>
                  </a:ext>
                </a:extLst>
              </a:tr>
              <a:tr h="0">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Total</a:t>
                      </a:r>
                    </a:p>
                  </a:txBody>
                  <a:tcPr marL="2958" marR="2958" marT="2958"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Males</a:t>
                      </a:r>
                      <a:endParaRPr lang="en-US" sz="1200" b="1" i="0" u="none" strike="noStrike" dirty="0">
                        <a:solidFill>
                          <a:srgbClr val="000000"/>
                        </a:solidFill>
                        <a:effectLst/>
                        <a:latin typeface="Arial" panose="020B0604020202020204" pitchFamily="34" charset="0"/>
                      </a:endParaRP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05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Females</a:t>
                      </a:r>
                      <a:endParaRPr lang="en-US" sz="1200" b="1" i="0" u="none" strike="noStrike" dirty="0">
                        <a:solidFill>
                          <a:srgbClr val="000000"/>
                        </a:solidFill>
                        <a:effectLst/>
                        <a:latin typeface="Arial" panose="020B0604020202020204" pitchFamily="34" charset="0"/>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18-34</a:t>
                      </a:r>
                    </a:p>
                  </a:txBody>
                  <a:tcPr marL="2958" marR="2958" marT="2958"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35-54</a:t>
                      </a: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p>
                      <a:pPr algn="ctr" fontAlgn="b">
                        <a:buNone/>
                      </a:pPr>
                      <a:endParaRPr lang="en-US" sz="1200" b="1" u="none" strike="noStrike" kern="1200" dirty="0">
                        <a:solidFill>
                          <a:schemeClr val="tx1"/>
                        </a:solidFill>
                        <a:effectLst/>
                        <a:latin typeface="+mn-lt"/>
                        <a:ea typeface="+mn-ea"/>
                        <a:cs typeface="+mn-cs"/>
                      </a:endParaRPr>
                    </a:p>
                  </a:txBody>
                  <a:tcPr marL="2958" marR="2958" marT="295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kern="1200" dirty="0">
                          <a:solidFill>
                            <a:schemeClr val="tx1"/>
                          </a:solidFill>
                          <a:effectLst/>
                          <a:latin typeface="+mn-lt"/>
                          <a:ea typeface="+mn-ea"/>
                          <a:cs typeface="+mn-cs"/>
                        </a:rPr>
                        <a:t>55+</a:t>
                      </a:r>
                    </a:p>
                  </a:txBody>
                  <a:tcPr marL="2958" marR="2958" marT="2958"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Index to Total</a:t>
                      </a:r>
                    </a:p>
                  </a:txBody>
                  <a:tcPr marL="2958" marR="2958" marT="2958"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59553639"/>
                  </a:ext>
                </a:extLst>
              </a:tr>
              <a:tr h="457200">
                <a:tc>
                  <a:txBody>
                    <a:bodyPr/>
                    <a:lstStyle/>
                    <a:p>
                      <a:pPr algn="l" fontAlgn="b">
                        <a:buNone/>
                      </a:pPr>
                      <a:r>
                        <a:rPr lang="en-US" sz="1100" b="0" i="0" u="none" strike="noStrike" dirty="0">
                          <a:effectLst/>
                          <a:latin typeface="Arial" panose="020B0604020202020204" pitchFamily="34" charset="0"/>
                        </a:rPr>
                        <a:t>Focusing on health and wellness is essential to how I live my life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fontAlgn="b">
                        <a:buNone/>
                      </a:pPr>
                      <a:r>
                        <a:rPr lang="en-US" sz="1100" b="0" i="0" u="none" strike="noStrike" dirty="0">
                          <a:effectLst/>
                          <a:latin typeface="Arial" panose="020B0604020202020204" pitchFamily="34" charset="0"/>
                        </a:rPr>
                        <a:t>27</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30%</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110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25%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90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34%</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006100"/>
                          </a:solidFill>
                          <a:effectLst/>
                          <a:latin typeface="Arial" panose="020B0604020202020204" pitchFamily="34" charset="0"/>
                        </a:rPr>
                        <a:t>123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rPr>
                        <a:t>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9C0006"/>
                          </a:solidFill>
                          <a:effectLst/>
                          <a:latin typeface="Arial" panose="020B0604020202020204" pitchFamily="34" charset="0"/>
                        </a:rPr>
                        <a:t>67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128676805"/>
                  </a:ext>
                </a:extLst>
              </a:tr>
              <a:tr h="457200">
                <a:tc>
                  <a:txBody>
                    <a:bodyPr/>
                    <a:lstStyle/>
                    <a:p>
                      <a:pPr algn="l" fontAlgn="b">
                        <a:buNone/>
                      </a:pPr>
                      <a:r>
                        <a:rPr lang="en-US" sz="1100" b="0" i="0" u="none" strike="noStrike" dirty="0">
                          <a:effectLst/>
                          <a:latin typeface="Arial" panose="020B0604020202020204" pitchFamily="34" charset="0"/>
                        </a:rPr>
                        <a:t>Health and wellness is very important, and I prioritize it most of the time</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100" b="0" i="0" u="none" strike="noStrike" dirty="0">
                          <a:effectLst/>
                          <a:latin typeface="Arial" panose="020B0604020202020204" pitchFamily="34" charset="0"/>
                        </a:rPr>
                        <a:t>41</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43%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95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41%</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101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41%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100" b="0" i="0" u="none" strike="noStrike" dirty="0">
                          <a:effectLst/>
                          <a:latin typeface="Arial" panose="020B0604020202020204" pitchFamily="34" charset="0"/>
                        </a:rPr>
                        <a:t>98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807090806"/>
                  </a:ext>
                </a:extLst>
              </a:tr>
              <a:tr h="457200">
                <a:tc>
                  <a:txBody>
                    <a:bodyPr/>
                    <a:lstStyle/>
                    <a:p>
                      <a:pPr algn="l" fontAlgn="b">
                        <a:buNone/>
                      </a:pPr>
                      <a:r>
                        <a:rPr lang="en-US" sz="1100" b="0" i="0" u="none" strike="noStrike" dirty="0">
                          <a:effectLst/>
                          <a:latin typeface="Arial" panose="020B0604020202020204" pitchFamily="34" charset="0"/>
                        </a:rPr>
                        <a:t>Health and wellness is important, but I take more of an “everything in moderation” approach</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100" b="0" i="0" u="none" strike="noStrike" dirty="0">
                          <a:effectLst/>
                          <a:latin typeface="Arial" panose="020B0604020202020204" pitchFamily="34" charset="0"/>
                        </a:rPr>
                        <a:t>29</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25%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84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23%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9C0006"/>
                          </a:solidFill>
                          <a:effectLst/>
                          <a:latin typeface="Arial" panose="020B0604020202020204" pitchFamily="34" charset="0"/>
                        </a:rPr>
                        <a:t>78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lumMod val="20000"/>
                        <a:lumOff val="80000"/>
                      </a:schemeClr>
                    </a:solidFill>
                  </a:tcPr>
                </a:tc>
                <a:tc>
                  <a:txBody>
                    <a:bodyPr/>
                    <a:lstStyle/>
                    <a:p>
                      <a:pPr algn="ctr" fontAlgn="b">
                        <a:buNone/>
                      </a:pPr>
                      <a:r>
                        <a:rPr lang="en-US" sz="1100" b="0" i="0" u="none" strike="noStrike" dirty="0">
                          <a:effectLst/>
                          <a:latin typeface="Arial" panose="020B0604020202020204" pitchFamily="34" charset="0"/>
                        </a:rPr>
                        <a:t>28%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38%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006100"/>
                          </a:solidFill>
                          <a:effectLst/>
                          <a:latin typeface="Arial" panose="020B0604020202020204" pitchFamily="34" charset="0"/>
                        </a:rPr>
                        <a:t>130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050239563"/>
                  </a:ext>
                </a:extLst>
              </a:tr>
              <a:tr h="457200">
                <a:tc>
                  <a:txBody>
                    <a:bodyPr/>
                    <a:lstStyle/>
                    <a:p>
                      <a:pPr algn="l" fontAlgn="b">
                        <a:buNone/>
                      </a:pPr>
                      <a:r>
                        <a:rPr lang="en-US" sz="1100" b="0" i="0" u="none" strike="noStrike" dirty="0">
                          <a:effectLst/>
                          <a:latin typeface="Arial" panose="020B0604020202020204" pitchFamily="34" charset="0"/>
                        </a:rPr>
                        <a:t>Health and wellness is not a big priority - I do what I can, when I can</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pPr algn="ctr" fontAlgn="b">
                        <a:buNone/>
                      </a:pPr>
                      <a:r>
                        <a:rPr lang="en-US" sz="1100" b="0" i="0" u="none" strike="noStrike" dirty="0">
                          <a:effectLst/>
                          <a:latin typeface="Arial" panose="020B0604020202020204" pitchFamily="34" charset="0"/>
                        </a:rPr>
                        <a:t>2</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 </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94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106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83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88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3% </a:t>
                      </a:r>
                    </a:p>
                  </a:txBody>
                  <a:tcPr marL="9525" marR="9525" marT="9525" marB="0" anchor="ctr">
                    <a:lnL w="12700" cap="flat" cmpd="sng" algn="ctr">
                      <a:noFill/>
                      <a:prstDash val="solid"/>
                      <a:round/>
                      <a:headEnd type="none" w="med" len="med"/>
                      <a:tailEnd type="none" w="med" len="med"/>
                    </a:lnL>
                    <a:lnR>
                      <a:noFill/>
                    </a:lnR>
                    <a:noFill/>
                  </a:tcPr>
                </a:tc>
                <a:tc>
                  <a:txBody>
                    <a:bodyPr/>
                    <a:lstStyle/>
                    <a:p>
                      <a:pPr algn="ctr" fontAlgn="b">
                        <a:buNone/>
                      </a:pPr>
                      <a:r>
                        <a:rPr lang="en-US" sz="1100" b="0" i="0" u="none" strike="noStrike" dirty="0">
                          <a:solidFill>
                            <a:srgbClr val="006100"/>
                          </a:solidFill>
                          <a:effectLst/>
                          <a:latin typeface="Arial" panose="020B0604020202020204" pitchFamily="34" charset="0"/>
                        </a:rPr>
                        <a:t>132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3777060894"/>
                  </a:ext>
                </a:extLst>
              </a:tr>
            </a:tbl>
          </a:graphicData>
        </a:graphic>
      </p:graphicFrame>
      <p:sp>
        <p:nvSpPr>
          <p:cNvPr id="6" name="Title 4">
            <a:extLst>
              <a:ext uri="{FF2B5EF4-FFF2-40B4-BE49-F238E27FC236}">
                <a16:creationId xmlns:a16="http://schemas.microsoft.com/office/drawing/2014/main" id="{97EE01A2-A275-647F-4F80-4C8F99A10E57}"/>
              </a:ext>
            </a:extLst>
          </p:cNvPr>
          <p:cNvSpPr txBox="1">
            <a:spLocks/>
          </p:cNvSpPr>
          <p:nvPr/>
        </p:nvSpPr>
        <p:spPr>
          <a:xfrm>
            <a:off x="582674" y="725155"/>
            <a:ext cx="10351446" cy="444499"/>
          </a:xfrm>
          <a:prstGeom prst="rect">
            <a:avLst/>
          </a:prstGeom>
          <a:noFill/>
        </p:spPr>
        <p:txBody>
          <a:bodyPr/>
          <a:lstStyle>
            <a:defPPr>
              <a:defRPr lang="en-US"/>
            </a:defPPr>
            <a:lvl1pPr marR="0" lvl="0" indent="0" defTabSz="914400" fontAlgn="auto">
              <a:lnSpc>
                <a:spcPct val="85000"/>
              </a:lnSpc>
              <a:spcBef>
                <a:spcPct val="0"/>
              </a:spcBef>
              <a:spcAft>
                <a:spcPts val="0"/>
              </a:spcAft>
              <a:buClrTx/>
              <a:buSzTx/>
              <a:buFontTx/>
              <a:buNone/>
              <a:tabLst/>
              <a:defRPr sz="2800" spc="-50" baseline="0">
                <a:solidFill>
                  <a:srgbClr val="000000">
                    <a:lumMod val="75000"/>
                    <a:lumOff val="25000"/>
                  </a:srgbClr>
                </a:solidFill>
                <a:latin typeface="Calibri Light" panose="020F0302020204030204"/>
                <a:ea typeface="+mj-ea"/>
                <a:cs typeface="+mj-cs"/>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2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Importance of Health &amp; Wellness: Gender and Age Breaks</a:t>
            </a:r>
          </a:p>
        </p:txBody>
      </p:sp>
      <p:sp>
        <p:nvSpPr>
          <p:cNvPr id="2" name="TextBox 1">
            <a:extLst>
              <a:ext uri="{FF2B5EF4-FFF2-40B4-BE49-F238E27FC236}">
                <a16:creationId xmlns:a16="http://schemas.microsoft.com/office/drawing/2014/main" id="{64190136-F70D-3D33-7241-6897FB6EC20F}"/>
              </a:ext>
            </a:extLst>
          </p:cNvPr>
          <p:cNvSpPr txBox="1"/>
          <p:nvPr/>
        </p:nvSpPr>
        <p:spPr>
          <a:xfrm>
            <a:off x="528886" y="1407256"/>
            <a:ext cx="11050089" cy="338554"/>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BD582C"/>
                </a:solidFill>
                <a:effectLst/>
                <a:uLnTx/>
                <a:uFillTx/>
                <a:latin typeface="Calibri Light" panose="020F0302020204030204"/>
                <a:ea typeface="+mn-ea"/>
                <a:cs typeface="+mn-cs"/>
              </a:rPr>
              <a:t>The top more targeted goals are reducing stress/anxiety, managing weight, improving physical energy, and improving sleep</a:t>
            </a:r>
            <a:endParaRPr kumimoji="0" lang="en-US" sz="1800" b="0" i="0" u="none" strike="noStrike" kern="1200" cap="none" spc="0" normalizeH="0" baseline="0" noProof="0" dirty="0">
              <a:ln>
                <a:noFill/>
              </a:ln>
              <a:solidFill>
                <a:srgbClr val="BD582C"/>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2665331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1043">
          <a:extLst>
            <a:ext uri="{FF2B5EF4-FFF2-40B4-BE49-F238E27FC236}">
              <a16:creationId xmlns:a16="http://schemas.microsoft.com/office/drawing/2014/main" id="{743EFEAB-1D25-00DA-34E0-CFD1870D1DDF}"/>
            </a:ext>
          </a:extLst>
        </p:cNvPr>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C1047E1A-C64D-AB14-78AB-68C1C335F93E}"/>
              </a:ext>
            </a:extLst>
          </p:cNvPr>
          <p:cNvSpPr>
            <a:spLocks noGrp="1"/>
          </p:cNvSpPr>
          <p:nvPr>
            <p:ph type="sldNum" idx="12"/>
          </p:nvPr>
        </p:nvSpPr>
        <p:spPr/>
        <p:txBody>
          <a:bodyPr vert="horz" lIns="91440" tIns="45720" rIns="91440" bIns="45720" rtlCol="0" anchor="ctr">
            <a:normAutofit fontScale="40000" lnSpcReduction="20000"/>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6B4C109-23AB-4C56-97AA-0E1D785C36F7}"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sym typeface="Georgia"/>
              </a:rPr>
              <a:pPr marL="0" marR="0" lvl="0" indent="0" algn="r" defTabSz="914400" rtl="0" eaLnBrk="1" fontAlgn="auto" latinLnBrk="0" hangingPunct="1">
                <a:lnSpc>
                  <a:spcPct val="100000"/>
                </a:lnSpc>
                <a:spcBef>
                  <a:spcPts val="0"/>
                </a:spcBef>
                <a:spcAft>
                  <a:spcPts val="600"/>
                </a:spcAft>
                <a:buClrTx/>
                <a:buSzTx/>
                <a:buFontTx/>
                <a:buNone/>
                <a:tabLst/>
                <a:defRPr/>
              </a:pPr>
              <a:t>63</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sym typeface="Georgia"/>
            </a:endParaRPr>
          </a:p>
        </p:txBody>
      </p:sp>
      <p:sp>
        <p:nvSpPr>
          <p:cNvPr id="6" name="Footer Placeholder 2">
            <a:extLst>
              <a:ext uri="{FF2B5EF4-FFF2-40B4-BE49-F238E27FC236}">
                <a16:creationId xmlns:a16="http://schemas.microsoft.com/office/drawing/2014/main" id="{030DC215-747C-C2EB-A130-7442D59A5DB6}"/>
              </a:ext>
            </a:extLst>
          </p:cNvPr>
          <p:cNvSpPr>
            <a:spLocks noGrp="1"/>
          </p:cNvSpPr>
          <p:nvPr>
            <p:ph type="ftr" sz="quarter" idx="4294967295"/>
          </p:nvPr>
        </p:nvSpPr>
        <p:spPr>
          <a:xfrm>
            <a:off x="7369175" y="6459538"/>
            <a:ext cx="4822825"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8" name="Table 7">
            <a:extLst>
              <a:ext uri="{FF2B5EF4-FFF2-40B4-BE49-F238E27FC236}">
                <a16:creationId xmlns:a16="http://schemas.microsoft.com/office/drawing/2014/main" id="{E291D9E0-D792-00F5-84B8-554267E96FE6}"/>
              </a:ext>
            </a:extLst>
          </p:cNvPr>
          <p:cNvGraphicFramePr>
            <a:graphicFrameLocks noGrp="1"/>
          </p:cNvGraphicFramePr>
          <p:nvPr/>
        </p:nvGraphicFramePr>
        <p:xfrm>
          <a:off x="2988853" y="591402"/>
          <a:ext cx="6858000" cy="5675196"/>
        </p:xfrm>
        <a:graphic>
          <a:graphicData uri="http://schemas.openxmlformats.org/drawingml/2006/table">
            <a:tbl>
              <a:tblPr>
                <a:tableStyleId>{3B4B98B0-60AC-42C2-AFA5-B58CD77FA1E5}</a:tableStyleId>
              </a:tblPr>
              <a:tblGrid>
                <a:gridCol w="4114800">
                  <a:extLst>
                    <a:ext uri="{9D8B030D-6E8A-4147-A177-3AD203B41FA5}">
                      <a16:colId xmlns:a16="http://schemas.microsoft.com/office/drawing/2014/main" val="4107426551"/>
                    </a:ext>
                  </a:extLst>
                </a:gridCol>
                <a:gridCol w="914400">
                  <a:extLst>
                    <a:ext uri="{9D8B030D-6E8A-4147-A177-3AD203B41FA5}">
                      <a16:colId xmlns:a16="http://schemas.microsoft.com/office/drawing/2014/main" val="871605687"/>
                    </a:ext>
                  </a:extLst>
                </a:gridCol>
                <a:gridCol w="914400">
                  <a:extLst>
                    <a:ext uri="{9D8B030D-6E8A-4147-A177-3AD203B41FA5}">
                      <a16:colId xmlns:a16="http://schemas.microsoft.com/office/drawing/2014/main" val="1381748258"/>
                    </a:ext>
                  </a:extLst>
                </a:gridCol>
                <a:gridCol w="914400">
                  <a:extLst>
                    <a:ext uri="{9D8B030D-6E8A-4147-A177-3AD203B41FA5}">
                      <a16:colId xmlns:a16="http://schemas.microsoft.com/office/drawing/2014/main" val="2197625001"/>
                    </a:ext>
                  </a:extLst>
                </a:gridCol>
              </a:tblGrid>
              <a:tr h="0">
                <a:tc gridSpan="4">
                  <a:txBody>
                    <a:bodyPr/>
                    <a:lstStyle/>
                    <a:p>
                      <a:pPr algn="ctr" fontAlgn="b">
                        <a:buNone/>
                      </a:pPr>
                      <a:r>
                        <a:rPr lang="en-US" sz="1200" b="1" i="0" u="none" strike="noStrike" dirty="0">
                          <a:solidFill>
                            <a:schemeClr val="bg1"/>
                          </a:solidFill>
                          <a:effectLst/>
                          <a:latin typeface="Arial" panose="020B0604020202020204" pitchFamily="34" charset="0"/>
                        </a:rPr>
                        <a:t>Top Health and Wellness Needs Addressed by Category</a:t>
                      </a:r>
                    </a:p>
                    <a:p>
                      <a:pPr algn="ctr" fontAlgn="b">
                        <a:buNone/>
                      </a:pPr>
                      <a:r>
                        <a:rPr lang="en-US" sz="1200" b="0" i="0" u="none" strike="noStrike" dirty="0">
                          <a:solidFill>
                            <a:schemeClr val="bg1"/>
                          </a:solidFill>
                          <a:effectLst/>
                          <a:latin typeface="Arial" panose="020B0604020202020204" pitchFamily="34" charset="0"/>
                        </a:rPr>
                        <a:t>(% selecting among top 3 needs among once/week+ category users)</a:t>
                      </a:r>
                    </a:p>
                  </a:txBody>
                  <a:tcPr marL="2958" marR="2958" marT="2958" marB="0" anchor="b">
                    <a:lnL w="12700" cap="flat" cmpd="sng" algn="ctr">
                      <a:noFill/>
                      <a:prstDash val="solid"/>
                      <a:round/>
                      <a:headEnd type="none" w="med" len="med"/>
                      <a:tailEnd type="none" w="med" len="med"/>
                    </a:lnL>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b">
                        <a:buNone/>
                      </a:pPr>
                      <a:r>
                        <a:rPr lang="en-US" sz="1200" b="1" u="none" strike="noStrike" dirty="0">
                          <a:effectLst/>
                        </a:rPr>
                        <a:t>Dietary Supplements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200" b="1" u="none" strike="noStrike" dirty="0">
                          <a:effectLst/>
                        </a:rPr>
                        <a:t>Functional Foods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1200" b="1" u="none" strike="noStrike" dirty="0">
                          <a:effectLst/>
                        </a:rPr>
                        <a:t>Functional Beverages</a:t>
                      </a: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overall/general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48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chemeClr val="tx2">
                        <a:lumMod val="20000"/>
                        <a:lumOff val="80000"/>
                      </a:schemeClr>
                    </a:solidFill>
                  </a:tcPr>
                </a:tc>
                <a:tc>
                  <a:txBody>
                    <a:bodyPr/>
                    <a:lstStyle/>
                    <a:p>
                      <a:pPr algn="ctr" fontAlgn="b">
                        <a:buNone/>
                      </a:pPr>
                      <a:r>
                        <a:rPr lang="en-US" sz="1000" b="0" i="0" u="none" strike="noStrike" dirty="0">
                          <a:solidFill>
                            <a:srgbClr val="000000"/>
                          </a:solidFill>
                          <a:effectLst/>
                          <a:latin typeface="Arial" panose="020B0604020202020204" pitchFamily="34" charset="0"/>
                        </a:rPr>
                        <a:t>37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34 </a:t>
                      </a:r>
                    </a:p>
                  </a:txBody>
                  <a:tcPr marL="9525" marR="9525" marT="9525" marB="0" anchor="b">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Healthy aging/longevity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08762513"/>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Addressing a nutrient gap/deficiency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solidFill>
                            <a:srgbClr val="000000"/>
                          </a:solidFill>
                          <a:effectLst/>
                          <a:latin typeface="Arial" panose="020B0604020202020204" pitchFamily="34" charset="0"/>
                        </a:rPr>
                        <a:t>12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12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229445550"/>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Boosting immunity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582629608"/>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physical energy levels</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24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924444937"/>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overall fitness level</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18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679102277"/>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bone or joint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93174655"/>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sleep</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816618863"/>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overall mental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12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109282528"/>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gut/gastrointestinal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649533206"/>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Managing weight</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679873701"/>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appearance (e.g., hair, skin, nails,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723336348"/>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Building muscle/strength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132891055"/>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Reducing stress/anxiety</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10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14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807090806"/>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my heart/cardiovascular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2050239563"/>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Managing a diagnosed medical condition</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777060894"/>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mood/emotional well-being</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9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12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816600029"/>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Reducing inflammation</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031203097"/>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cognition/mental energy (alertness, focus, etc.)</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8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13 </a:t>
                      </a:r>
                    </a:p>
                  </a:txBody>
                  <a:tcPr marL="9525" marR="9525" marT="9525" marB="0" anchor="b">
                    <a:lnL w="12700" cap="flat" cmpd="sng" algn="ctr">
                      <a:solidFill>
                        <a:schemeClr val="accent1"/>
                      </a:solid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118574213"/>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eye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rial" panose="020B0604020202020204" pitchFamily="34" charset="0"/>
                        </a:rPr>
                        <a:t>2 </a:t>
                      </a:r>
                    </a:p>
                  </a:txBody>
                  <a:tcPr marL="9525" marR="9525" marT="9525" marB="0" anchor="b">
                    <a:lnL w="12700" cap="flat" cmpd="sng" algn="ctr">
                      <a:solidFill>
                        <a:schemeClr val="accent1"/>
                      </a:solidFill>
                      <a:prstDash val="solid"/>
                      <a:round/>
                      <a:headEnd type="none" w="med" len="med"/>
                      <a:tailEnd type="none" w="med" len="med"/>
                    </a:lnL>
                    <a:lnB w="12700" cap="flat" cmpd="sng" algn="ctr">
                      <a:noFill/>
                      <a:prstDash val="solid"/>
                      <a:round/>
                      <a:headEnd type="none" w="med" len="med"/>
                      <a:tailEnd type="none" w="med" len="med"/>
                    </a:lnB>
                    <a:noFill/>
                  </a:tcPr>
                </a:tc>
                <a:extLst>
                  <a:ext uri="{0D108BD9-81ED-4DB2-BD59-A6C34878D82A}">
                    <a16:rowId xmlns:a16="http://schemas.microsoft.com/office/drawing/2014/main" val="4182867502"/>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Cleansing/detox</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T w="12700" cap="flat" cmpd="sng" algn="ctr">
                      <a:noFill/>
                      <a:prstDash val="solid"/>
                      <a:round/>
                      <a:headEnd type="none" w="med" len="med"/>
                      <a:tailEnd type="none" w="med" len="med"/>
                    </a:lnT>
                    <a:noFill/>
                  </a:tcPr>
                </a:tc>
                <a:extLst>
                  <a:ext uri="{0D108BD9-81ED-4DB2-BD59-A6C34878D82A}">
                    <a16:rowId xmlns:a16="http://schemas.microsoft.com/office/drawing/2014/main" val="2790179416"/>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brain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5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221702195"/>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Managing blood sugar</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7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6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2777779970"/>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Managing perimenopause/menopause</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685218725"/>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Hormonal/metabolism support</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4061340747"/>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sexual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2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3602712643"/>
                  </a:ext>
                </a:extLst>
              </a:tr>
              <a:tr h="182880">
                <a:tc>
                  <a:txBody>
                    <a:bodyPr/>
                    <a:lstStyle/>
                    <a:p>
                      <a:pPr algn="l" fontAlgn="b">
                        <a:buNone/>
                      </a:pPr>
                      <a:r>
                        <a:rPr lang="en-US" sz="1000" b="0" i="0" u="none" strike="noStrike" dirty="0">
                          <a:solidFill>
                            <a:srgbClr val="000000"/>
                          </a:solidFill>
                          <a:effectLst/>
                          <a:latin typeface="Arial" panose="020B0604020202020204" pitchFamily="34" charset="0"/>
                        </a:rPr>
                        <a:t>Improving liver health</a:t>
                      </a:r>
                    </a:p>
                  </a:txBody>
                  <a:tcPr marL="9525" marR="9525" marT="9525"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1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3 </a:t>
                      </a:r>
                    </a:p>
                  </a:txBody>
                  <a:tcPr marL="9525" marR="9525" marT="9525"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ctr" fontAlgn="b">
                        <a:buNone/>
                      </a:pPr>
                      <a:r>
                        <a:rPr lang="en-US" sz="1000" b="0" i="0" u="none" strike="noStrike" dirty="0">
                          <a:solidFill>
                            <a:srgbClr val="000000"/>
                          </a:solidFill>
                          <a:effectLst/>
                          <a:latin typeface="Arial" panose="020B0604020202020204" pitchFamily="34" charset="0"/>
                        </a:rPr>
                        <a:t>4 </a:t>
                      </a:r>
                    </a:p>
                  </a:txBody>
                  <a:tcPr marL="9525" marR="9525" marT="9525" marB="0" anchor="b">
                    <a:lnL w="12700" cap="flat" cmpd="sng" algn="ctr">
                      <a:solidFill>
                        <a:schemeClr val="accent1"/>
                      </a:solidFill>
                      <a:prstDash val="solid"/>
                      <a:round/>
                      <a:headEnd type="none" w="med" len="med"/>
                      <a:tailEnd type="none" w="med" len="med"/>
                    </a:lnL>
                    <a:noFill/>
                  </a:tcPr>
                </a:tc>
                <a:extLst>
                  <a:ext uri="{0D108BD9-81ED-4DB2-BD59-A6C34878D82A}">
                    <a16:rowId xmlns:a16="http://schemas.microsoft.com/office/drawing/2014/main" val="1508202144"/>
                  </a:ext>
                </a:extLst>
              </a:tr>
            </a:tbl>
          </a:graphicData>
        </a:graphic>
      </p:graphicFrame>
      <p:sp>
        <p:nvSpPr>
          <p:cNvPr id="4" name="TextBox 3">
            <a:extLst>
              <a:ext uri="{FF2B5EF4-FFF2-40B4-BE49-F238E27FC236}">
                <a16:creationId xmlns:a16="http://schemas.microsoft.com/office/drawing/2014/main" id="{7C97FC32-2BBB-7964-7984-4530252AE9B2}"/>
              </a:ext>
            </a:extLst>
          </p:cNvPr>
          <p:cNvSpPr txBox="1"/>
          <p:nvPr/>
        </p:nvSpPr>
        <p:spPr>
          <a:xfrm>
            <a:off x="39067" y="6567364"/>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C8. For which of these needs do you most often use &lt;INSERT HOLD CATEGORY&gt;?</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11852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1043">
          <a:extLst>
            <a:ext uri="{FF2B5EF4-FFF2-40B4-BE49-F238E27FC236}">
              <a16:creationId xmlns:a16="http://schemas.microsoft.com/office/drawing/2014/main" id="{CA11A7AE-0F76-4238-8D7D-C5DF8D6E8EFB}"/>
            </a:ext>
          </a:extLst>
        </p:cNvPr>
        <p:cNvGrpSpPr/>
        <p:nvPr/>
      </p:nvGrpSpPr>
      <p:grpSpPr>
        <a:xfrm>
          <a:off x="0" y="0"/>
          <a:ext cx="0" cy="0"/>
          <a:chOff x="0" y="0"/>
          <a:chExt cx="0" cy="0"/>
        </a:xfrm>
      </p:grpSpPr>
      <p:sp>
        <p:nvSpPr>
          <p:cNvPr id="6" name="Footer Placeholder 2">
            <a:extLst>
              <a:ext uri="{FF2B5EF4-FFF2-40B4-BE49-F238E27FC236}">
                <a16:creationId xmlns:a16="http://schemas.microsoft.com/office/drawing/2014/main" id="{B5EA3485-CF45-C738-A51E-860ABC27798D}"/>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8" name="Table 7">
            <a:extLst>
              <a:ext uri="{FF2B5EF4-FFF2-40B4-BE49-F238E27FC236}">
                <a16:creationId xmlns:a16="http://schemas.microsoft.com/office/drawing/2014/main" id="{A655B879-A0FE-2101-DC9A-4E7A3A5A61B8}"/>
              </a:ext>
            </a:extLst>
          </p:cNvPr>
          <p:cNvGraphicFramePr>
            <a:graphicFrameLocks noGrp="1"/>
          </p:cNvGraphicFramePr>
          <p:nvPr>
            <p:extLst>
              <p:ext uri="{D42A27DB-BD31-4B8C-83A1-F6EECF244321}">
                <p14:modId xmlns:p14="http://schemas.microsoft.com/office/powerpoint/2010/main" val="2372723498"/>
              </p:ext>
            </p:extLst>
          </p:nvPr>
        </p:nvGraphicFramePr>
        <p:xfrm>
          <a:off x="908638" y="1125291"/>
          <a:ext cx="10303845" cy="4774131"/>
        </p:xfrm>
        <a:graphic>
          <a:graphicData uri="http://schemas.openxmlformats.org/drawingml/2006/table">
            <a:tbl>
              <a:tblPr>
                <a:tableStyleId>{3B4B98B0-60AC-42C2-AFA5-B58CD77FA1E5}</a:tableStyleId>
              </a:tblPr>
              <a:tblGrid>
                <a:gridCol w="2651760">
                  <a:extLst>
                    <a:ext uri="{9D8B030D-6E8A-4147-A177-3AD203B41FA5}">
                      <a16:colId xmlns:a16="http://schemas.microsoft.com/office/drawing/2014/main" val="4107426551"/>
                    </a:ext>
                  </a:extLst>
                </a:gridCol>
                <a:gridCol w="721895">
                  <a:extLst>
                    <a:ext uri="{9D8B030D-6E8A-4147-A177-3AD203B41FA5}">
                      <a16:colId xmlns:a16="http://schemas.microsoft.com/office/drawing/2014/main" val="871605687"/>
                    </a:ext>
                  </a:extLst>
                </a:gridCol>
                <a:gridCol w="2743200">
                  <a:extLst>
                    <a:ext uri="{9D8B030D-6E8A-4147-A177-3AD203B41FA5}">
                      <a16:colId xmlns:a16="http://schemas.microsoft.com/office/drawing/2014/main" val="1129845731"/>
                    </a:ext>
                  </a:extLst>
                </a:gridCol>
                <a:gridCol w="721895">
                  <a:extLst>
                    <a:ext uri="{9D8B030D-6E8A-4147-A177-3AD203B41FA5}">
                      <a16:colId xmlns:a16="http://schemas.microsoft.com/office/drawing/2014/main" val="1381748258"/>
                    </a:ext>
                  </a:extLst>
                </a:gridCol>
                <a:gridCol w="2743200">
                  <a:extLst>
                    <a:ext uri="{9D8B030D-6E8A-4147-A177-3AD203B41FA5}">
                      <a16:colId xmlns:a16="http://schemas.microsoft.com/office/drawing/2014/main" val="3837923658"/>
                    </a:ext>
                  </a:extLst>
                </a:gridCol>
                <a:gridCol w="721895">
                  <a:extLst>
                    <a:ext uri="{9D8B030D-6E8A-4147-A177-3AD203B41FA5}">
                      <a16:colId xmlns:a16="http://schemas.microsoft.com/office/drawing/2014/main" val="2197625001"/>
                    </a:ext>
                  </a:extLst>
                </a:gridCol>
              </a:tblGrid>
              <a:tr h="0">
                <a:tc gridSpan="6">
                  <a:txBody>
                    <a:bodyPr/>
                    <a:lstStyle/>
                    <a:p>
                      <a:pPr algn="ctr" fontAlgn="b">
                        <a:buNone/>
                      </a:pPr>
                      <a:r>
                        <a:rPr lang="en-US" sz="1400" b="1" i="0" u="none" strike="noStrike" dirty="0">
                          <a:solidFill>
                            <a:schemeClr val="bg1"/>
                          </a:solidFill>
                          <a:effectLst/>
                          <a:latin typeface="Arial" panose="020B0604020202020204" pitchFamily="34" charset="0"/>
                        </a:rPr>
                        <a:t>Top Health and Wellness Needs Addressed – Top 10 by Category</a:t>
                      </a:r>
                    </a:p>
                    <a:p>
                      <a:pPr algn="ctr" fontAlgn="b">
                        <a:buNone/>
                      </a:pPr>
                      <a:r>
                        <a:rPr lang="en-US" sz="1400" b="0" i="0" u="none" strike="noStrike" dirty="0">
                          <a:solidFill>
                            <a:schemeClr val="bg1"/>
                          </a:solidFill>
                          <a:effectLst/>
                          <a:latin typeface="Arial" panose="020B0604020202020204" pitchFamily="34" charset="0"/>
                        </a:rPr>
                        <a:t>(% selecting among top 3 needs by once/week+ category users)</a:t>
                      </a: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gridSpan="2">
                  <a:txBody>
                    <a:bodyPr/>
                    <a:lstStyle/>
                    <a:p>
                      <a:pPr algn="ctr" fontAlgn="b">
                        <a:buNone/>
                      </a:pPr>
                      <a:r>
                        <a:rPr lang="en-US" sz="1400" b="1" u="none" strike="noStrike" dirty="0">
                          <a:effectLst/>
                        </a:rPr>
                        <a:t>Dietary Supplements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dirty="0"/>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2">
                  <a:txBody>
                    <a:bodyPr/>
                    <a:lstStyle/>
                    <a:p>
                      <a:pPr algn="ctr" fontAlgn="b">
                        <a:buNone/>
                      </a:pPr>
                      <a:r>
                        <a:rPr lang="en-US" sz="1400" b="1" u="none" strike="noStrike" dirty="0">
                          <a:effectLst/>
                        </a:rPr>
                        <a:t>Functional Foods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endParaRPr dirty="0"/>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2">
                  <a:txBody>
                    <a:bodyPr/>
                    <a:lstStyle/>
                    <a:p>
                      <a:pPr algn="ctr" fontAlgn="b">
                        <a:buNone/>
                      </a:pPr>
                      <a:r>
                        <a:rPr lang="en-US" sz="1400" b="1" u="none" strike="noStrike" dirty="0">
                          <a:effectLst/>
                        </a:rPr>
                        <a:t>Functional Beverages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endParaRPr dirty="0"/>
                    </a:p>
                  </a:txBody>
                  <a:tcPr marL="2958" marR="2958" marT="2958"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overall/general health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200" b="0" i="0" u="none" strike="noStrike" dirty="0">
                          <a:solidFill>
                            <a:srgbClr val="000000"/>
                          </a:solidFill>
                          <a:effectLst/>
                          <a:latin typeface="Arial" panose="020B0604020202020204" pitchFamily="34" charset="0"/>
                        </a:rPr>
                        <a:t>48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l" fontAlgn="b">
                        <a:buNone/>
                      </a:pPr>
                      <a:r>
                        <a:rPr lang="en-US" sz="1200" b="0" i="0" u="none" strike="noStrike" dirty="0">
                          <a:effectLst/>
                          <a:latin typeface="Arial" panose="020B0604020202020204" pitchFamily="34" charset="0"/>
                        </a:rPr>
                        <a:t>Improving overall/general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200" b="0" i="0" u="none" strike="noStrike" dirty="0">
                          <a:effectLst/>
                          <a:latin typeface="Arial" panose="020B0604020202020204" pitchFamily="34" charset="0"/>
                        </a:rPr>
                        <a:t>37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l" fontAlgn="b">
                        <a:buNone/>
                      </a:pPr>
                      <a:r>
                        <a:rPr lang="en-US" sz="1200" b="0" i="0" u="none" strike="noStrike" dirty="0">
                          <a:effectLst/>
                          <a:latin typeface="Arial" panose="020B0604020202020204" pitchFamily="34" charset="0"/>
                        </a:rPr>
                        <a:t>Improving overall/general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200" b="0" i="0" u="none" strike="noStrike" dirty="0">
                          <a:effectLst/>
                          <a:latin typeface="Arial" panose="020B0604020202020204" pitchFamily="34" charset="0"/>
                        </a:rPr>
                        <a:t>34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Healthy aging/longevity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0000"/>
                          </a:solidFill>
                          <a:effectLst/>
                          <a:latin typeface="Arial" panose="020B0604020202020204" pitchFamily="34" charset="0"/>
                        </a:rPr>
                        <a:t>23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Healthy aging/longevity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physical energy levels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24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08762513"/>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Addressing a nutrient gap/deficiency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0000"/>
                          </a:solidFill>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overall fitness level</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overall fitness level</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229445550"/>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Boosting immunity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0000"/>
                          </a:solidFill>
                          <a:effectLst/>
                          <a:latin typeface="Arial" panose="020B0604020202020204" pitchFamily="34" charset="0"/>
                        </a:rPr>
                        <a:t>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Managing weight</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Healthy aging/longevity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582629608"/>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physical energy levels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0000"/>
                          </a:solidFill>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physical energy levels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16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Boosting immunity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924444937"/>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overall fitness level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0000"/>
                          </a:solidFill>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Building muscle/strength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Reducing stress/anxiety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679102277"/>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bone or joint health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solidFill>
                            <a:srgbClr val="000000"/>
                          </a:solidFill>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l" fontAlgn="b">
                        <a:buNone/>
                      </a:pPr>
                      <a:r>
                        <a:rPr lang="en-US" sz="1200" b="0" i="0" u="none" strike="noStrike" dirty="0">
                          <a:effectLst/>
                          <a:latin typeface="Arial" panose="020B0604020202020204" pitchFamily="34" charset="0"/>
                        </a:rPr>
                        <a:t>Improving gut/gastrointestinal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gut/gastrointestinal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93174655"/>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sleep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solidFill>
                            <a:srgbClr val="000000"/>
                          </a:solidFill>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tx2">
                        <a:lumMod val="20000"/>
                        <a:lumOff val="80000"/>
                      </a:schemeClr>
                    </a:solidFill>
                  </a:tcPr>
                </a:tc>
                <a:tc>
                  <a:txBody>
                    <a:bodyPr/>
                    <a:lstStyle/>
                    <a:p>
                      <a:pPr algn="l" fontAlgn="b">
                        <a:buNone/>
                      </a:pPr>
                      <a:r>
                        <a:rPr lang="en-US" sz="1200" b="0" i="0" u="none" strike="noStrike" dirty="0">
                          <a:effectLst/>
                          <a:latin typeface="Arial" panose="020B0604020202020204" pitchFamily="34" charset="0"/>
                        </a:rPr>
                        <a:t>Boosting immunity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Building muscle/strength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816618863"/>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overall mental health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0000"/>
                          </a:solidFill>
                          <a:effectLst/>
                          <a:latin typeface="Arial" panose="020B0604020202020204" pitchFamily="34" charset="0"/>
                        </a:rPr>
                        <a:t>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Addressing a nutrient gap/deficiency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cognition/mental energy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200" b="0" i="0" u="none" strike="noStrike" dirty="0">
                          <a:effectLst/>
                          <a:latin typeface="Arial" panose="020B0604020202020204" pitchFamily="34" charset="0"/>
                        </a:rPr>
                        <a:t>13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109282528"/>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Improving gut/gastrointestinal health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0000"/>
                          </a:solidFill>
                          <a:effectLst/>
                          <a:latin typeface="Arial" panose="020B0604020202020204" pitchFamily="34" charset="0"/>
                        </a:rPr>
                        <a:t>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Improving overall mental health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200" b="0" i="0" u="none" strike="noStrike" dirty="0">
                          <a:effectLst/>
                          <a:latin typeface="Arial" panose="020B0604020202020204" pitchFamily="34" charset="0"/>
                        </a:rPr>
                        <a:t>Managing weight</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effectLst/>
                          <a:latin typeface="Arial" panose="020B0604020202020204" pitchFamily="34" charset="0"/>
                        </a:rPr>
                        <a:t>13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49533206"/>
                  </a:ext>
                </a:extLst>
              </a:tr>
              <a:tr h="375285">
                <a:tc>
                  <a:txBody>
                    <a:bodyPr/>
                    <a:lstStyle/>
                    <a:p>
                      <a:pPr algn="l" fontAlgn="b">
                        <a:buNone/>
                      </a:pPr>
                      <a:r>
                        <a:rPr lang="en-US" sz="1200" b="0" i="0" u="none" strike="noStrike" dirty="0">
                          <a:solidFill>
                            <a:srgbClr val="000000"/>
                          </a:solidFill>
                          <a:effectLst/>
                          <a:latin typeface="Arial" panose="020B0604020202020204" pitchFamily="34" charset="0"/>
                        </a:rPr>
                        <a:t>Managing weight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200" b="0" i="0" u="none" strike="noStrike" dirty="0">
                          <a:solidFill>
                            <a:srgbClr val="000000"/>
                          </a:solidFill>
                          <a:effectLst/>
                          <a:latin typeface="Arial" panose="020B0604020202020204" pitchFamily="34" charset="0"/>
                        </a:rPr>
                        <a:t>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endParaRPr lang="en-US" sz="12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endParaRPr lang="en-US" sz="12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endParaRPr lang="en-US" sz="12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endParaRPr lang="en-US" sz="12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1929782424"/>
                  </a:ext>
                </a:extLst>
              </a:tr>
            </a:tbl>
          </a:graphicData>
        </a:graphic>
      </p:graphicFrame>
      <p:sp>
        <p:nvSpPr>
          <p:cNvPr id="3" name="TextBox 2">
            <a:extLst>
              <a:ext uri="{FF2B5EF4-FFF2-40B4-BE49-F238E27FC236}">
                <a16:creationId xmlns:a16="http://schemas.microsoft.com/office/drawing/2014/main" id="{E22F5CFA-BD11-2ADD-FD26-1554C843D568}"/>
              </a:ext>
            </a:extLst>
          </p:cNvPr>
          <p:cNvSpPr txBox="1"/>
          <p:nvPr/>
        </p:nvSpPr>
        <p:spPr>
          <a:xfrm>
            <a:off x="92672" y="6299910"/>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C8. For which of these needs do you </a:t>
            </a:r>
            <a:r>
              <a:rPr kumimoji="0" lang="en-US" sz="1000" b="1" i="1" u="none" strike="noStrike" kern="1200" cap="none" spc="0" normalizeH="0" baseline="0" noProof="0" dirty="0">
                <a:ln>
                  <a:noFill/>
                </a:ln>
                <a:solidFill>
                  <a:srgbClr val="000000"/>
                </a:solidFill>
                <a:effectLst/>
                <a:uLnTx/>
                <a:uFillTx/>
                <a:latin typeface="Calibri" panose="020F0502020204030204"/>
                <a:ea typeface="+mn-ea"/>
                <a:cs typeface="+mn-cs"/>
              </a:rPr>
              <a:t>most often </a:t>
            </a: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use &lt;INSERT HOLD CATEGORY&gt;?</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4BF84380-F30A-D56E-B19D-462B4834F824}"/>
              </a:ext>
            </a:extLst>
          </p:cNvPr>
          <p:cNvGraphicFramePr>
            <a:graphicFrameLocks noGrp="1"/>
          </p:cNvGraphicFramePr>
          <p:nvPr>
            <p:extLst>
              <p:ext uri="{D42A27DB-BD31-4B8C-83A1-F6EECF244321}">
                <p14:modId xmlns:p14="http://schemas.microsoft.com/office/powerpoint/2010/main" val="601636624"/>
              </p:ext>
            </p:extLst>
          </p:nvPr>
        </p:nvGraphicFramePr>
        <p:xfrm>
          <a:off x="5925906" y="6256737"/>
          <a:ext cx="5827731" cy="246221"/>
        </p:xfrm>
        <a:graphic>
          <a:graphicData uri="http://schemas.openxmlformats.org/drawingml/2006/table">
            <a:tbl>
              <a:tblPr firstRow="1" bandRow="1">
                <a:tableStyleId>{5C22544A-7EE6-4342-B048-85BDC9FD1C3A}</a:tableStyleId>
              </a:tblPr>
              <a:tblGrid>
                <a:gridCol w="693166">
                  <a:extLst>
                    <a:ext uri="{9D8B030D-6E8A-4147-A177-3AD203B41FA5}">
                      <a16:colId xmlns:a16="http://schemas.microsoft.com/office/drawing/2014/main" val="541657535"/>
                    </a:ext>
                  </a:extLst>
                </a:gridCol>
                <a:gridCol w="5134565">
                  <a:extLst>
                    <a:ext uri="{9D8B030D-6E8A-4147-A177-3AD203B41FA5}">
                      <a16:colId xmlns:a16="http://schemas.microsoft.com/office/drawing/2014/main" val="2075929015"/>
                    </a:ext>
                  </a:extLst>
                </a:gridCol>
              </a:tblGrid>
              <a:tr h="246221">
                <a:tc>
                  <a:txBody>
                    <a:bodyPr/>
                    <a:lstStyle/>
                    <a:p>
                      <a:endParaRPr lang="en-US" sz="1000" dirty="0"/>
                    </a:p>
                  </a:txBody>
                  <a:tcPr>
                    <a:solidFill>
                      <a:schemeClr val="tx2">
                        <a:lumMod val="20000"/>
                        <a:lumOff val="80000"/>
                      </a:schemeClr>
                    </a:solidFill>
                  </a:tcPr>
                </a:tc>
                <a:tc>
                  <a:txBody>
                    <a:bodyPr/>
                    <a:lstStyle/>
                    <a:p>
                      <a:r>
                        <a:rPr lang="en-US" sz="1000" b="0" i="1" dirty="0">
                          <a:solidFill>
                            <a:schemeClr val="tx1"/>
                          </a:solidFill>
                        </a:rPr>
                        <a:t>Indicates that the driver appears in the Top 10 for that category, but not for the other two</a:t>
                      </a:r>
                    </a:p>
                  </a:txBody>
                  <a:tcPr>
                    <a:noFill/>
                  </a:tcPr>
                </a:tc>
                <a:extLst>
                  <a:ext uri="{0D108BD9-81ED-4DB2-BD59-A6C34878D82A}">
                    <a16:rowId xmlns:a16="http://schemas.microsoft.com/office/drawing/2014/main" val="2006873653"/>
                  </a:ext>
                </a:extLst>
              </a:tr>
            </a:tbl>
          </a:graphicData>
        </a:graphic>
      </p:graphicFrame>
    </p:spTree>
    <p:extLst>
      <p:ext uri="{BB962C8B-B14F-4D97-AF65-F5344CB8AC3E}">
        <p14:creationId xmlns:p14="http://schemas.microsoft.com/office/powerpoint/2010/main" val="31963872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1043">
          <a:extLst>
            <a:ext uri="{FF2B5EF4-FFF2-40B4-BE49-F238E27FC236}">
              <a16:creationId xmlns:a16="http://schemas.microsoft.com/office/drawing/2014/main" id="{C4005211-7BAE-6CB9-9053-DAC11537B285}"/>
            </a:ext>
          </a:extLst>
        </p:cNvPr>
        <p:cNvGrpSpPr/>
        <p:nvPr/>
      </p:nvGrpSpPr>
      <p:grpSpPr>
        <a:xfrm>
          <a:off x="0" y="0"/>
          <a:ext cx="0" cy="0"/>
          <a:chOff x="0" y="0"/>
          <a:chExt cx="0" cy="0"/>
        </a:xfrm>
      </p:grpSpPr>
      <p:sp>
        <p:nvSpPr>
          <p:cNvPr id="6" name="Footer Placeholder 2">
            <a:extLst>
              <a:ext uri="{FF2B5EF4-FFF2-40B4-BE49-F238E27FC236}">
                <a16:creationId xmlns:a16="http://schemas.microsoft.com/office/drawing/2014/main" id="{3C019327-C070-811B-BA1A-F50A82BE2EDC}"/>
              </a:ext>
            </a:extLst>
          </p:cNvPr>
          <p:cNvSpPr>
            <a:spLocks noGrp="1"/>
          </p:cNvSpPr>
          <p:nvPr>
            <p:ph type="ftr" sz="quarter" idx="11"/>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srgbClr val="FFFFFF"/>
                </a:solidFill>
                <a:effectLst/>
                <a:uLnTx/>
                <a:uFillTx/>
                <a:latin typeface="Calibri" panose="020F0502020204030204"/>
                <a:ea typeface="+mn-ea"/>
                <a:cs typeface="+mn-cs"/>
              </a:rPr>
              <a:t>Sbk insights &amp; strategy</a:t>
            </a:r>
          </a:p>
        </p:txBody>
      </p:sp>
      <p:graphicFrame>
        <p:nvGraphicFramePr>
          <p:cNvPr id="8" name="Table 7">
            <a:extLst>
              <a:ext uri="{FF2B5EF4-FFF2-40B4-BE49-F238E27FC236}">
                <a16:creationId xmlns:a16="http://schemas.microsoft.com/office/drawing/2014/main" id="{873852FF-C8DE-1683-759C-CC12C290FEC8}"/>
              </a:ext>
            </a:extLst>
          </p:cNvPr>
          <p:cNvGraphicFramePr>
            <a:graphicFrameLocks noGrp="1"/>
          </p:cNvGraphicFramePr>
          <p:nvPr/>
        </p:nvGraphicFramePr>
        <p:xfrm>
          <a:off x="441157" y="1058374"/>
          <a:ext cx="11492565" cy="5233236"/>
        </p:xfrm>
        <a:graphic>
          <a:graphicData uri="http://schemas.openxmlformats.org/drawingml/2006/table">
            <a:tbl>
              <a:tblPr>
                <a:tableStyleId>{3B4B98B0-60AC-42C2-AFA5-B58CD77FA1E5}</a:tableStyleId>
              </a:tblPr>
              <a:tblGrid>
                <a:gridCol w="3108960">
                  <a:extLst>
                    <a:ext uri="{9D8B030D-6E8A-4147-A177-3AD203B41FA5}">
                      <a16:colId xmlns:a16="http://schemas.microsoft.com/office/drawing/2014/main" val="4107426551"/>
                    </a:ext>
                  </a:extLst>
                </a:gridCol>
                <a:gridCol w="721895">
                  <a:extLst>
                    <a:ext uri="{9D8B030D-6E8A-4147-A177-3AD203B41FA5}">
                      <a16:colId xmlns:a16="http://schemas.microsoft.com/office/drawing/2014/main" val="871605687"/>
                    </a:ext>
                  </a:extLst>
                </a:gridCol>
                <a:gridCol w="3108960">
                  <a:extLst>
                    <a:ext uri="{9D8B030D-6E8A-4147-A177-3AD203B41FA5}">
                      <a16:colId xmlns:a16="http://schemas.microsoft.com/office/drawing/2014/main" val="1129845731"/>
                    </a:ext>
                  </a:extLst>
                </a:gridCol>
                <a:gridCol w="721895">
                  <a:extLst>
                    <a:ext uri="{9D8B030D-6E8A-4147-A177-3AD203B41FA5}">
                      <a16:colId xmlns:a16="http://schemas.microsoft.com/office/drawing/2014/main" val="1381748258"/>
                    </a:ext>
                  </a:extLst>
                </a:gridCol>
                <a:gridCol w="3108960">
                  <a:extLst>
                    <a:ext uri="{9D8B030D-6E8A-4147-A177-3AD203B41FA5}">
                      <a16:colId xmlns:a16="http://schemas.microsoft.com/office/drawing/2014/main" val="3837923658"/>
                    </a:ext>
                  </a:extLst>
                </a:gridCol>
                <a:gridCol w="721895">
                  <a:extLst>
                    <a:ext uri="{9D8B030D-6E8A-4147-A177-3AD203B41FA5}">
                      <a16:colId xmlns:a16="http://schemas.microsoft.com/office/drawing/2014/main" val="2197625001"/>
                    </a:ext>
                  </a:extLst>
                </a:gridCol>
              </a:tblGrid>
              <a:tr h="0">
                <a:tc gridSpan="6">
                  <a:txBody>
                    <a:bodyPr/>
                    <a:lstStyle/>
                    <a:p>
                      <a:pPr algn="ctr" fontAlgn="b">
                        <a:buNone/>
                      </a:pPr>
                      <a:r>
                        <a:rPr lang="en-US" sz="1600" b="1" i="0" u="none" strike="noStrike" dirty="0">
                          <a:solidFill>
                            <a:schemeClr val="bg1"/>
                          </a:solidFill>
                          <a:effectLst/>
                          <a:latin typeface="Arial" panose="020B0604020202020204" pitchFamily="34" charset="0"/>
                        </a:rPr>
                        <a:t>Information Sources– Top 10 by Category</a:t>
                      </a:r>
                    </a:p>
                    <a:p>
                      <a:pPr algn="ctr" fontAlgn="b">
                        <a:buNone/>
                      </a:pPr>
                      <a:r>
                        <a:rPr lang="en-US" sz="1600" b="0" i="0" u="none" strike="noStrike" dirty="0">
                          <a:solidFill>
                            <a:schemeClr val="bg1"/>
                          </a:solidFill>
                          <a:effectLst/>
                          <a:latin typeface="Arial" panose="020B0604020202020204" pitchFamily="34" charset="0"/>
                        </a:rPr>
                        <a:t>(% selecting as one of top 10 Information Sources among category users)</a:t>
                      </a:r>
                    </a:p>
                  </a:txBody>
                  <a:tcPr marL="2958" marR="2958" marT="2958"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algn="ctr" fontAlgn="b">
                        <a:buNone/>
                      </a:pPr>
                      <a:endParaRPr lang="en-US" sz="12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30200368"/>
                  </a:ext>
                </a:extLst>
              </a:tr>
              <a:tr h="0">
                <a:tc gridSpan="2">
                  <a:txBody>
                    <a:bodyPr/>
                    <a:lstStyle/>
                    <a:p>
                      <a:pPr algn="ctr" fontAlgn="b">
                        <a:buNone/>
                      </a:pPr>
                      <a:r>
                        <a:rPr lang="en-US" sz="1400" b="1" u="none" strike="noStrike" dirty="0">
                          <a:effectLst/>
                        </a:rPr>
                        <a:t>Dietary Supplements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dirty="0"/>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2">
                  <a:txBody>
                    <a:bodyPr/>
                    <a:lstStyle/>
                    <a:p>
                      <a:pPr algn="ctr" fontAlgn="b">
                        <a:buNone/>
                      </a:pPr>
                      <a:r>
                        <a:rPr lang="en-US" sz="1400" b="1" u="none" strike="noStrike" dirty="0">
                          <a:effectLst/>
                        </a:rPr>
                        <a:t>Functional Foods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endParaRPr dirty="0"/>
                    </a:p>
                  </a:txBody>
                  <a:tcPr marL="2958" marR="2958" marT="2958" marB="0" anchor="b">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gridSpan="2">
                  <a:txBody>
                    <a:bodyPr/>
                    <a:lstStyle/>
                    <a:p>
                      <a:pPr algn="ctr" fontAlgn="b">
                        <a:buNone/>
                      </a:pPr>
                      <a:r>
                        <a:rPr lang="en-US" sz="1400" b="1" u="none" strike="noStrike" dirty="0">
                          <a:effectLst/>
                        </a:rPr>
                        <a:t>Functional Beverages Top 10</a:t>
                      </a:r>
                      <a:endParaRPr lang="en-US" sz="1400" b="1" i="0" u="none" strike="noStrike" dirty="0">
                        <a:solidFill>
                          <a:srgbClr val="000000"/>
                        </a:solidFill>
                        <a:effectLst/>
                        <a:latin typeface="Arial" panose="020B0604020202020204" pitchFamily="34" charset="0"/>
                      </a:endParaRPr>
                    </a:p>
                  </a:txBody>
                  <a:tcPr marL="2958" marR="2958" marT="2958" marB="0" anchor="b">
                    <a:lnL w="12700" cap="flat" cmpd="sng" algn="ctr">
                      <a:solidFill>
                        <a:schemeClr val="accent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hMerge="1">
                  <a:txBody>
                    <a:bodyPr/>
                    <a:lstStyle/>
                    <a:p>
                      <a:endParaRPr dirty="0"/>
                    </a:p>
                  </a:txBody>
                  <a:tcPr marL="2958" marR="2958" marT="2958" marB="0" anchor="b">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59553639"/>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Doctor/Medical Professional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solidFill>
                            <a:srgbClr val="000000"/>
                          </a:solidFill>
                          <a:effectLst/>
                          <a:latin typeface="Arial" panose="020B0604020202020204" pitchFamily="34" charset="0"/>
                        </a:rPr>
                        <a:t>50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l" fontAlgn="b">
                        <a:buNone/>
                      </a:pPr>
                      <a:r>
                        <a:rPr lang="en-US" sz="1100" b="0" i="0" u="none" strike="noStrike" dirty="0">
                          <a:effectLst/>
                          <a:latin typeface="Arial" panose="020B0604020202020204" pitchFamily="34" charset="0"/>
                        </a:rPr>
                        <a:t>Doctor/Medical Professional</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40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l" fontAlgn="b">
                        <a:buNone/>
                      </a:pPr>
                      <a:r>
                        <a:rPr lang="en-US" sz="1100" b="0" i="0" u="none" strike="noStrike" dirty="0">
                          <a:effectLst/>
                          <a:latin typeface="Arial" panose="020B0604020202020204" pitchFamily="34" charset="0"/>
                        </a:rPr>
                        <a:t>Doctor/Medical Professional</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a:txBody>
                    <a:bodyPr/>
                    <a:lstStyle/>
                    <a:p>
                      <a:pPr algn="ctr" fontAlgn="b">
                        <a:buNone/>
                      </a:pPr>
                      <a:r>
                        <a:rPr lang="en-US" sz="1100" b="0" i="0" u="none" strike="noStrike" dirty="0">
                          <a:effectLst/>
                          <a:latin typeface="Arial" panose="020B0604020202020204" pitchFamily="34" charset="0"/>
                        </a:rPr>
                        <a:t>36 </a:t>
                      </a:r>
                    </a:p>
                  </a:txBody>
                  <a:tcPr marL="9525" marR="9525" marT="9525" marB="0" anchor="ctr">
                    <a:lnL w="12700" cap="flat" cmpd="sng" algn="ctr">
                      <a:noFill/>
                      <a:prstDash val="solid"/>
                      <a:round/>
                      <a:headEnd type="none" w="med" len="med"/>
                      <a:tailEnd type="none" w="med" len="med"/>
                    </a:lnL>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128676805"/>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Online reviews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Online reviews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33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Online reviews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858588252"/>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Friends and family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32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Health and wellness publications/websites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30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Friends and family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31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91368022"/>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Health and wellness publications/websites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Friends and family</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Health and wellness publications/websites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28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814739070"/>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Product packaging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Health &amp; Wellness product manufacturers/ brands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Health &amp; Wellness product manufacturers/brands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21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2927656177"/>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Health &amp; Wellness product manufacturers/ brands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19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Product packaging</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18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Product packaging</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19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195742934"/>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General interest publications/websites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Retailers (e.g., GNC, Whole Foods, etc.)</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Retailers (e.g., GNC, Whole Foods, etc.)</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608762513"/>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Retailers (e.g., GNC, Whole Foods, etc.)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14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General interest publications/websites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17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General interest publications/websites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15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4229445550"/>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Government websites (e.g., CDC, NIH)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Social media influencer/podcaster</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13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Social media influencer/podcaster</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13 </a:t>
                      </a:r>
                    </a:p>
                  </a:txBody>
                  <a:tcPr marL="9525" marR="9525" marT="9525" marB="0" anchor="ctr">
                    <a:lnL w="12700" cap="flat" cmpd="sng" algn="ctr">
                      <a:noFill/>
                      <a:prstDash val="solid"/>
                      <a:round/>
                      <a:headEnd type="none" w="med" len="med"/>
                      <a:tailEnd type="none" w="med" len="med"/>
                    </a:lnL>
                    <a:noFill/>
                  </a:tcPr>
                </a:tc>
                <a:extLst>
                  <a:ext uri="{0D108BD9-81ED-4DB2-BD59-A6C34878D82A}">
                    <a16:rowId xmlns:a16="http://schemas.microsoft.com/office/drawing/2014/main" val="3582629608"/>
                  </a:ext>
                </a:extLst>
              </a:tr>
              <a:tr h="411480">
                <a:tc>
                  <a:txBody>
                    <a:bodyPr/>
                    <a:lstStyle/>
                    <a:p>
                      <a:pPr algn="l" fontAlgn="b">
                        <a:buNone/>
                      </a:pPr>
                      <a:r>
                        <a:rPr lang="en-US" sz="1100" b="0" i="0" u="none" strike="noStrike" dirty="0">
                          <a:solidFill>
                            <a:srgbClr val="000000"/>
                          </a:solidFill>
                          <a:effectLst/>
                          <a:latin typeface="Arial" panose="020B0604020202020204" pitchFamily="34" charset="0"/>
                        </a:rPr>
                        <a:t>Social media influencer/podcaster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solidFill>
                            <a:srgbClr val="000000"/>
                          </a:solidFill>
                          <a:effectLst/>
                          <a:latin typeface="Arial" panose="020B0604020202020204" pitchFamily="34" charset="0"/>
                        </a:rPr>
                        <a:t>10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Government websites (e.g., CDC, NIH)</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r>
                        <a:rPr lang="en-US" sz="11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Coach/Trainer/Physical Therapist</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1924444937"/>
                  </a:ext>
                </a:extLst>
              </a:tr>
              <a:tr h="411480">
                <a:tc>
                  <a:txBody>
                    <a:bodyPr/>
                    <a:lstStyle/>
                    <a:p>
                      <a:pPr algn="l" fontAlgn="b">
                        <a:buNone/>
                      </a:pPr>
                      <a:endParaRPr lang="en-US" sz="1100" b="0" i="0" u="none" strike="noStrike" dirty="0">
                        <a:solidFill>
                          <a:srgbClr val="0000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endParaRPr lang="en-US" sz="1100" b="0" i="0" u="none" strike="noStrike" dirty="0">
                        <a:solidFill>
                          <a:srgbClr val="000000"/>
                        </a:solidFill>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endParaRPr lang="en-US" sz="1100" b="0" i="0" u="none" strike="noStrike" dirty="0">
                        <a:effectLst/>
                        <a:latin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buNone/>
                      </a:pPr>
                      <a:endParaRPr lang="en-US" sz="1100" b="0" i="0" u="none" strike="noStrike" dirty="0">
                        <a:effectLst/>
                        <a:latin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pPr algn="l" fontAlgn="b">
                        <a:buNone/>
                      </a:pPr>
                      <a:r>
                        <a:rPr lang="en-US" sz="1100" b="0" i="0" u="none" strike="noStrike" dirty="0">
                          <a:effectLst/>
                          <a:latin typeface="Arial" panose="020B0604020202020204" pitchFamily="34" charset="0"/>
                        </a:rPr>
                        <a:t>Health technology companies/apps</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solidFill>
                      <a:schemeClr val="tx2">
                        <a:lumMod val="20000"/>
                        <a:lumOff val="80000"/>
                      </a:schemeClr>
                    </a:solidFill>
                  </a:tcPr>
                </a:tc>
                <a:tc>
                  <a:txBody>
                    <a:bodyPr/>
                    <a:lstStyle/>
                    <a:p>
                      <a:pPr algn="ctr" fontAlgn="b">
                        <a:buNone/>
                      </a:pPr>
                      <a:r>
                        <a:rPr lang="en-US" sz="1100" b="0" i="0" u="none" strike="noStrike" dirty="0">
                          <a:effectLst/>
                          <a:latin typeface="Arial" panose="020B0604020202020204" pitchFamily="34" charset="0"/>
                        </a:rPr>
                        <a:t>11 </a:t>
                      </a:r>
                    </a:p>
                  </a:txBody>
                  <a:tcPr marL="9525" marR="9525" marT="9525" marB="0" anchor="ctr">
                    <a:lnL w="12700" cap="flat" cmpd="sng" algn="ctr">
                      <a:noFill/>
                      <a:prstDash val="solid"/>
                      <a:round/>
                      <a:headEnd type="none" w="med" len="med"/>
                      <a:tailEnd type="none" w="med" len="med"/>
                    </a:lnL>
                    <a:solidFill>
                      <a:schemeClr val="tx2">
                        <a:lumMod val="20000"/>
                        <a:lumOff val="80000"/>
                      </a:schemeClr>
                    </a:solidFill>
                  </a:tcPr>
                </a:tc>
                <a:extLst>
                  <a:ext uri="{0D108BD9-81ED-4DB2-BD59-A6C34878D82A}">
                    <a16:rowId xmlns:a16="http://schemas.microsoft.com/office/drawing/2014/main" val="2897380771"/>
                  </a:ext>
                </a:extLst>
              </a:tr>
            </a:tbl>
          </a:graphicData>
        </a:graphic>
      </p:graphicFrame>
      <p:sp>
        <p:nvSpPr>
          <p:cNvPr id="3" name="TextBox 2">
            <a:extLst>
              <a:ext uri="{FF2B5EF4-FFF2-40B4-BE49-F238E27FC236}">
                <a16:creationId xmlns:a16="http://schemas.microsoft.com/office/drawing/2014/main" id="{CEB85418-FDD0-3A09-CF5D-57A5AC63F772}"/>
              </a:ext>
            </a:extLst>
          </p:cNvPr>
          <p:cNvSpPr txBox="1"/>
          <p:nvPr/>
        </p:nvSpPr>
        <p:spPr>
          <a:xfrm>
            <a:off x="39067" y="6390841"/>
            <a:ext cx="980778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Calibri" panose="020F0502020204030204"/>
                <a:ea typeface="+mn-ea"/>
                <a:cs typeface="+mn-cs"/>
              </a:rPr>
              <a:t>C9. How important are each of the following attributes when purchasing &lt;INSERT HOLD CATEGORY&gt;?</a:t>
            </a:r>
            <a:endParaRPr kumimoji="0" lang="en-US" sz="1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444CAACF-0011-CBF4-4646-9534009C3160}"/>
              </a:ext>
            </a:extLst>
          </p:cNvPr>
          <p:cNvGraphicFramePr>
            <a:graphicFrameLocks noGrp="1"/>
          </p:cNvGraphicFramePr>
          <p:nvPr>
            <p:extLst>
              <p:ext uri="{D42A27DB-BD31-4B8C-83A1-F6EECF244321}">
                <p14:modId xmlns:p14="http://schemas.microsoft.com/office/powerpoint/2010/main" val="4200614493"/>
              </p:ext>
            </p:extLst>
          </p:nvPr>
        </p:nvGraphicFramePr>
        <p:xfrm>
          <a:off x="6008096" y="6390841"/>
          <a:ext cx="5827731" cy="246221"/>
        </p:xfrm>
        <a:graphic>
          <a:graphicData uri="http://schemas.openxmlformats.org/drawingml/2006/table">
            <a:tbl>
              <a:tblPr firstRow="1" bandRow="1">
                <a:tableStyleId>{5C22544A-7EE6-4342-B048-85BDC9FD1C3A}</a:tableStyleId>
              </a:tblPr>
              <a:tblGrid>
                <a:gridCol w="693166">
                  <a:extLst>
                    <a:ext uri="{9D8B030D-6E8A-4147-A177-3AD203B41FA5}">
                      <a16:colId xmlns:a16="http://schemas.microsoft.com/office/drawing/2014/main" val="541657535"/>
                    </a:ext>
                  </a:extLst>
                </a:gridCol>
                <a:gridCol w="5134565">
                  <a:extLst>
                    <a:ext uri="{9D8B030D-6E8A-4147-A177-3AD203B41FA5}">
                      <a16:colId xmlns:a16="http://schemas.microsoft.com/office/drawing/2014/main" val="2075929015"/>
                    </a:ext>
                  </a:extLst>
                </a:gridCol>
              </a:tblGrid>
              <a:tr h="246221">
                <a:tc>
                  <a:txBody>
                    <a:bodyPr/>
                    <a:lstStyle/>
                    <a:p>
                      <a:endParaRPr lang="en-US" sz="1000" dirty="0"/>
                    </a:p>
                  </a:txBody>
                  <a:tcPr>
                    <a:solidFill>
                      <a:schemeClr val="tx2">
                        <a:lumMod val="20000"/>
                        <a:lumOff val="80000"/>
                      </a:schemeClr>
                    </a:solidFill>
                  </a:tcPr>
                </a:tc>
                <a:tc>
                  <a:txBody>
                    <a:bodyPr/>
                    <a:lstStyle/>
                    <a:p>
                      <a:r>
                        <a:rPr lang="en-US" sz="1000" b="0" i="1" dirty="0">
                          <a:solidFill>
                            <a:schemeClr val="tx1"/>
                          </a:solidFill>
                        </a:rPr>
                        <a:t>Indicates that the driver appears in the Top 10 for that category, but not for the other two</a:t>
                      </a:r>
                    </a:p>
                  </a:txBody>
                  <a:tcPr>
                    <a:noFill/>
                  </a:tcPr>
                </a:tc>
                <a:extLst>
                  <a:ext uri="{0D108BD9-81ED-4DB2-BD59-A6C34878D82A}">
                    <a16:rowId xmlns:a16="http://schemas.microsoft.com/office/drawing/2014/main" val="2006873653"/>
                  </a:ext>
                </a:extLst>
              </a:tr>
            </a:tbl>
          </a:graphicData>
        </a:graphic>
      </p:graphicFrame>
    </p:spTree>
    <p:extLst>
      <p:ext uri="{BB962C8B-B14F-4D97-AF65-F5344CB8AC3E}">
        <p14:creationId xmlns:p14="http://schemas.microsoft.com/office/powerpoint/2010/main" val="148072992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2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38402</TotalTime>
  <Words>14539</Words>
  <Application>Microsoft Office PowerPoint</Application>
  <PresentationFormat>Widescreen</PresentationFormat>
  <Paragraphs>5442</Paragraphs>
  <Slides>65</Slides>
  <Notes>40</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65</vt:i4>
      </vt:variant>
    </vt:vector>
  </HeadingPairs>
  <TitlesOfParts>
    <vt:vector size="80" baseType="lpstr">
      <vt:lpstr>Aptos</vt:lpstr>
      <vt:lpstr>Arial</vt:lpstr>
      <vt:lpstr>Arial Black</vt:lpstr>
      <vt:lpstr>Avenir Next LT Pro</vt:lpstr>
      <vt:lpstr>Calibri</vt:lpstr>
      <vt:lpstr>Calibri Light</vt:lpstr>
      <vt:lpstr>Corbel</vt:lpstr>
      <vt:lpstr>Georgia</vt:lpstr>
      <vt:lpstr>Helvetica Neue</vt:lpstr>
      <vt:lpstr>Lato</vt:lpstr>
      <vt:lpstr>Tenorite</vt:lpstr>
      <vt:lpstr>Wingdings</vt:lpstr>
      <vt:lpstr>Retrospect</vt:lpstr>
      <vt:lpstr>1_Retrospect</vt:lpstr>
      <vt:lpstr>2_Retrospect</vt:lpstr>
      <vt:lpstr>Functional Nutrition Consumer Segmentation</vt:lpstr>
      <vt:lpstr>PowerPoint Presentation</vt:lpstr>
      <vt:lpstr>PowerPoint Presentation</vt:lpstr>
      <vt:lpstr>PowerPoint Presentation</vt:lpstr>
      <vt:lpstr>PowerPoint Presentation</vt:lpstr>
      <vt:lpstr>PowerPoint Presentation</vt:lpstr>
      <vt:lpstr>Approach to Health and Wellness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Functional Nutrition Categories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Segments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Suzanne Kevlyn</dc:creator>
  <cp:lastModifiedBy>Suzanne Kevlyn</cp:lastModifiedBy>
  <cp:revision>6</cp:revision>
  <cp:lastPrinted>2026-03-06T15:52:53Z</cp:lastPrinted>
  <dcterms:created xsi:type="dcterms:W3CDTF">2025-12-11T17:27:53Z</dcterms:created>
  <dcterms:modified xsi:type="dcterms:W3CDTF">2026-03-06T20:32:42Z</dcterms:modified>
</cp:coreProperties>
</file>